
<file path=[Content_Types].xml><?xml version="1.0" encoding="utf-8"?>
<Types xmlns="http://schemas.openxmlformats.org/package/2006/content-types">
  <Default Extension="png" ContentType="image/png"/>
  <Default Extension="bin" ContentType="application/vnd.openxmlformats-officedocument.oleObject"/>
  <Default Extension="jpeg" ContentType="image/jpeg"/>
  <Default Extension="emf" ContentType="image/x-emf"/>
  <Default Extension="wmf" ContentType="image/x-wmf"/>
  <Default Extension="rels" ContentType="application/vnd.openxmlformats-package.relationships+xml"/>
  <Default Extension="xml" ContentType="application/xml"/>
  <Default Extension="wdp" ContentType="image/vnd.ms-photo"/>
  <Default Extension="tiff" ContentType="image/tiff"/>
  <Default Extension="gif" ContentType="image/gif"/>
  <Default Extension="vml" ContentType="application/vnd.openxmlformats-officedocument.vmlDrawing"/>
  <Default Extension="xlsx" ContentType="application/vnd.openxmlformats-officedocument.spreadsheetml.sheet"/>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1.xml" ContentType="application/vnd.openxmlformats-officedocument.presentationml.notesSlide+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notesSlides/notesSlide2.xml" ContentType="application/vnd.openxmlformats-officedocument.presentationml.notesSlide+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notesSlides/notesSlide3.xml" ContentType="application/vnd.openxmlformats-officedocument.presentationml.notesSlide+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notesSlides/notesSlide4.xml" ContentType="application/vnd.openxmlformats-officedocument.presentationml.notesSlide+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notesSlides/notesSlide5.xml" ContentType="application/vnd.openxmlformats-officedocument.presentationml.notesSlide+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notesSlides/notesSlide6.xml" ContentType="application/vnd.openxmlformats-officedocument.presentationml.notesSlide+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notesSlides/notesSlide7.xml" ContentType="application/vnd.openxmlformats-officedocument.presentationml.notesSlide+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notesSlides/notesSlide8.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1" r:id="rId3"/>
    <p:sldMasterId id="2147483684" r:id="rId4"/>
  </p:sldMasterIdLst>
  <p:notesMasterIdLst>
    <p:notesMasterId r:id="rId95"/>
  </p:notesMasterIdLst>
  <p:sldIdLst>
    <p:sldId id="256" r:id="rId5"/>
    <p:sldId id="257" r:id="rId6"/>
    <p:sldId id="261" r:id="rId7"/>
    <p:sldId id="259" r:id="rId8"/>
    <p:sldId id="290" r:id="rId9"/>
    <p:sldId id="291" r:id="rId10"/>
    <p:sldId id="283" r:id="rId11"/>
    <p:sldId id="284" r:id="rId12"/>
    <p:sldId id="285" r:id="rId13"/>
    <p:sldId id="286" r:id="rId14"/>
    <p:sldId id="292" r:id="rId15"/>
    <p:sldId id="263" r:id="rId16"/>
    <p:sldId id="260" r:id="rId17"/>
    <p:sldId id="275" r:id="rId18"/>
    <p:sldId id="264" r:id="rId19"/>
    <p:sldId id="288" r:id="rId20"/>
    <p:sldId id="289" r:id="rId21"/>
    <p:sldId id="276" r:id="rId22"/>
    <p:sldId id="277" r:id="rId23"/>
    <p:sldId id="278" r:id="rId24"/>
    <p:sldId id="279" r:id="rId25"/>
    <p:sldId id="280" r:id="rId26"/>
    <p:sldId id="281" r:id="rId27"/>
    <p:sldId id="265" r:id="rId28"/>
    <p:sldId id="262" r:id="rId29"/>
    <p:sldId id="266" r:id="rId30"/>
    <p:sldId id="269" r:id="rId31"/>
    <p:sldId id="268" r:id="rId32"/>
    <p:sldId id="272" r:id="rId33"/>
    <p:sldId id="270" r:id="rId34"/>
    <p:sldId id="274" r:id="rId35"/>
    <p:sldId id="293" r:id="rId36"/>
    <p:sldId id="294" r:id="rId37"/>
    <p:sldId id="295" r:id="rId38"/>
    <p:sldId id="296" r:id="rId39"/>
    <p:sldId id="297" r:id="rId40"/>
    <p:sldId id="298" r:id="rId41"/>
    <p:sldId id="299" r:id="rId42"/>
    <p:sldId id="300" r:id="rId43"/>
    <p:sldId id="301" r:id="rId44"/>
    <p:sldId id="302" r:id="rId45"/>
    <p:sldId id="303" r:id="rId46"/>
    <p:sldId id="304" r:id="rId47"/>
    <p:sldId id="305" r:id="rId48"/>
    <p:sldId id="306" r:id="rId49"/>
    <p:sldId id="307" r:id="rId50"/>
    <p:sldId id="308" r:id="rId51"/>
    <p:sldId id="309" r:id="rId52"/>
    <p:sldId id="310" r:id="rId53"/>
    <p:sldId id="311" r:id="rId54"/>
    <p:sldId id="312" r:id="rId55"/>
    <p:sldId id="313" r:id="rId56"/>
    <p:sldId id="314" r:id="rId57"/>
    <p:sldId id="315" r:id="rId58"/>
    <p:sldId id="316" r:id="rId59"/>
    <p:sldId id="317" r:id="rId60"/>
    <p:sldId id="318" r:id="rId61"/>
    <p:sldId id="319" r:id="rId62"/>
    <p:sldId id="320" r:id="rId63"/>
    <p:sldId id="321" r:id="rId64"/>
    <p:sldId id="322" r:id="rId65"/>
    <p:sldId id="323" r:id="rId66"/>
    <p:sldId id="324" r:id="rId67"/>
    <p:sldId id="325" r:id="rId68"/>
    <p:sldId id="326" r:id="rId69"/>
    <p:sldId id="327" r:id="rId70"/>
    <p:sldId id="328" r:id="rId71"/>
    <p:sldId id="329" r:id="rId72"/>
    <p:sldId id="330" r:id="rId73"/>
    <p:sldId id="331" r:id="rId74"/>
    <p:sldId id="332" r:id="rId75"/>
    <p:sldId id="333" r:id="rId76"/>
    <p:sldId id="334" r:id="rId77"/>
    <p:sldId id="335" r:id="rId78"/>
    <p:sldId id="336" r:id="rId79"/>
    <p:sldId id="337" r:id="rId80"/>
    <p:sldId id="338" r:id="rId81"/>
    <p:sldId id="339" r:id="rId82"/>
    <p:sldId id="340" r:id="rId83"/>
    <p:sldId id="341" r:id="rId84"/>
    <p:sldId id="342" r:id="rId85"/>
    <p:sldId id="343" r:id="rId86"/>
    <p:sldId id="344" r:id="rId87"/>
    <p:sldId id="345" r:id="rId88"/>
    <p:sldId id="346" r:id="rId89"/>
    <p:sldId id="347" r:id="rId90"/>
    <p:sldId id="348" r:id="rId91"/>
    <p:sldId id="349" r:id="rId92"/>
    <p:sldId id="350" r:id="rId93"/>
    <p:sldId id="351" r:id="rId94"/>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55A11"/>
    <a:srgbClr val="E7E6E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91" autoAdjust="0"/>
    <p:restoredTop sz="94701"/>
  </p:normalViewPr>
  <p:slideViewPr>
    <p:cSldViewPr snapToGrid="0" showGuides="1">
      <p:cViewPr varScale="1">
        <p:scale>
          <a:sx n="63" d="100"/>
          <a:sy n="63" d="100"/>
        </p:scale>
        <p:origin x="78" y="45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6" Type="http://schemas.openxmlformats.org/officeDocument/2006/relationships/slide" Target="slides/slide12.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notesMaster" Target="notesMasters/notesMaster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80" Type="http://schemas.openxmlformats.org/officeDocument/2006/relationships/slide" Target="slides/slide76.xml"/><Relationship Id="rId85" Type="http://schemas.openxmlformats.org/officeDocument/2006/relationships/slide" Target="slides/slide81.xml"/><Relationship Id="rId3" Type="http://schemas.openxmlformats.org/officeDocument/2006/relationships/slideMaster" Target="slideMasters/slideMaster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slide" Target="slides/slide63.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slide" Target="slides/slide66.xml"/><Relationship Id="rId75" Type="http://schemas.openxmlformats.org/officeDocument/2006/relationships/slide" Target="slides/slide71.xml"/><Relationship Id="rId83" Type="http://schemas.openxmlformats.org/officeDocument/2006/relationships/slide" Target="slides/slide79.xml"/><Relationship Id="rId88" Type="http://schemas.openxmlformats.org/officeDocument/2006/relationships/slide" Target="slides/slide84.xml"/><Relationship Id="rId91" Type="http://schemas.openxmlformats.org/officeDocument/2006/relationships/slide" Target="slides/slide87.xml"/><Relationship Id="rId9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tableStyles" Target="tableStyles.xml"/><Relationship Id="rId4" Type="http://schemas.openxmlformats.org/officeDocument/2006/relationships/slideMaster" Target="slideMasters/slideMaster4.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viewProps" Target="view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slideMaster" Target="slideMasters/slideMaster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___.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2.2325868921708899E-2"/>
          <c:w val="0.49173916197470002"/>
          <c:h val="0.69841135235166596"/>
        </c:manualLayout>
      </c:layout>
      <c:doughnutChart>
        <c:varyColors val="1"/>
        <c:ser>
          <c:idx val="0"/>
          <c:order val="0"/>
          <c:tx>
            <c:strRef>
              <c:f>Sheet1!$B$1</c:f>
              <c:strCache>
                <c:ptCount val="1"/>
                <c:pt idx="0">
                  <c:v>销售额</c:v>
                </c:pt>
              </c:strCache>
            </c:strRef>
          </c:tx>
          <c:spPr>
            <a:solidFill>
              <a:srgbClr val="C55A11"/>
            </a:solidFill>
          </c:spPr>
          <c:dPt>
            <c:idx val="0"/>
            <c:bubble3D val="0"/>
            <c:spPr>
              <a:solidFill>
                <a:srgbClr val="C55A11"/>
              </a:solidFill>
              <a:ln w="19050">
                <a:solidFill>
                  <a:schemeClr val="lt1"/>
                </a:solidFill>
              </a:ln>
              <a:effectLst/>
            </c:spPr>
            <c:extLst>
              <c:ext xmlns:c16="http://schemas.microsoft.com/office/drawing/2014/chart" uri="{C3380CC4-5D6E-409C-BE32-E72D297353CC}">
                <c16:uniqueId val="{00000001-B244-4689-811E-78BDDD0C373B}"/>
              </c:ext>
            </c:extLst>
          </c:dPt>
          <c:dPt>
            <c:idx val="1"/>
            <c:bubble3D val="0"/>
            <c:spPr>
              <a:solidFill>
                <a:srgbClr val="C55A11"/>
              </a:solidFill>
              <a:ln w="19050">
                <a:solidFill>
                  <a:schemeClr val="lt1"/>
                </a:solidFill>
              </a:ln>
              <a:effectLst/>
            </c:spPr>
            <c:extLst>
              <c:ext xmlns:c16="http://schemas.microsoft.com/office/drawing/2014/chart" uri="{C3380CC4-5D6E-409C-BE32-E72D297353CC}">
                <c16:uniqueId val="{00000003-B244-4689-811E-78BDDD0C373B}"/>
              </c:ext>
            </c:extLst>
          </c:dPt>
          <c:dPt>
            <c:idx val="2"/>
            <c:bubble3D val="0"/>
            <c:spPr>
              <a:solidFill>
                <a:srgbClr val="C55A11"/>
              </a:solidFill>
              <a:ln w="19050">
                <a:solidFill>
                  <a:schemeClr val="lt1"/>
                </a:solidFill>
              </a:ln>
              <a:effectLst/>
            </c:spPr>
            <c:extLst>
              <c:ext xmlns:c16="http://schemas.microsoft.com/office/drawing/2014/chart" uri="{C3380CC4-5D6E-409C-BE32-E72D297353CC}">
                <c16:uniqueId val="{00000005-B244-4689-811E-78BDDD0C373B}"/>
              </c:ext>
            </c:extLst>
          </c:dPt>
          <c:dPt>
            <c:idx val="3"/>
            <c:bubble3D val="0"/>
            <c:spPr>
              <a:solidFill>
                <a:srgbClr val="C55A11"/>
              </a:solidFill>
              <a:ln w="19050">
                <a:solidFill>
                  <a:schemeClr val="lt1"/>
                </a:solidFill>
              </a:ln>
              <a:effectLst/>
            </c:spPr>
            <c:extLst>
              <c:ext xmlns:c16="http://schemas.microsoft.com/office/drawing/2014/chart" uri="{C3380CC4-5D6E-409C-BE32-E72D297353CC}">
                <c16:uniqueId val="{00000007-B244-4689-811E-78BDDD0C373B}"/>
              </c:ext>
            </c:extLst>
          </c:dPt>
          <c:dPt>
            <c:idx val="4"/>
            <c:bubble3D val="0"/>
            <c:spPr>
              <a:solidFill>
                <a:srgbClr val="C55A11"/>
              </a:solidFill>
              <a:ln w="19050">
                <a:solidFill>
                  <a:schemeClr val="lt1"/>
                </a:solidFill>
              </a:ln>
              <a:effectLst/>
            </c:spPr>
            <c:extLst>
              <c:ext xmlns:c16="http://schemas.microsoft.com/office/drawing/2014/chart" uri="{C3380CC4-5D6E-409C-BE32-E72D297353CC}">
                <c16:uniqueId val="{00000009-B244-4689-811E-78BDDD0C373B}"/>
              </c:ext>
            </c:extLst>
          </c:dPt>
          <c:cat>
            <c:strRef>
              <c:f>Sheet1!$A$2:$A$6</c:f>
              <c:strCache>
                <c:ptCount val="4"/>
                <c:pt idx="3">
                  <c:v>第四季度</c:v>
                </c:pt>
              </c:strCache>
            </c:strRef>
          </c:cat>
          <c:val>
            <c:numRef>
              <c:f>Sheet1!$B$2:$B$6</c:f>
              <c:numCache>
                <c:formatCode>General</c:formatCode>
                <c:ptCount val="5"/>
                <c:pt idx="0">
                  <c:v>20</c:v>
                </c:pt>
                <c:pt idx="1">
                  <c:v>20</c:v>
                </c:pt>
                <c:pt idx="2">
                  <c:v>20</c:v>
                </c:pt>
                <c:pt idx="3">
                  <c:v>20</c:v>
                </c:pt>
                <c:pt idx="4">
                  <c:v>20</c:v>
                </c:pt>
              </c:numCache>
            </c:numRef>
          </c:val>
          <c:extLst>
            <c:ext xmlns:c16="http://schemas.microsoft.com/office/drawing/2014/chart" uri="{C3380CC4-5D6E-409C-BE32-E72D297353CC}">
              <c16:uniqueId val="{0000000A-B244-4689-811E-78BDDD0C373B}"/>
            </c:ext>
          </c:extLst>
        </c:ser>
        <c:dLbls>
          <c:showLegendKey val="0"/>
          <c:showVal val="0"/>
          <c:showCatName val="0"/>
          <c:showSerName val="0"/>
          <c:showPercent val="0"/>
          <c:showBubbleSize val="0"/>
          <c:showLeaderLines val="1"/>
        </c:dLbls>
        <c:firstSliceAng val="0"/>
        <c:holeSize val="75"/>
      </c:doughnutChart>
      <c:spPr>
        <a:noFill/>
        <a:ln>
          <a:noFill/>
        </a:ln>
        <a:effectLst/>
      </c:spPr>
    </c:plotArea>
    <c:plotVisOnly val="1"/>
    <c:dispBlanksAs val="gap"/>
    <c:showDLblsOverMax val="0"/>
  </c:chart>
  <c:spPr>
    <a:noFill/>
    <a:ln>
      <a:noFill/>
    </a:ln>
    <a:effectLst/>
  </c:spPr>
  <c:txPr>
    <a:bodyPr/>
    <a:lstStyle/>
    <a:p>
      <a:pPr>
        <a:defRPr/>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rawings/_rels/vmlDrawing1.vml.rels><?xml version="1.0" encoding="UTF-8" standalone="yes"?>
<Relationships xmlns="http://schemas.openxmlformats.org/package/2006/relationships"><Relationship Id="rId1" Type="http://schemas.openxmlformats.org/officeDocument/2006/relationships/image" Target="../media/image36.png"/></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5.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D2EDC4-8AFC-1C49-835B-0E265181123F}" type="datetimeFigureOut">
              <a:rPr kumimoji="1" lang="zh-CN" altLang="en-US" smtClean="0"/>
              <a:t>2019/10/22</a:t>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smtClean="0"/>
              <a:t>单击此处编辑母版文本样式</a:t>
            </a:r>
          </a:p>
          <a:p>
            <a:pPr lvl="1"/>
            <a:r>
              <a:rPr kumimoji="1" lang="zh-CN" altLang="en-US" smtClean="0"/>
              <a:t>二级</a:t>
            </a:r>
          </a:p>
          <a:p>
            <a:pPr lvl="2"/>
            <a:r>
              <a:rPr kumimoji="1" lang="zh-CN" altLang="en-US" smtClean="0"/>
              <a:t>三级</a:t>
            </a:r>
          </a:p>
          <a:p>
            <a:pPr lvl="3"/>
            <a:r>
              <a:rPr kumimoji="1" lang="zh-CN" altLang="en-US" smtClean="0"/>
              <a:t>四级</a:t>
            </a:r>
          </a:p>
          <a:p>
            <a:pPr lvl="4"/>
            <a:r>
              <a:rPr kumimoji="1" lang="zh-CN" altLang="en-US" smtClean="0"/>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AE280-30E1-854D-AB99-8F9C09DB548A}" type="slidenum">
              <a:rPr kumimoji="1" lang="zh-CN" altLang="en-US" smtClean="0"/>
              <a:t>‹#›</a:t>
            </a:fld>
            <a:endParaRPr kumimoji="1" lang="zh-CN" altLang="en-US"/>
          </a:p>
        </p:txBody>
      </p:sp>
    </p:spTree>
    <p:extLst>
      <p:ext uri="{BB962C8B-B14F-4D97-AF65-F5344CB8AC3E}">
        <p14:creationId xmlns:p14="http://schemas.microsoft.com/office/powerpoint/2010/main" val="3395676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E73910-F208-4636-A090-B1B04B1D62D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61725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E38F04A-84B0-4E5D-A1A7-EE43D6EF2A6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623987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15362" name="幻灯片图像占位符 1"/>
          <p:cNvSpPr>
            <a:spLocks noGrp="1" noRot="1" noChangeAspect="1" noTextEdit="1"/>
          </p:cNvSpPr>
          <p:nvPr>
            <p:ph type="sldImg"/>
          </p:nvPr>
        </p:nvSpPr>
        <p:spPr>
          <a:noFill/>
          <a:ln w="12700">
            <a:solidFill>
              <a:srgbClr val="000000"/>
            </a:solidFill>
            <a:miter lim="800000"/>
          </a:ln>
        </p:spPr>
      </p:sp>
      <p:sp>
        <p:nvSpPr>
          <p:cNvPr id="15363" name="备注占位符 2"/>
          <p:cNvSpPr>
            <a:spLocks noGrp="1" noChangeArrowheads="1"/>
          </p:cNvSpPr>
          <p:nvPr>
            <p:ph type="body" idx="1"/>
          </p:nvPr>
        </p:nvSpPr>
        <p:spPr>
          <a:noFill/>
          <a:extLst>
            <a:ext uri="{91240B29-F687-4F45-9708-019B960494DF}">
              <a14:hiddenLine xmlns:a14="http://schemas.microsoft.com/office/drawing/2010/main" w="12700">
                <a:solidFill>
                  <a:srgbClr val="000000"/>
                </a:solidFill>
                <a:miter lim="800000"/>
                <a:headEnd/>
                <a:tailEnd/>
              </a14:hiddenLine>
            </a:ext>
          </a:extLst>
        </p:spPr>
        <p:txBody>
          <a:bodyPr anchor="t"/>
          <a:lstStyle/>
          <a:p>
            <a:pPr eaLnBrk="1" hangingPunct="1"/>
            <a:endParaRPr lang="zh-CN" altLang="en-US"/>
          </a:p>
        </p:txBody>
      </p:sp>
      <p:sp>
        <p:nvSpPr>
          <p:cNvPr id="15364" name="灯片编号占位符 3"/>
          <p:cNvSpPr txBox="1">
            <a:spLocks noGrp="1"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31141FA9-993B-451A-8EBF-772FDA2B869E}" type="slidenum">
              <a:rPr kumimoji="0" lang="zh-CN" altLang="en-US" sz="1200" b="0" i="0" u="none" strike="noStrike" kern="1200" cap="none" spc="0" normalizeH="0" baseline="0" noProof="0">
                <a:ln>
                  <a:noFill/>
                </a:ln>
                <a:solidFill>
                  <a:prstClr val="black"/>
                </a:solidFill>
                <a:effectLst/>
                <a:uLnTx/>
                <a:uFillTx/>
                <a:latin typeface="Calibri" panose="020F05020202040A020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A0204" charset="0"/>
              <a:ea typeface="宋体" panose="02010600030101010101" pitchFamily="2" charset="-122"/>
              <a:cs typeface="+mn-cs"/>
            </a:endParaRPr>
          </a:p>
        </p:txBody>
      </p:sp>
    </p:spTree>
    <p:extLst>
      <p:ext uri="{BB962C8B-B14F-4D97-AF65-F5344CB8AC3E}">
        <p14:creationId xmlns:p14="http://schemas.microsoft.com/office/powerpoint/2010/main" val="1958347549"/>
      </p:ext>
    </p:extLst>
  </p:cSld>
  <p:clrMapOvr>
    <a:overrideClrMapping bg1="lt1" tx1="dk1" bg2="lt2" tx2="dk2" accent1="accent1" accent2="accent2" accent3="accent3" accent4="accent4" accent5="accent5" accent6="accent6" hlink="hlink" folHlink="folHlink"/>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75769E8-19F7-47D4-AFC6-D17EEAD4A98C}"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6633421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E38F04A-84B0-4E5D-A1A7-EE43D6EF2A6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46667923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p:cSld>
    <p:bg bwMode="auto">
      <p:bgPr>
        <a:solidFill>
          <a:srgbClr val="FFFFFF"/>
        </a:solidFill>
        <a:effectLst/>
      </p:bgPr>
    </p:bg>
    <p:spTree>
      <p:nvGrpSpPr>
        <p:cNvPr id="1" name=""/>
        <p:cNvGrpSpPr/>
        <p:nvPr/>
      </p:nvGrpSpPr>
      <p:grpSpPr>
        <a:xfrm>
          <a:off x="0" y="0"/>
          <a:ext cx="0" cy="0"/>
          <a:chOff x="0" y="0"/>
          <a:chExt cx="0" cy="0"/>
        </a:xfrm>
      </p:grpSpPr>
      <p:sp>
        <p:nvSpPr>
          <p:cNvPr id="81922" name="幻灯片图像占位符 1"/>
          <p:cNvSpPr>
            <a:spLocks noGrp="1" noRot="1" noChangeAspect="1" noTextEdit="1"/>
          </p:cNvSpPr>
          <p:nvPr>
            <p:ph type="sldImg"/>
          </p:nvPr>
        </p:nvSpPr>
        <p:spPr>
          <a:ln w="12700">
            <a:solidFill>
              <a:srgbClr val="000000"/>
            </a:solidFill>
            <a:miter lim="800000"/>
          </a:ln>
        </p:spPr>
      </p:sp>
      <p:sp>
        <p:nvSpPr>
          <p:cNvPr id="81923" name="备注占位符 2"/>
          <p:cNvSpPr>
            <a:spLocks noGrp="1" noChangeArrowheads="1"/>
          </p:cNvSpPr>
          <p:nvPr>
            <p:ph type="body" idx="1"/>
          </p:nvPr>
        </p:nvSpPr>
        <p:spPr>
          <a:noFill/>
          <a:extLst>
            <a:ext uri="{91240B29-F687-4F45-9708-019B960494DF}">
              <a14:hiddenLine xmlns:a14="http://schemas.microsoft.com/office/drawing/2010/main" w="12700">
                <a:solidFill>
                  <a:srgbClr val="000000"/>
                </a:solidFill>
                <a:miter lim="800000"/>
                <a:headEnd/>
                <a:tailEnd/>
              </a14:hiddenLine>
            </a:ext>
          </a:extLst>
        </p:spPr>
        <p:txBody>
          <a:bodyPr anchor="t"/>
          <a:lstStyle/>
          <a:p>
            <a:pPr eaLnBrk="1" hangingPunct="1">
              <a:spcBef>
                <a:spcPct val="0"/>
              </a:spcBef>
            </a:pPr>
            <a:endParaRPr lang="zh-CN" altLang="en-US" smtClean="0"/>
          </a:p>
        </p:txBody>
      </p:sp>
      <p:sp>
        <p:nvSpPr>
          <p:cNvPr id="81924" name="灯片编号占位符 3"/>
          <p:cNvSpPr txBox="1">
            <a:spLocks noGrp="1" noChangeArrowheads="1"/>
          </p:cNvSpPr>
          <p:nvPr/>
        </p:nvSpPr>
        <p:spPr bwMode="auto">
          <a:xfrm>
            <a:off x="3884613" y="8685213"/>
            <a:ext cx="2971800" cy="458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Calibri" panose="020F05020202040A0204" charset="0"/>
                <a:ea typeface="宋体" panose="02010600030101010101" pitchFamily="2" charset="-122"/>
              </a:defRPr>
            </a:lvl1pPr>
            <a:lvl2pPr marL="742950" indent="-285750">
              <a:defRPr>
                <a:solidFill>
                  <a:schemeClr val="tx1"/>
                </a:solidFill>
                <a:latin typeface="Calibri" panose="020F05020202040A0204" charset="0"/>
                <a:ea typeface="宋体" panose="02010600030101010101" pitchFamily="2" charset="-122"/>
              </a:defRPr>
            </a:lvl2pPr>
            <a:lvl3pPr marL="1143000" indent="-228600">
              <a:defRPr>
                <a:solidFill>
                  <a:schemeClr val="tx1"/>
                </a:solidFill>
                <a:latin typeface="Calibri" panose="020F05020202040A0204" charset="0"/>
                <a:ea typeface="宋体" panose="02010600030101010101" pitchFamily="2" charset="-122"/>
              </a:defRPr>
            </a:lvl3pPr>
            <a:lvl4pPr marL="1600200" indent="-228600">
              <a:defRPr>
                <a:solidFill>
                  <a:schemeClr val="tx1"/>
                </a:solidFill>
                <a:latin typeface="Calibri" panose="020F05020202040A0204" charset="0"/>
                <a:ea typeface="宋体" panose="02010600030101010101" pitchFamily="2" charset="-122"/>
              </a:defRPr>
            </a:lvl4pPr>
            <a:lvl5pPr marL="2057400" indent="-228600">
              <a:defRPr>
                <a:solidFill>
                  <a:schemeClr val="tx1"/>
                </a:solidFill>
                <a:latin typeface="Calibri" panose="020F05020202040A020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A020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A020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A020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A020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fld id="{3617B08A-1698-4969-95FC-CE20CD09A035}" type="slidenum">
              <a:rPr kumimoji="0" lang="zh-CN" altLang="en-US" sz="1200" b="0" i="0" u="none" strike="noStrike" kern="1200" cap="none" spc="0" normalizeH="0" baseline="0" noProof="0">
                <a:ln>
                  <a:noFill/>
                </a:ln>
                <a:solidFill>
                  <a:prstClr val="black"/>
                </a:solidFill>
                <a:effectLst/>
                <a:uLnTx/>
                <a:uFillTx/>
                <a:latin typeface="Calibri" panose="020F05020202040A020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 typeface="Arial" panose="020B0604020202020204" pitchFamily="34" charset="0"/>
                <a:buNone/>
                <a:tabLst/>
                <a:defRPr/>
              </a:pPr>
              <a:t>19</a:t>
            </a:fld>
            <a:endParaRPr kumimoji="0" lang="zh-CN" altLang="en-US" sz="1200" b="0" i="0" u="none" strike="noStrike" kern="1200" cap="none" spc="0" normalizeH="0" baseline="0" noProof="0">
              <a:ln>
                <a:noFill/>
              </a:ln>
              <a:solidFill>
                <a:prstClr val="black"/>
              </a:solidFill>
              <a:effectLst/>
              <a:uLnTx/>
              <a:uFillTx/>
              <a:latin typeface="Calibri" panose="020F05020202040A0204" charset="0"/>
              <a:ea typeface="宋体" panose="02010600030101010101" pitchFamily="2" charset="-122"/>
              <a:cs typeface="+mn-cs"/>
            </a:endParaRPr>
          </a:p>
        </p:txBody>
      </p:sp>
    </p:spTree>
    <p:extLst>
      <p:ext uri="{BB962C8B-B14F-4D97-AF65-F5344CB8AC3E}">
        <p14:creationId xmlns:p14="http://schemas.microsoft.com/office/powerpoint/2010/main" val="3882250914"/>
      </p:ext>
    </p:extLst>
  </p:cSld>
  <p:clrMapOvr>
    <a:overrideClrMapping bg1="lt1" tx1="dk1" bg2="lt2" tx2="dk2" accent1="accent1" accent2="accent2" accent3="accent3" accent4="accent4" accent5="accent5" accent6="accent6" hlink="hlink" folHlink="folHlink"/>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E38F04A-84B0-4E5D-A1A7-EE43D6EF2A6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2727964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4E38F04A-84B0-4E5D-A1A7-EE43D6EF2A66}"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831109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幻灯片图像占位符 1"/>
          <p:cNvSpPr>
            <a:spLocks noGrp="1" noRot="1" noChangeAspect="1" noTextEdit="1"/>
          </p:cNvSpPr>
          <p:nvPr>
            <p:ph type="sldImg"/>
          </p:nvPr>
        </p:nvSpPr>
        <p:spPr>
          <a:ln/>
        </p:spPr>
      </p:sp>
      <p:sp>
        <p:nvSpPr>
          <p:cNvPr id="4099" name="备注占位符 2"/>
          <p:cNvSpPr>
            <a:spLocks noGrp="1"/>
          </p:cNvSpPr>
          <p:nvPr>
            <p:ph type="body" idx="1"/>
          </p:nvPr>
        </p:nvSpPr>
        <p:spPr>
          <a:noFill/>
        </p:spPr>
        <p:txBody>
          <a:bodyPr/>
          <a:lstStyle/>
          <a:p>
            <a:endParaRPr lang="zh-CN" altLang="en-US" smtClean="0"/>
          </a:p>
        </p:txBody>
      </p:sp>
      <p:sp>
        <p:nvSpPr>
          <p:cNvPr id="4100" name="灯片编号占位符 3"/>
          <p:cNvSpPr>
            <a:spLocks noGrp="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4ECB0016-5933-4FA9-9347-8A78736DA649}" type="slidenum">
              <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32</a:t>
            </a:fld>
            <a:endPar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Tree>
    <p:extLst>
      <p:ext uri="{BB962C8B-B14F-4D97-AF65-F5344CB8AC3E}">
        <p14:creationId xmlns:p14="http://schemas.microsoft.com/office/powerpoint/2010/main" val="59586058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宋体" panose="02010600030101010101" pitchFamily="2" charset="-122"/>
              </a:defRPr>
            </a:lvl1pPr>
            <a:lvl2pPr marL="742950" indent="-285750">
              <a:spcBef>
                <a:spcPct val="30000"/>
              </a:spcBef>
              <a:defRPr sz="1200">
                <a:solidFill>
                  <a:schemeClr val="tx1"/>
                </a:solidFill>
                <a:latin typeface="Arial" panose="020B0604020202020204" pitchFamily="34" charset="0"/>
                <a:ea typeface="宋体" panose="02010600030101010101" pitchFamily="2" charset="-122"/>
              </a:defRPr>
            </a:lvl2pPr>
            <a:lvl3pPr marL="1143000" indent="-228600">
              <a:spcBef>
                <a:spcPct val="30000"/>
              </a:spcBef>
              <a:defRPr sz="1200">
                <a:solidFill>
                  <a:schemeClr val="tx1"/>
                </a:solidFill>
                <a:latin typeface="Arial" panose="020B0604020202020204" pitchFamily="34" charset="0"/>
                <a:ea typeface="宋体" panose="02010600030101010101" pitchFamily="2" charset="-122"/>
              </a:defRPr>
            </a:lvl3pPr>
            <a:lvl4pPr marL="1600200" indent="-228600">
              <a:spcBef>
                <a:spcPct val="30000"/>
              </a:spcBef>
              <a:defRPr sz="1200">
                <a:solidFill>
                  <a:schemeClr val="tx1"/>
                </a:solidFill>
                <a:latin typeface="Arial" panose="020B0604020202020204" pitchFamily="34" charset="0"/>
                <a:ea typeface="宋体" panose="02010600030101010101" pitchFamily="2" charset="-122"/>
              </a:defRPr>
            </a:lvl4pPr>
            <a:lvl5pPr marL="2057400" indent="-228600">
              <a:spcBef>
                <a:spcPct val="30000"/>
              </a:spcBef>
              <a:defRPr sz="12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A5E492B-8A4B-4043-A14E-EC4BDB660EC0}" type="slidenum">
              <a:rPr kumimoji="0" lang="zh-CN" altLang="en-US"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33</a:t>
            </a:fld>
            <a:endPar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6147" name="Rectangle 2"/>
          <p:cNvSpPr>
            <a:spLocks noGrp="1" noRot="1" noChangeAspect="1" noChangeArrowheads="1" noTextEdit="1"/>
          </p:cNvSpPr>
          <p:nvPr>
            <p:ph type="sldImg"/>
          </p:nvPr>
        </p:nvSpPr>
        <p:spPr>
          <a:ln/>
        </p:spPr>
      </p:sp>
      <p:sp>
        <p:nvSpPr>
          <p:cNvPr id="6148" name="Rectangle 3"/>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en-US" smtClean="0"/>
          </a:p>
        </p:txBody>
      </p:sp>
    </p:spTree>
    <p:extLst>
      <p:ext uri="{BB962C8B-B14F-4D97-AF65-F5344CB8AC3E}">
        <p14:creationId xmlns:p14="http://schemas.microsoft.com/office/powerpoint/2010/main" val="14223963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CE9B174-DD43-4322-A799-8FA1D4F0BA7B}" type="slidenum">
              <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34</a:t>
            </a:fld>
            <a:endPar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8195" name="Rectangle 2"/>
          <p:cNvSpPr>
            <a:spLocks noGrp="1" noRot="1" noChangeAspect="1" noChangeArrowheads="1" noTextEdit="1"/>
          </p:cNvSpPr>
          <p:nvPr>
            <p:ph type="sldImg"/>
          </p:nvPr>
        </p:nvSpPr>
        <p:spPr>
          <a:xfrm>
            <a:off x="396875" y="693738"/>
            <a:ext cx="6070600" cy="3414712"/>
          </a:xfrm>
          <a:ln/>
        </p:spPr>
      </p:sp>
      <p:sp>
        <p:nvSpPr>
          <p:cNvPr id="8196" name="Rectangle 3"/>
          <p:cNvSpPr>
            <a:spLocks noGrp="1" noChangeArrowheads="1"/>
          </p:cNvSpPr>
          <p:nvPr>
            <p:ph type="body" idx="1"/>
          </p:nvPr>
        </p:nvSpPr>
        <p:spPr>
          <a:xfrm>
            <a:off x="915988" y="4340225"/>
            <a:ext cx="5026025" cy="4114800"/>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892" tIns="45448" rIns="90892" bIns="45448"/>
          <a:lstStyle/>
          <a:p>
            <a:pPr eaLnBrk="1" hangingPunct="1"/>
            <a:endParaRPr lang="zh-CN" altLang="zh-CN" smtClean="0"/>
          </a:p>
        </p:txBody>
      </p:sp>
    </p:spTree>
    <p:extLst>
      <p:ext uri="{BB962C8B-B14F-4D97-AF65-F5344CB8AC3E}">
        <p14:creationId xmlns:p14="http://schemas.microsoft.com/office/powerpoint/2010/main" val="1984767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7"/>
          <p:cNvSpPr>
            <a:spLocks noGrp="1" noChangeArrowheads="1"/>
          </p:cNvSpPr>
          <p:nvPr>
            <p:ph type="sldNum" sz="quarter" idx="5"/>
          </p:nvPr>
        </p:nvSpPr>
        <p:spPr>
          <a:noFill/>
        </p:spPr>
        <p:txBody>
          <a:bodyP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89A740F0-14FF-4DAE-9517-29F85B7891E9}" type="slidenum">
              <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54</a:t>
            </a:fld>
            <a:endParaRPr kumimoji="0" lang="en-US" altLang="zh-CN" sz="1200" b="0" i="0" u="none" strike="noStrike" kern="1200" cap="none" spc="0" normalizeH="0" baseline="0" noProof="0" smtClean="0">
              <a:ln>
                <a:noFill/>
              </a:ln>
              <a:solidFill>
                <a:srgbClr val="000000"/>
              </a:solidFill>
              <a:effectLst/>
              <a:uLnTx/>
              <a:uFillTx/>
              <a:latin typeface="Arial" panose="020B0604020202020204" pitchFamily="34" charset="0"/>
              <a:ea typeface="宋体" panose="02010600030101010101" pitchFamily="2" charset="-122"/>
              <a:cs typeface="+mn-cs"/>
            </a:endParaRPr>
          </a:p>
        </p:txBody>
      </p:sp>
      <p:sp>
        <p:nvSpPr>
          <p:cNvPr id="29699" name="Rectangle 2"/>
          <p:cNvSpPr>
            <a:spLocks noGrp="1" noRot="1" noChangeAspect="1" noChangeArrowheads="1" noTextEdit="1"/>
          </p:cNvSpPr>
          <p:nvPr>
            <p:ph type="sldImg"/>
          </p:nvPr>
        </p:nvSpPr>
        <p:spPr>
          <a:xfrm>
            <a:off x="1192213" y="706438"/>
            <a:ext cx="4518025" cy="3387725"/>
          </a:xfrm>
          <a:ln/>
        </p:spPr>
      </p:sp>
      <p:sp>
        <p:nvSpPr>
          <p:cNvPr id="29700" name="Rectangle 3"/>
          <p:cNvSpPr>
            <a:spLocks noGrp="1" noChangeArrowheads="1"/>
          </p:cNvSpPr>
          <p:nvPr>
            <p:ph type="body" idx="1"/>
          </p:nvPr>
        </p:nvSpPr>
        <p:spPr>
          <a:xfrm>
            <a:off x="941388" y="4375150"/>
            <a:ext cx="5019675" cy="4094163"/>
          </a:xfrm>
          <a:noFill/>
        </p:spPr>
        <p:txBody>
          <a:bodyPr/>
          <a:lstStyle/>
          <a:p>
            <a:pPr eaLnBrk="1" hangingPunct="1"/>
            <a:endParaRPr lang="zh-CN" altLang="zh-CN" smtClean="0"/>
          </a:p>
        </p:txBody>
      </p:sp>
    </p:spTree>
    <p:extLst>
      <p:ext uri="{BB962C8B-B14F-4D97-AF65-F5344CB8AC3E}">
        <p14:creationId xmlns:p14="http://schemas.microsoft.com/office/powerpoint/2010/main" val="38569471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13.png"/><Relationship Id="rId18" Type="http://schemas.openxmlformats.org/officeDocument/2006/relationships/image" Target="../media/image18.png"/><Relationship Id="rId3" Type="http://schemas.openxmlformats.org/officeDocument/2006/relationships/image" Target="../media/image3.png"/><Relationship Id="rId21" Type="http://schemas.openxmlformats.org/officeDocument/2006/relationships/image" Target="../media/image21.png"/><Relationship Id="rId7" Type="http://schemas.openxmlformats.org/officeDocument/2006/relationships/image" Target="../media/image7.png"/><Relationship Id="rId12" Type="http://schemas.openxmlformats.org/officeDocument/2006/relationships/image" Target="../media/image12.png"/><Relationship Id="rId17" Type="http://schemas.openxmlformats.org/officeDocument/2006/relationships/image" Target="../media/image17.png"/><Relationship Id="rId2" Type="http://schemas.openxmlformats.org/officeDocument/2006/relationships/image" Target="../media/image2.png"/><Relationship Id="rId16" Type="http://schemas.openxmlformats.org/officeDocument/2006/relationships/image" Target="../media/image16.png"/><Relationship Id="rId20" Type="http://schemas.openxmlformats.org/officeDocument/2006/relationships/image" Target="../media/image20.png"/><Relationship Id="rId1" Type="http://schemas.openxmlformats.org/officeDocument/2006/relationships/slideMaster" Target="../slideMasters/slideMaster2.xml"/><Relationship Id="rId6" Type="http://schemas.openxmlformats.org/officeDocument/2006/relationships/image" Target="../media/image6.png"/><Relationship Id="rId11" Type="http://schemas.openxmlformats.org/officeDocument/2006/relationships/image" Target="../media/image11.png"/><Relationship Id="rId5" Type="http://schemas.openxmlformats.org/officeDocument/2006/relationships/image" Target="../media/image5.png"/><Relationship Id="rId15" Type="http://schemas.openxmlformats.org/officeDocument/2006/relationships/image" Target="../media/image15.png"/><Relationship Id="rId10" Type="http://schemas.openxmlformats.org/officeDocument/2006/relationships/image" Target="../media/image10.png"/><Relationship Id="rId19" Type="http://schemas.openxmlformats.org/officeDocument/2006/relationships/image" Target="../media/image19.png"/><Relationship Id="rId4" Type="http://schemas.openxmlformats.org/officeDocument/2006/relationships/image" Target="../media/image4.png"/><Relationship Id="rId9" Type="http://schemas.openxmlformats.org/officeDocument/2006/relationships/image" Target="../media/image9.png"/><Relationship Id="rId14" Type="http://schemas.openxmlformats.org/officeDocument/2006/relationships/image" Target="../media/image1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2.jp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69A6F43A-B774-498D-A23E-BDBFB3D69FFE}"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31078470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A6F43A-B774-498D-A23E-BDBFB3D69FFE}"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164071277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69A6F43A-B774-498D-A23E-BDBFB3D69FFE}"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36811233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69A6F43A-B774-498D-A23E-BDBFB3D69FFE}" type="datetimeFigureOut">
              <a:rPr lang="zh-CN" altLang="en-US" smtClean="0"/>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4068740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69A6F43A-B774-498D-A23E-BDBFB3D69FFE}" type="datetimeFigureOut">
              <a:rPr lang="zh-CN" altLang="en-US" smtClean="0"/>
              <a:t>2019/10/22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5066219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69A6F43A-B774-498D-A23E-BDBFB3D69FFE}" type="datetimeFigureOut">
              <a:rPr lang="zh-CN" altLang="en-US" smtClean="0"/>
              <a:t>2019/10/22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5402457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69A6F43A-B774-498D-A23E-BDBFB3D69FFE}" type="datetimeFigureOut">
              <a:rPr lang="zh-CN" altLang="en-US" smtClean="0"/>
              <a:t>2019/10/22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49604243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9A6F43A-B774-498D-A23E-BDBFB3D69FFE}" type="datetimeFigureOut">
              <a:rPr lang="zh-CN" altLang="en-US" smtClean="0"/>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4920519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69A6F43A-B774-498D-A23E-BDBFB3D69FFE}" type="datetimeFigureOut">
              <a:rPr lang="zh-CN" altLang="en-US" smtClean="0"/>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255469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A6F43A-B774-498D-A23E-BDBFB3D69FFE}"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26233201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69A6F43A-B774-498D-A23E-BDBFB3D69FFE}"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40671023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pic>
        <p:nvPicPr>
          <p:cNvPr id="4" name="Picture 2" descr="C:\Users\iamisis\Desktop\崔老师的PPT\bghome0.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
            <a:ext cx="12192000" cy="68595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3" descr="D:\TDDOWNLOAD\win8风格图标\PNG\Communications\Blue\MB_0018_note1.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813229" y="2353360"/>
            <a:ext cx="920511" cy="9207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6" descr="C:\Users\iamisis\Desktop\MetroStation_2.0_XiaZaiBa\metrostation_by_yankoa-d312tty\PNG\Others\Blue\MB_0001_pin.pn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166239" y="2332723"/>
            <a:ext cx="933207"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8" descr="C:\Users\iamisis\Desktop\MetroStation_2.0_XiaZaiBa\metrostation_by_yankoa-d312tty\PNG\Network\Blue\MB_0036_search.png"/>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099445" y="2353360"/>
            <a:ext cx="917336" cy="911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descr="C:\Users\iamisis\Desktop\MetroStation_2.0_XiaZaiBa\metrostation_by_yankoa-d312tty\PNG\Suites\Blue\MB_0029_programs.png"/>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5016782" y="2332723"/>
            <a:ext cx="931620"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4" descr="C:\Users\iamisis\Desktop\MetroStation_2.0_XiaZaiBa\metrostation_by_yankoa-d312tty\PNG\Media\Blue\MB_0018_viewer.pn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948402" y="2332723"/>
            <a:ext cx="931620"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9" descr="C:\Users\iamisis\Desktop\MetroStation_2.0_XiaZaiBa\metrostation_by_yankoa-d312tty\PNG\Navigation\blue\MB_0014_world1.png"/>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6880022" y="2343835"/>
            <a:ext cx="933207" cy="931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2" descr="PPECLOGO-eff-0-1"/>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904233" y="4548188"/>
            <a:ext cx="834808" cy="5032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 name="Picture 3" descr="PPECLOGO-eff-0-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7367257" y="4522789"/>
            <a:ext cx="772912"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Picture 5" descr="PPECLOGO-eff-0-1"/>
          <p:cNvPicPr>
            <a:picLocks noChangeAspect="1" noChangeArrowheads="1"/>
          </p:cNvPicPr>
          <p:nvPr/>
        </p:nvPicPr>
        <p:blipFill>
          <a:blip r:embed="rId11" cstate="print">
            <a:extLst>
              <a:ext uri="{28A0092B-C50C-407E-A947-70E740481C1C}">
                <a14:useLocalDpi xmlns:a14="http://schemas.microsoft.com/office/drawing/2010/main" val="0"/>
              </a:ext>
            </a:extLst>
          </a:blip>
          <a:srcRect/>
          <a:stretch>
            <a:fillRect/>
          </a:stretch>
        </p:blipFill>
        <p:spPr bwMode="auto">
          <a:xfrm>
            <a:off x="4158167" y="5105401"/>
            <a:ext cx="412643" cy="2492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Picture 6" descr="PPECLOGO-eff-0-1"/>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6446747" y="4559301"/>
            <a:ext cx="315831"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Picture 7" descr="PPECLOGO-eff-0-1"/>
          <p:cNvPicPr>
            <a:picLocks noChangeAspect="1" noChangeArrowheads="1"/>
          </p:cNvPicPr>
          <p:nvPr/>
        </p:nvPicPr>
        <p:blipFill>
          <a:blip r:embed="rId13" cstate="print">
            <a:extLst>
              <a:ext uri="{28A0092B-C50C-407E-A947-70E740481C1C}">
                <a14:useLocalDpi xmlns:a14="http://schemas.microsoft.com/office/drawing/2010/main" val="0"/>
              </a:ext>
            </a:extLst>
          </a:blip>
          <a:srcRect/>
          <a:stretch>
            <a:fillRect/>
          </a:stretch>
        </p:blipFill>
        <p:spPr bwMode="auto">
          <a:xfrm>
            <a:off x="5078678" y="5146677"/>
            <a:ext cx="155535" cy="9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Picture 8" descr="PPECLOGO-eff-0-2"/>
          <p:cNvPicPr>
            <a:picLocks noChangeAspect="1" noChangeArrowheads="1"/>
          </p:cNvPicPr>
          <p:nvPr/>
        </p:nvPicPr>
        <p:blipFill>
          <a:blip r:embed="rId10" cstate="print">
            <a:extLst>
              <a:ext uri="{28A0092B-C50C-407E-A947-70E740481C1C}">
                <a14:useLocalDpi xmlns:a14="http://schemas.microsoft.com/office/drawing/2010/main" val="0"/>
              </a:ext>
            </a:extLst>
          </a:blip>
          <a:srcRect/>
          <a:stretch>
            <a:fillRect/>
          </a:stretch>
        </p:blipFill>
        <p:spPr bwMode="auto">
          <a:xfrm>
            <a:off x="4796176" y="4351339"/>
            <a:ext cx="772912" cy="473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Picture 9" descr="PPECLOGO-eff-5-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209090" y="4749801"/>
            <a:ext cx="1163335"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Picture 10" descr="PPECLOGO-eff-5-2"/>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872357" y="4868864"/>
            <a:ext cx="1444249" cy="904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Picture 11" descr="PPECLOGO-eff-5-4"/>
          <p:cNvPicPr>
            <a:picLocks noChangeAspect="1" noChangeArrowheads="1"/>
          </p:cNvPicPr>
          <p:nvPr/>
        </p:nvPicPr>
        <p:blipFill>
          <a:blip r:embed="rId16" cstate="print">
            <a:extLst>
              <a:ext uri="{28A0092B-C50C-407E-A947-70E740481C1C}">
                <a14:useLocalDpi xmlns:a14="http://schemas.microsoft.com/office/drawing/2010/main" val="0"/>
              </a:ext>
            </a:extLst>
          </a:blip>
          <a:srcRect/>
          <a:stretch>
            <a:fillRect/>
          </a:stretch>
        </p:blipFill>
        <p:spPr bwMode="auto">
          <a:xfrm>
            <a:off x="8424257" y="4446590"/>
            <a:ext cx="879247" cy="536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Picture 12" descr="PPECLOGO-eff-0-1"/>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6894305" y="5013325"/>
            <a:ext cx="411056" cy="2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Picture 13" descr="PPECLOGO-eff-0-1"/>
          <p:cNvPicPr>
            <a:picLocks noChangeAspect="1" noChangeArrowheads="1"/>
          </p:cNvPicPr>
          <p:nvPr/>
        </p:nvPicPr>
        <p:blipFill>
          <a:blip r:embed="rId17" cstate="print">
            <a:extLst>
              <a:ext uri="{28A0092B-C50C-407E-A947-70E740481C1C}">
                <a14:useLocalDpi xmlns:a14="http://schemas.microsoft.com/office/drawing/2010/main" val="0"/>
              </a:ext>
            </a:extLst>
          </a:blip>
          <a:srcRect/>
          <a:stretch>
            <a:fillRect/>
          </a:stretch>
        </p:blipFill>
        <p:spPr bwMode="auto">
          <a:xfrm>
            <a:off x="9500301" y="4219575"/>
            <a:ext cx="411056" cy="2476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Picture 14" descr="PPECLOGO-eff2-1-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280646" y="4508501"/>
            <a:ext cx="1336327" cy="900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Picture 15" descr="PPECLOGO-eff2-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3777267" y="4459288"/>
            <a:ext cx="344399"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Picture 16" descr="PPECLOGO-eff2-1-4"/>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7348212" y="4824414"/>
            <a:ext cx="553893" cy="3698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 name="Picture 17" descr="PPECLOGO-eff2-1-3"/>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7913215" y="4562475"/>
            <a:ext cx="284089" cy="19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6" name="Picture 18" descr="PPECLOGO-eff2-1-3"/>
          <p:cNvPicPr>
            <a:picLocks noChangeAspect="1" noChangeArrowheads="1"/>
          </p:cNvPicPr>
          <p:nvPr/>
        </p:nvPicPr>
        <p:blipFill>
          <a:blip r:embed="rId21" cstate="print">
            <a:extLst>
              <a:ext uri="{28A0092B-C50C-407E-A947-70E740481C1C}">
                <a14:useLocalDpi xmlns:a14="http://schemas.microsoft.com/office/drawing/2010/main" val="0"/>
              </a:ext>
            </a:extLst>
          </a:blip>
          <a:srcRect/>
          <a:stretch>
            <a:fillRect/>
          </a:stretch>
        </p:blipFill>
        <p:spPr bwMode="auto">
          <a:xfrm>
            <a:off x="8313160" y="4900614"/>
            <a:ext cx="222192" cy="149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4" name="Rectangle 2"/>
          <p:cNvSpPr>
            <a:spLocks noGrp="1" noChangeArrowheads="1"/>
          </p:cNvSpPr>
          <p:nvPr>
            <p:ph type="ctrTitle"/>
          </p:nvPr>
        </p:nvSpPr>
        <p:spPr>
          <a:xfrm>
            <a:off x="2851200" y="4413600"/>
            <a:ext cx="7892583" cy="893763"/>
          </a:xfrm>
        </p:spPr>
        <p:txBody>
          <a:bodyPr/>
          <a:lstStyle>
            <a:lvl1pPr algn="l">
              <a:defRPr sz="3200" b="1" baseline="0">
                <a:solidFill>
                  <a:schemeClr val="bg1"/>
                </a:solidFill>
              </a:defRPr>
            </a:lvl1pPr>
          </a:lstStyle>
          <a:p>
            <a:pPr lvl="0"/>
            <a:r>
              <a:rPr lang="zh-CN" altLang="en-US" noProof="0" smtClean="0"/>
              <a:t>单击此处编辑母版标题样式</a:t>
            </a:r>
          </a:p>
        </p:txBody>
      </p:sp>
      <p:sp>
        <p:nvSpPr>
          <p:cNvPr id="3075" name="Rectangle 3"/>
          <p:cNvSpPr>
            <a:spLocks noGrp="1" noChangeArrowheads="1"/>
          </p:cNvSpPr>
          <p:nvPr>
            <p:ph type="subTitle" idx="1"/>
          </p:nvPr>
        </p:nvSpPr>
        <p:spPr>
          <a:xfrm>
            <a:off x="2847600" y="5378333"/>
            <a:ext cx="7899098" cy="530224"/>
          </a:xfrm>
        </p:spPr>
        <p:txBody>
          <a:bodyPr/>
          <a:lstStyle>
            <a:lvl1pPr marL="0" indent="0" algn="l">
              <a:buFontTx/>
              <a:buNone/>
              <a:defRPr baseline="0">
                <a:solidFill>
                  <a:schemeClr val="bg1"/>
                </a:solidFill>
              </a:defRPr>
            </a:lvl1pPr>
          </a:lstStyle>
          <a:p>
            <a:pPr lvl="0"/>
            <a:r>
              <a:rPr lang="zh-CN" altLang="en-US" noProof="0" smtClean="0"/>
              <a:t>单击此处编辑母版副标题样式</a:t>
            </a:r>
          </a:p>
        </p:txBody>
      </p:sp>
      <p:sp>
        <p:nvSpPr>
          <p:cNvPr id="27" name="Rectangle 4"/>
          <p:cNvSpPr>
            <a:spLocks noGrp="1" noChangeArrowheads="1"/>
          </p:cNvSpPr>
          <p:nvPr>
            <p:ph type="dt" sz="half" idx="10"/>
          </p:nvPr>
        </p:nvSpPr>
        <p:spPr/>
        <p:txBody>
          <a:bodyPr/>
          <a:lstStyle>
            <a:lvl1pPr>
              <a:defRPr baseline="0" smtClean="0"/>
            </a:lvl1pPr>
          </a:lstStyle>
          <a:p>
            <a:pPr>
              <a:defRPr/>
            </a:pPr>
            <a:endParaRPr lang="en-US" altLang="zh-CN"/>
          </a:p>
        </p:txBody>
      </p:sp>
      <p:sp>
        <p:nvSpPr>
          <p:cNvPr id="28" name="Rectangle 5"/>
          <p:cNvSpPr>
            <a:spLocks noGrp="1" noChangeArrowheads="1"/>
          </p:cNvSpPr>
          <p:nvPr>
            <p:ph type="ftr" sz="quarter" idx="11"/>
          </p:nvPr>
        </p:nvSpPr>
        <p:spPr/>
        <p:txBody>
          <a:bodyPr/>
          <a:lstStyle>
            <a:lvl1pPr>
              <a:defRPr baseline="0" smtClean="0"/>
            </a:lvl1pPr>
          </a:lstStyle>
          <a:p>
            <a:pPr>
              <a:defRPr/>
            </a:pPr>
            <a:endParaRPr lang="en-US" altLang="zh-CN"/>
          </a:p>
        </p:txBody>
      </p:sp>
      <p:sp>
        <p:nvSpPr>
          <p:cNvPr id="29" name="Rectangle 6"/>
          <p:cNvSpPr>
            <a:spLocks noGrp="1" noChangeArrowheads="1"/>
          </p:cNvSpPr>
          <p:nvPr>
            <p:ph type="sldNum" sz="quarter" idx="12"/>
          </p:nvPr>
        </p:nvSpPr>
        <p:spPr/>
        <p:txBody>
          <a:bodyPr/>
          <a:lstStyle>
            <a:lvl1pPr>
              <a:defRPr baseline="0" smtClean="0"/>
            </a:lvl1pPr>
          </a:lstStyle>
          <a:p>
            <a:pPr>
              <a:defRPr/>
            </a:pPr>
            <a:fld id="{87E4BE33-EC1D-4BDB-8015-45DF6AF7B3DB}" type="slidenum">
              <a:rPr lang="en-US" altLang="zh-CN" smtClean="0"/>
              <a:t>‹#›</a:t>
            </a:fld>
            <a:endParaRPr lang="en-US" altLang="zh-CN"/>
          </a:p>
        </p:txBody>
      </p:sp>
    </p:spTree>
    <p:extLst>
      <p:ext uri="{BB962C8B-B14F-4D97-AF65-F5344CB8AC3E}">
        <p14:creationId xmlns:p14="http://schemas.microsoft.com/office/powerpoint/2010/main" val="264516965"/>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baseline="0">
                <a:solidFill>
                  <a:schemeClr val="accent1">
                    <a:lumMod val="75000"/>
                  </a:schemeClr>
                </a:solidFill>
              </a:defRPr>
            </a:lvl1p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lvl1pPr>
              <a:defRPr sz="2400" baseline="0">
                <a:solidFill>
                  <a:srgbClr val="000000"/>
                </a:solidFill>
              </a:defRPr>
            </a:lvl1pPr>
            <a:lvl2pPr>
              <a:defRPr sz="2000" baseline="0"/>
            </a:lvl2pPr>
          </a:lstStyle>
          <a:p>
            <a:pPr lvl="0"/>
            <a:r>
              <a:rPr lang="zh-CN" altLang="en-US" dirty="0" smtClean="0"/>
              <a:t>单击此处编辑母版文本样式</a:t>
            </a:r>
          </a:p>
          <a:p>
            <a:pPr lvl="2"/>
            <a:r>
              <a:rPr lang="zh-CN" altLang="en-US" dirty="0" smtClean="0"/>
              <a:t>第二级</a:t>
            </a:r>
          </a:p>
          <a:p>
            <a:pPr lvl="3"/>
            <a:r>
              <a:rPr lang="zh-CN" altLang="en-US" dirty="0" smtClean="0"/>
              <a:t>第三级</a:t>
            </a:r>
          </a:p>
          <a:p>
            <a:pPr lvl="4"/>
            <a:r>
              <a:rPr lang="zh-CN" altLang="en-US" dirty="0" smtClean="0"/>
              <a:t>第四级</a:t>
            </a:r>
          </a:p>
          <a:p>
            <a:pPr lvl="5"/>
            <a:r>
              <a:rPr lang="zh-CN" altLang="en-US" dirty="0" smtClean="0"/>
              <a:t>第五级</a:t>
            </a:r>
            <a:endParaRPr lang="zh-CN" altLang="en-US" dirty="0"/>
          </a:p>
        </p:txBody>
      </p:sp>
      <p:sp>
        <p:nvSpPr>
          <p:cNvPr id="4" name="Rectangle 4"/>
          <p:cNvSpPr>
            <a:spLocks noGrp="1" noChangeArrowheads="1"/>
          </p:cNvSpPr>
          <p:nvPr>
            <p:ph type="dt" sz="half" idx="10"/>
          </p:nvPr>
        </p:nvSpPr>
        <p:spPr/>
        <p:txBody>
          <a:bodyPr/>
          <a:lstStyle>
            <a:lvl1pPr>
              <a:defRPr baseline="0"/>
            </a:lvl1pPr>
          </a:lstStyle>
          <a:p>
            <a:fld id="{13D0CE79-49FB-443D-BEF8-6B709DE8FD0C}" type="datetimeFigureOut">
              <a:rPr lang="zh-CN" altLang="en-US" smtClean="0"/>
              <a:t>2019/10/22</a:t>
            </a:fld>
            <a:endParaRPr lang="zh-CN" altLang="en-US"/>
          </a:p>
        </p:txBody>
      </p:sp>
      <p:sp>
        <p:nvSpPr>
          <p:cNvPr id="5" name="Rectangle 5"/>
          <p:cNvSpPr>
            <a:spLocks noGrp="1" noChangeArrowheads="1"/>
          </p:cNvSpPr>
          <p:nvPr>
            <p:ph type="ftr" sz="quarter" idx="11"/>
          </p:nvPr>
        </p:nvSpPr>
        <p:spPr/>
        <p:txBody>
          <a:bodyPr/>
          <a:lstStyle>
            <a:lvl1pPr>
              <a:defRPr baseline="0"/>
            </a:lvl1pPr>
          </a:lstStyle>
          <a:p>
            <a:endParaRPr lang="zh-CN" altLang="en-US" dirty="0"/>
          </a:p>
        </p:txBody>
      </p:sp>
      <p:sp>
        <p:nvSpPr>
          <p:cNvPr id="6" name="Rectangle 6"/>
          <p:cNvSpPr>
            <a:spLocks noGrp="1" noChangeArrowheads="1"/>
          </p:cNvSpPr>
          <p:nvPr>
            <p:ph type="sldNum" sz="quarter" idx="12"/>
          </p:nvPr>
        </p:nvSpPr>
        <p:spPr/>
        <p:txBody>
          <a:bodyPr/>
          <a:lstStyle>
            <a:lvl1pPr>
              <a:defRPr baseline="0"/>
            </a:lvl1pPr>
          </a:lstStyle>
          <a:p>
            <a:fld id="{EF906490-237C-474C-BA2E-D98840BC1F8F}" type="slidenum">
              <a:rPr lang="zh-CN" altLang="en-US" smtClean="0"/>
              <a:t>‹#›</a:t>
            </a:fld>
            <a:endParaRPr lang="zh-CN" altLang="en-US" dirty="0"/>
          </a:p>
        </p:txBody>
      </p:sp>
    </p:spTree>
    <p:extLst>
      <p:ext uri="{BB962C8B-B14F-4D97-AF65-F5344CB8AC3E}">
        <p14:creationId xmlns:p14="http://schemas.microsoft.com/office/powerpoint/2010/main" val="1813158130"/>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pic>
        <p:nvPicPr>
          <p:cNvPr id="4" name="Picture 2" descr="C:\Users\iamisis\Desktop\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hasCustomPrompt="1"/>
          </p:nvPr>
        </p:nvSpPr>
        <p:spPr>
          <a:xfrm>
            <a:off x="3225600" y="2767263"/>
            <a:ext cx="5961600" cy="944337"/>
          </a:xfrm>
        </p:spPr>
        <p:txBody>
          <a:bodyPr anchor="b"/>
          <a:lstStyle>
            <a:lvl1pPr>
              <a:defRPr sz="6000"/>
            </a:lvl1pPr>
          </a:lstStyle>
          <a:p>
            <a:r>
              <a:rPr lang="zh-CN" altLang="en-US" dirty="0" smtClean="0"/>
              <a:t>编辑标题</a:t>
            </a:r>
            <a:endParaRPr lang="zh-CN" altLang="en-US" dirty="0"/>
          </a:p>
        </p:txBody>
      </p:sp>
      <p:sp>
        <p:nvSpPr>
          <p:cNvPr id="3" name="文本占位符 2"/>
          <p:cNvSpPr>
            <a:spLocks noGrp="1"/>
          </p:cNvSpPr>
          <p:nvPr>
            <p:ph type="body" idx="1"/>
          </p:nvPr>
        </p:nvSpPr>
        <p:spPr>
          <a:xfrm>
            <a:off x="3225600" y="3784613"/>
            <a:ext cx="7314064" cy="1485220"/>
          </a:xfrm>
        </p:spPr>
        <p:txBody>
          <a:bodyPr/>
          <a:lstStyle>
            <a:lvl1pPr marL="0" indent="0">
              <a:buNone/>
              <a:defRPr sz="2400"/>
            </a:lvl1pPr>
            <a:lvl2pPr marL="457200" indent="0">
              <a:buNone/>
              <a:defRPr sz="2000"/>
            </a:lvl2pPr>
            <a:lvl3pPr marL="914400" indent="0">
              <a:buNone/>
              <a:defRPr sz="1800"/>
            </a:lvl3pPr>
            <a:lvl4pPr marL="1370965" indent="0">
              <a:buNone/>
              <a:defRPr sz="1600"/>
            </a:lvl4pPr>
            <a:lvl5pPr marL="1828165" indent="0">
              <a:buNone/>
              <a:defRPr sz="1600"/>
            </a:lvl5pPr>
            <a:lvl6pPr marL="2285365" indent="0">
              <a:buNone/>
              <a:defRPr sz="1600"/>
            </a:lvl6pPr>
            <a:lvl7pPr marL="2742565" indent="0">
              <a:buNone/>
              <a:defRPr sz="1600"/>
            </a:lvl7pPr>
            <a:lvl8pPr marL="3199765" indent="0">
              <a:buNone/>
              <a:defRPr sz="1600"/>
            </a:lvl8pPr>
            <a:lvl9pPr marL="3656330" indent="0">
              <a:buNone/>
              <a:defRPr sz="1600"/>
            </a:lvl9pPr>
          </a:lstStyle>
          <a:p>
            <a:pPr lvl="0"/>
            <a:r>
              <a:rPr lang="zh-CN" altLang="en-US" dirty="0" smtClean="0"/>
              <a:t>单击此处编辑母版文本样式</a:t>
            </a:r>
          </a:p>
        </p:txBody>
      </p:sp>
      <p:sp>
        <p:nvSpPr>
          <p:cNvPr id="5" name="日期占位符 3"/>
          <p:cNvSpPr>
            <a:spLocks noGrp="1"/>
          </p:cNvSpPr>
          <p:nvPr>
            <p:ph type="dt" sz="half" idx="10"/>
          </p:nvPr>
        </p:nvSpPr>
        <p:spPr/>
        <p:txBody>
          <a:bodyPr/>
          <a:lstStyle>
            <a:lvl1pPr>
              <a:defRPr smtClean="0"/>
            </a:lvl1pPr>
          </a:lstStyle>
          <a:p>
            <a:fld id="{13D0CE79-49FB-443D-BEF8-6B709DE8FD0C}" type="datetimeFigureOut">
              <a:rPr lang="zh-CN" altLang="en-US" smtClean="0"/>
              <a:t>2019/10/22</a:t>
            </a:fld>
            <a:endParaRPr lang="zh-CN" altLang="en-US"/>
          </a:p>
        </p:txBody>
      </p:sp>
      <p:sp>
        <p:nvSpPr>
          <p:cNvPr id="6" name="页脚占位符 4"/>
          <p:cNvSpPr>
            <a:spLocks noGrp="1"/>
          </p:cNvSpPr>
          <p:nvPr>
            <p:ph type="ftr" sz="quarter" idx="11"/>
          </p:nvPr>
        </p:nvSpPr>
        <p:spPr/>
        <p:txBody>
          <a:bodyPr/>
          <a:lstStyle>
            <a:lvl1pPr>
              <a:defRPr smtClean="0"/>
            </a:lvl1pPr>
          </a:lstStyle>
          <a:p>
            <a:endParaRPr lang="zh-CN" altLang="en-US"/>
          </a:p>
        </p:txBody>
      </p:sp>
      <p:sp>
        <p:nvSpPr>
          <p:cNvPr id="7" name="灯片编号占位符 5"/>
          <p:cNvSpPr>
            <a:spLocks noGrp="1"/>
          </p:cNvSpPr>
          <p:nvPr>
            <p:ph type="sldNum" sz="quarter" idx="12"/>
          </p:nvPr>
        </p:nvSpPr>
        <p:spPr/>
        <p:txBody>
          <a:bodyPr/>
          <a:lstStyle>
            <a:lvl1pPr>
              <a:defRPr smtClean="0"/>
            </a:lvl1p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1278272957"/>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Arial" panose="020B0604020202020204" pitchFamily="34" charset="0"/>
                <a:ea typeface="黑体" panose="02010609060101010101" pitchFamily="49" charset="-122"/>
              </a:defRPr>
            </a:lvl1p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5313" y="1347118"/>
            <a:ext cx="5279099" cy="4500000"/>
          </a:xfrm>
        </p:spPr>
        <p:txBody>
          <a:bodyPr/>
          <a:lstStyle>
            <a:lvl1pPr>
              <a:defRPr sz="2400">
                <a:solidFill>
                  <a:srgbClr val="000000"/>
                </a:solidFill>
                <a:latin typeface="Arial" panose="020B0604020202020204" pitchFamily="34" charset="0"/>
                <a:ea typeface="黑体" panose="02010609060101010101" pitchFamily="49" charset="-122"/>
              </a:defRPr>
            </a:lvl1pPr>
            <a:lvl2pPr>
              <a:defRPr sz="1800">
                <a:solidFill>
                  <a:srgbClr val="227577"/>
                </a:solidFill>
                <a:latin typeface="Arial" panose="020B0604020202020204" pitchFamily="34" charset="0"/>
                <a:ea typeface="黑体" panose="02010609060101010101" pitchFamily="49" charset="-122"/>
              </a:defRPr>
            </a:lvl2pPr>
            <a:lvl3pPr>
              <a:defRPr sz="2000">
                <a:solidFill>
                  <a:srgbClr val="000000"/>
                </a:solidFill>
                <a:latin typeface="Arial" panose="020B0604020202020204" pitchFamily="34" charset="0"/>
                <a:ea typeface="黑体" panose="02010609060101010101" pitchFamily="49" charset="-122"/>
              </a:defRPr>
            </a:lvl3pPr>
            <a:lvl4pPr>
              <a:defRPr sz="1800">
                <a:solidFill>
                  <a:srgbClr val="000000"/>
                </a:solidFill>
                <a:latin typeface="Arial" panose="020B0604020202020204" pitchFamily="34" charset="0"/>
                <a:ea typeface="黑体" panose="02010609060101010101" pitchFamily="49" charset="-122"/>
              </a:defRPr>
            </a:lvl4pPr>
            <a:lvl5pPr>
              <a:defRPr sz="1800">
                <a:solidFill>
                  <a:srgbClr val="000000"/>
                </a:solidFill>
                <a:latin typeface="Arial" panose="020B0604020202020204" pitchFamily="34" charset="0"/>
                <a:ea typeface="黑体" panose="02010609060101010101" pitchFamily="49" charset="-122"/>
              </a:defRPr>
            </a:lvl5pPr>
            <a:lvl6pPr>
              <a:defRPr>
                <a:solidFill>
                  <a:srgbClr val="000000"/>
                </a:solidFill>
              </a:defRPr>
            </a:lvl6pPr>
          </a:lstStyle>
          <a:p>
            <a:pPr lvl="0"/>
            <a:r>
              <a:rPr lang="zh-CN" altLang="en-US" dirty="0" smtClean="0"/>
              <a:t>单击此处编辑母版文本样式</a:t>
            </a:r>
          </a:p>
          <a:p>
            <a:pPr lvl="2"/>
            <a:r>
              <a:rPr lang="zh-CN" altLang="en-US" dirty="0" smtClean="0"/>
              <a:t>第二级</a:t>
            </a:r>
          </a:p>
          <a:p>
            <a:pPr lvl="3"/>
            <a:r>
              <a:rPr lang="zh-CN" altLang="en-US" dirty="0" smtClean="0"/>
              <a:t>第三级</a:t>
            </a:r>
          </a:p>
          <a:p>
            <a:pPr lvl="4"/>
            <a:r>
              <a:rPr lang="zh-CN" altLang="en-US" dirty="0" smtClean="0"/>
              <a:t>第四级</a:t>
            </a:r>
          </a:p>
          <a:p>
            <a:pPr lvl="5"/>
            <a:r>
              <a:rPr lang="zh-CN" altLang="en-US" dirty="0" smtClean="0"/>
              <a:t>第五级</a:t>
            </a:r>
            <a:endParaRPr lang="zh-CN" altLang="en-US" dirty="0"/>
          </a:p>
        </p:txBody>
      </p:sp>
      <p:sp>
        <p:nvSpPr>
          <p:cNvPr id="4" name="内容占位符 3"/>
          <p:cNvSpPr>
            <a:spLocks noGrp="1"/>
          </p:cNvSpPr>
          <p:nvPr>
            <p:ph sz="half" idx="2"/>
          </p:nvPr>
        </p:nvSpPr>
        <p:spPr>
          <a:xfrm>
            <a:off x="6314327" y="1347118"/>
            <a:ext cx="5284103" cy="4500000"/>
          </a:xfrm>
        </p:spPr>
        <p:txBody>
          <a:bodyPr/>
          <a:lstStyle>
            <a:lvl1pPr>
              <a:defRPr sz="2400">
                <a:solidFill>
                  <a:srgbClr val="000000"/>
                </a:solidFill>
                <a:latin typeface="Arial" panose="020B0604020202020204" pitchFamily="34" charset="0"/>
                <a:ea typeface="黑体" panose="02010609060101010101" pitchFamily="49" charset="-122"/>
              </a:defRPr>
            </a:lvl1pPr>
            <a:lvl2pPr>
              <a:defRPr sz="1800">
                <a:solidFill>
                  <a:srgbClr val="227577"/>
                </a:solidFill>
                <a:latin typeface="Arial" panose="020B0604020202020204" pitchFamily="34" charset="0"/>
                <a:ea typeface="黑体" panose="02010609060101010101" pitchFamily="49" charset="-122"/>
              </a:defRPr>
            </a:lvl2pPr>
            <a:lvl3pPr>
              <a:defRPr sz="2000">
                <a:solidFill>
                  <a:srgbClr val="000000"/>
                </a:solidFill>
                <a:latin typeface="Arial" panose="020B0604020202020204" pitchFamily="34" charset="0"/>
                <a:ea typeface="黑体" panose="02010609060101010101" pitchFamily="49" charset="-122"/>
              </a:defRPr>
            </a:lvl3pPr>
            <a:lvl4pPr>
              <a:defRPr sz="1800">
                <a:solidFill>
                  <a:srgbClr val="000000"/>
                </a:solidFill>
                <a:latin typeface="Arial" panose="020B0604020202020204" pitchFamily="34" charset="0"/>
                <a:ea typeface="黑体" panose="02010609060101010101" pitchFamily="49" charset="-122"/>
              </a:defRPr>
            </a:lvl4pPr>
            <a:lvl5pPr>
              <a:defRPr sz="1800">
                <a:solidFill>
                  <a:srgbClr val="000000"/>
                </a:solidFill>
                <a:latin typeface="Arial" panose="020B0604020202020204" pitchFamily="34" charset="0"/>
                <a:ea typeface="黑体" panose="02010609060101010101" pitchFamily="49" charset="-122"/>
              </a:defRPr>
            </a:lvl5pPr>
            <a:lvl6pPr>
              <a:defRPr>
                <a:solidFill>
                  <a:srgbClr val="000000"/>
                </a:solidFill>
              </a:defRPr>
            </a:lvl6pPr>
          </a:lstStyle>
          <a:p>
            <a:pPr lvl="0"/>
            <a:r>
              <a:rPr lang="zh-CN" altLang="en-US" dirty="0" smtClean="0"/>
              <a:t>单击此处编辑母版文本样式</a:t>
            </a:r>
          </a:p>
          <a:p>
            <a:pPr lvl="2"/>
            <a:r>
              <a:rPr lang="zh-CN" altLang="en-US" dirty="0" smtClean="0"/>
              <a:t>第二级</a:t>
            </a:r>
          </a:p>
          <a:p>
            <a:pPr lvl="3"/>
            <a:r>
              <a:rPr lang="zh-CN" altLang="en-US" dirty="0" smtClean="0"/>
              <a:t>第三级</a:t>
            </a:r>
          </a:p>
          <a:p>
            <a:pPr lvl="4"/>
            <a:r>
              <a:rPr lang="zh-CN" altLang="en-US" dirty="0" smtClean="0"/>
              <a:t>第四级</a:t>
            </a:r>
          </a:p>
          <a:p>
            <a:pPr lvl="5"/>
            <a:r>
              <a:rPr lang="zh-CN" altLang="en-US" dirty="0" smtClean="0"/>
              <a:t>第五级</a:t>
            </a:r>
            <a:endParaRPr lang="zh-CN" altLang="en-US" dirty="0"/>
          </a:p>
        </p:txBody>
      </p:sp>
      <p:sp>
        <p:nvSpPr>
          <p:cNvPr id="5" name="Rectangle 4"/>
          <p:cNvSpPr>
            <a:spLocks noGrp="1" noChangeArrowheads="1"/>
          </p:cNvSpPr>
          <p:nvPr>
            <p:ph type="dt" sz="half" idx="10"/>
          </p:nvPr>
        </p:nvSpPr>
        <p:spPr/>
        <p:txBody>
          <a:bodyPr/>
          <a:lstStyle>
            <a:lvl1pPr>
              <a:defRPr>
                <a:latin typeface="Arial" panose="020B0604020202020204" pitchFamily="34" charset="0"/>
                <a:ea typeface="黑体" panose="02010609060101010101" pitchFamily="49" charset="-122"/>
              </a:defRPr>
            </a:lvl1pPr>
          </a:lstStyle>
          <a:p>
            <a:fld id="{13D0CE79-49FB-443D-BEF8-6B709DE8FD0C}" type="datetimeFigureOut">
              <a:rPr lang="zh-CN" altLang="en-US" smtClean="0"/>
              <a:t>2019/10/22</a:t>
            </a:fld>
            <a:endParaRPr lang="zh-CN" altLang="en-US"/>
          </a:p>
        </p:txBody>
      </p:sp>
      <p:sp>
        <p:nvSpPr>
          <p:cNvPr id="6" name="Rectangle 5"/>
          <p:cNvSpPr>
            <a:spLocks noGrp="1" noChangeArrowheads="1"/>
          </p:cNvSpPr>
          <p:nvPr>
            <p:ph type="ftr" sz="quarter" idx="11"/>
          </p:nvPr>
        </p:nvSpPr>
        <p:spPr/>
        <p:txBody>
          <a:bodyPr/>
          <a:lstStyle>
            <a:lvl1pPr>
              <a:defRPr>
                <a:latin typeface="Arial" panose="020B0604020202020204" pitchFamily="34" charset="0"/>
                <a:ea typeface="黑体" panose="02010609060101010101" pitchFamily="49" charset="-122"/>
              </a:defRPr>
            </a:lvl1pPr>
          </a:lstStyle>
          <a:p>
            <a:endParaRPr lang="zh-CN" altLang="en-US"/>
          </a:p>
        </p:txBody>
      </p:sp>
      <p:sp>
        <p:nvSpPr>
          <p:cNvPr id="7" name="Rectangle 6"/>
          <p:cNvSpPr>
            <a:spLocks noGrp="1" noChangeArrowheads="1"/>
          </p:cNvSpPr>
          <p:nvPr>
            <p:ph type="sldNum" sz="quarter" idx="12"/>
          </p:nvPr>
        </p:nvSpPr>
        <p:spPr/>
        <p:txBody>
          <a:bodyPr/>
          <a:lstStyle>
            <a:lvl1pPr>
              <a:defRPr>
                <a:latin typeface="Arial" panose="020B0604020202020204" pitchFamily="34" charset="0"/>
                <a:ea typeface="黑体" panose="02010609060101010101" pitchFamily="49" charset="-122"/>
              </a:defRPr>
            </a:lvl1p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2317760695"/>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6400" y="259200"/>
            <a:ext cx="10972800" cy="576000"/>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6400" y="1392406"/>
            <a:ext cx="5158032" cy="823912"/>
          </a:xfrm>
        </p:spPr>
        <p:txBody>
          <a:bodyPr anchor="b"/>
          <a:lstStyle>
            <a:lvl1pPr marL="0" indent="0">
              <a:buNone/>
              <a:defRPr sz="2400" b="1"/>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33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626400" y="2336633"/>
            <a:ext cx="5158032" cy="3684588"/>
          </a:xfrm>
        </p:spPr>
        <p:txBody>
          <a:bodyPr/>
          <a:lstStyle/>
          <a:p>
            <a:pPr lvl="0"/>
            <a:r>
              <a:rPr lang="zh-CN" altLang="en-US" dirty="0" smtClean="0"/>
              <a:t>单击此处编辑母版文本样式</a:t>
            </a:r>
          </a:p>
          <a:p>
            <a:pPr lvl="2"/>
            <a:r>
              <a:rPr lang="zh-CN" altLang="en-US" dirty="0" smtClean="0"/>
              <a:t>第二级</a:t>
            </a:r>
          </a:p>
          <a:p>
            <a:pPr lvl="3"/>
            <a:r>
              <a:rPr lang="zh-CN" altLang="en-US" dirty="0" smtClean="0"/>
              <a:t>第三级</a:t>
            </a:r>
          </a:p>
          <a:p>
            <a:pPr lvl="4"/>
            <a:r>
              <a:rPr lang="zh-CN" altLang="en-US" dirty="0" smtClean="0"/>
              <a:t>第四级</a:t>
            </a:r>
          </a:p>
          <a:p>
            <a:pPr lvl="5"/>
            <a:r>
              <a:rPr lang="zh-CN" altLang="en-US" dirty="0" smtClean="0"/>
              <a:t>第五级</a:t>
            </a:r>
            <a:endParaRPr lang="zh-CN" altLang="en-US" dirty="0"/>
          </a:p>
        </p:txBody>
      </p:sp>
      <p:sp>
        <p:nvSpPr>
          <p:cNvPr id="5" name="文本占位符 4"/>
          <p:cNvSpPr>
            <a:spLocks noGrp="1"/>
          </p:cNvSpPr>
          <p:nvPr>
            <p:ph type="body" sz="quarter" idx="3"/>
          </p:nvPr>
        </p:nvSpPr>
        <p:spPr>
          <a:xfrm>
            <a:off x="6415775" y="1392406"/>
            <a:ext cx="5183425" cy="823912"/>
          </a:xfrm>
        </p:spPr>
        <p:txBody>
          <a:bodyPr anchor="b"/>
          <a:lstStyle>
            <a:lvl1pPr marL="0" indent="0">
              <a:buNone/>
              <a:defRPr sz="2400" b="1"/>
            </a:lvl1pPr>
            <a:lvl2pPr marL="457200" indent="0">
              <a:buNone/>
              <a:defRPr sz="2000" b="1"/>
            </a:lvl2pPr>
            <a:lvl3pPr marL="914400" indent="0">
              <a:buNone/>
              <a:defRPr sz="1800" b="1"/>
            </a:lvl3pPr>
            <a:lvl4pPr marL="1370965" indent="0">
              <a:buNone/>
              <a:defRPr sz="1600" b="1"/>
            </a:lvl4pPr>
            <a:lvl5pPr marL="1828165" indent="0">
              <a:buNone/>
              <a:defRPr sz="1600" b="1"/>
            </a:lvl5pPr>
            <a:lvl6pPr marL="2285365" indent="0">
              <a:buNone/>
              <a:defRPr sz="1600" b="1"/>
            </a:lvl6pPr>
            <a:lvl7pPr marL="2742565" indent="0">
              <a:buNone/>
              <a:defRPr sz="1600" b="1"/>
            </a:lvl7pPr>
            <a:lvl8pPr marL="3199765" indent="0">
              <a:buNone/>
              <a:defRPr sz="1600" b="1"/>
            </a:lvl8pPr>
            <a:lvl9pPr marL="365633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415775" y="2336633"/>
            <a:ext cx="5183425" cy="3684588"/>
          </a:xfrm>
        </p:spPr>
        <p:txBody>
          <a:bodyPr/>
          <a:lstStyle/>
          <a:p>
            <a:pPr lvl="0"/>
            <a:r>
              <a:rPr lang="zh-CN" altLang="en-US" dirty="0" smtClean="0"/>
              <a:t>单击此处编辑母版文本样式</a:t>
            </a:r>
          </a:p>
          <a:p>
            <a:pPr lvl="2"/>
            <a:r>
              <a:rPr lang="zh-CN" altLang="en-US" dirty="0" smtClean="0"/>
              <a:t>第二级</a:t>
            </a:r>
          </a:p>
          <a:p>
            <a:pPr lvl="3"/>
            <a:r>
              <a:rPr lang="zh-CN" altLang="en-US" dirty="0" smtClean="0"/>
              <a:t>第三级</a:t>
            </a:r>
          </a:p>
          <a:p>
            <a:pPr lvl="4"/>
            <a:r>
              <a:rPr lang="zh-CN" altLang="en-US" dirty="0" smtClean="0"/>
              <a:t>第四级</a:t>
            </a:r>
          </a:p>
          <a:p>
            <a:pPr lvl="5"/>
            <a:r>
              <a:rPr lang="zh-CN" altLang="en-US" dirty="0" smtClean="0"/>
              <a:t>第五级</a:t>
            </a:r>
            <a:endParaRPr lang="zh-CN" altLang="en-US" dirty="0"/>
          </a:p>
        </p:txBody>
      </p:sp>
      <p:sp>
        <p:nvSpPr>
          <p:cNvPr id="7" name="Rectangle 4"/>
          <p:cNvSpPr>
            <a:spLocks noGrp="1" noChangeArrowheads="1"/>
          </p:cNvSpPr>
          <p:nvPr>
            <p:ph type="dt" sz="half" idx="10"/>
          </p:nvPr>
        </p:nvSpPr>
        <p:spPr/>
        <p:txBody>
          <a:bodyPr/>
          <a:lstStyle>
            <a:lvl1pPr>
              <a:defRPr/>
            </a:lvl1pPr>
          </a:lstStyle>
          <a:p>
            <a:fld id="{C9E60F58-3108-4415-857A-6D0360DF626E}" type="datetimeFigureOut">
              <a:rPr lang="zh-CN" altLang="en-US" smtClean="0"/>
              <a:t>2019/10/22</a:t>
            </a:fld>
            <a:endParaRPr lang="zh-CN" altLang="en-US"/>
          </a:p>
        </p:txBody>
      </p:sp>
      <p:sp>
        <p:nvSpPr>
          <p:cNvPr id="8" name="Rectangle 5"/>
          <p:cNvSpPr>
            <a:spLocks noGrp="1" noChangeArrowheads="1"/>
          </p:cNvSpPr>
          <p:nvPr>
            <p:ph type="ftr" sz="quarter" idx="11"/>
          </p:nvPr>
        </p:nvSpPr>
        <p:spPr/>
        <p:txBody>
          <a:bodyPr/>
          <a:lstStyle>
            <a:lvl1pPr>
              <a:defRPr/>
            </a:lvl1pPr>
          </a:lstStyle>
          <a:p>
            <a:endParaRPr lang="zh-CN" altLang="en-US"/>
          </a:p>
        </p:txBody>
      </p:sp>
      <p:sp>
        <p:nvSpPr>
          <p:cNvPr id="9" name="Rectangle 6"/>
          <p:cNvSpPr>
            <a:spLocks noGrp="1" noChangeArrowheads="1"/>
          </p:cNvSpPr>
          <p:nvPr>
            <p:ph type="sldNum" sz="quarter" idx="12"/>
          </p:nvPr>
        </p:nvSpPr>
        <p:spPr/>
        <p:txBody>
          <a:bodyPr/>
          <a:lstStyle>
            <a:lvl1pPr>
              <a:defRPr/>
            </a:lvl1pPr>
          </a:lstStyle>
          <a:p>
            <a:fld id="{4AE85CE2-CEAD-46BB-861E-7D62265DC969}" type="slidenum">
              <a:rPr lang="zh-CN" altLang="en-US" smtClean="0"/>
              <a:t>‹#›</a:t>
            </a:fld>
            <a:endParaRPr lang="zh-CN" altLang="en-US"/>
          </a:p>
        </p:txBody>
      </p:sp>
    </p:spTree>
    <p:extLst>
      <p:ext uri="{BB962C8B-B14F-4D97-AF65-F5344CB8AC3E}">
        <p14:creationId xmlns:p14="http://schemas.microsoft.com/office/powerpoint/2010/main" val="3338474194"/>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仅标题">
    <p:spTree>
      <p:nvGrpSpPr>
        <p:cNvPr id="1" name=""/>
        <p:cNvGrpSpPr/>
        <p:nvPr/>
      </p:nvGrpSpPr>
      <p:grpSpPr>
        <a:xfrm>
          <a:off x="0" y="0"/>
          <a:ext cx="0" cy="0"/>
          <a:chOff x="0" y="0"/>
          <a:chExt cx="0" cy="0"/>
        </a:xfrm>
      </p:grpSpPr>
      <p:pic>
        <p:nvPicPr>
          <p:cNvPr id="7" name="Picture 2" descr="C:\Users\iamisis\Desktop\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标题 1"/>
          <p:cNvSpPr>
            <a:spLocks noGrp="1"/>
          </p:cNvSpPr>
          <p:nvPr>
            <p:ph type="title" hasCustomPrompt="1"/>
          </p:nvPr>
        </p:nvSpPr>
        <p:spPr>
          <a:xfrm>
            <a:off x="3304800" y="2718000"/>
            <a:ext cx="5662800" cy="1432800"/>
          </a:xfrm>
        </p:spPr>
        <p:txBody>
          <a:bodyPr>
            <a:normAutofit/>
          </a:bodyPr>
          <a:lstStyle>
            <a:lvl1pPr algn="ctr">
              <a:defRPr sz="8800"/>
            </a:lvl1pPr>
          </a:lstStyle>
          <a:p>
            <a:r>
              <a:rPr lang="zh-CN" altLang="en-US" dirty="0" smtClean="0"/>
              <a:t>编辑标题</a:t>
            </a:r>
            <a:endParaRPr lang="zh-CN" altLang="en-US" dirty="0"/>
          </a:p>
        </p:txBody>
      </p:sp>
      <p:sp>
        <p:nvSpPr>
          <p:cNvPr id="3" name="Rectangle 4"/>
          <p:cNvSpPr>
            <a:spLocks noGrp="1" noChangeArrowheads="1"/>
          </p:cNvSpPr>
          <p:nvPr>
            <p:ph type="dt" sz="half" idx="10"/>
          </p:nvPr>
        </p:nvSpPr>
        <p:spPr/>
        <p:txBody>
          <a:bodyPr/>
          <a:lstStyle>
            <a:lvl1pPr>
              <a:defRPr/>
            </a:lvl1pPr>
          </a:lstStyle>
          <a:p>
            <a:fld id="{13D0CE79-49FB-443D-BEF8-6B709DE8FD0C}" type="datetimeFigureOut">
              <a:rPr lang="zh-CN" altLang="en-US" smtClean="0"/>
              <a:t>2019/10/22</a:t>
            </a:fld>
            <a:endParaRPr lang="zh-CN" altLang="en-US"/>
          </a:p>
        </p:txBody>
      </p:sp>
      <p:sp>
        <p:nvSpPr>
          <p:cNvPr id="4" name="Rectangle 5"/>
          <p:cNvSpPr>
            <a:spLocks noGrp="1" noChangeArrowheads="1"/>
          </p:cNvSpPr>
          <p:nvPr>
            <p:ph type="ftr" sz="quarter" idx="11"/>
          </p:nvPr>
        </p:nvSpPr>
        <p:spPr/>
        <p:txBody>
          <a:bodyPr/>
          <a:lstStyle>
            <a:lvl1pPr>
              <a:defRPr/>
            </a:lvl1pPr>
          </a:lstStyle>
          <a:p>
            <a:endParaRPr lang="zh-CN" altLang="en-US"/>
          </a:p>
        </p:txBody>
      </p:sp>
      <p:sp>
        <p:nvSpPr>
          <p:cNvPr id="5" name="Rectangle 6"/>
          <p:cNvSpPr>
            <a:spLocks noGrp="1" noChangeArrowheads="1"/>
          </p:cNvSpPr>
          <p:nvPr>
            <p:ph type="sldNum" sz="quarter" idx="12"/>
          </p:nvPr>
        </p:nvSpPr>
        <p:spPr/>
        <p:txBody>
          <a:bodyPr/>
          <a:lstStyle>
            <a:lvl1pPr>
              <a:defRPr/>
            </a:lvl1pPr>
          </a:lstStyle>
          <a:p>
            <a:fld id="{EF906490-237C-474C-BA2E-D98840BC1F8F}" type="slidenum">
              <a:rPr lang="zh-CN" altLang="en-US" smtClean="0"/>
              <a:t>‹#›</a:t>
            </a:fld>
            <a:endParaRPr lang="zh-CN" altLang="en-US"/>
          </a:p>
        </p:txBody>
      </p:sp>
      <p:sp>
        <p:nvSpPr>
          <p:cNvPr id="6" name="圆角矩形 13"/>
          <p:cNvSpPr>
            <a:spLocks noChangeArrowheads="1"/>
          </p:cNvSpPr>
          <p:nvPr/>
        </p:nvSpPr>
        <p:spPr bwMode="auto">
          <a:xfrm>
            <a:off x="3823293" y="3968609"/>
            <a:ext cx="4572396" cy="369792"/>
          </a:xfrm>
          <a:prstGeom prst="roundRect">
            <a:avLst>
              <a:gd name="adj" fmla="val 50000"/>
            </a:avLst>
          </a:prstGeom>
          <a:solidFill>
            <a:schemeClr val="accent2">
              <a:alpha val="98999"/>
            </a:schemeClr>
          </a:solidFill>
          <a:ln>
            <a:noFill/>
          </a:ln>
          <a:extLst>
            <a:ext uri="{91240B29-F687-4F45-9708-019B960494DF}">
              <a14:hiddenLine xmlns:a14="http://schemas.microsoft.com/office/drawing/2010/main" w="9525">
                <a:solidFill>
                  <a:srgbClr val="000000"/>
                </a:solidFill>
                <a:round/>
              </a14:hiddenLine>
            </a:ext>
          </a:extLst>
        </p:spPr>
        <p:txBody>
          <a:bodyPr anchor="ctr">
            <a:normAutofit fontScale="62500" lnSpcReduction="20000"/>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algn="ctr"/>
            <a:endParaRPr lang="en-US" sz="2000">
              <a:solidFill>
                <a:schemeClr val="accent2"/>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2213010340"/>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pic>
        <p:nvPicPr>
          <p:cNvPr id="2" name="Picture 2" descr="C:\Users\iamisis\Desktop\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日期占位符 1"/>
          <p:cNvSpPr>
            <a:spLocks noGrp="1"/>
          </p:cNvSpPr>
          <p:nvPr>
            <p:ph type="dt" sz="half" idx="10"/>
          </p:nvPr>
        </p:nvSpPr>
        <p:spPr/>
        <p:txBody>
          <a:bodyPr/>
          <a:lstStyle>
            <a:lvl1pPr>
              <a:defRPr smtClean="0"/>
            </a:lvl1pPr>
          </a:lstStyle>
          <a:p>
            <a:fld id="{13D0CE79-49FB-443D-BEF8-6B709DE8FD0C}" type="datetimeFigureOut">
              <a:rPr lang="zh-CN" altLang="en-US" smtClean="0"/>
              <a:t>2019/10/22</a:t>
            </a:fld>
            <a:endParaRPr lang="zh-CN" altLang="en-US"/>
          </a:p>
        </p:txBody>
      </p:sp>
      <p:sp>
        <p:nvSpPr>
          <p:cNvPr id="4" name="页脚占位符 2"/>
          <p:cNvSpPr>
            <a:spLocks noGrp="1"/>
          </p:cNvSpPr>
          <p:nvPr>
            <p:ph type="ftr" sz="quarter" idx="11"/>
          </p:nvPr>
        </p:nvSpPr>
        <p:spPr/>
        <p:txBody>
          <a:bodyPr/>
          <a:lstStyle>
            <a:lvl1pPr>
              <a:defRPr smtClean="0"/>
            </a:lvl1pPr>
          </a:lstStyle>
          <a:p>
            <a:endParaRPr lang="zh-CN" altLang="en-US"/>
          </a:p>
        </p:txBody>
      </p:sp>
      <p:sp>
        <p:nvSpPr>
          <p:cNvPr id="5" name="灯片编号占位符 3"/>
          <p:cNvSpPr>
            <a:spLocks noGrp="1"/>
          </p:cNvSpPr>
          <p:nvPr>
            <p:ph type="sldNum" sz="quarter" idx="12"/>
          </p:nvPr>
        </p:nvSpPr>
        <p:spPr/>
        <p:txBody>
          <a:bodyPr/>
          <a:lstStyle>
            <a:lvl1pPr>
              <a:defRPr smtClean="0"/>
            </a:lvl1p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3652848553"/>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6400" y="259200"/>
            <a:ext cx="10972800" cy="4176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410379" y="987426"/>
            <a:ext cx="6172180" cy="4873625"/>
          </a:xfrm>
        </p:spPr>
        <p:txBody>
          <a:bodyPr/>
          <a:lstStyle>
            <a:lvl1pPr marL="0" indent="0">
              <a:buNone/>
              <a:defRPr sz="3200"/>
            </a:lvl1pPr>
            <a:lvl2pPr marL="457200" indent="0">
              <a:buNone/>
              <a:defRPr sz="2800"/>
            </a:lvl2pPr>
            <a:lvl3pPr marL="914400" indent="0">
              <a:buNone/>
              <a:defRPr sz="2400"/>
            </a:lvl3pPr>
            <a:lvl4pPr marL="1370965" indent="0">
              <a:buNone/>
              <a:defRPr sz="2000"/>
            </a:lvl4pPr>
            <a:lvl5pPr marL="1828165" indent="0">
              <a:buNone/>
              <a:defRPr sz="2000"/>
            </a:lvl5pPr>
            <a:lvl6pPr marL="2285365" indent="0">
              <a:buNone/>
              <a:defRPr sz="2000"/>
            </a:lvl6pPr>
            <a:lvl7pPr marL="2742565" indent="0">
              <a:buNone/>
              <a:defRPr sz="2000"/>
            </a:lvl7pPr>
            <a:lvl8pPr marL="3199765" indent="0">
              <a:buNone/>
              <a:defRPr sz="2000"/>
            </a:lvl8pPr>
            <a:lvl9pPr marL="3656330" indent="0">
              <a:buNone/>
              <a:defRPr sz="2000"/>
            </a:lvl9pPr>
          </a:lstStyle>
          <a:p>
            <a:pPr lvl="0"/>
            <a:r>
              <a:rPr lang="zh-CN" altLang="en-US" noProof="0" dirty="0" smtClean="0"/>
              <a:t>单击图标添加图片</a:t>
            </a:r>
          </a:p>
        </p:txBody>
      </p:sp>
      <p:sp>
        <p:nvSpPr>
          <p:cNvPr id="4" name="文本占位符 3"/>
          <p:cNvSpPr>
            <a:spLocks noGrp="1"/>
          </p:cNvSpPr>
          <p:nvPr>
            <p:ph type="body" sz="half" idx="2"/>
          </p:nvPr>
        </p:nvSpPr>
        <p:spPr>
          <a:xfrm>
            <a:off x="626400" y="987426"/>
            <a:ext cx="4402800" cy="4873625"/>
          </a:xfrm>
        </p:spPr>
        <p:txBody>
          <a:bodyPr/>
          <a:lstStyle>
            <a:lvl1pPr marL="0" indent="0">
              <a:buNone/>
              <a:defRPr sz="2000"/>
            </a:lvl1pPr>
            <a:lvl2pPr marL="457200" indent="0">
              <a:buNone/>
              <a:defRPr sz="1400"/>
            </a:lvl2pPr>
            <a:lvl3pPr marL="914400" indent="0">
              <a:buNone/>
              <a:defRPr sz="1200"/>
            </a:lvl3pPr>
            <a:lvl4pPr marL="1370965" indent="0">
              <a:buNone/>
              <a:defRPr sz="1000"/>
            </a:lvl4pPr>
            <a:lvl5pPr marL="1828165" indent="0">
              <a:buNone/>
              <a:defRPr sz="1000"/>
            </a:lvl5pPr>
            <a:lvl6pPr marL="2285365" indent="0">
              <a:buNone/>
              <a:defRPr sz="1000"/>
            </a:lvl6pPr>
            <a:lvl7pPr marL="2742565" indent="0">
              <a:buNone/>
              <a:defRPr sz="1000"/>
            </a:lvl7pPr>
            <a:lvl8pPr marL="3199765" indent="0">
              <a:buNone/>
              <a:defRPr sz="1000"/>
            </a:lvl8pPr>
            <a:lvl9pPr marL="3656330" indent="0">
              <a:buNone/>
              <a:defRPr sz="1000"/>
            </a:lvl9pPr>
          </a:lstStyle>
          <a:p>
            <a:pPr lvl="0"/>
            <a:r>
              <a:rPr lang="zh-CN" altLang="en-US" smtClean="0"/>
              <a:t>单击此处编辑母版文本样式</a:t>
            </a:r>
          </a:p>
        </p:txBody>
      </p:sp>
      <p:sp>
        <p:nvSpPr>
          <p:cNvPr id="5" name="Rectangle 4"/>
          <p:cNvSpPr>
            <a:spLocks noGrp="1" noChangeArrowheads="1"/>
          </p:cNvSpPr>
          <p:nvPr>
            <p:ph type="dt" sz="half" idx="10"/>
          </p:nvPr>
        </p:nvSpPr>
        <p:spPr/>
        <p:txBody>
          <a:bodyPr/>
          <a:lstStyle>
            <a:lvl1pPr>
              <a:defRPr/>
            </a:lvl1pPr>
          </a:lstStyle>
          <a:p>
            <a:fld id="{13D0CE79-49FB-443D-BEF8-6B709DE8FD0C}" type="datetimeFigureOut">
              <a:rPr lang="zh-CN" altLang="en-US" smtClean="0"/>
              <a:t>2019/10/22</a:t>
            </a:fld>
            <a:endParaRPr lang="zh-CN" altLang="en-US"/>
          </a:p>
        </p:txBody>
      </p:sp>
      <p:sp>
        <p:nvSpPr>
          <p:cNvPr id="6" name="Rectangle 5"/>
          <p:cNvSpPr>
            <a:spLocks noGrp="1" noChangeArrowheads="1"/>
          </p:cNvSpPr>
          <p:nvPr>
            <p:ph type="ftr" sz="quarter" idx="11"/>
          </p:nvPr>
        </p:nvSpPr>
        <p:spPr/>
        <p:txBody>
          <a:bodyPr/>
          <a:lstStyle>
            <a:lvl1pPr>
              <a:defRPr/>
            </a:lvl1pPr>
          </a:lstStyle>
          <a:p>
            <a:endParaRPr lang="zh-CN" altLang="en-US"/>
          </a:p>
        </p:txBody>
      </p:sp>
      <p:sp>
        <p:nvSpPr>
          <p:cNvPr id="7" name="Rectangle 6"/>
          <p:cNvSpPr>
            <a:spLocks noGrp="1" noChangeArrowheads="1"/>
          </p:cNvSpPr>
          <p:nvPr>
            <p:ph type="sldNum" sz="quarter" idx="12"/>
          </p:nvPr>
        </p:nvSpPr>
        <p:spPr/>
        <p:txBody>
          <a:bodyPr/>
          <a:lstStyle>
            <a:lvl1pPr>
              <a:defRPr/>
            </a:lvl1p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889309403"/>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pic>
        <p:nvPicPr>
          <p:cNvPr id="7" name="Picture 2" descr="C:\Users\iamisis\Desktop\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竖排标题 1"/>
          <p:cNvSpPr>
            <a:spLocks noGrp="1"/>
          </p:cNvSpPr>
          <p:nvPr>
            <p:ph type="title" orient="vert"/>
          </p:nvPr>
        </p:nvSpPr>
        <p:spPr>
          <a:xfrm>
            <a:off x="10495722" y="195943"/>
            <a:ext cx="1102707" cy="6062345"/>
          </a:xfrm>
        </p:spPr>
        <p:txBody>
          <a:bodyPr vert="eaVert"/>
          <a:lstStyle>
            <a:lvl1pPr>
              <a:defRPr sz="2600"/>
            </a:lvl1pPr>
          </a:lstStyle>
          <a:p>
            <a:r>
              <a:rPr lang="zh-CN" altLang="en-US" dirty="0" smtClean="0"/>
              <a:t>单击此处编辑母版标题样式</a:t>
            </a:r>
            <a:endParaRPr lang="zh-CN" altLang="en-US" dirty="0"/>
          </a:p>
        </p:txBody>
      </p:sp>
      <p:sp>
        <p:nvSpPr>
          <p:cNvPr id="3" name="竖排文字占位符 2"/>
          <p:cNvSpPr>
            <a:spLocks noGrp="1"/>
          </p:cNvSpPr>
          <p:nvPr>
            <p:ph type="body" orient="vert" idx="1"/>
          </p:nvPr>
        </p:nvSpPr>
        <p:spPr>
          <a:xfrm>
            <a:off x="609442" y="195943"/>
            <a:ext cx="9660993" cy="6062345"/>
          </a:xfrm>
        </p:spPr>
        <p:txBody>
          <a:bodyPr vert="eaVert"/>
          <a:lstStyle>
            <a:lvl1pPr>
              <a:spcBef>
                <a:spcPts val="300"/>
              </a:spcBef>
              <a:spcAft>
                <a:spcPts val="300"/>
              </a:spcAft>
              <a:defRPr sz="2400">
                <a:solidFill>
                  <a:srgbClr val="000000"/>
                </a:solidFill>
              </a:defRPr>
            </a:lvl1pPr>
            <a:lvl2pPr marL="356870" indent="-285750">
              <a:buFont typeface="Arial" panose="020B0604020202020204" pitchFamily="34" charset="0"/>
              <a:buChar char="•"/>
              <a:defRPr sz="2000"/>
            </a:lvl2pPr>
            <a:lvl3pPr marL="720090">
              <a:spcBef>
                <a:spcPts val="300"/>
              </a:spcBef>
              <a:spcAft>
                <a:spcPts val="300"/>
              </a:spcAft>
              <a:defRPr sz="2000"/>
            </a:lvl3pPr>
            <a:lvl4pPr marL="1080135">
              <a:spcBef>
                <a:spcPts val="300"/>
              </a:spcBef>
              <a:spcAft>
                <a:spcPts val="300"/>
              </a:spcAft>
              <a:defRPr sz="1800"/>
            </a:lvl4pPr>
            <a:lvl5pPr marL="1440180">
              <a:spcBef>
                <a:spcPts val="300"/>
              </a:spcBef>
              <a:spcAft>
                <a:spcPts val="300"/>
              </a:spcAft>
              <a:defRPr sz="1800"/>
            </a:lvl5pPr>
            <a:lvl6pPr marL="1800225">
              <a:spcBef>
                <a:spcPts val="300"/>
              </a:spcBef>
              <a:spcAft>
                <a:spcPts val="300"/>
              </a:spcAft>
              <a:defRPr sz="1800"/>
            </a:lvl6pPr>
          </a:lstStyle>
          <a:p>
            <a:pPr lvl="0"/>
            <a:r>
              <a:rPr lang="zh-CN" altLang="en-US" dirty="0" smtClean="0"/>
              <a:t>单击此处编辑母版文本样式</a:t>
            </a:r>
          </a:p>
          <a:p>
            <a:pPr lvl="2"/>
            <a:r>
              <a:rPr lang="zh-CN" altLang="en-US" dirty="0" smtClean="0"/>
              <a:t>第二级</a:t>
            </a:r>
          </a:p>
          <a:p>
            <a:pPr lvl="3"/>
            <a:r>
              <a:rPr lang="zh-CN" altLang="en-US" dirty="0" smtClean="0"/>
              <a:t>第三级</a:t>
            </a:r>
          </a:p>
          <a:p>
            <a:pPr lvl="4"/>
            <a:r>
              <a:rPr lang="zh-CN" altLang="en-US" dirty="0" smtClean="0"/>
              <a:t>第四级</a:t>
            </a:r>
          </a:p>
          <a:p>
            <a:pPr lvl="5"/>
            <a:r>
              <a:rPr lang="zh-CN" altLang="en-US" dirty="0" smtClean="0"/>
              <a:t>第五级</a:t>
            </a:r>
            <a:endParaRPr lang="zh-CN" altLang="en-US" dirty="0"/>
          </a:p>
        </p:txBody>
      </p:sp>
      <p:sp>
        <p:nvSpPr>
          <p:cNvPr id="4" name="Rectangle 4"/>
          <p:cNvSpPr>
            <a:spLocks noGrp="1" noChangeArrowheads="1"/>
          </p:cNvSpPr>
          <p:nvPr>
            <p:ph type="dt" sz="half" idx="10"/>
          </p:nvPr>
        </p:nvSpPr>
        <p:spPr/>
        <p:txBody>
          <a:bodyPr/>
          <a:lstStyle>
            <a:lvl1pPr>
              <a:defRPr/>
            </a:lvl1pPr>
          </a:lstStyle>
          <a:p>
            <a:fld id="{13D0CE79-49FB-443D-BEF8-6B709DE8FD0C}" type="datetimeFigureOut">
              <a:rPr lang="zh-CN" altLang="en-US" smtClean="0"/>
              <a:t>2019/10/22</a:t>
            </a:fld>
            <a:endParaRPr lang="zh-CN" altLang="en-US"/>
          </a:p>
        </p:txBody>
      </p:sp>
      <p:sp>
        <p:nvSpPr>
          <p:cNvPr id="5" name="Rectangle 5"/>
          <p:cNvSpPr>
            <a:spLocks noGrp="1" noChangeArrowheads="1"/>
          </p:cNvSpPr>
          <p:nvPr>
            <p:ph type="ftr" sz="quarter" idx="11"/>
          </p:nvPr>
        </p:nvSpPr>
        <p:spPr/>
        <p:txBody>
          <a:bodyPr/>
          <a:lstStyle>
            <a:lvl1pPr>
              <a:defRPr/>
            </a:lvl1pPr>
          </a:lstStyle>
          <a:p>
            <a:endParaRPr lang="zh-CN" altLang="en-US"/>
          </a:p>
        </p:txBody>
      </p:sp>
      <p:sp>
        <p:nvSpPr>
          <p:cNvPr id="6" name="Rectangle 6"/>
          <p:cNvSpPr>
            <a:spLocks noGrp="1" noChangeArrowheads="1"/>
          </p:cNvSpPr>
          <p:nvPr>
            <p:ph type="sldNum" sz="quarter" idx="12"/>
          </p:nvPr>
        </p:nvSpPr>
        <p:spPr/>
        <p:txBody>
          <a:bodyPr/>
          <a:lstStyle>
            <a:lvl1pPr>
              <a:defRPr/>
            </a:lvl1pPr>
          </a:lstStyle>
          <a:p>
            <a:fld id="{EF906490-237C-474C-BA2E-D98840BC1F8F}" type="slidenum">
              <a:rPr lang="zh-CN" altLang="en-US" smtClean="0"/>
              <a:t>‹#›</a:t>
            </a:fld>
            <a:endParaRPr lang="zh-CN" altLang="en-US"/>
          </a:p>
        </p:txBody>
      </p:sp>
    </p:spTree>
    <p:extLst>
      <p:ext uri="{BB962C8B-B14F-4D97-AF65-F5344CB8AC3E}">
        <p14:creationId xmlns:p14="http://schemas.microsoft.com/office/powerpoint/2010/main" val="402887539"/>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内容">
    <p:spTree>
      <p:nvGrpSpPr>
        <p:cNvPr id="1" name=""/>
        <p:cNvGrpSpPr/>
        <p:nvPr/>
      </p:nvGrpSpPr>
      <p:grpSpPr>
        <a:xfrm>
          <a:off x="0" y="0"/>
          <a:ext cx="0" cy="0"/>
          <a:chOff x="0" y="0"/>
          <a:chExt cx="0" cy="0"/>
        </a:xfrm>
      </p:grpSpPr>
      <p:pic>
        <p:nvPicPr>
          <p:cNvPr id="8" name="Picture 2" descr="C:\Users\iamisis\Desktop\00.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日期占位符 2"/>
          <p:cNvSpPr>
            <a:spLocks noGrp="1"/>
          </p:cNvSpPr>
          <p:nvPr>
            <p:ph type="dt" sz="half" idx="10"/>
          </p:nvPr>
        </p:nvSpPr>
        <p:spPr/>
        <p:txBody>
          <a:bodyPr/>
          <a:lstStyle/>
          <a:p>
            <a:fld id="{13D0CE79-49FB-443D-BEF8-6B709DE8FD0C}" type="datetimeFigureOut">
              <a:rPr lang="zh-CN" altLang="en-US" smtClean="0"/>
              <a:t>2019/10/22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F906490-237C-474C-BA2E-D98840BC1F8F}" type="slidenum">
              <a:rPr lang="zh-CN" altLang="en-US" smtClean="0"/>
              <a:t>‹#›</a:t>
            </a:fld>
            <a:endParaRPr lang="zh-CN" altLang="en-US"/>
          </a:p>
        </p:txBody>
      </p:sp>
      <p:sp>
        <p:nvSpPr>
          <p:cNvPr id="7" name="内容占位符 6"/>
          <p:cNvSpPr>
            <a:spLocks noGrp="1"/>
          </p:cNvSpPr>
          <p:nvPr>
            <p:ph sz="quarter" idx="13"/>
          </p:nvPr>
        </p:nvSpPr>
        <p:spPr>
          <a:xfrm>
            <a:off x="261449" y="439616"/>
            <a:ext cx="11669102" cy="5669329"/>
          </a:xfrm>
        </p:spPr>
        <p:txBody>
          <a:bodyPr/>
          <a:lstStyle/>
          <a:p>
            <a:pPr lvl="0"/>
            <a:r>
              <a:rPr lang="zh-CN" altLang="en-US" dirty="0" smtClean="0"/>
              <a:t>单击此处编辑母版文本样式</a:t>
            </a:r>
          </a:p>
          <a:p>
            <a:pPr lvl="2"/>
            <a:r>
              <a:rPr lang="zh-CN" altLang="en-US" dirty="0" smtClean="0"/>
              <a:t>第二级</a:t>
            </a:r>
          </a:p>
          <a:p>
            <a:pPr lvl="3"/>
            <a:r>
              <a:rPr lang="zh-CN" altLang="en-US" dirty="0" smtClean="0"/>
              <a:t>第三级</a:t>
            </a:r>
          </a:p>
          <a:p>
            <a:pPr lvl="4"/>
            <a:r>
              <a:rPr lang="zh-CN" altLang="en-US" dirty="0" smtClean="0"/>
              <a:t>第四级</a:t>
            </a:r>
          </a:p>
          <a:p>
            <a:pPr lvl="5"/>
            <a:r>
              <a:rPr lang="zh-CN" altLang="en-US" dirty="0" smtClean="0"/>
              <a:t>第五级</a:t>
            </a:r>
            <a:endParaRPr lang="zh-CN" altLang="en-US" dirty="0"/>
          </a:p>
        </p:txBody>
      </p:sp>
    </p:spTree>
    <p:extLst>
      <p:ext uri="{BB962C8B-B14F-4D97-AF65-F5344CB8AC3E}">
        <p14:creationId xmlns:p14="http://schemas.microsoft.com/office/powerpoint/2010/main" val="645640167"/>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p>
            <a:fld id="{DD7D7A0C-C1D7-43F7-B5F6-5764769CF732}"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2827973640"/>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D7D7A0C-C1D7-43F7-B5F6-5764769CF732}"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79261324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p>
        </p:txBody>
      </p:sp>
      <p:sp>
        <p:nvSpPr>
          <p:cNvPr id="4" name="日期占位符 3"/>
          <p:cNvSpPr>
            <a:spLocks noGrp="1"/>
          </p:cNvSpPr>
          <p:nvPr>
            <p:ph type="dt" sz="half" idx="10"/>
          </p:nvPr>
        </p:nvSpPr>
        <p:spPr/>
        <p:txBody>
          <a:bodyPr/>
          <a:lstStyle/>
          <a:p>
            <a:fld id="{DD7D7A0C-C1D7-43F7-B5F6-5764769CF732}"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1508827434"/>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DD7D7A0C-C1D7-43F7-B5F6-5764769CF732}" type="datetimeFigureOut">
              <a:rPr lang="zh-CN" altLang="en-US" smtClean="0"/>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16578279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DD7D7A0C-C1D7-43F7-B5F6-5764769CF732}" type="datetimeFigureOut">
              <a:rPr lang="zh-CN" altLang="en-US" smtClean="0"/>
              <a:t>2019/10/22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494177950"/>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DD7D7A0C-C1D7-43F7-B5F6-5764769CF732}" type="datetimeFigureOut">
              <a:rPr lang="zh-CN" altLang="en-US" smtClean="0"/>
              <a:t>2019/10/22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4140526689"/>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D7D7A0C-C1D7-43F7-B5F6-5764769CF732}" type="datetimeFigureOut">
              <a:rPr lang="zh-CN" altLang="en-US" smtClean="0"/>
              <a:t>2019/10/22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287099348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DD7D7A0C-C1D7-43F7-B5F6-5764769CF732}" type="datetimeFigureOut">
              <a:rPr lang="zh-CN" altLang="en-US" smtClean="0"/>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373837370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p>
        </p:txBody>
      </p:sp>
      <p:sp>
        <p:nvSpPr>
          <p:cNvPr id="5" name="日期占位符 4"/>
          <p:cNvSpPr>
            <a:spLocks noGrp="1"/>
          </p:cNvSpPr>
          <p:nvPr>
            <p:ph type="dt" sz="half" idx="10"/>
          </p:nvPr>
        </p:nvSpPr>
        <p:spPr/>
        <p:txBody>
          <a:bodyPr/>
          <a:lstStyle/>
          <a:p>
            <a:fld id="{DD7D7A0C-C1D7-43F7-B5F6-5764769CF732}" type="datetimeFigureOut">
              <a:rPr lang="zh-CN" altLang="en-US" smtClean="0"/>
              <a:t>2019/10/22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1936637428"/>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D7D7A0C-C1D7-43F7-B5F6-5764769CF732}"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17899235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DD7D7A0C-C1D7-43F7-B5F6-5764769CF732}" type="datetimeFigureOut">
              <a:rPr lang="zh-CN" altLang="en-US" smtClean="0"/>
              <a:t>2019/10/22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225518742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矩形 3"/>
          <p:cNvSpPr/>
          <p:nvPr userDrawn="1"/>
        </p:nvSpPr>
        <p:spPr>
          <a:xfrm>
            <a:off x="7893549" y="6206374"/>
            <a:ext cx="734944" cy="246221"/>
          </a:xfrm>
          <a:prstGeom prst="rect">
            <a:avLst/>
          </a:prstGeom>
        </p:spPr>
        <p:txBody>
          <a:bodyPr wrap="square">
            <a:spAutoFit/>
          </a:bodyPr>
          <a:lstStyle/>
          <a:p>
            <a:pPr fontAlgn="auto">
              <a:spcBef>
                <a:spcPts val="0"/>
              </a:spcBef>
              <a:spcAft>
                <a:spcPts val="0"/>
              </a:spcAft>
            </a:pPr>
            <a:r>
              <a:rPr lang="en-US" altLang="zh-CN" sz="100" dirty="0">
                <a:solidFill>
                  <a:prstClr val="white"/>
                </a:solidFill>
                <a:latin typeface="Calibri"/>
                <a:ea typeface="宋体"/>
              </a:rPr>
              <a:t>PPT</a:t>
            </a:r>
            <a:r>
              <a:rPr lang="zh-CN" altLang="en-US" sz="100" dirty="0">
                <a:solidFill>
                  <a:prstClr val="white"/>
                </a:solidFill>
                <a:latin typeface="Calibri"/>
                <a:ea typeface="宋体"/>
              </a:rPr>
              <a:t>模板下载：</a:t>
            </a:r>
            <a:r>
              <a:rPr lang="en-US" altLang="zh-CN" sz="100" dirty="0">
                <a:solidFill>
                  <a:prstClr val="white"/>
                </a:solidFill>
                <a:latin typeface="Calibri"/>
                <a:ea typeface="宋体"/>
              </a:rPr>
              <a:t>www.1ppt.com/moban/     </a:t>
            </a:r>
            <a:r>
              <a:rPr lang="zh-CN" altLang="en-US" sz="100" dirty="0">
                <a:solidFill>
                  <a:prstClr val="white"/>
                </a:solidFill>
                <a:latin typeface="Calibri"/>
                <a:ea typeface="宋体"/>
              </a:rPr>
              <a:t>行业</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www.1ppt.com/hangye/ </a:t>
            </a:r>
          </a:p>
          <a:p>
            <a:pPr fontAlgn="auto">
              <a:spcBef>
                <a:spcPts val="0"/>
              </a:spcBef>
              <a:spcAft>
                <a:spcPts val="0"/>
              </a:spcAft>
            </a:pPr>
            <a:r>
              <a:rPr lang="zh-CN" altLang="en-US" sz="100" dirty="0">
                <a:solidFill>
                  <a:prstClr val="white"/>
                </a:solidFill>
                <a:latin typeface="Calibri"/>
                <a:ea typeface="宋体"/>
              </a:rPr>
              <a:t>节日</a:t>
            </a:r>
            <a:r>
              <a:rPr lang="en-US" altLang="zh-CN" sz="100" dirty="0">
                <a:solidFill>
                  <a:prstClr val="white"/>
                </a:solidFill>
                <a:latin typeface="Calibri"/>
                <a:ea typeface="宋体"/>
              </a:rPr>
              <a:t>PPT</a:t>
            </a:r>
            <a:r>
              <a:rPr lang="zh-CN" altLang="en-US" sz="100" dirty="0">
                <a:solidFill>
                  <a:prstClr val="white"/>
                </a:solidFill>
                <a:latin typeface="Calibri"/>
                <a:ea typeface="宋体"/>
              </a:rPr>
              <a:t>模板：</a:t>
            </a:r>
            <a:r>
              <a:rPr lang="en-US" altLang="zh-CN" sz="100" dirty="0">
                <a:solidFill>
                  <a:prstClr val="white"/>
                </a:solidFill>
                <a:latin typeface="Calibri"/>
                <a:ea typeface="宋体"/>
              </a:rPr>
              <a:t>www.1ppt.com/jieri/           PPT</a:t>
            </a:r>
            <a:r>
              <a:rPr lang="zh-CN" altLang="en-US" sz="100" dirty="0">
                <a:solidFill>
                  <a:prstClr val="white"/>
                </a:solidFill>
                <a:latin typeface="Calibri"/>
                <a:ea typeface="宋体"/>
              </a:rPr>
              <a:t>素材下载：</a:t>
            </a:r>
            <a:r>
              <a:rPr lang="en-US" altLang="zh-CN" sz="100" dirty="0">
                <a:solidFill>
                  <a:prstClr val="white"/>
                </a:solidFill>
                <a:latin typeface="Calibri"/>
                <a:ea typeface="宋体"/>
              </a:rPr>
              <a:t>www.1ppt.com/sucai/</a:t>
            </a:r>
          </a:p>
          <a:p>
            <a:pPr fontAlgn="auto">
              <a:spcBef>
                <a:spcPts val="0"/>
              </a:spcBef>
              <a:spcAft>
                <a:spcPts val="0"/>
              </a:spcAft>
            </a:pPr>
            <a:r>
              <a:rPr lang="en-US" altLang="zh-CN" sz="100" dirty="0">
                <a:solidFill>
                  <a:prstClr val="white"/>
                </a:solidFill>
                <a:latin typeface="Calibri"/>
                <a:ea typeface="宋体"/>
              </a:rPr>
              <a:t>PPT</a:t>
            </a:r>
            <a:r>
              <a:rPr lang="zh-CN" altLang="en-US" sz="100" dirty="0">
                <a:solidFill>
                  <a:prstClr val="white"/>
                </a:solidFill>
                <a:latin typeface="Calibri"/>
                <a:ea typeface="宋体"/>
              </a:rPr>
              <a:t>背景图片：</a:t>
            </a:r>
            <a:r>
              <a:rPr lang="en-US" altLang="zh-CN" sz="100" dirty="0">
                <a:solidFill>
                  <a:prstClr val="white"/>
                </a:solidFill>
                <a:latin typeface="Calibri"/>
                <a:ea typeface="宋体"/>
              </a:rPr>
              <a:t>www.1ppt.com/beijing/      PPT</a:t>
            </a:r>
            <a:r>
              <a:rPr lang="zh-CN" altLang="en-US" sz="100" dirty="0">
                <a:solidFill>
                  <a:prstClr val="white"/>
                </a:solidFill>
                <a:latin typeface="Calibri"/>
                <a:ea typeface="宋体"/>
              </a:rPr>
              <a:t>图表下载：</a:t>
            </a:r>
            <a:r>
              <a:rPr lang="en-US" altLang="zh-CN" sz="100" dirty="0">
                <a:solidFill>
                  <a:prstClr val="white"/>
                </a:solidFill>
                <a:latin typeface="Calibri"/>
                <a:ea typeface="宋体"/>
              </a:rPr>
              <a:t>www.1ppt.com/tubiao/      </a:t>
            </a:r>
          </a:p>
          <a:p>
            <a:pPr fontAlgn="auto">
              <a:spcBef>
                <a:spcPts val="0"/>
              </a:spcBef>
              <a:spcAft>
                <a:spcPts val="0"/>
              </a:spcAft>
            </a:pPr>
            <a:r>
              <a:rPr lang="zh-CN" altLang="en-US" sz="100" dirty="0">
                <a:solidFill>
                  <a:prstClr val="white"/>
                </a:solidFill>
                <a:latin typeface="Calibri"/>
                <a:ea typeface="宋体"/>
              </a:rPr>
              <a:t>优秀</a:t>
            </a:r>
            <a:r>
              <a:rPr lang="en-US" altLang="zh-CN" sz="100" dirty="0">
                <a:solidFill>
                  <a:prstClr val="white"/>
                </a:solidFill>
                <a:latin typeface="Calibri"/>
                <a:ea typeface="宋体"/>
              </a:rPr>
              <a:t>PPT</a:t>
            </a:r>
            <a:r>
              <a:rPr lang="zh-CN" altLang="en-US" sz="100" dirty="0">
                <a:solidFill>
                  <a:prstClr val="white"/>
                </a:solidFill>
                <a:latin typeface="Calibri"/>
                <a:ea typeface="宋体"/>
              </a:rPr>
              <a:t>下载：</a:t>
            </a:r>
            <a:r>
              <a:rPr lang="en-US" altLang="zh-CN" sz="100" dirty="0">
                <a:solidFill>
                  <a:prstClr val="white"/>
                </a:solidFill>
                <a:latin typeface="Calibri"/>
                <a:ea typeface="宋体"/>
              </a:rPr>
              <a:t>www.1ppt.com/xiazai/        PPT</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www.1ppt.com/powerpoint/      </a:t>
            </a:r>
          </a:p>
          <a:p>
            <a:pPr fontAlgn="auto">
              <a:spcBef>
                <a:spcPts val="0"/>
              </a:spcBef>
              <a:spcAft>
                <a:spcPts val="0"/>
              </a:spcAft>
            </a:pPr>
            <a:r>
              <a:rPr lang="en-US" altLang="zh-CN" sz="100" dirty="0">
                <a:solidFill>
                  <a:prstClr val="white"/>
                </a:solidFill>
                <a:latin typeface="Calibri"/>
                <a:ea typeface="宋体"/>
              </a:rPr>
              <a:t>Word</a:t>
            </a:r>
            <a:r>
              <a:rPr lang="zh-CN" altLang="en-US" sz="100" dirty="0">
                <a:solidFill>
                  <a:prstClr val="white"/>
                </a:solidFill>
                <a:latin typeface="Calibri"/>
                <a:ea typeface="宋体"/>
              </a:rPr>
              <a:t>教程： </a:t>
            </a:r>
            <a:r>
              <a:rPr lang="en-US" altLang="zh-CN" sz="100" dirty="0">
                <a:solidFill>
                  <a:prstClr val="white"/>
                </a:solidFill>
                <a:latin typeface="Calibri"/>
                <a:ea typeface="宋体"/>
              </a:rPr>
              <a:t>www.1ppt.com/word/              Excel</a:t>
            </a:r>
            <a:r>
              <a:rPr lang="zh-CN" altLang="en-US" sz="100" dirty="0">
                <a:solidFill>
                  <a:prstClr val="white"/>
                </a:solidFill>
                <a:latin typeface="Calibri"/>
                <a:ea typeface="宋体"/>
              </a:rPr>
              <a:t>教程：</a:t>
            </a:r>
            <a:r>
              <a:rPr lang="en-US" altLang="zh-CN" sz="100" dirty="0">
                <a:solidFill>
                  <a:prstClr val="white"/>
                </a:solidFill>
                <a:latin typeface="Calibri"/>
                <a:ea typeface="宋体"/>
              </a:rPr>
              <a:t>www.1ppt.com/excel/  </a:t>
            </a:r>
          </a:p>
          <a:p>
            <a:pPr fontAlgn="auto">
              <a:spcBef>
                <a:spcPts val="0"/>
              </a:spcBef>
              <a:spcAft>
                <a:spcPts val="0"/>
              </a:spcAft>
            </a:pPr>
            <a:r>
              <a:rPr lang="zh-CN" altLang="en-US" sz="100" dirty="0">
                <a:solidFill>
                  <a:prstClr val="white"/>
                </a:solidFill>
                <a:latin typeface="Calibri"/>
                <a:ea typeface="宋体"/>
              </a:rPr>
              <a:t>资料下载：</a:t>
            </a:r>
            <a:r>
              <a:rPr lang="en-US" altLang="zh-CN" sz="100" dirty="0">
                <a:solidFill>
                  <a:prstClr val="white"/>
                </a:solidFill>
                <a:latin typeface="Calibri"/>
                <a:ea typeface="宋体"/>
              </a:rPr>
              <a:t>www.1ppt.com/ziliao/                PPT</a:t>
            </a:r>
            <a:r>
              <a:rPr lang="zh-CN" altLang="en-US" sz="100" dirty="0">
                <a:solidFill>
                  <a:prstClr val="white"/>
                </a:solidFill>
                <a:latin typeface="Calibri"/>
                <a:ea typeface="宋体"/>
              </a:rPr>
              <a:t>课件下载：</a:t>
            </a:r>
            <a:r>
              <a:rPr lang="en-US" altLang="zh-CN" sz="100" dirty="0">
                <a:solidFill>
                  <a:prstClr val="white"/>
                </a:solidFill>
                <a:latin typeface="Calibri"/>
                <a:ea typeface="宋体"/>
              </a:rPr>
              <a:t>www.1ppt.com/kejian/ </a:t>
            </a:r>
          </a:p>
          <a:p>
            <a:pPr fontAlgn="auto">
              <a:spcBef>
                <a:spcPts val="0"/>
              </a:spcBef>
              <a:spcAft>
                <a:spcPts val="0"/>
              </a:spcAft>
            </a:pPr>
            <a:r>
              <a:rPr lang="zh-CN" altLang="en-US" sz="100" dirty="0">
                <a:solidFill>
                  <a:prstClr val="white"/>
                </a:solidFill>
                <a:latin typeface="Calibri"/>
                <a:ea typeface="宋体"/>
              </a:rPr>
              <a:t>范文下载：</a:t>
            </a:r>
            <a:r>
              <a:rPr lang="en-US" altLang="zh-CN" sz="100" dirty="0">
                <a:solidFill>
                  <a:prstClr val="white"/>
                </a:solidFill>
                <a:latin typeface="Calibri"/>
                <a:ea typeface="宋体"/>
              </a:rPr>
              <a:t>www.1ppt.com/fanwen/             </a:t>
            </a:r>
            <a:r>
              <a:rPr lang="zh-CN" altLang="en-US" sz="100" dirty="0">
                <a:solidFill>
                  <a:prstClr val="white"/>
                </a:solidFill>
                <a:latin typeface="Calibri"/>
                <a:ea typeface="宋体"/>
              </a:rPr>
              <a:t>试卷下载：</a:t>
            </a:r>
            <a:r>
              <a:rPr lang="en-US" altLang="zh-CN" sz="100" dirty="0">
                <a:solidFill>
                  <a:prstClr val="white"/>
                </a:solidFill>
                <a:latin typeface="Calibri"/>
                <a:ea typeface="宋体"/>
              </a:rPr>
              <a:t>www.1ppt.com/shiti/  </a:t>
            </a:r>
          </a:p>
          <a:p>
            <a:pPr fontAlgn="auto">
              <a:spcBef>
                <a:spcPts val="0"/>
              </a:spcBef>
              <a:spcAft>
                <a:spcPts val="0"/>
              </a:spcAft>
            </a:pPr>
            <a:r>
              <a:rPr lang="zh-CN" altLang="en-US" sz="100" dirty="0">
                <a:solidFill>
                  <a:prstClr val="white"/>
                </a:solidFill>
                <a:latin typeface="Calibri"/>
                <a:ea typeface="宋体"/>
              </a:rPr>
              <a:t>教案下载：</a:t>
            </a:r>
            <a:r>
              <a:rPr lang="en-US" altLang="zh-CN" sz="100" dirty="0">
                <a:solidFill>
                  <a:prstClr val="white"/>
                </a:solidFill>
                <a:latin typeface="Calibri"/>
                <a:ea typeface="宋体"/>
              </a:rPr>
              <a:t>www.1ppt.com/jiaoan/  </a:t>
            </a:r>
            <a:r>
              <a:rPr lang="en-US" altLang="zh-CN" sz="100" dirty="0" smtClean="0">
                <a:solidFill>
                  <a:prstClr val="white"/>
                </a:solidFill>
                <a:latin typeface="Calibri"/>
                <a:ea typeface="宋体"/>
              </a:rPr>
              <a:t>      </a:t>
            </a:r>
            <a:endParaRPr lang="en-US" altLang="zh-CN" sz="100" dirty="0">
              <a:solidFill>
                <a:prstClr val="white"/>
              </a:solidFill>
              <a:latin typeface="Calibri"/>
              <a:ea typeface="宋体"/>
            </a:endParaRPr>
          </a:p>
          <a:p>
            <a:pPr fontAlgn="auto">
              <a:spcBef>
                <a:spcPts val="0"/>
              </a:spcBef>
              <a:spcAft>
                <a:spcPts val="0"/>
              </a:spcAft>
            </a:pPr>
            <a:r>
              <a:rPr lang="zh-CN" altLang="en-US" sz="100" dirty="0" smtClean="0">
                <a:solidFill>
                  <a:prstClr val="white"/>
                </a:solidFill>
                <a:latin typeface="Calibri"/>
                <a:ea typeface="宋体"/>
              </a:rPr>
              <a:t>字体下载：</a:t>
            </a:r>
            <a:r>
              <a:rPr lang="en-US" altLang="zh-CN" sz="100" dirty="0" smtClean="0">
                <a:solidFill>
                  <a:prstClr val="white"/>
                </a:solidFill>
                <a:latin typeface="Calibri"/>
                <a:ea typeface="宋体"/>
              </a:rPr>
              <a:t>www.1ppt.com/ziti/</a:t>
            </a:r>
            <a:endParaRPr lang="en-US" altLang="zh-CN" sz="100" dirty="0">
              <a:solidFill>
                <a:prstClr val="white"/>
              </a:solidFill>
              <a:latin typeface="Calibri"/>
              <a:ea typeface="宋体"/>
            </a:endParaRPr>
          </a:p>
          <a:p>
            <a:pPr fontAlgn="auto">
              <a:spcBef>
                <a:spcPts val="0"/>
              </a:spcBef>
              <a:spcAft>
                <a:spcPts val="0"/>
              </a:spcAft>
            </a:pPr>
            <a:r>
              <a:rPr lang="en-US" altLang="zh-CN" sz="100" dirty="0">
                <a:solidFill>
                  <a:prstClr val="white"/>
                </a:solidFill>
                <a:latin typeface="Calibri"/>
                <a:ea typeface="宋体"/>
              </a:rPr>
              <a:t> </a:t>
            </a:r>
            <a:endParaRPr lang="zh-CN" altLang="en-US" sz="100" dirty="0">
              <a:solidFill>
                <a:prstClr val="white"/>
              </a:solidFill>
              <a:latin typeface="Calibri"/>
              <a:ea typeface="宋体"/>
            </a:endParaRPr>
          </a:p>
        </p:txBody>
      </p:sp>
      <p:pic>
        <p:nvPicPr>
          <p:cNvPr id="2" name="图片 1"/>
          <p:cNvPicPr>
            <a:picLocks noChangeAspect="1"/>
          </p:cNvPicPr>
          <p:nvPr userDrawn="1"/>
        </p:nvPicPr>
        <p:blipFill>
          <a:blip r:embed="rId2">
            <a:extLst>
              <a:ext uri="{28A0092B-C50C-407E-A947-70E740481C1C}">
                <a14:useLocalDpi xmlns:a14="http://schemas.microsoft.com/office/drawing/2010/main"/>
              </a:ext>
            </a:extLst>
          </a:blip>
          <a:stretch>
            <a:fillRect/>
          </a:stretch>
        </p:blipFill>
        <p:spPr>
          <a:xfrm>
            <a:off x="1595" y="5491"/>
            <a:ext cx="12188812" cy="6847021"/>
          </a:xfrm>
          <a:prstGeom prst="rect">
            <a:avLst/>
          </a:prstGeom>
        </p:spPr>
      </p:pic>
    </p:spTree>
    <p:extLst>
      <p:ext uri="{BB962C8B-B14F-4D97-AF65-F5344CB8AC3E}">
        <p14:creationId xmlns:p14="http://schemas.microsoft.com/office/powerpoint/2010/main" val="2895120139"/>
      </p:ext>
    </p:extLst>
  </p:cSld>
  <p:clrMapOvr>
    <a:masterClrMapping/>
  </p:clrMapOvr>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B6AFB12E-4F17-4A1B-8E5C-701BC7BE0F04}" type="slidenum">
              <a:rPr lang="en-US" altLang="zh-CN"/>
              <a:pPr>
                <a:defRPr/>
              </a:pPr>
              <a:t>‹#›</a:t>
            </a:fld>
            <a:endParaRPr lang="en-US" altLang="zh-CN"/>
          </a:p>
        </p:txBody>
      </p:sp>
    </p:spTree>
    <p:extLst>
      <p:ext uri="{BB962C8B-B14F-4D97-AF65-F5344CB8AC3E}">
        <p14:creationId xmlns:p14="http://schemas.microsoft.com/office/powerpoint/2010/main" val="4151138379"/>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EA82577F-3B45-4B43-869A-DBD9D9C62A41}" type="slidenum">
              <a:rPr lang="en-US" altLang="zh-CN"/>
              <a:pPr>
                <a:defRPr/>
              </a:pPr>
              <a:t>‹#›</a:t>
            </a:fld>
            <a:endParaRPr lang="en-US" altLang="zh-CN"/>
          </a:p>
        </p:txBody>
      </p:sp>
    </p:spTree>
    <p:extLst>
      <p:ext uri="{BB962C8B-B14F-4D97-AF65-F5344CB8AC3E}">
        <p14:creationId xmlns:p14="http://schemas.microsoft.com/office/powerpoint/2010/main" val="2555672554"/>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9"/>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1851" y="4589464"/>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5A02F2B0-D1AE-43D5-AF58-18D8B37DC74F}" type="slidenum">
              <a:rPr lang="en-US" altLang="zh-CN"/>
              <a:pPr>
                <a:defRPr/>
              </a:pPr>
              <a:t>‹#›</a:t>
            </a:fld>
            <a:endParaRPr lang="en-US" altLang="zh-CN"/>
          </a:p>
        </p:txBody>
      </p:sp>
    </p:spTree>
    <p:extLst>
      <p:ext uri="{BB962C8B-B14F-4D97-AF65-F5344CB8AC3E}">
        <p14:creationId xmlns:p14="http://schemas.microsoft.com/office/powerpoint/2010/main" val="13722917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09600" y="1600201"/>
            <a:ext cx="53848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6197600" y="1600201"/>
            <a:ext cx="5384800" cy="4525963"/>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BF8CC2E-09BB-498C-97BE-D64FDE1C6B72}" type="slidenum">
              <a:rPr lang="en-US" altLang="zh-CN"/>
              <a:pPr>
                <a:defRPr/>
              </a:pPr>
              <a:t>‹#›</a:t>
            </a:fld>
            <a:endParaRPr lang="en-US" altLang="zh-CN"/>
          </a:p>
        </p:txBody>
      </p:sp>
    </p:spTree>
    <p:extLst>
      <p:ext uri="{BB962C8B-B14F-4D97-AF65-F5344CB8AC3E}">
        <p14:creationId xmlns:p14="http://schemas.microsoft.com/office/powerpoint/2010/main" val="2257691252"/>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40317" y="365126"/>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40318"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840318" y="2505075"/>
            <a:ext cx="5158316"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6172200" y="2505075"/>
            <a:ext cx="5183717"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38629F2E-8E98-4E7E-90D4-0C8535DA2015}" type="slidenum">
              <a:rPr lang="en-US" altLang="zh-CN"/>
              <a:pPr>
                <a:defRPr/>
              </a:pPr>
              <a:t>‹#›</a:t>
            </a:fld>
            <a:endParaRPr lang="en-US" altLang="zh-CN"/>
          </a:p>
        </p:txBody>
      </p:sp>
    </p:spTree>
    <p:extLst>
      <p:ext uri="{BB962C8B-B14F-4D97-AF65-F5344CB8AC3E}">
        <p14:creationId xmlns:p14="http://schemas.microsoft.com/office/powerpoint/2010/main" val="337612065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362C6896-C248-46DE-B91B-8C39C2AEB1D3}" type="slidenum">
              <a:rPr lang="en-US" altLang="zh-CN"/>
              <a:pPr>
                <a:defRPr/>
              </a:pPr>
              <a:t>‹#›</a:t>
            </a:fld>
            <a:endParaRPr lang="en-US" altLang="zh-CN"/>
          </a:p>
        </p:txBody>
      </p:sp>
    </p:spTree>
    <p:extLst>
      <p:ext uri="{BB962C8B-B14F-4D97-AF65-F5344CB8AC3E}">
        <p14:creationId xmlns:p14="http://schemas.microsoft.com/office/powerpoint/2010/main" val="346226470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6C0E1363-E859-41F2-B921-7D84DF4C91EE}" type="slidenum">
              <a:rPr lang="en-US" altLang="zh-CN"/>
              <a:pPr>
                <a:defRPr/>
              </a:pPr>
              <a:t>‹#›</a:t>
            </a:fld>
            <a:endParaRPr lang="en-US" altLang="zh-CN"/>
          </a:p>
        </p:txBody>
      </p:sp>
    </p:spTree>
    <p:extLst>
      <p:ext uri="{BB962C8B-B14F-4D97-AF65-F5344CB8AC3E}">
        <p14:creationId xmlns:p14="http://schemas.microsoft.com/office/powerpoint/2010/main" val="39089405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5183717"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BB95E745-18E7-42E4-A970-B1D2C9309029}" type="slidenum">
              <a:rPr lang="en-US" altLang="zh-CN"/>
              <a:pPr>
                <a:defRPr/>
              </a:pPr>
              <a:t>‹#›</a:t>
            </a:fld>
            <a:endParaRPr lang="en-US" altLang="zh-CN"/>
          </a:p>
        </p:txBody>
      </p:sp>
    </p:spTree>
    <p:extLst>
      <p:ext uri="{BB962C8B-B14F-4D97-AF65-F5344CB8AC3E}">
        <p14:creationId xmlns:p14="http://schemas.microsoft.com/office/powerpoint/2010/main" val="1861043319"/>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40318" y="457200"/>
            <a:ext cx="393276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717" y="987426"/>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smtClean="0"/>
          </a:p>
        </p:txBody>
      </p:sp>
      <p:sp>
        <p:nvSpPr>
          <p:cNvPr id="4" name="文本占位符 3"/>
          <p:cNvSpPr>
            <a:spLocks noGrp="1"/>
          </p:cNvSpPr>
          <p:nvPr>
            <p:ph type="body" sz="half" idx="2"/>
          </p:nvPr>
        </p:nvSpPr>
        <p:spPr>
          <a:xfrm>
            <a:off x="840318"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D782B224-0EBD-4556-92D0-9D0087715487}" type="slidenum">
              <a:rPr lang="en-US" altLang="zh-CN"/>
              <a:pPr>
                <a:defRPr/>
              </a:pPr>
              <a:t>‹#›</a:t>
            </a:fld>
            <a:endParaRPr lang="en-US" altLang="zh-CN"/>
          </a:p>
        </p:txBody>
      </p:sp>
    </p:spTree>
    <p:extLst>
      <p:ext uri="{BB962C8B-B14F-4D97-AF65-F5344CB8AC3E}">
        <p14:creationId xmlns:p14="http://schemas.microsoft.com/office/powerpoint/2010/main" val="1325503934"/>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A875EC93-9EB1-4402-8F2F-3F1558E8B6C9}" type="slidenum">
              <a:rPr lang="en-US" altLang="zh-CN"/>
              <a:pPr>
                <a:defRPr/>
              </a:pPr>
              <a:t>‹#›</a:t>
            </a:fld>
            <a:endParaRPr lang="en-US" altLang="zh-CN"/>
          </a:p>
        </p:txBody>
      </p:sp>
    </p:spTree>
    <p:extLst>
      <p:ext uri="{BB962C8B-B14F-4D97-AF65-F5344CB8AC3E}">
        <p14:creationId xmlns:p14="http://schemas.microsoft.com/office/powerpoint/2010/main" val="790515459"/>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09600" y="274639"/>
            <a:ext cx="80264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1DF1962-BA23-4C0D-9890-BA4E2824AB06}" type="slidenum">
              <a:rPr lang="en-US" altLang="zh-CN"/>
              <a:pPr>
                <a:defRPr/>
              </a:pPr>
              <a:t>‹#›</a:t>
            </a:fld>
            <a:endParaRPr lang="en-US" altLang="zh-CN"/>
          </a:p>
        </p:txBody>
      </p:sp>
    </p:spTree>
    <p:extLst>
      <p:ext uri="{BB962C8B-B14F-4D97-AF65-F5344CB8AC3E}">
        <p14:creationId xmlns:p14="http://schemas.microsoft.com/office/powerpoint/2010/main" val="15913292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image" Target="../media/image1.jpeg"/><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theme" Target="../theme/theme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9.xml"/><Relationship Id="rId13" Type="http://schemas.openxmlformats.org/officeDocument/2006/relationships/theme" Target="../theme/theme3.xml"/><Relationship Id="rId3" Type="http://schemas.openxmlformats.org/officeDocument/2006/relationships/slideLayout" Target="../slideLayouts/slideLayout24.xml"/><Relationship Id="rId7" Type="http://schemas.openxmlformats.org/officeDocument/2006/relationships/slideLayout" Target="../slideLayouts/slideLayout28.xml"/><Relationship Id="rId12" Type="http://schemas.openxmlformats.org/officeDocument/2006/relationships/slideLayout" Target="../slideLayouts/slideLayout33.xml"/><Relationship Id="rId2" Type="http://schemas.openxmlformats.org/officeDocument/2006/relationships/slideLayout" Target="../slideLayouts/slideLayout23.xml"/><Relationship Id="rId1" Type="http://schemas.openxmlformats.org/officeDocument/2006/relationships/slideLayout" Target="../slideLayouts/slideLayout22.xml"/><Relationship Id="rId6" Type="http://schemas.openxmlformats.org/officeDocument/2006/relationships/slideLayout" Target="../slideLayouts/slideLayout27.xml"/><Relationship Id="rId11" Type="http://schemas.openxmlformats.org/officeDocument/2006/relationships/slideLayout" Target="../slideLayouts/slideLayout32.xml"/><Relationship Id="rId5" Type="http://schemas.openxmlformats.org/officeDocument/2006/relationships/slideLayout" Target="../slideLayouts/slideLayout26.xml"/><Relationship Id="rId10" Type="http://schemas.openxmlformats.org/officeDocument/2006/relationships/slideLayout" Target="../slideLayouts/slideLayout31.xml"/><Relationship Id="rId4" Type="http://schemas.openxmlformats.org/officeDocument/2006/relationships/slideLayout" Target="../slideLayouts/slideLayout25.xml"/><Relationship Id="rId9" Type="http://schemas.openxmlformats.org/officeDocument/2006/relationships/slideLayout" Target="../slideLayouts/slideLayout30.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theme" Target="../theme/theme4.xml"/><Relationship Id="rId2" Type="http://schemas.openxmlformats.org/officeDocument/2006/relationships/slideLayout" Target="../slideLayouts/slideLayout35.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9A6F43A-B774-498D-A23E-BDBFB3D69FFE}" type="datetimeFigureOut">
              <a:rPr lang="zh-CN" altLang="en-US" smtClean="0"/>
              <a:t>2019/10/22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8CD6D2-73C2-4BF6-97E8-6BA6180B192C}" type="slidenum">
              <a:rPr lang="zh-CN" altLang="en-US" smtClean="0"/>
              <a:t>‹#›</a:t>
            </a:fld>
            <a:endParaRPr lang="zh-CN" altLang="en-US"/>
          </a:p>
        </p:txBody>
      </p:sp>
    </p:spTree>
    <p:extLst>
      <p:ext uri="{BB962C8B-B14F-4D97-AF65-F5344CB8AC3E}">
        <p14:creationId xmlns:p14="http://schemas.microsoft.com/office/powerpoint/2010/main" val="16235245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026" name="Picture 2" descr="C:\Users\iamisis\Desktop\00.jpg"/>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0" y="0"/>
            <a:ext cx="121920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Rectangle 2"/>
          <p:cNvSpPr>
            <a:spLocks noGrp="1" noChangeArrowheads="1"/>
          </p:cNvSpPr>
          <p:nvPr>
            <p:ph type="title"/>
          </p:nvPr>
        </p:nvSpPr>
        <p:spPr bwMode="auto">
          <a:xfrm>
            <a:off x="625313" y="260351"/>
            <a:ext cx="1097311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lstStyle/>
          <a:p>
            <a:pPr lvl="0"/>
            <a:r>
              <a:rPr lang="zh-CN" altLang="en-US" dirty="0" smtClean="0"/>
              <a:t>单击此处编辑母版标题样式</a:t>
            </a:r>
          </a:p>
        </p:txBody>
      </p:sp>
      <p:sp>
        <p:nvSpPr>
          <p:cNvPr id="1028" name="Rectangle 3"/>
          <p:cNvSpPr>
            <a:spLocks noGrp="1" noChangeArrowheads="1"/>
          </p:cNvSpPr>
          <p:nvPr>
            <p:ph type="body" idx="1"/>
          </p:nvPr>
        </p:nvSpPr>
        <p:spPr bwMode="auto">
          <a:xfrm>
            <a:off x="625313" y="1125537"/>
            <a:ext cx="10973117" cy="48958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p>
          <a:p>
            <a:pPr lvl="2"/>
            <a:r>
              <a:rPr lang="zh-CN" altLang="en-US" dirty="0" smtClean="0"/>
              <a:t>第二级</a:t>
            </a:r>
          </a:p>
          <a:p>
            <a:pPr lvl="3"/>
            <a:r>
              <a:rPr lang="zh-CN" altLang="en-US" dirty="0" smtClean="0"/>
              <a:t>第三级</a:t>
            </a:r>
          </a:p>
          <a:p>
            <a:pPr lvl="4"/>
            <a:r>
              <a:rPr lang="zh-CN" altLang="en-US" dirty="0" smtClean="0"/>
              <a:t>第四级</a:t>
            </a:r>
          </a:p>
          <a:p>
            <a:pPr lvl="5"/>
            <a:r>
              <a:rPr lang="zh-CN" altLang="en-US" dirty="0" smtClean="0"/>
              <a:t>第五级</a:t>
            </a:r>
            <a:endParaRPr lang="zh-CN" altLang="en-US" dirty="0"/>
          </a:p>
        </p:txBody>
      </p:sp>
      <p:sp>
        <p:nvSpPr>
          <p:cNvPr id="2" name="Rectangle 4"/>
          <p:cNvSpPr>
            <a:spLocks noGrp="1" noChangeArrowheads="1"/>
          </p:cNvSpPr>
          <p:nvPr>
            <p:ph type="dt" sz="half" idx="2"/>
          </p:nvPr>
        </p:nvSpPr>
        <p:spPr bwMode="auto">
          <a:xfrm>
            <a:off x="609442" y="6245225"/>
            <a:ext cx="2845647" cy="476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eaLnBrk="1" hangingPunct="1">
              <a:defRPr sz="1400" baseline="0" smtClean="0">
                <a:latin typeface="Arial" panose="020B0604020202020204" pitchFamily="34" charset="0"/>
                <a:ea typeface="黑体" panose="02010609060101010101" pitchFamily="49" charset="-122"/>
              </a:defRPr>
            </a:lvl1pPr>
          </a:lstStyle>
          <a:p>
            <a:fld id="{13D0CE79-49FB-443D-BEF8-6B709DE8FD0C}" type="datetimeFigureOut">
              <a:rPr lang="zh-CN" altLang="en-US" smtClean="0"/>
              <a:t>2019/10/22</a:t>
            </a:fld>
            <a:endParaRPr lang="zh-CN" altLang="en-US"/>
          </a:p>
        </p:txBody>
      </p:sp>
      <p:sp>
        <p:nvSpPr>
          <p:cNvPr id="1029" name="Rectangle 5"/>
          <p:cNvSpPr>
            <a:spLocks noGrp="1" noChangeArrowheads="1"/>
          </p:cNvSpPr>
          <p:nvPr>
            <p:ph type="ftr" sz="quarter" idx="3"/>
          </p:nvPr>
        </p:nvSpPr>
        <p:spPr bwMode="auto">
          <a:xfrm>
            <a:off x="4166103" y="6245225"/>
            <a:ext cx="3859795" cy="476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eaLnBrk="1" hangingPunct="1">
              <a:defRPr sz="1400" baseline="0" smtClean="0">
                <a:latin typeface="Arial" panose="020B0604020202020204" pitchFamily="34" charset="0"/>
                <a:ea typeface="黑体" panose="02010609060101010101" pitchFamily="49" charset="-122"/>
              </a:defRPr>
            </a:lvl1pPr>
          </a:lstStyle>
          <a:p>
            <a:endParaRPr lang="zh-CN" altLang="en-US"/>
          </a:p>
        </p:txBody>
      </p:sp>
      <p:sp>
        <p:nvSpPr>
          <p:cNvPr id="1030" name="Rectangle 6"/>
          <p:cNvSpPr>
            <a:spLocks noGrp="1" noChangeArrowheads="1"/>
          </p:cNvSpPr>
          <p:nvPr>
            <p:ph type="sldNum" sz="quarter" idx="4"/>
          </p:nvPr>
        </p:nvSpPr>
        <p:spPr bwMode="auto">
          <a:xfrm>
            <a:off x="8736914" y="6245225"/>
            <a:ext cx="2845645" cy="4762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eaLnBrk="1" hangingPunct="1">
              <a:defRPr sz="1400" baseline="0" smtClean="0">
                <a:latin typeface="Arial" panose="020B0604020202020204" pitchFamily="34" charset="0"/>
                <a:ea typeface="黑体" panose="02010609060101010101" pitchFamily="49" charset="-122"/>
              </a:defRPr>
            </a:lvl1pPr>
          </a:lstStyle>
          <a:p>
            <a:fld id="{EF906490-237C-474C-BA2E-D98840BC1F8F}" type="slidenum">
              <a:rPr lang="zh-CN" altLang="en-US" smtClean="0"/>
              <a:t>‹#›</a:t>
            </a:fld>
            <a:endParaRPr lang="zh-CN" altLang="en-US"/>
          </a:p>
        </p:txBody>
      </p:sp>
      <p:sp>
        <p:nvSpPr>
          <p:cNvPr id="1032" name="直接连接符 10"/>
          <p:cNvSpPr>
            <a:spLocks noChangeShapeType="1"/>
          </p:cNvSpPr>
          <p:nvPr/>
        </p:nvSpPr>
        <p:spPr bwMode="auto">
          <a:xfrm flipH="1">
            <a:off x="214258" y="842491"/>
            <a:ext cx="3096405" cy="0"/>
          </a:xfrm>
          <a:prstGeom prst="line">
            <a:avLst/>
          </a:prstGeom>
          <a:noFill/>
          <a:ln w="9525">
            <a:solidFill>
              <a:srgbClr val="00B0F0"/>
            </a:solidFill>
            <a:round/>
          </a:ln>
          <a:extLst>
            <a:ext uri="{909E8E84-426E-40DD-AFC4-6F175D3DCCD1}">
              <a14:hiddenFill xmlns:a14="http://schemas.microsoft.com/office/drawing/2010/main">
                <a:noFill/>
              </a14:hiddenFill>
            </a:ext>
          </a:extLst>
        </p:spPr>
        <p:txBody>
          <a:bodyPr/>
          <a:lstStyle/>
          <a:p>
            <a:endParaRPr lang="zh-CN" altLang="en-US" sz="1800" baseline="0">
              <a:latin typeface="Arial" panose="020B0604020202020204" pitchFamily="34" charset="0"/>
              <a:ea typeface="黑体" panose="02010609060101010101" pitchFamily="49" charset="-122"/>
            </a:endParaRPr>
          </a:p>
        </p:txBody>
      </p:sp>
      <p:sp>
        <p:nvSpPr>
          <p:cNvPr id="1033" name="Rectangle 7"/>
          <p:cNvSpPr>
            <a:spLocks noChangeArrowheads="1"/>
          </p:cNvSpPr>
          <p:nvPr/>
        </p:nvSpPr>
        <p:spPr bwMode="auto">
          <a:xfrm>
            <a:off x="1" y="804391"/>
            <a:ext cx="215844" cy="71437"/>
          </a:xfrm>
          <a:prstGeom prst="rect">
            <a:avLst/>
          </a:prstGeom>
          <a:solidFill>
            <a:srgbClr val="00B0F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a:solidFill>
                  <a:schemeClr val="tx1"/>
                </a:solidFill>
                <a:latin typeface="Arial" panose="020B0604020202020204" pitchFamily="34" charset="0"/>
                <a:ea typeface="宋体" panose="02010600030101010101" pitchFamily="2" charset="-122"/>
              </a:defRPr>
            </a:lvl1pPr>
            <a:lvl2pPr marL="742950" indent="-285750">
              <a:defRPr>
                <a:solidFill>
                  <a:schemeClr val="tx1"/>
                </a:solidFill>
                <a:latin typeface="Arial" panose="020B0604020202020204" pitchFamily="34" charset="0"/>
                <a:ea typeface="宋体" panose="02010600030101010101" pitchFamily="2" charset="-122"/>
              </a:defRPr>
            </a:lvl2pPr>
            <a:lvl3pPr marL="1143000" indent="-228600">
              <a:defRPr>
                <a:solidFill>
                  <a:schemeClr val="tx1"/>
                </a:solidFill>
                <a:latin typeface="Arial" panose="020B0604020202020204" pitchFamily="34" charset="0"/>
                <a:ea typeface="宋体" panose="02010600030101010101" pitchFamily="2" charset="-122"/>
              </a:defRPr>
            </a:lvl3pPr>
            <a:lvl4pPr marL="1600200" indent="-228600">
              <a:defRPr>
                <a:solidFill>
                  <a:schemeClr val="tx1"/>
                </a:solidFill>
                <a:latin typeface="Arial" panose="020B0604020202020204" pitchFamily="34" charset="0"/>
                <a:ea typeface="宋体" panose="02010600030101010101" pitchFamily="2" charset="-122"/>
              </a:defRPr>
            </a:lvl4pPr>
            <a:lvl5pPr marL="2057400" indent="-22860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buFont typeface="Arial" panose="020B0604020202020204" pitchFamily="34" charset="0"/>
              <a:buNone/>
            </a:pPr>
            <a:endParaRPr lang="zh-CN" altLang="zh-CN" sz="1800" baseline="0">
              <a:solidFill>
                <a:srgbClr val="000000"/>
              </a:solidFill>
              <a:latin typeface="Arial" panose="020B0604020202020204" pitchFamily="34" charset="0"/>
              <a:ea typeface="黑体" panose="02010609060101010101" pitchFamily="49" charset="-122"/>
              <a:sym typeface="宋体" panose="02010600030101010101" pitchFamily="2" charset="-122"/>
            </a:endParaRPr>
          </a:p>
        </p:txBody>
      </p:sp>
    </p:spTree>
    <p:extLst>
      <p:ext uri="{BB962C8B-B14F-4D97-AF65-F5344CB8AC3E}">
        <p14:creationId xmlns:p14="http://schemas.microsoft.com/office/powerpoint/2010/main" val="171818651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mc:AlternateContent xmlns:mc="http://schemas.openxmlformats.org/markup-compatibility/2006" xmlns:p14="http://schemas.microsoft.com/office/powerpoint/2010/main">
    <mc:Choice Requires="p14">
      <p:transition>
        <p:wipe/>
      </p:transition>
    </mc:Choice>
    <mc:Fallback xmlns="">
      <p:transition>
        <p:wipe/>
      </p:transition>
    </mc:Fallback>
  </mc:AlternateContent>
  <p:txStyles>
    <p:titleStyle>
      <a:lvl1pPr algn="l" rtl="0" eaLnBrk="1" fontAlgn="base" hangingPunct="1">
        <a:spcBef>
          <a:spcPct val="0"/>
        </a:spcBef>
        <a:spcAft>
          <a:spcPct val="0"/>
        </a:spcAft>
        <a:defRPr sz="2400" kern="1200" baseline="0">
          <a:solidFill>
            <a:schemeClr val="accent1"/>
          </a:solidFill>
          <a:latin typeface="Arial" panose="020B0604020202020204" pitchFamily="34" charset="0"/>
          <a:ea typeface="黑体" panose="02010609060101010101" pitchFamily="49" charset="-122"/>
          <a:cs typeface="+mj-cs"/>
        </a:defRPr>
      </a:lvl1pPr>
      <a:lvl2pPr algn="l" rtl="0" eaLnBrk="1" fontAlgn="base" hangingPunct="1">
        <a:spcBef>
          <a:spcPct val="0"/>
        </a:spcBef>
        <a:spcAft>
          <a:spcPct val="0"/>
        </a:spcAft>
        <a:defRPr sz="2400">
          <a:solidFill>
            <a:schemeClr val="accent1"/>
          </a:solidFill>
          <a:latin typeface="Arial Black" panose="020B0A04020102020204" pitchFamily="34" charset="0"/>
          <a:ea typeface="微软雅黑" panose="020B0503020204020204" charset="-122"/>
          <a:cs typeface="宋体" panose="02010600030101010101" pitchFamily="2" charset="-122"/>
        </a:defRPr>
      </a:lvl2pPr>
      <a:lvl3pPr algn="l" rtl="0" eaLnBrk="1" fontAlgn="base" hangingPunct="1">
        <a:spcBef>
          <a:spcPct val="0"/>
        </a:spcBef>
        <a:spcAft>
          <a:spcPct val="0"/>
        </a:spcAft>
        <a:defRPr sz="2400">
          <a:solidFill>
            <a:schemeClr val="accent1"/>
          </a:solidFill>
          <a:latin typeface="Arial Black" panose="020B0A04020102020204" pitchFamily="34" charset="0"/>
          <a:ea typeface="微软雅黑" panose="020B0503020204020204" charset="-122"/>
          <a:cs typeface="宋体" panose="02010600030101010101" pitchFamily="2" charset="-122"/>
        </a:defRPr>
      </a:lvl3pPr>
      <a:lvl4pPr algn="l" rtl="0" eaLnBrk="1" fontAlgn="base" hangingPunct="1">
        <a:spcBef>
          <a:spcPct val="0"/>
        </a:spcBef>
        <a:spcAft>
          <a:spcPct val="0"/>
        </a:spcAft>
        <a:defRPr sz="2400">
          <a:solidFill>
            <a:schemeClr val="accent1"/>
          </a:solidFill>
          <a:latin typeface="Arial Black" panose="020B0A04020102020204" pitchFamily="34" charset="0"/>
          <a:ea typeface="微软雅黑" panose="020B0503020204020204" charset="-122"/>
          <a:cs typeface="宋体" panose="02010600030101010101" pitchFamily="2" charset="-122"/>
        </a:defRPr>
      </a:lvl4pPr>
      <a:lvl5pPr algn="l" rtl="0" eaLnBrk="1" fontAlgn="base" hangingPunct="1">
        <a:spcBef>
          <a:spcPct val="0"/>
        </a:spcBef>
        <a:spcAft>
          <a:spcPct val="0"/>
        </a:spcAft>
        <a:defRPr sz="2400">
          <a:solidFill>
            <a:schemeClr val="accent1"/>
          </a:solidFill>
          <a:latin typeface="Arial Black" panose="020B0A04020102020204" pitchFamily="34" charset="0"/>
          <a:ea typeface="微软雅黑" panose="020B0503020204020204" charset="-122"/>
          <a:cs typeface="宋体" panose="02010600030101010101" pitchFamily="2" charset="-122"/>
        </a:defRPr>
      </a:lvl5pPr>
      <a:lvl6pPr marL="457200"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charset="-122"/>
          <a:cs typeface="宋体" panose="02010600030101010101" pitchFamily="2" charset="-122"/>
        </a:defRPr>
      </a:lvl6pPr>
      <a:lvl7pPr marL="914400"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charset="-122"/>
          <a:cs typeface="宋体" panose="02010600030101010101" pitchFamily="2" charset="-122"/>
        </a:defRPr>
      </a:lvl7pPr>
      <a:lvl8pPr marL="1370965"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charset="-122"/>
          <a:cs typeface="宋体" panose="02010600030101010101" pitchFamily="2" charset="-122"/>
        </a:defRPr>
      </a:lvl8pPr>
      <a:lvl9pPr marL="1828165" algn="l" rtl="0" eaLnBrk="1" fontAlgn="base" hangingPunct="1">
        <a:spcBef>
          <a:spcPct val="0"/>
        </a:spcBef>
        <a:spcAft>
          <a:spcPct val="0"/>
        </a:spcAft>
        <a:defRPr sz="2400">
          <a:solidFill>
            <a:schemeClr val="tx2"/>
          </a:solidFill>
          <a:latin typeface="Arial" panose="020B0604020202020204" pitchFamily="34" charset="0"/>
          <a:ea typeface="微软雅黑" panose="020B0503020204020204" charset="-122"/>
          <a:cs typeface="宋体" panose="02010600030101010101" pitchFamily="2" charset="-122"/>
        </a:defRPr>
      </a:lvl9pPr>
    </p:titleStyle>
    <p:bodyStyle>
      <a:lvl1pPr marL="342900" indent="-342900" algn="l" rtl="0" eaLnBrk="1" fontAlgn="base" hangingPunct="1">
        <a:spcBef>
          <a:spcPts val="300"/>
        </a:spcBef>
        <a:spcAft>
          <a:spcPts val="300"/>
        </a:spcAft>
        <a:buChar char="•"/>
        <a:defRPr sz="2400" kern="1200" baseline="0">
          <a:solidFill>
            <a:srgbClr val="000000"/>
          </a:solidFill>
          <a:latin typeface="Arial" panose="020B0604020202020204" pitchFamily="34" charset="0"/>
          <a:ea typeface="黑体" panose="02010609060101010101" pitchFamily="49" charset="-122"/>
          <a:cs typeface="+mn-cs"/>
        </a:defRPr>
      </a:lvl1pPr>
      <a:lvl2pPr marL="356870" indent="-285750" algn="l" rtl="0" eaLnBrk="1" fontAlgn="base" hangingPunct="1">
        <a:lnSpc>
          <a:spcPct val="130000"/>
        </a:lnSpc>
        <a:spcBef>
          <a:spcPct val="20000"/>
        </a:spcBef>
        <a:spcAft>
          <a:spcPct val="0"/>
        </a:spcAft>
        <a:buFont typeface="Arial" panose="020B0604020202020204" pitchFamily="34" charset="0"/>
        <a:buChar char=" "/>
        <a:defRPr sz="1800" kern="1200" baseline="0">
          <a:solidFill>
            <a:schemeClr val="tx1"/>
          </a:solidFill>
          <a:latin typeface="Arial" panose="020B0604020202020204" pitchFamily="34" charset="0"/>
          <a:ea typeface="黑体" panose="02010609060101010101" pitchFamily="49" charset="-122"/>
          <a:cs typeface="+mn-cs"/>
        </a:defRPr>
      </a:lvl2pPr>
      <a:lvl3pPr marL="720090" indent="-228600" algn="l" rtl="0" eaLnBrk="1" fontAlgn="base" hangingPunct="1">
        <a:spcBef>
          <a:spcPts val="300"/>
        </a:spcBef>
        <a:spcAft>
          <a:spcPts val="300"/>
        </a:spcAft>
        <a:buChar char="•"/>
        <a:defRPr sz="2000" kern="1200">
          <a:solidFill>
            <a:schemeClr val="tx1"/>
          </a:solidFill>
          <a:latin typeface="+mn-lt"/>
          <a:ea typeface="+mn-ea"/>
          <a:cs typeface="+mn-cs"/>
        </a:defRPr>
      </a:lvl3pPr>
      <a:lvl4pPr marL="1080135" indent="-228600" algn="l" rtl="0" eaLnBrk="1" fontAlgn="base" hangingPunct="1">
        <a:spcBef>
          <a:spcPts val="300"/>
        </a:spcBef>
        <a:spcAft>
          <a:spcPts val="300"/>
        </a:spcAft>
        <a:buChar char="–"/>
        <a:defRPr sz="1800" kern="1200">
          <a:solidFill>
            <a:schemeClr val="tx1"/>
          </a:solidFill>
          <a:latin typeface="+mn-lt"/>
          <a:ea typeface="+mn-ea"/>
          <a:cs typeface="+mn-cs"/>
        </a:defRPr>
      </a:lvl4pPr>
      <a:lvl5pPr marL="1440180" indent="-228600" algn="l" rtl="0" eaLnBrk="1" fontAlgn="base" hangingPunct="1">
        <a:spcBef>
          <a:spcPts val="300"/>
        </a:spcBef>
        <a:spcAft>
          <a:spcPts val="300"/>
        </a:spcAft>
        <a:buChar char="»"/>
        <a:defRPr sz="1800" kern="1200">
          <a:solidFill>
            <a:schemeClr val="tx1"/>
          </a:solidFill>
          <a:latin typeface="+mn-lt"/>
          <a:ea typeface="+mn-ea"/>
          <a:cs typeface="+mn-cs"/>
        </a:defRPr>
      </a:lvl5pPr>
      <a:lvl6pPr marL="1800225" indent="-228600" algn="l" defTabSz="913765" rtl="0" eaLnBrk="1" latinLnBrk="0" hangingPunct="1">
        <a:spcBef>
          <a:spcPts val="300"/>
        </a:spcBef>
        <a:spcAft>
          <a:spcPts val="300"/>
        </a:spcAft>
        <a:buFont typeface="Arial" panose="020B0604020202020204" pitchFamily="34" charset="0"/>
        <a:buChar char="•"/>
        <a:defRPr sz="1800" kern="1200">
          <a:solidFill>
            <a:schemeClr val="tx1"/>
          </a:solidFill>
          <a:latin typeface="+mn-lt"/>
          <a:ea typeface="+mn-ea"/>
          <a:cs typeface="+mn-cs"/>
        </a:defRPr>
      </a:lvl6pPr>
      <a:lvl7pPr marL="2971165"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7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4930" indent="-228600" algn="l" defTabSz="913765"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4400"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2565" algn="l" defTabSz="913765" rtl="0" eaLnBrk="1" latinLnBrk="0" hangingPunct="1">
        <a:defRPr sz="1800" kern="1200">
          <a:solidFill>
            <a:schemeClr val="tx1"/>
          </a:solidFill>
          <a:latin typeface="+mn-lt"/>
          <a:ea typeface="+mn-ea"/>
          <a:cs typeface="+mn-cs"/>
        </a:defRPr>
      </a:lvl7pPr>
      <a:lvl8pPr marL="3199765"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7D7A0C-C1D7-43F7-B5F6-5764769CF732}" type="datetimeFigureOut">
              <a:rPr lang="zh-CN" altLang="en-US" smtClean="0"/>
              <a:t>2019/10/22</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7F3178-6EE9-4292-88F8-31B9CAF99992}" type="slidenum">
              <a:rPr lang="zh-CN" altLang="en-US" smtClean="0"/>
              <a:t>‹#›</a:t>
            </a:fld>
            <a:endParaRPr lang="zh-CN" altLang="en-US"/>
          </a:p>
        </p:txBody>
      </p:sp>
    </p:spTree>
    <p:extLst>
      <p:ext uri="{BB962C8B-B14F-4D97-AF65-F5344CB8AC3E}">
        <p14:creationId xmlns:p14="http://schemas.microsoft.com/office/powerpoint/2010/main" val="910041084"/>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600" y="274638"/>
            <a:ext cx="109728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smtClean="0"/>
              <a:t>单击此处编辑母版标题样式</a:t>
            </a:r>
          </a:p>
        </p:txBody>
      </p:sp>
      <p:sp>
        <p:nvSpPr>
          <p:cNvPr id="1027" name="Rectangle 3"/>
          <p:cNvSpPr>
            <a:spLocks noGrp="1" noChangeArrowheads="1"/>
          </p:cNvSpPr>
          <p:nvPr>
            <p:ph type="body" idx="1"/>
          </p:nvPr>
        </p:nvSpPr>
        <p:spPr bwMode="auto">
          <a:xfrm>
            <a:off x="609600" y="1600201"/>
            <a:ext cx="109728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p>
        </p:txBody>
      </p:sp>
      <p:sp>
        <p:nvSpPr>
          <p:cNvPr id="1028" name="Rectangle 4"/>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1029" name="Rectangle 5"/>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CN"/>
          </a:p>
        </p:txBody>
      </p:sp>
      <p:sp>
        <p:nvSpPr>
          <p:cNvPr id="1030" name="Rectangle 6"/>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eaLnBrk="1" hangingPunct="1">
              <a:defRPr sz="1400"/>
            </a:lvl1pPr>
          </a:lstStyle>
          <a:p>
            <a:pPr>
              <a:defRPr/>
            </a:pPr>
            <a:fld id="{FE7B519E-DA61-465F-941B-293E8297E735}" type="slidenum">
              <a:rPr lang="en-US" altLang="zh-CN"/>
              <a:pPr>
                <a:defRPr/>
              </a:pPr>
              <a:t>‹#›</a:t>
            </a:fld>
            <a:endParaRPr lang="en-US" altLang="zh-CN"/>
          </a:p>
        </p:txBody>
      </p:sp>
    </p:spTree>
    <p:extLst>
      <p:ext uri="{BB962C8B-B14F-4D97-AF65-F5344CB8AC3E}">
        <p14:creationId xmlns:p14="http://schemas.microsoft.com/office/powerpoint/2010/main" val="3207981619"/>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ctr" rtl="0" eaLnBrk="0" fontAlgn="base" hangingPunct="0">
        <a:spcBef>
          <a:spcPct val="0"/>
        </a:spcBef>
        <a:spcAft>
          <a:spcPct val="0"/>
        </a:spcAft>
        <a:defRPr sz="4400" kern="12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5pPr>
      <a:lvl6pPr marL="4572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fontAlgn="base">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4.png"/><Relationship Id="rId1" Type="http://schemas.openxmlformats.org/officeDocument/2006/relationships/slideLayout" Target="../slideLayouts/slideLayout7.xml"/><Relationship Id="rId6" Type="http://schemas.openxmlformats.org/officeDocument/2006/relationships/image" Target="../media/image27.tiff"/><Relationship Id="rId5" Type="http://schemas.openxmlformats.org/officeDocument/2006/relationships/image" Target="../media/image26.png"/><Relationship Id="rId4" Type="http://schemas.openxmlformats.org/officeDocument/2006/relationships/image" Target="../media/image25.png"/></Relationships>
</file>

<file path=ppt/slides/_rels/slide5.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 Id="rId4"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tags" Target="../tags/tag5.xml"/><Relationship Id="rId1" Type="http://schemas.openxmlformats.org/officeDocument/2006/relationships/tags" Target="../tags/tag4.xml"/><Relationship Id="rId5" Type="http://schemas.openxmlformats.org/officeDocument/2006/relationships/image" Target="../media/image29.png"/><Relationship Id="rId4" Type="http://schemas.openxmlformats.org/officeDocument/2006/relationships/notesSlide" Target="../notesSlides/notesSlide1.xml"/></Relationships>
</file>

<file path=ppt/slides/_rels/slide8.xml.rels><?xml version="1.0" encoding="UTF-8" standalone="yes"?>
<Relationships xmlns="http://schemas.openxmlformats.org/package/2006/relationships"><Relationship Id="rId3" Type="http://schemas.openxmlformats.org/officeDocument/2006/relationships/tags" Target="../tags/tag8.xml"/><Relationship Id="rId2" Type="http://schemas.openxmlformats.org/officeDocument/2006/relationships/tags" Target="../tags/tag7.xml"/><Relationship Id="rId1" Type="http://schemas.openxmlformats.org/officeDocument/2006/relationships/tags" Target="../tags/tag6.xml"/><Relationship Id="rId4"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tags" Target="../tags/tag11.xml"/><Relationship Id="rId2" Type="http://schemas.openxmlformats.org/officeDocument/2006/relationships/tags" Target="../tags/tag10.xml"/><Relationship Id="rId1" Type="http://schemas.openxmlformats.org/officeDocument/2006/relationships/tags" Target="../tags/tag9.xml"/><Relationship Id="rId5" Type="http://schemas.openxmlformats.org/officeDocument/2006/relationships/notesSlide" Target="../notesSlides/notesSlide2.xml"/><Relationship Id="rId4"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8" Type="http://schemas.openxmlformats.org/officeDocument/2006/relationships/tags" Target="../tags/tag19.xml"/><Relationship Id="rId13" Type="http://schemas.openxmlformats.org/officeDocument/2006/relationships/tags" Target="../tags/tag24.xml"/><Relationship Id="rId18" Type="http://schemas.openxmlformats.org/officeDocument/2006/relationships/tags" Target="../tags/tag29.xml"/><Relationship Id="rId3" Type="http://schemas.openxmlformats.org/officeDocument/2006/relationships/tags" Target="../tags/tag14.xml"/><Relationship Id="rId7" Type="http://schemas.openxmlformats.org/officeDocument/2006/relationships/tags" Target="../tags/tag18.xml"/><Relationship Id="rId12" Type="http://schemas.openxmlformats.org/officeDocument/2006/relationships/tags" Target="../tags/tag23.xml"/><Relationship Id="rId17" Type="http://schemas.openxmlformats.org/officeDocument/2006/relationships/tags" Target="../tags/tag28.xml"/><Relationship Id="rId2" Type="http://schemas.openxmlformats.org/officeDocument/2006/relationships/tags" Target="../tags/tag13.xml"/><Relationship Id="rId16" Type="http://schemas.openxmlformats.org/officeDocument/2006/relationships/tags" Target="../tags/tag27.xml"/><Relationship Id="rId1" Type="http://schemas.openxmlformats.org/officeDocument/2006/relationships/tags" Target="../tags/tag12.xml"/><Relationship Id="rId6" Type="http://schemas.openxmlformats.org/officeDocument/2006/relationships/tags" Target="../tags/tag17.xml"/><Relationship Id="rId11" Type="http://schemas.openxmlformats.org/officeDocument/2006/relationships/tags" Target="../tags/tag22.xml"/><Relationship Id="rId5" Type="http://schemas.openxmlformats.org/officeDocument/2006/relationships/tags" Target="../tags/tag16.xml"/><Relationship Id="rId15" Type="http://schemas.openxmlformats.org/officeDocument/2006/relationships/tags" Target="../tags/tag26.xml"/><Relationship Id="rId10" Type="http://schemas.openxmlformats.org/officeDocument/2006/relationships/tags" Target="../tags/tag21.xml"/><Relationship Id="rId19" Type="http://schemas.openxmlformats.org/officeDocument/2006/relationships/slideLayout" Target="../slideLayouts/slideLayout18.xml"/><Relationship Id="rId4" Type="http://schemas.openxmlformats.org/officeDocument/2006/relationships/tags" Target="../tags/tag15.xml"/><Relationship Id="rId9" Type="http://schemas.openxmlformats.org/officeDocument/2006/relationships/tags" Target="../tags/tag20.xml"/><Relationship Id="rId14" Type="http://schemas.openxmlformats.org/officeDocument/2006/relationships/tags" Target="../tags/tag25.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3.xml"/><Relationship Id="rId1" Type="http://schemas.openxmlformats.org/officeDocument/2006/relationships/tags" Target="../tags/tag3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1.tiff"/><Relationship Id="rId2" Type="http://schemas.openxmlformats.org/officeDocument/2006/relationships/image" Target="../media/image30.tiff"/><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32.tiff"/><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8" Type="http://schemas.openxmlformats.org/officeDocument/2006/relationships/tags" Target="../tags/tag38.xml"/><Relationship Id="rId13" Type="http://schemas.openxmlformats.org/officeDocument/2006/relationships/tags" Target="../tags/tag43.xml"/><Relationship Id="rId18" Type="http://schemas.openxmlformats.org/officeDocument/2006/relationships/tags" Target="../tags/tag48.xml"/><Relationship Id="rId3" Type="http://schemas.openxmlformats.org/officeDocument/2006/relationships/tags" Target="../tags/tag33.xml"/><Relationship Id="rId7" Type="http://schemas.openxmlformats.org/officeDocument/2006/relationships/tags" Target="../tags/tag37.xml"/><Relationship Id="rId12" Type="http://schemas.openxmlformats.org/officeDocument/2006/relationships/tags" Target="../tags/tag42.xml"/><Relationship Id="rId17" Type="http://schemas.openxmlformats.org/officeDocument/2006/relationships/tags" Target="../tags/tag47.xml"/><Relationship Id="rId2" Type="http://schemas.openxmlformats.org/officeDocument/2006/relationships/tags" Target="../tags/tag32.xml"/><Relationship Id="rId16" Type="http://schemas.openxmlformats.org/officeDocument/2006/relationships/tags" Target="../tags/tag46.xml"/><Relationship Id="rId20" Type="http://schemas.openxmlformats.org/officeDocument/2006/relationships/notesSlide" Target="../notesSlides/notesSlide3.xml"/><Relationship Id="rId1" Type="http://schemas.openxmlformats.org/officeDocument/2006/relationships/tags" Target="../tags/tag31.xml"/><Relationship Id="rId6" Type="http://schemas.openxmlformats.org/officeDocument/2006/relationships/tags" Target="../tags/tag36.xml"/><Relationship Id="rId11" Type="http://schemas.openxmlformats.org/officeDocument/2006/relationships/tags" Target="../tags/tag41.xml"/><Relationship Id="rId5" Type="http://schemas.openxmlformats.org/officeDocument/2006/relationships/tags" Target="../tags/tag35.xml"/><Relationship Id="rId15" Type="http://schemas.openxmlformats.org/officeDocument/2006/relationships/tags" Target="../tags/tag45.xml"/><Relationship Id="rId10" Type="http://schemas.openxmlformats.org/officeDocument/2006/relationships/tags" Target="../tags/tag40.xml"/><Relationship Id="rId19" Type="http://schemas.openxmlformats.org/officeDocument/2006/relationships/slideLayout" Target="../slideLayouts/slideLayout13.xml"/><Relationship Id="rId4" Type="http://schemas.openxmlformats.org/officeDocument/2006/relationships/tags" Target="../tags/tag34.xml"/><Relationship Id="rId9" Type="http://schemas.openxmlformats.org/officeDocument/2006/relationships/tags" Target="../tags/tag39.xml"/><Relationship Id="rId14" Type="http://schemas.openxmlformats.org/officeDocument/2006/relationships/tags" Target="../tags/tag44.xml"/></Relationships>
</file>

<file path=ppt/slides/_rels/slide17.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5" Type="http://schemas.openxmlformats.org/officeDocument/2006/relationships/notesSlide" Target="../notesSlides/notesSlide4.xml"/><Relationship Id="rId4"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3" Type="http://schemas.openxmlformats.org/officeDocument/2006/relationships/tags" Target="../tags/tag54.xml"/><Relationship Id="rId2" Type="http://schemas.openxmlformats.org/officeDocument/2006/relationships/tags" Target="../tags/tag53.xml"/><Relationship Id="rId1" Type="http://schemas.openxmlformats.org/officeDocument/2006/relationships/tags" Target="../tags/tag52.xml"/><Relationship Id="rId6" Type="http://schemas.openxmlformats.org/officeDocument/2006/relationships/notesSlide" Target="../notesSlides/notesSlide5.xml"/><Relationship Id="rId5" Type="http://schemas.openxmlformats.org/officeDocument/2006/relationships/slideLayout" Target="../slideLayouts/slideLayout14.xml"/><Relationship Id="rId4" Type="http://schemas.openxmlformats.org/officeDocument/2006/relationships/tags" Target="../tags/tag55.xml"/></Relationships>
</file>

<file path=ppt/slides/_rels/slide19.xml.rels><?xml version="1.0" encoding="UTF-8" standalone="yes"?>
<Relationships xmlns="http://schemas.openxmlformats.org/package/2006/relationships"><Relationship Id="rId8" Type="http://schemas.openxmlformats.org/officeDocument/2006/relationships/tags" Target="../tags/tag63.xml"/><Relationship Id="rId13" Type="http://schemas.openxmlformats.org/officeDocument/2006/relationships/slideLayout" Target="../slideLayouts/slideLayout13.xml"/><Relationship Id="rId3" Type="http://schemas.openxmlformats.org/officeDocument/2006/relationships/tags" Target="../tags/tag58.xml"/><Relationship Id="rId7" Type="http://schemas.openxmlformats.org/officeDocument/2006/relationships/tags" Target="../tags/tag62.xml"/><Relationship Id="rId12" Type="http://schemas.openxmlformats.org/officeDocument/2006/relationships/tags" Target="../tags/tag67.xml"/><Relationship Id="rId2" Type="http://schemas.openxmlformats.org/officeDocument/2006/relationships/tags" Target="../tags/tag57.xml"/><Relationship Id="rId1" Type="http://schemas.openxmlformats.org/officeDocument/2006/relationships/tags" Target="../tags/tag56.xml"/><Relationship Id="rId6" Type="http://schemas.openxmlformats.org/officeDocument/2006/relationships/tags" Target="../tags/tag61.xml"/><Relationship Id="rId11" Type="http://schemas.openxmlformats.org/officeDocument/2006/relationships/tags" Target="../tags/tag66.xml"/><Relationship Id="rId5" Type="http://schemas.openxmlformats.org/officeDocument/2006/relationships/tags" Target="../tags/tag60.xml"/><Relationship Id="rId10" Type="http://schemas.openxmlformats.org/officeDocument/2006/relationships/tags" Target="../tags/tag65.xml"/><Relationship Id="rId4" Type="http://schemas.openxmlformats.org/officeDocument/2006/relationships/tags" Target="../tags/tag59.xml"/><Relationship Id="rId9" Type="http://schemas.openxmlformats.org/officeDocument/2006/relationships/tags" Target="../tags/tag64.xml"/><Relationship Id="rId14" Type="http://schemas.openxmlformats.org/officeDocument/2006/relationships/notesSlide" Target="../notesSlides/notesSlide6.xml"/></Relationships>
</file>

<file path=ppt/slides/_rels/slide20.xml.rels><?xml version="1.0" encoding="UTF-8" standalone="yes"?>
<Relationships xmlns="http://schemas.openxmlformats.org/package/2006/relationships"><Relationship Id="rId8" Type="http://schemas.openxmlformats.org/officeDocument/2006/relationships/tags" Target="../tags/tag75.xml"/><Relationship Id="rId13" Type="http://schemas.openxmlformats.org/officeDocument/2006/relationships/tags" Target="../tags/tag80.xml"/><Relationship Id="rId18" Type="http://schemas.openxmlformats.org/officeDocument/2006/relationships/tags" Target="../tags/tag85.xml"/><Relationship Id="rId3" Type="http://schemas.openxmlformats.org/officeDocument/2006/relationships/tags" Target="../tags/tag70.xml"/><Relationship Id="rId7" Type="http://schemas.openxmlformats.org/officeDocument/2006/relationships/tags" Target="../tags/tag74.xml"/><Relationship Id="rId12" Type="http://schemas.openxmlformats.org/officeDocument/2006/relationships/tags" Target="../tags/tag79.xml"/><Relationship Id="rId17" Type="http://schemas.openxmlformats.org/officeDocument/2006/relationships/tags" Target="../tags/tag84.xml"/><Relationship Id="rId2" Type="http://schemas.openxmlformats.org/officeDocument/2006/relationships/tags" Target="../tags/tag69.xml"/><Relationship Id="rId16" Type="http://schemas.openxmlformats.org/officeDocument/2006/relationships/tags" Target="../tags/tag83.xml"/><Relationship Id="rId20" Type="http://schemas.openxmlformats.org/officeDocument/2006/relationships/slideLayout" Target="../slideLayouts/slideLayout18.xml"/><Relationship Id="rId1" Type="http://schemas.openxmlformats.org/officeDocument/2006/relationships/tags" Target="../tags/tag68.xml"/><Relationship Id="rId6" Type="http://schemas.openxmlformats.org/officeDocument/2006/relationships/tags" Target="../tags/tag73.xml"/><Relationship Id="rId11" Type="http://schemas.openxmlformats.org/officeDocument/2006/relationships/tags" Target="../tags/tag78.xml"/><Relationship Id="rId5" Type="http://schemas.openxmlformats.org/officeDocument/2006/relationships/tags" Target="../tags/tag72.xml"/><Relationship Id="rId15" Type="http://schemas.openxmlformats.org/officeDocument/2006/relationships/tags" Target="../tags/tag82.xml"/><Relationship Id="rId10" Type="http://schemas.openxmlformats.org/officeDocument/2006/relationships/tags" Target="../tags/tag77.xml"/><Relationship Id="rId19" Type="http://schemas.openxmlformats.org/officeDocument/2006/relationships/tags" Target="../tags/tag86.xml"/><Relationship Id="rId4" Type="http://schemas.openxmlformats.org/officeDocument/2006/relationships/tags" Target="../tags/tag71.xml"/><Relationship Id="rId9" Type="http://schemas.openxmlformats.org/officeDocument/2006/relationships/tags" Target="../tags/tag76.xml"/><Relationship Id="rId14" Type="http://schemas.openxmlformats.org/officeDocument/2006/relationships/tags" Target="../tags/tag81.xml"/></Relationships>
</file>

<file path=ppt/slides/_rels/slide21.xml.rels><?xml version="1.0" encoding="UTF-8" standalone="yes"?>
<Relationships xmlns="http://schemas.openxmlformats.org/package/2006/relationships"><Relationship Id="rId8" Type="http://schemas.openxmlformats.org/officeDocument/2006/relationships/tags" Target="../tags/tag94.xml"/><Relationship Id="rId13" Type="http://schemas.openxmlformats.org/officeDocument/2006/relationships/tags" Target="../tags/tag99.xml"/><Relationship Id="rId18" Type="http://schemas.openxmlformats.org/officeDocument/2006/relationships/tags" Target="../tags/tag104.xml"/><Relationship Id="rId3" Type="http://schemas.openxmlformats.org/officeDocument/2006/relationships/tags" Target="../tags/tag89.xml"/><Relationship Id="rId7" Type="http://schemas.openxmlformats.org/officeDocument/2006/relationships/tags" Target="../tags/tag93.xml"/><Relationship Id="rId12" Type="http://schemas.openxmlformats.org/officeDocument/2006/relationships/tags" Target="../tags/tag98.xml"/><Relationship Id="rId17" Type="http://schemas.openxmlformats.org/officeDocument/2006/relationships/tags" Target="../tags/tag103.xml"/><Relationship Id="rId2" Type="http://schemas.openxmlformats.org/officeDocument/2006/relationships/tags" Target="../tags/tag88.xml"/><Relationship Id="rId16" Type="http://schemas.openxmlformats.org/officeDocument/2006/relationships/tags" Target="../tags/tag102.xml"/><Relationship Id="rId20" Type="http://schemas.openxmlformats.org/officeDocument/2006/relationships/slideLayout" Target="../slideLayouts/slideLayout18.xml"/><Relationship Id="rId1" Type="http://schemas.openxmlformats.org/officeDocument/2006/relationships/tags" Target="../tags/tag87.xml"/><Relationship Id="rId6" Type="http://schemas.openxmlformats.org/officeDocument/2006/relationships/tags" Target="../tags/tag92.xml"/><Relationship Id="rId11" Type="http://schemas.openxmlformats.org/officeDocument/2006/relationships/tags" Target="../tags/tag97.xml"/><Relationship Id="rId5" Type="http://schemas.openxmlformats.org/officeDocument/2006/relationships/tags" Target="../tags/tag91.xml"/><Relationship Id="rId15" Type="http://schemas.openxmlformats.org/officeDocument/2006/relationships/tags" Target="../tags/tag101.xml"/><Relationship Id="rId10" Type="http://schemas.openxmlformats.org/officeDocument/2006/relationships/tags" Target="../tags/tag96.xml"/><Relationship Id="rId19" Type="http://schemas.openxmlformats.org/officeDocument/2006/relationships/tags" Target="../tags/tag105.xml"/><Relationship Id="rId4" Type="http://schemas.openxmlformats.org/officeDocument/2006/relationships/tags" Target="../tags/tag90.xml"/><Relationship Id="rId9" Type="http://schemas.openxmlformats.org/officeDocument/2006/relationships/tags" Target="../tags/tag95.xml"/><Relationship Id="rId14" Type="http://schemas.openxmlformats.org/officeDocument/2006/relationships/tags" Target="../tags/tag100.xml"/></Relationships>
</file>

<file path=ppt/slides/_rels/slide22.xml.rels><?xml version="1.0" encoding="UTF-8" standalone="yes"?>
<Relationships xmlns="http://schemas.openxmlformats.org/package/2006/relationships"><Relationship Id="rId3" Type="http://schemas.openxmlformats.org/officeDocument/2006/relationships/tags" Target="../tags/tag108.xml"/><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notesSlide" Target="../notesSlides/notesSlide7.xml"/><Relationship Id="rId5" Type="http://schemas.openxmlformats.org/officeDocument/2006/relationships/slideLayout" Target="../slideLayouts/slideLayout15.xml"/><Relationship Id="rId4" Type="http://schemas.openxmlformats.org/officeDocument/2006/relationships/tags" Target="../tags/tag109.xml"/></Relationships>
</file>

<file path=ppt/slides/_rels/slide23.xml.rels><?xml version="1.0" encoding="UTF-8" standalone="yes"?>
<Relationships xmlns="http://schemas.openxmlformats.org/package/2006/relationships"><Relationship Id="rId3" Type="http://schemas.openxmlformats.org/officeDocument/2006/relationships/tags" Target="../tags/tag112.xml"/><Relationship Id="rId2" Type="http://schemas.openxmlformats.org/officeDocument/2006/relationships/tags" Target="../tags/tag111.xml"/><Relationship Id="rId1" Type="http://schemas.openxmlformats.org/officeDocument/2006/relationships/tags" Target="../tags/tag110.xml"/><Relationship Id="rId5" Type="http://schemas.openxmlformats.org/officeDocument/2006/relationships/notesSlide" Target="../notesSlides/notesSlide8.xml"/><Relationship Id="rId4"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34.tiff"/><Relationship Id="rId2" Type="http://schemas.openxmlformats.org/officeDocument/2006/relationships/image" Target="../media/image33.tiff"/><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5.gif"/><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hyperlink" Target="http://www.woshipm.com/pmd/638021.html" TargetMode="External"/><Relationship Id="rId2" Type="http://schemas.openxmlformats.org/officeDocument/2006/relationships/hyperlink" Target="https://wenku.baidu.com/view/a2b87c372f3f5727a5e9856a561252d381eb2058.html" TargetMode="External"/><Relationship Id="rId1" Type="http://schemas.openxmlformats.org/officeDocument/2006/relationships/slideLayout" Target="../slideLayouts/slideLayout7.xml"/><Relationship Id="rId4" Type="http://schemas.openxmlformats.org/officeDocument/2006/relationships/hyperlink" Target="https://zhidao.baidu.com/question/684288960916119732.html" TargetMode="Externa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5.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35.xml"/><Relationship Id="rId1" Type="http://schemas.openxmlformats.org/officeDocument/2006/relationships/vmlDrawing" Target="../drawings/vmlDrawing1.vml"/><Relationship Id="rId5" Type="http://schemas.openxmlformats.org/officeDocument/2006/relationships/image" Target="../media/image36.png"/><Relationship Id="rId4" Type="http://schemas.openxmlformats.org/officeDocument/2006/relationships/oleObject" Target="../embeddings/oleObject1.bin"/></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6.xml.rels><?xml version="1.0" encoding="UTF-8" standalone="yes"?>
<Relationships xmlns="http://schemas.openxmlformats.org/package/2006/relationships"><Relationship Id="rId2" Type="http://schemas.openxmlformats.org/officeDocument/2006/relationships/image" Target="../media/image37.emf"/><Relationship Id="rId1" Type="http://schemas.openxmlformats.org/officeDocument/2006/relationships/slideLayout" Target="../slideLayouts/slideLayout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38.xml.rels><?xml version="1.0" encoding="UTF-8" standalone="yes"?>
<Relationships xmlns="http://schemas.openxmlformats.org/package/2006/relationships"><Relationship Id="rId2" Type="http://schemas.openxmlformats.org/officeDocument/2006/relationships/image" Target="../media/image38.emf"/><Relationship Id="rId1" Type="http://schemas.openxmlformats.org/officeDocument/2006/relationships/slideLayout" Target="../slideLayouts/slideLayout35.xml"/></Relationships>
</file>

<file path=ppt/slides/_rels/slide39.xml.rels><?xml version="1.0" encoding="UTF-8" standalone="yes"?>
<Relationships xmlns="http://schemas.openxmlformats.org/package/2006/relationships"><Relationship Id="rId2" Type="http://schemas.openxmlformats.org/officeDocument/2006/relationships/image" Target="../media/image39.emf"/><Relationship Id="rId1" Type="http://schemas.openxmlformats.org/officeDocument/2006/relationships/slideLayout" Target="../slideLayouts/slideLayout35.xml"/></Relationships>
</file>

<file path=ppt/slides/_rels/slide40.xml.rels><?xml version="1.0" encoding="UTF-8" standalone="yes"?>
<Relationships xmlns="http://schemas.openxmlformats.org/package/2006/relationships"><Relationship Id="rId2" Type="http://schemas.openxmlformats.org/officeDocument/2006/relationships/image" Target="../media/image40.emf"/><Relationship Id="rId1" Type="http://schemas.openxmlformats.org/officeDocument/2006/relationships/slideLayout" Target="../slideLayouts/slideLayout35.xml"/></Relationships>
</file>

<file path=ppt/slides/_rels/slide41.xml.rels><?xml version="1.0" encoding="UTF-8" standalone="yes"?>
<Relationships xmlns="http://schemas.openxmlformats.org/package/2006/relationships"><Relationship Id="rId2" Type="http://schemas.openxmlformats.org/officeDocument/2006/relationships/image" Target="../media/image41.emf"/><Relationship Id="rId1" Type="http://schemas.openxmlformats.org/officeDocument/2006/relationships/slideLayout" Target="../slideLayouts/slideLayout35.xml"/></Relationships>
</file>

<file path=ppt/slides/_rels/slide42.xml.rels><?xml version="1.0" encoding="UTF-8" standalone="yes"?>
<Relationships xmlns="http://schemas.openxmlformats.org/package/2006/relationships"><Relationship Id="rId2" Type="http://schemas.openxmlformats.org/officeDocument/2006/relationships/image" Target="../media/image42.emf"/><Relationship Id="rId1" Type="http://schemas.openxmlformats.org/officeDocument/2006/relationships/slideLayout" Target="../slideLayouts/slideLayout35.xml"/></Relationships>
</file>

<file path=ppt/slides/_rels/slide43.xml.rels><?xml version="1.0" encoding="UTF-8" standalone="yes"?>
<Relationships xmlns="http://schemas.openxmlformats.org/package/2006/relationships"><Relationship Id="rId2" Type="http://schemas.openxmlformats.org/officeDocument/2006/relationships/image" Target="../media/image43.emf"/><Relationship Id="rId1" Type="http://schemas.openxmlformats.org/officeDocument/2006/relationships/slideLayout" Target="../slideLayouts/slideLayout35.xml"/></Relationships>
</file>

<file path=ppt/slides/_rels/slide44.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3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35.xml"/><Relationship Id="rId1" Type="http://schemas.openxmlformats.org/officeDocument/2006/relationships/vmlDrawing" Target="../drawings/vmlDrawing2.vml"/><Relationship Id="rId4" Type="http://schemas.openxmlformats.org/officeDocument/2006/relationships/image" Target="../media/image45.wmf"/></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7" name="组合 46"/>
          <p:cNvGrpSpPr/>
          <p:nvPr/>
        </p:nvGrpSpPr>
        <p:grpSpPr>
          <a:xfrm>
            <a:off x="1846119" y="2007606"/>
            <a:ext cx="3040206" cy="3081322"/>
            <a:chOff x="2017569" y="2294999"/>
            <a:chExt cx="2277355" cy="2308154"/>
          </a:xfrm>
        </p:grpSpPr>
        <p:grpSp>
          <p:nvGrpSpPr>
            <p:cNvPr id="5" name="组合 4"/>
            <p:cNvGrpSpPr/>
            <p:nvPr/>
          </p:nvGrpSpPr>
          <p:grpSpPr>
            <a:xfrm>
              <a:off x="2017569" y="2294999"/>
              <a:ext cx="2268000" cy="2268001"/>
              <a:chOff x="3176814" y="2273198"/>
              <a:chExt cx="4093048" cy="5177482"/>
            </a:xfrm>
          </p:grpSpPr>
          <p:sp>
            <p:nvSpPr>
              <p:cNvPr id="7" name="椭圆 6"/>
              <p:cNvSpPr/>
              <p:nvPr/>
            </p:nvSpPr>
            <p:spPr>
              <a:xfrm>
                <a:off x="3176814" y="2273198"/>
                <a:ext cx="4093048" cy="5177482"/>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椭圆 7"/>
              <p:cNvSpPr/>
              <p:nvPr/>
            </p:nvSpPr>
            <p:spPr>
              <a:xfrm>
                <a:off x="3274268" y="2396471"/>
                <a:ext cx="3898141" cy="4930935"/>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6" name="圆角矩形 35"/>
            <p:cNvSpPr/>
            <p:nvPr/>
          </p:nvSpPr>
          <p:spPr>
            <a:xfrm rot="18866618">
              <a:off x="2358098" y="3615182"/>
              <a:ext cx="1203767" cy="77273"/>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圆角矩形 36"/>
            <p:cNvSpPr/>
            <p:nvPr/>
          </p:nvSpPr>
          <p:spPr>
            <a:xfrm rot="16200000">
              <a:off x="2780324" y="2950687"/>
              <a:ext cx="790290" cy="47802"/>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圆角矩形 37"/>
            <p:cNvSpPr/>
            <p:nvPr/>
          </p:nvSpPr>
          <p:spPr>
            <a:xfrm>
              <a:off x="3218080" y="3369733"/>
              <a:ext cx="540763" cy="45719"/>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9" name="组合 8"/>
            <p:cNvGrpSpPr/>
            <p:nvPr/>
          </p:nvGrpSpPr>
          <p:grpSpPr>
            <a:xfrm>
              <a:off x="3047606" y="3302732"/>
              <a:ext cx="252535" cy="252535"/>
              <a:chOff x="3176814" y="2273198"/>
              <a:chExt cx="4093048" cy="5177482"/>
            </a:xfrm>
            <a:solidFill>
              <a:schemeClr val="bg1"/>
            </a:solidFill>
          </p:grpSpPr>
          <p:sp>
            <p:nvSpPr>
              <p:cNvPr id="10" name="椭圆 9"/>
              <p:cNvSpPr/>
              <p:nvPr/>
            </p:nvSpPr>
            <p:spPr>
              <a:xfrm>
                <a:off x="3176814" y="2273198"/>
                <a:ext cx="4093048" cy="5177482"/>
              </a:xfrm>
              <a:prstGeom prst="ellipse">
                <a:avLst/>
              </a:prstGeom>
              <a:grp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椭圆 10"/>
              <p:cNvSpPr/>
              <p:nvPr/>
            </p:nvSpPr>
            <p:spPr>
              <a:xfrm>
                <a:off x="3274268" y="2396471"/>
                <a:ext cx="3898141" cy="49309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9" name="椭圆 38"/>
            <p:cNvSpPr/>
            <p:nvPr/>
          </p:nvSpPr>
          <p:spPr>
            <a:xfrm>
              <a:off x="2071569" y="3321515"/>
              <a:ext cx="228600" cy="2286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椭圆 39"/>
            <p:cNvSpPr/>
            <p:nvPr/>
          </p:nvSpPr>
          <p:spPr>
            <a:xfrm>
              <a:off x="4066324" y="3321515"/>
              <a:ext cx="228600" cy="2286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椭圆 40"/>
            <p:cNvSpPr/>
            <p:nvPr/>
          </p:nvSpPr>
          <p:spPr>
            <a:xfrm>
              <a:off x="3037268" y="4374553"/>
              <a:ext cx="228600" cy="2286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2" name="椭圆 41"/>
            <p:cNvSpPr/>
            <p:nvPr/>
          </p:nvSpPr>
          <p:spPr>
            <a:xfrm>
              <a:off x="3065529" y="2308846"/>
              <a:ext cx="228600" cy="228600"/>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3" name="椭圆 42"/>
            <p:cNvSpPr/>
            <p:nvPr/>
          </p:nvSpPr>
          <p:spPr>
            <a:xfrm>
              <a:off x="2357702" y="2695794"/>
              <a:ext cx="153251" cy="15325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2357703" y="4060956"/>
              <a:ext cx="153251" cy="15325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5" name="椭圆 44"/>
            <p:cNvSpPr/>
            <p:nvPr/>
          </p:nvSpPr>
          <p:spPr>
            <a:xfrm>
              <a:off x="3739791" y="4110581"/>
              <a:ext cx="153251" cy="15325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6" name="椭圆 45"/>
            <p:cNvSpPr/>
            <p:nvPr/>
          </p:nvSpPr>
          <p:spPr>
            <a:xfrm>
              <a:off x="3758841" y="2650882"/>
              <a:ext cx="153251" cy="153251"/>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48" name="组合 47"/>
          <p:cNvGrpSpPr/>
          <p:nvPr/>
        </p:nvGrpSpPr>
        <p:grpSpPr>
          <a:xfrm>
            <a:off x="3993279" y="1151716"/>
            <a:ext cx="3993576" cy="779318"/>
            <a:chOff x="861602" y="3618510"/>
            <a:chExt cx="3993576" cy="779318"/>
          </a:xfrm>
        </p:grpSpPr>
        <p:grpSp>
          <p:nvGrpSpPr>
            <p:cNvPr id="49" name="组合 48"/>
            <p:cNvGrpSpPr/>
            <p:nvPr/>
          </p:nvGrpSpPr>
          <p:grpSpPr>
            <a:xfrm>
              <a:off x="861602" y="3618510"/>
              <a:ext cx="3993576" cy="779318"/>
              <a:chOff x="2078615" y="1943100"/>
              <a:chExt cx="3993576" cy="779318"/>
            </a:xfrm>
          </p:grpSpPr>
          <p:sp>
            <p:nvSpPr>
              <p:cNvPr id="51" name="任意多边形 50"/>
              <p:cNvSpPr/>
              <p:nvPr/>
            </p:nvSpPr>
            <p:spPr>
              <a:xfrm>
                <a:off x="2078615" y="1943100"/>
                <a:ext cx="3993576" cy="779318"/>
              </a:xfrm>
              <a:custGeom>
                <a:avLst/>
                <a:gdLst>
                  <a:gd name="connsiteX0" fmla="*/ 313459 w 3993576"/>
                  <a:gd name="connsiteY0" fmla="*/ 0 h 779318"/>
                  <a:gd name="connsiteX1" fmla="*/ 342467 w 3993576"/>
                  <a:gd name="connsiteY1" fmla="*/ 3635 h 779318"/>
                  <a:gd name="connsiteX2" fmla="*/ 342467 w 3993576"/>
                  <a:gd name="connsiteY2" fmla="*/ 0 h 779318"/>
                  <a:gd name="connsiteX3" fmla="*/ 3680117 w 3993576"/>
                  <a:gd name="connsiteY3" fmla="*/ 0 h 779318"/>
                  <a:gd name="connsiteX4" fmla="*/ 3680835 w 3993576"/>
                  <a:gd name="connsiteY4" fmla="*/ 0 h 779318"/>
                  <a:gd name="connsiteX5" fmla="*/ 3680835 w 3993576"/>
                  <a:gd name="connsiteY5" fmla="*/ 90 h 779318"/>
                  <a:gd name="connsiteX6" fmla="*/ 3743290 w 3993576"/>
                  <a:gd name="connsiteY6" fmla="*/ 7917 h 779318"/>
                  <a:gd name="connsiteX7" fmla="*/ 3993576 w 3993576"/>
                  <a:gd name="connsiteY7" fmla="*/ 389659 h 779318"/>
                  <a:gd name="connsiteX8" fmla="*/ 3743290 w 3993576"/>
                  <a:gd name="connsiteY8" fmla="*/ 771402 h 779318"/>
                  <a:gd name="connsiteX9" fmla="*/ 3680835 w 3993576"/>
                  <a:gd name="connsiteY9" fmla="*/ 779228 h 779318"/>
                  <a:gd name="connsiteX10" fmla="*/ 3680835 w 3993576"/>
                  <a:gd name="connsiteY10" fmla="*/ 779318 h 779318"/>
                  <a:gd name="connsiteX11" fmla="*/ 3680117 w 3993576"/>
                  <a:gd name="connsiteY11" fmla="*/ 779318 h 779318"/>
                  <a:gd name="connsiteX12" fmla="*/ 342467 w 3993576"/>
                  <a:gd name="connsiteY12" fmla="*/ 779318 h 779318"/>
                  <a:gd name="connsiteX13" fmla="*/ 342467 w 3993576"/>
                  <a:gd name="connsiteY13" fmla="*/ 775683 h 779318"/>
                  <a:gd name="connsiteX14" fmla="*/ 313459 w 3993576"/>
                  <a:gd name="connsiteY14" fmla="*/ 779318 h 779318"/>
                  <a:gd name="connsiteX15" fmla="*/ 0 w 3993576"/>
                  <a:gd name="connsiteY15" fmla="*/ 389659 h 779318"/>
                  <a:gd name="connsiteX16" fmla="*/ 313459 w 3993576"/>
                  <a:gd name="connsiteY16" fmla="*/ 0 h 7793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3993576" h="779318">
                    <a:moveTo>
                      <a:pt x="313459" y="0"/>
                    </a:moveTo>
                    <a:lnTo>
                      <a:pt x="342467" y="3635"/>
                    </a:lnTo>
                    <a:lnTo>
                      <a:pt x="342467" y="0"/>
                    </a:lnTo>
                    <a:lnTo>
                      <a:pt x="3680117" y="0"/>
                    </a:lnTo>
                    <a:lnTo>
                      <a:pt x="3680835" y="0"/>
                    </a:lnTo>
                    <a:lnTo>
                      <a:pt x="3680835" y="90"/>
                    </a:lnTo>
                    <a:lnTo>
                      <a:pt x="3743290" y="7917"/>
                    </a:lnTo>
                    <a:cubicBezTo>
                      <a:pt x="3886128" y="44251"/>
                      <a:pt x="3993576" y="201357"/>
                      <a:pt x="3993576" y="389659"/>
                    </a:cubicBezTo>
                    <a:cubicBezTo>
                      <a:pt x="3993576" y="577962"/>
                      <a:pt x="3886128" y="735067"/>
                      <a:pt x="3743290" y="771402"/>
                    </a:cubicBezTo>
                    <a:lnTo>
                      <a:pt x="3680835" y="779228"/>
                    </a:lnTo>
                    <a:lnTo>
                      <a:pt x="3680835" y="779318"/>
                    </a:lnTo>
                    <a:lnTo>
                      <a:pt x="3680117" y="779318"/>
                    </a:lnTo>
                    <a:lnTo>
                      <a:pt x="342467" y="779318"/>
                    </a:lnTo>
                    <a:lnTo>
                      <a:pt x="342467" y="775683"/>
                    </a:lnTo>
                    <a:lnTo>
                      <a:pt x="313459" y="779318"/>
                    </a:lnTo>
                    <a:cubicBezTo>
                      <a:pt x="140340" y="779318"/>
                      <a:pt x="0" y="604862"/>
                      <a:pt x="0" y="389659"/>
                    </a:cubicBezTo>
                    <a:cubicBezTo>
                      <a:pt x="0" y="174456"/>
                      <a:pt x="140340" y="0"/>
                      <a:pt x="313459" y="0"/>
                    </a:cubicBezTo>
                    <a:close/>
                  </a:path>
                </a:pathLst>
              </a:custGeom>
              <a:gradFill flip="none" rotWithShape="1">
                <a:gsLst>
                  <a:gs pos="28000">
                    <a:schemeClr val="accent1">
                      <a:lumMod val="5000"/>
                      <a:lumOff val="95000"/>
                    </a:schemeClr>
                  </a:gs>
                  <a:gs pos="85000">
                    <a:schemeClr val="bg1">
                      <a:lumMod val="85000"/>
                    </a:schemeClr>
                  </a:gs>
                  <a:gs pos="100000">
                    <a:schemeClr val="bg1">
                      <a:lumMod val="75000"/>
                    </a:schemeClr>
                  </a:gs>
                </a:gsLst>
                <a:lin ang="8100000" scaled="1"/>
                <a:tileRect/>
              </a:gradFill>
              <a:ln>
                <a:noFill/>
              </a:ln>
              <a:effectLst>
                <a:outerShdw blurRad="127000" dist="63500" dir="8100000" algn="t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任意多边形 51"/>
              <p:cNvSpPr/>
              <p:nvPr/>
            </p:nvSpPr>
            <p:spPr>
              <a:xfrm>
                <a:off x="2107622" y="1995054"/>
                <a:ext cx="3935560" cy="675411"/>
              </a:xfrm>
              <a:custGeom>
                <a:avLst/>
                <a:gdLst>
                  <a:gd name="connsiteX0" fmla="*/ 268867 w 3935560"/>
                  <a:gd name="connsiteY0" fmla="*/ 0 h 675411"/>
                  <a:gd name="connsiteX1" fmla="*/ 3653273 w 3935560"/>
                  <a:gd name="connsiteY1" fmla="*/ 0 h 675411"/>
                  <a:gd name="connsiteX2" fmla="*/ 3653273 w 3935560"/>
                  <a:gd name="connsiteY2" fmla="*/ 260 h 675411"/>
                  <a:gd name="connsiteX3" fmla="*/ 3708436 w 3935560"/>
                  <a:gd name="connsiteY3" fmla="*/ 6862 h 675411"/>
                  <a:gd name="connsiteX4" fmla="*/ 3935560 w 3935560"/>
                  <a:gd name="connsiteY4" fmla="*/ 337706 h 675411"/>
                  <a:gd name="connsiteX5" fmla="*/ 3708436 w 3935560"/>
                  <a:gd name="connsiteY5" fmla="*/ 668550 h 675411"/>
                  <a:gd name="connsiteX6" fmla="*/ 3653273 w 3935560"/>
                  <a:gd name="connsiteY6" fmla="*/ 675152 h 675411"/>
                  <a:gd name="connsiteX7" fmla="*/ 3653273 w 3935560"/>
                  <a:gd name="connsiteY7" fmla="*/ 675409 h 675411"/>
                  <a:gd name="connsiteX8" fmla="*/ 3651126 w 3935560"/>
                  <a:gd name="connsiteY8" fmla="*/ 675409 h 675411"/>
                  <a:gd name="connsiteX9" fmla="*/ 3651109 w 3935560"/>
                  <a:gd name="connsiteY9" fmla="*/ 675411 h 675411"/>
                  <a:gd name="connsiteX10" fmla="*/ 3651093 w 3935560"/>
                  <a:gd name="connsiteY10" fmla="*/ 675409 h 675411"/>
                  <a:gd name="connsiteX11" fmla="*/ 284468 w 3935560"/>
                  <a:gd name="connsiteY11" fmla="*/ 675409 h 675411"/>
                  <a:gd name="connsiteX12" fmla="*/ 284451 w 3935560"/>
                  <a:gd name="connsiteY12" fmla="*/ 675411 h 675411"/>
                  <a:gd name="connsiteX13" fmla="*/ 284435 w 3935560"/>
                  <a:gd name="connsiteY13" fmla="*/ 675409 h 675411"/>
                  <a:gd name="connsiteX14" fmla="*/ 268867 w 3935560"/>
                  <a:gd name="connsiteY14" fmla="*/ 675409 h 675411"/>
                  <a:gd name="connsiteX15" fmla="*/ 268867 w 3935560"/>
                  <a:gd name="connsiteY15" fmla="*/ 673546 h 675411"/>
                  <a:gd name="connsiteX16" fmla="*/ 227124 w 3935560"/>
                  <a:gd name="connsiteY16" fmla="*/ 668550 h 675411"/>
                  <a:gd name="connsiteX17" fmla="*/ 0 w 3935560"/>
                  <a:gd name="connsiteY17" fmla="*/ 337706 h 675411"/>
                  <a:gd name="connsiteX18" fmla="*/ 227124 w 3935560"/>
                  <a:gd name="connsiteY18" fmla="*/ 6862 h 675411"/>
                  <a:gd name="connsiteX19" fmla="*/ 268867 w 3935560"/>
                  <a:gd name="connsiteY19" fmla="*/ 1866 h 675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935560" h="675411">
                    <a:moveTo>
                      <a:pt x="268867" y="0"/>
                    </a:moveTo>
                    <a:lnTo>
                      <a:pt x="3653273" y="0"/>
                    </a:lnTo>
                    <a:lnTo>
                      <a:pt x="3653273" y="260"/>
                    </a:lnTo>
                    <a:lnTo>
                      <a:pt x="3708436" y="6862"/>
                    </a:lnTo>
                    <a:cubicBezTo>
                      <a:pt x="3838056" y="38352"/>
                      <a:pt x="3935560" y="174511"/>
                      <a:pt x="3935560" y="337706"/>
                    </a:cubicBezTo>
                    <a:cubicBezTo>
                      <a:pt x="3935560" y="500902"/>
                      <a:pt x="3838056" y="637060"/>
                      <a:pt x="3708436" y="668550"/>
                    </a:cubicBezTo>
                    <a:lnTo>
                      <a:pt x="3653273" y="675152"/>
                    </a:lnTo>
                    <a:lnTo>
                      <a:pt x="3653273" y="675409"/>
                    </a:lnTo>
                    <a:lnTo>
                      <a:pt x="3651126" y="675409"/>
                    </a:lnTo>
                    <a:lnTo>
                      <a:pt x="3651109" y="675411"/>
                    </a:lnTo>
                    <a:lnTo>
                      <a:pt x="3651093" y="675409"/>
                    </a:lnTo>
                    <a:lnTo>
                      <a:pt x="284468" y="675409"/>
                    </a:lnTo>
                    <a:lnTo>
                      <a:pt x="284451" y="675411"/>
                    </a:lnTo>
                    <a:lnTo>
                      <a:pt x="284435" y="675409"/>
                    </a:lnTo>
                    <a:lnTo>
                      <a:pt x="268867" y="675409"/>
                    </a:lnTo>
                    <a:lnTo>
                      <a:pt x="268867" y="673546"/>
                    </a:lnTo>
                    <a:lnTo>
                      <a:pt x="227124" y="668550"/>
                    </a:lnTo>
                    <a:cubicBezTo>
                      <a:pt x="97505" y="637060"/>
                      <a:pt x="0" y="500902"/>
                      <a:pt x="0" y="337706"/>
                    </a:cubicBezTo>
                    <a:cubicBezTo>
                      <a:pt x="0" y="174511"/>
                      <a:pt x="97505" y="38352"/>
                      <a:pt x="227124" y="6862"/>
                    </a:cubicBezTo>
                    <a:lnTo>
                      <a:pt x="268867" y="1866"/>
                    </a:lnTo>
                    <a:close/>
                  </a:path>
                </a:pathLst>
              </a:custGeom>
              <a:gradFill flip="none" rotWithShape="1">
                <a:gsLst>
                  <a:gs pos="28000">
                    <a:schemeClr val="accent1">
                      <a:lumMod val="5000"/>
                      <a:lumOff val="95000"/>
                    </a:schemeClr>
                  </a:gs>
                  <a:gs pos="85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0" name="矩形 49"/>
            <p:cNvSpPr/>
            <p:nvPr/>
          </p:nvSpPr>
          <p:spPr>
            <a:xfrm>
              <a:off x="1115701" y="3777336"/>
              <a:ext cx="367408" cy="461665"/>
            </a:xfrm>
            <a:prstGeom prst="rect">
              <a:avLst/>
            </a:prstGeom>
          </p:spPr>
          <p:txBody>
            <a:bodyPr wrap="none">
              <a:spAutoFit/>
            </a:bodyPr>
            <a:lstStyle/>
            <a:p>
              <a:r>
                <a:rPr lang="zh-CN" altLang="en-US" sz="2400" b="1" dirty="0" smtClean="0">
                  <a:solidFill>
                    <a:schemeClr val="tx1">
                      <a:lumMod val="75000"/>
                      <a:lumOff val="25000"/>
                    </a:schemeClr>
                  </a:solidFill>
                  <a:latin typeface="微软雅黑" panose="020B0503020204020204" pitchFamily="34" charset="-122"/>
                  <a:ea typeface="微软雅黑" panose="020B0503020204020204" pitchFamily="34" charset="-122"/>
                </a:rPr>
                <a:t>  </a:t>
              </a:r>
              <a:endParaRPr lang="zh-CN" altLang="en-US" sz="2400" b="1" dirty="0">
                <a:solidFill>
                  <a:schemeClr val="tx1">
                    <a:lumMod val="75000"/>
                    <a:lumOff val="25000"/>
                  </a:schemeClr>
                </a:solidFill>
                <a:latin typeface="微软雅黑" panose="020B0503020204020204" pitchFamily="34" charset="-122"/>
                <a:ea typeface="微软雅黑" panose="020B0503020204020204" pitchFamily="34" charset="-122"/>
              </a:endParaRPr>
            </a:p>
          </p:txBody>
        </p:sp>
      </p:grpSp>
      <p:sp>
        <p:nvSpPr>
          <p:cNvPr id="53" name="矩形 52"/>
          <p:cNvSpPr/>
          <p:nvPr/>
        </p:nvSpPr>
        <p:spPr>
          <a:xfrm>
            <a:off x="5212226" y="2426118"/>
            <a:ext cx="5489003" cy="1938992"/>
          </a:xfrm>
          <a:prstGeom prst="rect">
            <a:avLst/>
          </a:prstGeom>
        </p:spPr>
        <p:txBody>
          <a:bodyPr wrap="none">
            <a:spAutoFit/>
          </a:bodyPr>
          <a:lstStyle/>
          <a:p>
            <a:r>
              <a:rPr lang="zh-CN" altLang="en-US" sz="6000" b="1" dirty="0" smtClean="0">
                <a:solidFill>
                  <a:schemeClr val="tx1">
                    <a:lumMod val="75000"/>
                    <a:lumOff val="25000"/>
                  </a:schemeClr>
                </a:solidFill>
                <a:latin typeface="微软雅黑" panose="020B0503020204020204" pitchFamily="34" charset="-122"/>
                <a:ea typeface="微软雅黑" panose="020B0503020204020204" pitchFamily="34" charset="-122"/>
              </a:rPr>
              <a:t>头脑风暴与</a:t>
            </a:r>
            <a:endParaRPr lang="en-US" altLang="zh-CN" sz="6000" b="1" dirty="0" smtClean="0">
              <a:solidFill>
                <a:schemeClr val="tx1">
                  <a:lumMod val="75000"/>
                  <a:lumOff val="25000"/>
                </a:schemeClr>
              </a:solidFill>
              <a:latin typeface="微软雅黑" panose="020B0503020204020204" pitchFamily="34" charset="-122"/>
              <a:ea typeface="微软雅黑" panose="020B0503020204020204" pitchFamily="34" charset="-122"/>
            </a:endParaRPr>
          </a:p>
          <a:p>
            <a:r>
              <a:rPr lang="zh-CN" altLang="en-US" sz="6000" b="1" dirty="0" smtClean="0">
                <a:solidFill>
                  <a:srgbClr val="FFC000"/>
                </a:solidFill>
                <a:latin typeface="微软雅黑" panose="020B0503020204020204" pitchFamily="34" charset="-122"/>
                <a:ea typeface="微软雅黑" panose="020B0503020204020204" pitchFamily="34" charset="-122"/>
              </a:rPr>
              <a:t>   需求</a:t>
            </a:r>
            <a:r>
              <a:rPr lang="zh-CN" altLang="en-US" sz="6000" b="1" dirty="0">
                <a:solidFill>
                  <a:srgbClr val="FFC000"/>
                </a:solidFill>
                <a:latin typeface="微软雅黑" panose="020B0503020204020204" pitchFamily="34" charset="-122"/>
                <a:ea typeface="微软雅黑" panose="020B0503020204020204" pitchFamily="34" charset="-122"/>
              </a:rPr>
              <a:t>分析</a:t>
            </a:r>
            <a:r>
              <a:rPr lang="zh-CN" altLang="en-US" sz="6000" b="1" dirty="0" smtClean="0">
                <a:solidFill>
                  <a:srgbClr val="FFC000"/>
                </a:solidFill>
                <a:latin typeface="微软雅黑" panose="020B0503020204020204" pitchFamily="34" charset="-122"/>
                <a:ea typeface="微软雅黑" panose="020B0503020204020204" pitchFamily="34" charset="-122"/>
              </a:rPr>
              <a:t>质量</a:t>
            </a:r>
            <a:endParaRPr lang="zh-CN" altLang="en-US" sz="6000" dirty="0">
              <a:solidFill>
                <a:srgbClr val="FFC000"/>
              </a:solidFill>
            </a:endParaRPr>
          </a:p>
        </p:txBody>
      </p:sp>
      <p:sp>
        <p:nvSpPr>
          <p:cNvPr id="54" name="矩形 53"/>
          <p:cNvSpPr/>
          <p:nvPr/>
        </p:nvSpPr>
        <p:spPr>
          <a:xfrm>
            <a:off x="4945925" y="4440016"/>
            <a:ext cx="5894819" cy="954107"/>
          </a:xfrm>
          <a:prstGeom prst="rect">
            <a:avLst/>
          </a:prstGeom>
        </p:spPr>
        <p:txBody>
          <a:bodyPr wrap="none">
            <a:spAutoFit/>
          </a:bodyPr>
          <a:lstStyle/>
          <a:p>
            <a:r>
              <a:rPr lang="en-US" altLang="zh-CN" sz="2800" dirty="0" smtClean="0">
                <a:latin typeface="微软雅黑" panose="020B0503020204020204" pitchFamily="34" charset="-122"/>
                <a:ea typeface="微软雅黑" panose="020B0503020204020204" pitchFamily="34" charset="-122"/>
              </a:rPr>
              <a:t>Brainstorming</a:t>
            </a:r>
            <a:r>
              <a:rPr lang="zh-CN" altLang="en-US" sz="2800" dirty="0" smtClean="0">
                <a:latin typeface="微软雅黑" panose="020B0503020204020204" pitchFamily="34" charset="-122"/>
                <a:ea typeface="微软雅黑" panose="020B0503020204020204" pitchFamily="34" charset="-122"/>
              </a:rPr>
              <a:t> </a:t>
            </a:r>
            <a:r>
              <a:rPr lang="en-US" altLang="zh-CN" sz="2800" dirty="0" smtClean="0">
                <a:latin typeface="微软雅黑" panose="020B0503020204020204" pitchFamily="34" charset="-122"/>
                <a:ea typeface="微软雅黑" panose="020B0503020204020204" pitchFamily="34" charset="-122"/>
              </a:rPr>
              <a:t>and</a:t>
            </a:r>
            <a:r>
              <a:rPr lang="zh-CN" altLang="en-US" sz="2800" dirty="0" smtClean="0">
                <a:latin typeface="微软雅黑" panose="020B0503020204020204" pitchFamily="34" charset="-122"/>
                <a:ea typeface="微软雅黑" panose="020B0503020204020204" pitchFamily="34" charset="-122"/>
              </a:rPr>
              <a:t> </a:t>
            </a:r>
            <a:r>
              <a:rPr lang="en-US" altLang="zh-CN" sz="2800" dirty="0" smtClean="0">
                <a:latin typeface="微软雅黑" panose="020B0503020204020204" pitchFamily="34" charset="-122"/>
                <a:ea typeface="微软雅黑" panose="020B0503020204020204" pitchFamily="34" charset="-122"/>
              </a:rPr>
              <a:t>the</a:t>
            </a:r>
            <a:r>
              <a:rPr lang="zh-CN" altLang="en-US" sz="2800" dirty="0" smtClean="0">
                <a:latin typeface="微软雅黑" panose="020B0503020204020204" pitchFamily="34" charset="-122"/>
                <a:ea typeface="微软雅黑" panose="020B0503020204020204" pitchFamily="34" charset="-122"/>
              </a:rPr>
              <a:t> </a:t>
            </a:r>
            <a:r>
              <a:rPr lang="en-US" altLang="zh-CN" sz="2800" dirty="0" smtClean="0">
                <a:latin typeface="微软雅黑" panose="020B0503020204020204" pitchFamily="34" charset="-122"/>
                <a:ea typeface="微软雅黑" panose="020B0503020204020204" pitchFamily="34" charset="-122"/>
              </a:rPr>
              <a:t>Quality</a:t>
            </a:r>
            <a:r>
              <a:rPr lang="zh-CN" altLang="en-US" sz="2800" dirty="0" smtClean="0">
                <a:latin typeface="微软雅黑" panose="020B0503020204020204" pitchFamily="34" charset="-122"/>
                <a:ea typeface="微软雅黑" panose="020B0503020204020204" pitchFamily="34" charset="-122"/>
              </a:rPr>
              <a:t> </a:t>
            </a:r>
            <a:r>
              <a:rPr lang="en-US" altLang="zh-CN" sz="2800" dirty="0" smtClean="0">
                <a:latin typeface="微软雅黑" panose="020B0503020204020204" pitchFamily="34" charset="-122"/>
                <a:ea typeface="微软雅黑" panose="020B0503020204020204" pitchFamily="34" charset="-122"/>
              </a:rPr>
              <a:t>of</a:t>
            </a:r>
          </a:p>
          <a:p>
            <a:r>
              <a:rPr lang="zh-CN" altLang="en-US" sz="2800" dirty="0" smtClean="0">
                <a:latin typeface="微软雅黑" panose="020B0503020204020204" pitchFamily="34" charset="-122"/>
                <a:ea typeface="微软雅黑" panose="020B0503020204020204" pitchFamily="34" charset="-122"/>
              </a:rPr>
              <a:t>                  </a:t>
            </a:r>
            <a:r>
              <a:rPr lang="en-US" altLang="zh-CN" sz="2800" dirty="0" smtClean="0">
                <a:latin typeface="微软雅黑" panose="020B0503020204020204" pitchFamily="34" charset="-122"/>
                <a:ea typeface="微软雅黑" panose="020B0503020204020204" pitchFamily="34" charset="-122"/>
              </a:rPr>
              <a:t>Requirement</a:t>
            </a:r>
            <a:r>
              <a:rPr lang="zh-CN" altLang="en-US" sz="2800" dirty="0" smtClean="0">
                <a:latin typeface="微软雅黑" panose="020B0503020204020204" pitchFamily="34" charset="-122"/>
                <a:ea typeface="微软雅黑" panose="020B0503020204020204" pitchFamily="34" charset="-122"/>
              </a:rPr>
              <a:t> </a:t>
            </a:r>
            <a:r>
              <a:rPr lang="en-US" altLang="zh-CN" sz="2800" dirty="0" smtClean="0">
                <a:latin typeface="微软雅黑" panose="020B0503020204020204" pitchFamily="34" charset="-122"/>
                <a:ea typeface="微软雅黑" panose="020B0503020204020204" pitchFamily="34" charset="-122"/>
              </a:rPr>
              <a:t>Analysis</a:t>
            </a:r>
            <a:endParaRPr lang="zh-CN" altLang="en-US" sz="2800" dirty="0">
              <a:latin typeface="微软雅黑" panose="020B0503020204020204" pitchFamily="34" charset="-122"/>
              <a:ea typeface="微软雅黑" panose="020B0503020204020204" pitchFamily="34" charset="-122"/>
            </a:endParaRPr>
          </a:p>
        </p:txBody>
      </p:sp>
      <p:grpSp>
        <p:nvGrpSpPr>
          <p:cNvPr id="59" name="组合 58"/>
          <p:cNvGrpSpPr/>
          <p:nvPr/>
        </p:nvGrpSpPr>
        <p:grpSpPr>
          <a:xfrm>
            <a:off x="3291075" y="5088928"/>
            <a:ext cx="143405" cy="1769072"/>
            <a:chOff x="3291075" y="5088928"/>
            <a:chExt cx="143405" cy="1769072"/>
          </a:xfrm>
        </p:grpSpPr>
        <p:cxnSp>
          <p:nvCxnSpPr>
            <p:cNvPr id="56" name="直接连接符 55"/>
            <p:cNvCxnSpPr>
              <a:stCxn id="41" idx="4"/>
            </p:cNvCxnSpPr>
            <p:nvPr/>
          </p:nvCxnSpPr>
          <p:spPr>
            <a:xfrm flipH="1">
              <a:off x="3359976" y="5088928"/>
              <a:ext cx="1" cy="1769072"/>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7" name="椭圆 56"/>
            <p:cNvSpPr/>
            <p:nvPr/>
          </p:nvSpPr>
          <p:spPr>
            <a:xfrm>
              <a:off x="3301034" y="569853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8" name="椭圆 57"/>
            <p:cNvSpPr/>
            <p:nvPr/>
          </p:nvSpPr>
          <p:spPr>
            <a:xfrm>
              <a:off x="3291075" y="6551018"/>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231146532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3305363" y="85728"/>
            <a:ext cx="143405" cy="1769072"/>
            <a:chOff x="3291075" y="5088928"/>
            <a:chExt cx="143405" cy="1769072"/>
          </a:xfrm>
        </p:grpSpPr>
        <p:cxnSp>
          <p:nvCxnSpPr>
            <p:cNvPr id="3" name="直接连接符 2"/>
            <p:cNvCxnSpPr/>
            <p:nvPr/>
          </p:nvCxnSpPr>
          <p:spPr>
            <a:xfrm flipH="1">
              <a:off x="3359976" y="5088928"/>
              <a:ext cx="1" cy="1769072"/>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3301034" y="569853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椭圆 4"/>
            <p:cNvSpPr/>
            <p:nvPr/>
          </p:nvSpPr>
          <p:spPr>
            <a:xfrm>
              <a:off x="3291075" y="6551018"/>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5" name="组合 24"/>
          <p:cNvGrpSpPr/>
          <p:nvPr/>
        </p:nvGrpSpPr>
        <p:grpSpPr>
          <a:xfrm>
            <a:off x="1918208" y="2026091"/>
            <a:ext cx="2968117" cy="3062837"/>
            <a:chOff x="1918208" y="2026091"/>
            <a:chExt cx="2968117" cy="3062837"/>
          </a:xfrm>
        </p:grpSpPr>
        <p:sp>
          <p:nvSpPr>
            <p:cNvPr id="8" name="圆角矩形 7"/>
            <p:cNvSpPr/>
            <p:nvPr/>
          </p:nvSpPr>
          <p:spPr>
            <a:xfrm rot="18866618">
              <a:off x="2300716" y="3770014"/>
              <a:ext cx="1606996" cy="103157"/>
            </a:xfrm>
            <a:prstGeom prst="round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圆角矩形 8"/>
            <p:cNvSpPr/>
            <p:nvPr/>
          </p:nvSpPr>
          <p:spPr>
            <a:xfrm rot="16200000">
              <a:off x="2864376" y="2882931"/>
              <a:ext cx="1055015" cy="6381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圆角矩形 9"/>
            <p:cNvSpPr/>
            <p:nvPr/>
          </p:nvSpPr>
          <p:spPr>
            <a:xfrm>
              <a:off x="3448768" y="3442346"/>
              <a:ext cx="721904" cy="61034"/>
            </a:xfrm>
            <a:prstGeom prst="round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1" name="组合 10"/>
            <p:cNvGrpSpPr/>
            <p:nvPr/>
          </p:nvGrpSpPr>
          <p:grpSpPr>
            <a:xfrm>
              <a:off x="3221190" y="3352902"/>
              <a:ext cx="337127" cy="337127"/>
              <a:chOff x="3176814" y="2273198"/>
              <a:chExt cx="4093048" cy="5177482"/>
            </a:xfrm>
            <a:solidFill>
              <a:schemeClr val="bg1"/>
            </a:solidFill>
          </p:grpSpPr>
          <p:sp>
            <p:nvSpPr>
              <p:cNvPr id="20" name="椭圆 19"/>
              <p:cNvSpPr/>
              <p:nvPr/>
            </p:nvSpPr>
            <p:spPr>
              <a:xfrm>
                <a:off x="3176814" y="2273198"/>
                <a:ext cx="4093048" cy="5177482"/>
              </a:xfrm>
              <a:prstGeom prst="ellipse">
                <a:avLst/>
              </a:prstGeom>
              <a:grp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椭圆 20"/>
              <p:cNvSpPr/>
              <p:nvPr/>
            </p:nvSpPr>
            <p:spPr>
              <a:xfrm>
                <a:off x="3274268" y="2396471"/>
                <a:ext cx="3898141" cy="4930935"/>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2" name="椭圆 11"/>
            <p:cNvSpPr/>
            <p:nvPr/>
          </p:nvSpPr>
          <p:spPr>
            <a:xfrm>
              <a:off x="1918208" y="3377977"/>
              <a:ext cx="305175" cy="30517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椭圆 12"/>
            <p:cNvSpPr/>
            <p:nvPr/>
          </p:nvSpPr>
          <p:spPr>
            <a:xfrm>
              <a:off x="4581150" y="3377977"/>
              <a:ext cx="305175" cy="30517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椭圆 13"/>
            <p:cNvSpPr/>
            <p:nvPr/>
          </p:nvSpPr>
          <p:spPr>
            <a:xfrm>
              <a:off x="3207389" y="4783753"/>
              <a:ext cx="305175" cy="30517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椭圆 14"/>
            <p:cNvSpPr/>
            <p:nvPr/>
          </p:nvSpPr>
          <p:spPr>
            <a:xfrm>
              <a:off x="3245117" y="2026091"/>
              <a:ext cx="305175" cy="305175"/>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2300187" y="2542656"/>
              <a:ext cx="204586" cy="20458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 16"/>
            <p:cNvSpPr/>
            <p:nvPr/>
          </p:nvSpPr>
          <p:spPr>
            <a:xfrm>
              <a:off x="2300188" y="4365110"/>
              <a:ext cx="204586" cy="20458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145238" y="4431358"/>
              <a:ext cx="204586" cy="20458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4170669" y="2482700"/>
              <a:ext cx="204586" cy="20458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4" name="椭圆 23"/>
          <p:cNvSpPr/>
          <p:nvPr/>
        </p:nvSpPr>
        <p:spPr>
          <a:xfrm>
            <a:off x="1855920" y="1952075"/>
            <a:ext cx="3166521" cy="3166521"/>
          </a:xfrm>
          <a:prstGeom prst="ellipse">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6" name="矩形 25"/>
          <p:cNvSpPr/>
          <p:nvPr/>
        </p:nvSpPr>
        <p:spPr>
          <a:xfrm>
            <a:off x="3059150" y="3972752"/>
            <a:ext cx="1081578" cy="307777"/>
          </a:xfrm>
          <a:prstGeom prst="rect">
            <a:avLst/>
          </a:prstGeom>
        </p:spPr>
        <p:txBody>
          <a:bodyPr wrap="none">
            <a:spAutoFit/>
          </a:bodyPr>
          <a:lstStyle/>
          <a:p>
            <a:r>
              <a:rPr lang="en-US" altLang="zh-CN" sz="1400" b="1" dirty="0" smtClean="0">
                <a:latin typeface="微软雅黑" panose="020B0503020204020204" pitchFamily="34" charset="-122"/>
                <a:ea typeface="微软雅黑" panose="020B0503020204020204" pitchFamily="34" charset="-122"/>
              </a:rPr>
              <a:t>CONTENT</a:t>
            </a:r>
            <a:endParaRPr lang="zh-CN" altLang="en-US" sz="1400" b="1" dirty="0"/>
          </a:p>
        </p:txBody>
      </p:sp>
      <p:grpSp>
        <p:nvGrpSpPr>
          <p:cNvPr id="27" name="组合 26"/>
          <p:cNvGrpSpPr/>
          <p:nvPr/>
        </p:nvGrpSpPr>
        <p:grpSpPr>
          <a:xfrm>
            <a:off x="4833694" y="861967"/>
            <a:ext cx="1080565" cy="1080566"/>
            <a:chOff x="1488310" y="1579494"/>
            <a:chExt cx="1414094" cy="1414094"/>
          </a:xfrm>
        </p:grpSpPr>
        <p:grpSp>
          <p:nvGrpSpPr>
            <p:cNvPr id="28" name="组合 27"/>
            <p:cNvGrpSpPr/>
            <p:nvPr/>
          </p:nvGrpSpPr>
          <p:grpSpPr>
            <a:xfrm>
              <a:off x="1488310" y="1579494"/>
              <a:ext cx="1414094" cy="1414094"/>
              <a:chOff x="3176812" y="2273198"/>
              <a:chExt cx="2641825" cy="2726239"/>
            </a:xfrm>
          </p:grpSpPr>
          <p:sp>
            <p:nvSpPr>
              <p:cNvPr id="30" name="椭圆 29"/>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1" name="椭圆 30"/>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29" name="文本框 28"/>
            <p:cNvSpPr txBox="1"/>
            <p:nvPr/>
          </p:nvSpPr>
          <p:spPr>
            <a:xfrm>
              <a:off x="1874185" y="1863626"/>
              <a:ext cx="642343" cy="845828"/>
            </a:xfrm>
            <a:prstGeom prst="rect">
              <a:avLst/>
            </a:prstGeom>
            <a:noFill/>
          </p:spPr>
          <p:txBody>
            <a:bodyPr wrap="none" rtlCol="0">
              <a:spAutoFit/>
            </a:bodyPr>
            <a:lstStyle/>
            <a:p>
              <a:pPr algn="ctr"/>
              <a:r>
                <a:rPr lang="en-US" altLang="zh-CN" sz="3600" dirty="0" smtClean="0">
                  <a:solidFill>
                    <a:schemeClr val="accent2">
                      <a:lumMod val="75000"/>
                    </a:schemeClr>
                  </a:solidFill>
                  <a:latin typeface="方正超粗黑_GBK" panose="03000509000000000000" pitchFamily="65" charset="-122"/>
                  <a:ea typeface="方正超粗黑_GBK" panose="03000509000000000000" pitchFamily="65" charset="-122"/>
                </a:rPr>
                <a:t>1</a:t>
              </a:r>
              <a:endParaRPr lang="zh-CN" altLang="en-US" sz="36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grpSp>
        <p:nvGrpSpPr>
          <p:cNvPr id="32" name="组合 31"/>
          <p:cNvGrpSpPr/>
          <p:nvPr/>
        </p:nvGrpSpPr>
        <p:grpSpPr>
          <a:xfrm>
            <a:off x="6096000" y="2120002"/>
            <a:ext cx="1080565" cy="1080566"/>
            <a:chOff x="1488310" y="1579494"/>
            <a:chExt cx="1414094" cy="1414094"/>
          </a:xfrm>
        </p:grpSpPr>
        <p:grpSp>
          <p:nvGrpSpPr>
            <p:cNvPr id="33" name="组合 32"/>
            <p:cNvGrpSpPr/>
            <p:nvPr/>
          </p:nvGrpSpPr>
          <p:grpSpPr>
            <a:xfrm>
              <a:off x="1488310" y="1579494"/>
              <a:ext cx="1414094" cy="1414094"/>
              <a:chOff x="3176812" y="2273198"/>
              <a:chExt cx="2641825" cy="2726239"/>
            </a:xfrm>
          </p:grpSpPr>
          <p:sp>
            <p:nvSpPr>
              <p:cNvPr id="35" name="椭圆 34"/>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6" name="椭圆 35"/>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34" name="文本框 33"/>
            <p:cNvSpPr txBox="1"/>
            <p:nvPr/>
          </p:nvSpPr>
          <p:spPr>
            <a:xfrm>
              <a:off x="1874185" y="1863626"/>
              <a:ext cx="642343" cy="845828"/>
            </a:xfrm>
            <a:prstGeom prst="rect">
              <a:avLst/>
            </a:prstGeom>
            <a:noFill/>
          </p:spPr>
          <p:txBody>
            <a:bodyPr wrap="none" rtlCol="0">
              <a:spAutoFit/>
            </a:bodyPr>
            <a:lstStyle/>
            <a:p>
              <a:pPr algn="ctr"/>
              <a:r>
                <a:rPr lang="en-US" altLang="zh-CN" sz="3600" dirty="0" smtClean="0">
                  <a:solidFill>
                    <a:schemeClr val="accent2">
                      <a:lumMod val="75000"/>
                    </a:schemeClr>
                  </a:solidFill>
                  <a:latin typeface="方正超粗黑_GBK" panose="03000509000000000000" pitchFamily="65" charset="-122"/>
                  <a:ea typeface="方正超粗黑_GBK" panose="03000509000000000000" pitchFamily="65" charset="-122"/>
                </a:rPr>
                <a:t>2</a:t>
              </a:r>
              <a:endParaRPr lang="zh-CN" altLang="en-US" sz="36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grpSp>
        <p:nvGrpSpPr>
          <p:cNvPr id="37" name="组合 36"/>
          <p:cNvGrpSpPr/>
          <p:nvPr/>
        </p:nvGrpSpPr>
        <p:grpSpPr>
          <a:xfrm>
            <a:off x="6093839" y="3884370"/>
            <a:ext cx="1080565" cy="1080566"/>
            <a:chOff x="1488310" y="1579494"/>
            <a:chExt cx="1414094" cy="1414094"/>
          </a:xfrm>
        </p:grpSpPr>
        <p:grpSp>
          <p:nvGrpSpPr>
            <p:cNvPr id="38" name="组合 37"/>
            <p:cNvGrpSpPr/>
            <p:nvPr/>
          </p:nvGrpSpPr>
          <p:grpSpPr>
            <a:xfrm>
              <a:off x="1488310" y="1579494"/>
              <a:ext cx="1414094" cy="1414094"/>
              <a:chOff x="3176812" y="2273198"/>
              <a:chExt cx="2641825" cy="2726239"/>
            </a:xfrm>
          </p:grpSpPr>
          <p:sp>
            <p:nvSpPr>
              <p:cNvPr id="40" name="椭圆 39"/>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1" name="椭圆 40"/>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39" name="文本框 38"/>
            <p:cNvSpPr txBox="1"/>
            <p:nvPr/>
          </p:nvSpPr>
          <p:spPr>
            <a:xfrm>
              <a:off x="1874185" y="1863626"/>
              <a:ext cx="642343" cy="845828"/>
            </a:xfrm>
            <a:prstGeom prst="rect">
              <a:avLst/>
            </a:prstGeom>
            <a:noFill/>
          </p:spPr>
          <p:txBody>
            <a:bodyPr wrap="none" rtlCol="0">
              <a:spAutoFit/>
            </a:bodyPr>
            <a:lstStyle/>
            <a:p>
              <a:pPr algn="ctr"/>
              <a:r>
                <a:rPr lang="en-US" altLang="zh-CN" sz="3600" dirty="0">
                  <a:solidFill>
                    <a:schemeClr val="accent2">
                      <a:lumMod val="75000"/>
                    </a:schemeClr>
                  </a:solidFill>
                  <a:latin typeface="方正超粗黑_GBK" panose="03000509000000000000" pitchFamily="65" charset="-122"/>
                  <a:ea typeface="方正超粗黑_GBK" panose="03000509000000000000" pitchFamily="65" charset="-122"/>
                </a:rPr>
                <a:t>3</a:t>
              </a:r>
              <a:endParaRPr lang="zh-CN" altLang="en-US" sz="36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grpSp>
        <p:nvGrpSpPr>
          <p:cNvPr id="42" name="组合 41"/>
          <p:cNvGrpSpPr/>
          <p:nvPr/>
        </p:nvGrpSpPr>
        <p:grpSpPr>
          <a:xfrm>
            <a:off x="4833693" y="5276243"/>
            <a:ext cx="1080565" cy="1080566"/>
            <a:chOff x="1488310" y="1579494"/>
            <a:chExt cx="1414094" cy="1414094"/>
          </a:xfrm>
        </p:grpSpPr>
        <p:grpSp>
          <p:nvGrpSpPr>
            <p:cNvPr id="43" name="组合 42"/>
            <p:cNvGrpSpPr/>
            <p:nvPr/>
          </p:nvGrpSpPr>
          <p:grpSpPr>
            <a:xfrm>
              <a:off x="1488310" y="1579494"/>
              <a:ext cx="1414094" cy="1414094"/>
              <a:chOff x="3176812" y="2273198"/>
              <a:chExt cx="2641825" cy="2726239"/>
            </a:xfrm>
          </p:grpSpPr>
          <p:sp>
            <p:nvSpPr>
              <p:cNvPr id="45" name="椭圆 44"/>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6" name="椭圆 45"/>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44" name="文本框 43"/>
            <p:cNvSpPr txBox="1"/>
            <p:nvPr/>
          </p:nvSpPr>
          <p:spPr>
            <a:xfrm>
              <a:off x="1874185" y="1863626"/>
              <a:ext cx="642343" cy="845828"/>
            </a:xfrm>
            <a:prstGeom prst="rect">
              <a:avLst/>
            </a:prstGeom>
            <a:noFill/>
          </p:spPr>
          <p:txBody>
            <a:bodyPr wrap="none" rtlCol="0">
              <a:spAutoFit/>
            </a:bodyPr>
            <a:lstStyle/>
            <a:p>
              <a:pPr algn="ctr"/>
              <a:r>
                <a:rPr lang="en-US" altLang="zh-CN" sz="3600" dirty="0" smtClean="0">
                  <a:solidFill>
                    <a:schemeClr val="accent2">
                      <a:lumMod val="75000"/>
                    </a:schemeClr>
                  </a:solidFill>
                  <a:latin typeface="方正超粗黑_GBK" panose="03000509000000000000" pitchFamily="65" charset="-122"/>
                  <a:ea typeface="方正超粗黑_GBK" panose="03000509000000000000" pitchFamily="65" charset="-122"/>
                </a:rPr>
                <a:t>4</a:t>
              </a:r>
              <a:endParaRPr lang="zh-CN" altLang="en-US" sz="36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sp>
        <p:nvSpPr>
          <p:cNvPr id="47" name="矩形 46"/>
          <p:cNvSpPr/>
          <p:nvPr/>
        </p:nvSpPr>
        <p:spPr>
          <a:xfrm>
            <a:off x="5951954" y="1072316"/>
            <a:ext cx="2444900" cy="523220"/>
          </a:xfrm>
          <a:prstGeom prst="rect">
            <a:avLst/>
          </a:prstGeom>
        </p:spPr>
        <p:txBody>
          <a:bodyPr wrap="none">
            <a:spAutoFit/>
          </a:bodyPr>
          <a:lstStyle/>
          <a:p>
            <a:r>
              <a:rPr lang="zh-CN" altLang="en-US" sz="2800" dirty="0" smtClean="0">
                <a:solidFill>
                  <a:schemeClr val="accent2">
                    <a:lumMod val="75000"/>
                  </a:schemeClr>
                </a:solidFill>
                <a:latin typeface="微软雅黑" panose="020B0503020204020204" pitchFamily="34" charset="-122"/>
                <a:ea typeface="微软雅黑" panose="020B0503020204020204" pitchFamily="34" charset="-122"/>
              </a:rPr>
              <a:t> 需求分析简介</a:t>
            </a:r>
            <a:endParaRPr lang="zh-CN" altLang="en-US" sz="28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48" name="矩形 47"/>
          <p:cNvSpPr/>
          <p:nvPr/>
        </p:nvSpPr>
        <p:spPr>
          <a:xfrm>
            <a:off x="7136711" y="2398674"/>
            <a:ext cx="3522118" cy="523220"/>
          </a:xfrm>
          <a:prstGeom prst="rect">
            <a:avLst/>
          </a:prstGeom>
        </p:spPr>
        <p:txBody>
          <a:bodyPr wrap="none">
            <a:spAutoFit/>
          </a:bodyPr>
          <a:lstStyle/>
          <a:p>
            <a:r>
              <a:rPr lang="zh-CN" altLang="en-US" sz="2800" dirty="0" smtClean="0">
                <a:solidFill>
                  <a:schemeClr val="accent2">
                    <a:lumMod val="75000"/>
                  </a:schemeClr>
                </a:solidFill>
                <a:latin typeface="微软雅黑" panose="020B0503020204020204" pitchFamily="34" charset="-122"/>
                <a:ea typeface="微软雅黑" panose="020B0503020204020204" pitchFamily="34" charset="-122"/>
              </a:rPr>
              <a:t> 需求分析的常见问题</a:t>
            </a:r>
            <a:endParaRPr lang="zh-CN" altLang="en-US" sz="28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49" name="矩形 48"/>
          <p:cNvSpPr/>
          <p:nvPr/>
        </p:nvSpPr>
        <p:spPr>
          <a:xfrm>
            <a:off x="7174404" y="4205793"/>
            <a:ext cx="2085827" cy="523220"/>
          </a:xfrm>
          <a:prstGeom prst="rect">
            <a:avLst/>
          </a:prstGeom>
        </p:spPr>
        <p:txBody>
          <a:bodyPr wrap="none">
            <a:spAutoFit/>
          </a:bodyPr>
          <a:lstStyle/>
          <a:p>
            <a:r>
              <a:rPr lang="zh-CN" altLang="en-US" sz="2800" dirty="0" smtClean="0">
                <a:solidFill>
                  <a:schemeClr val="accent2">
                    <a:lumMod val="75000"/>
                  </a:schemeClr>
                </a:solidFill>
                <a:latin typeface="微软雅黑" panose="020B0503020204020204" pitchFamily="34" charset="-122"/>
                <a:ea typeface="微软雅黑" panose="020B0503020204020204" pitchFamily="34" charset="-122"/>
              </a:rPr>
              <a:t> 头脑风暴法</a:t>
            </a:r>
            <a:endParaRPr lang="zh-CN" altLang="en-US" sz="2800" dirty="0">
              <a:solidFill>
                <a:schemeClr val="accent2">
                  <a:lumMod val="75000"/>
                </a:schemeClr>
              </a:solidFill>
              <a:latin typeface="微软雅黑" panose="020B0503020204020204" pitchFamily="34" charset="-122"/>
              <a:ea typeface="微软雅黑" panose="020B0503020204020204" pitchFamily="34" charset="-122"/>
            </a:endParaRPr>
          </a:p>
        </p:txBody>
      </p:sp>
      <p:sp>
        <p:nvSpPr>
          <p:cNvPr id="50" name="矩形 49"/>
          <p:cNvSpPr/>
          <p:nvPr/>
        </p:nvSpPr>
        <p:spPr>
          <a:xfrm>
            <a:off x="5951953" y="5619049"/>
            <a:ext cx="4599336" cy="523220"/>
          </a:xfrm>
          <a:prstGeom prst="rect">
            <a:avLst/>
          </a:prstGeom>
        </p:spPr>
        <p:txBody>
          <a:bodyPr wrap="none">
            <a:spAutoFit/>
          </a:bodyPr>
          <a:lstStyle/>
          <a:p>
            <a:r>
              <a:rPr lang="zh-CN" altLang="en-US" sz="2800" dirty="0" smtClean="0">
                <a:solidFill>
                  <a:schemeClr val="accent2">
                    <a:lumMod val="75000"/>
                  </a:schemeClr>
                </a:solidFill>
                <a:latin typeface="微软雅黑" panose="020B0503020204020204" pitchFamily="34" charset="-122"/>
                <a:ea typeface="微软雅黑" panose="020B0503020204020204" pitchFamily="34" charset="-122"/>
              </a:rPr>
              <a:t> 头脑风暴应用在需求分析中</a:t>
            </a:r>
            <a:endParaRPr lang="zh-CN" altLang="en-US" sz="2800" dirty="0">
              <a:solidFill>
                <a:schemeClr val="accent2">
                  <a:lumMod val="75000"/>
                </a:schemeClr>
              </a:solidFill>
              <a:latin typeface="微软雅黑" panose="020B0503020204020204" pitchFamily="34" charset="-122"/>
              <a:ea typeface="微软雅黑" panose="020B0503020204020204" pitchFamily="34" charset="-122"/>
            </a:endParaRPr>
          </a:p>
        </p:txBody>
      </p:sp>
      <p:grpSp>
        <p:nvGrpSpPr>
          <p:cNvPr id="53" name="组合 52"/>
          <p:cNvGrpSpPr/>
          <p:nvPr/>
        </p:nvGrpSpPr>
        <p:grpSpPr>
          <a:xfrm>
            <a:off x="3288273" y="5156942"/>
            <a:ext cx="143405" cy="1769072"/>
            <a:chOff x="3291075" y="5088928"/>
            <a:chExt cx="143405" cy="1769072"/>
          </a:xfrm>
        </p:grpSpPr>
        <p:cxnSp>
          <p:nvCxnSpPr>
            <p:cNvPr id="54" name="直接连接符 53"/>
            <p:cNvCxnSpPr/>
            <p:nvPr/>
          </p:nvCxnSpPr>
          <p:spPr>
            <a:xfrm flipH="1">
              <a:off x="3359976" y="5088928"/>
              <a:ext cx="1" cy="1769072"/>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5" name="椭圆 54"/>
            <p:cNvSpPr/>
            <p:nvPr/>
          </p:nvSpPr>
          <p:spPr>
            <a:xfrm>
              <a:off x="3301034" y="569853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6" name="椭圆 55"/>
            <p:cNvSpPr/>
            <p:nvPr/>
          </p:nvSpPr>
          <p:spPr>
            <a:xfrm>
              <a:off x="3291075" y="6551018"/>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60691968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7" name="图片 56"/>
          <p:cNvPicPr>
            <a:picLocks noChangeAspect="1"/>
          </p:cNvPicPr>
          <p:nvPr/>
        </p:nvPicPr>
        <p:blipFill>
          <a:blip r:embed="rId2"/>
          <a:srcRect/>
          <a:stretch>
            <a:fillRect/>
          </a:stretch>
        </p:blipFill>
        <p:spPr>
          <a:xfrm>
            <a:off x="1529855" y="2438649"/>
            <a:ext cx="3910251" cy="2862304"/>
          </a:xfrm>
          <a:custGeom>
            <a:avLst/>
            <a:gdLst>
              <a:gd name="connsiteX0" fmla="*/ 0 w 3910251"/>
              <a:gd name="connsiteY0" fmla="*/ 0 h 2862304"/>
              <a:gd name="connsiteX1" fmla="*/ 3910251 w 3910251"/>
              <a:gd name="connsiteY1" fmla="*/ 0 h 2862304"/>
              <a:gd name="connsiteX2" fmla="*/ 3910251 w 3910251"/>
              <a:gd name="connsiteY2" fmla="*/ 354181 h 2862304"/>
              <a:gd name="connsiteX3" fmla="*/ 3829684 w 3910251"/>
              <a:gd name="connsiteY3" fmla="*/ 414428 h 2862304"/>
              <a:gd name="connsiteX4" fmla="*/ 3405974 w 3910251"/>
              <a:gd name="connsiteY4" fmla="*/ 1312886 h 2862304"/>
              <a:gd name="connsiteX5" fmla="*/ 3829684 w 3910251"/>
              <a:gd name="connsiteY5" fmla="*/ 2211344 h 2862304"/>
              <a:gd name="connsiteX6" fmla="*/ 3910251 w 3910251"/>
              <a:gd name="connsiteY6" fmla="*/ 2271591 h 2862304"/>
              <a:gd name="connsiteX7" fmla="*/ 3910251 w 3910251"/>
              <a:gd name="connsiteY7" fmla="*/ 2862304 h 2862304"/>
              <a:gd name="connsiteX8" fmla="*/ 0 w 3910251"/>
              <a:gd name="connsiteY8" fmla="*/ 2862304 h 2862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10251" h="2862304">
                <a:moveTo>
                  <a:pt x="0" y="0"/>
                </a:moveTo>
                <a:lnTo>
                  <a:pt x="3910251" y="0"/>
                </a:lnTo>
                <a:lnTo>
                  <a:pt x="3910251" y="354181"/>
                </a:lnTo>
                <a:lnTo>
                  <a:pt x="3829684" y="414428"/>
                </a:lnTo>
                <a:cubicBezTo>
                  <a:pt x="3570914" y="627984"/>
                  <a:pt x="3405974" y="951173"/>
                  <a:pt x="3405974" y="1312886"/>
                </a:cubicBezTo>
                <a:cubicBezTo>
                  <a:pt x="3405974" y="1674599"/>
                  <a:pt x="3570914" y="1997788"/>
                  <a:pt x="3829684" y="2211344"/>
                </a:cubicBezTo>
                <a:lnTo>
                  <a:pt x="3910251" y="2271591"/>
                </a:lnTo>
                <a:lnTo>
                  <a:pt x="3910251" y="2862304"/>
                </a:lnTo>
                <a:lnTo>
                  <a:pt x="0" y="2862304"/>
                </a:lnTo>
                <a:close/>
              </a:path>
            </a:pathLst>
          </a:custGeom>
          <a:ln>
            <a:solidFill>
              <a:schemeClr val="accent2">
                <a:lumMod val="60000"/>
                <a:lumOff val="40000"/>
              </a:schemeClr>
            </a:solidFill>
            <a:prstDash val="sysDash"/>
          </a:ln>
        </p:spPr>
      </p:pic>
      <p:sp>
        <p:nvSpPr>
          <p:cNvPr id="58" name="任意多边形 57"/>
          <p:cNvSpPr/>
          <p:nvPr/>
        </p:nvSpPr>
        <p:spPr>
          <a:xfrm>
            <a:off x="6760223" y="2438649"/>
            <a:ext cx="3910251" cy="2862304"/>
          </a:xfrm>
          <a:custGeom>
            <a:avLst/>
            <a:gdLst>
              <a:gd name="connsiteX0" fmla="*/ 0 w 3910251"/>
              <a:gd name="connsiteY0" fmla="*/ 0 h 2862304"/>
              <a:gd name="connsiteX1" fmla="*/ 3910251 w 3910251"/>
              <a:gd name="connsiteY1" fmla="*/ 0 h 2862304"/>
              <a:gd name="connsiteX2" fmla="*/ 3910251 w 3910251"/>
              <a:gd name="connsiteY2" fmla="*/ 2862304 h 2862304"/>
              <a:gd name="connsiteX3" fmla="*/ 0 w 3910251"/>
              <a:gd name="connsiteY3" fmla="*/ 2862304 h 2862304"/>
              <a:gd name="connsiteX4" fmla="*/ 0 w 3910251"/>
              <a:gd name="connsiteY4" fmla="*/ 2253821 h 2862304"/>
              <a:gd name="connsiteX5" fmla="*/ 80568 w 3910251"/>
              <a:gd name="connsiteY5" fmla="*/ 2193574 h 2862304"/>
              <a:gd name="connsiteX6" fmla="*/ 504278 w 3910251"/>
              <a:gd name="connsiteY6" fmla="*/ 1295115 h 2862304"/>
              <a:gd name="connsiteX7" fmla="*/ 80568 w 3910251"/>
              <a:gd name="connsiteY7" fmla="*/ 396657 h 2862304"/>
              <a:gd name="connsiteX8" fmla="*/ 0 w 3910251"/>
              <a:gd name="connsiteY8" fmla="*/ 336409 h 2862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10251" h="2862304">
                <a:moveTo>
                  <a:pt x="0" y="0"/>
                </a:moveTo>
                <a:lnTo>
                  <a:pt x="3910251" y="0"/>
                </a:lnTo>
                <a:lnTo>
                  <a:pt x="3910251" y="2862304"/>
                </a:lnTo>
                <a:lnTo>
                  <a:pt x="0" y="2862304"/>
                </a:lnTo>
                <a:lnTo>
                  <a:pt x="0" y="2253821"/>
                </a:lnTo>
                <a:lnTo>
                  <a:pt x="80568" y="2193574"/>
                </a:lnTo>
                <a:cubicBezTo>
                  <a:pt x="339339" y="1980017"/>
                  <a:pt x="504278" y="1656828"/>
                  <a:pt x="504278" y="1295115"/>
                </a:cubicBezTo>
                <a:cubicBezTo>
                  <a:pt x="504278" y="933402"/>
                  <a:pt x="339339" y="610213"/>
                  <a:pt x="80568" y="396657"/>
                </a:cubicBezTo>
                <a:lnTo>
                  <a:pt x="0" y="336409"/>
                </a:lnTo>
                <a:close/>
              </a:path>
            </a:pathLst>
          </a:custGeom>
          <a:noFill/>
          <a:ln>
            <a:solidFill>
              <a:schemeClr val="accent2">
                <a:lumMod val="60000"/>
                <a:lumOff val="4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59" name="组合 58"/>
          <p:cNvGrpSpPr/>
          <p:nvPr/>
        </p:nvGrpSpPr>
        <p:grpSpPr>
          <a:xfrm>
            <a:off x="5046871" y="2688875"/>
            <a:ext cx="2101593" cy="2101593"/>
            <a:chOff x="1488310" y="1579494"/>
            <a:chExt cx="1414094" cy="1414094"/>
          </a:xfrm>
        </p:grpSpPr>
        <p:grpSp>
          <p:nvGrpSpPr>
            <p:cNvPr id="60" name="组合 59"/>
            <p:cNvGrpSpPr/>
            <p:nvPr/>
          </p:nvGrpSpPr>
          <p:grpSpPr>
            <a:xfrm>
              <a:off x="1488310" y="1579494"/>
              <a:ext cx="1414094" cy="1414094"/>
              <a:chOff x="3176812" y="2273198"/>
              <a:chExt cx="2641825" cy="2726239"/>
            </a:xfrm>
          </p:grpSpPr>
          <p:sp>
            <p:nvSpPr>
              <p:cNvPr id="62" name="椭圆 61"/>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prstClr val="white"/>
                  </a:solidFill>
                </a:endParaRPr>
              </a:p>
            </p:txBody>
          </p:sp>
          <p:sp>
            <p:nvSpPr>
              <p:cNvPr id="63" name="椭圆 62"/>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800">
                  <a:solidFill>
                    <a:prstClr val="white"/>
                  </a:solidFill>
                </a:endParaRPr>
              </a:p>
            </p:txBody>
          </p:sp>
        </p:grpSp>
        <p:sp>
          <p:nvSpPr>
            <p:cNvPr id="61" name="文本框 60"/>
            <p:cNvSpPr txBox="1"/>
            <p:nvPr/>
          </p:nvSpPr>
          <p:spPr>
            <a:xfrm>
              <a:off x="1555154" y="2048383"/>
              <a:ext cx="1280405" cy="476314"/>
            </a:xfrm>
            <a:prstGeom prst="rect">
              <a:avLst/>
            </a:prstGeom>
            <a:noFill/>
          </p:spPr>
          <p:txBody>
            <a:bodyPr wrap="square" rtlCol="0">
              <a:spAutoFit/>
            </a:bodyPr>
            <a:lstStyle/>
            <a:p>
              <a:pPr algn="ctr"/>
              <a:r>
                <a:rPr lang="zh-CN" altLang="en-US" sz="2000" b="1" dirty="0">
                  <a:solidFill>
                    <a:schemeClr val="accent2">
                      <a:lumMod val="75000"/>
                    </a:schemeClr>
                  </a:solidFill>
                  <a:latin typeface="方正超粗黑_GBK" panose="03000509000000000000" pitchFamily="65" charset="-122"/>
                  <a:ea typeface="方正超粗黑_GBK" panose="03000509000000000000" pitchFamily="65" charset="-122"/>
                </a:rPr>
                <a:t>对用户需求的理解和表达</a:t>
              </a:r>
              <a:endParaRPr lang="zh-CN" altLang="en-US" sz="2000" b="1"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grpSp>
        <p:nvGrpSpPr>
          <p:cNvPr id="64" name="组合 63"/>
          <p:cNvGrpSpPr/>
          <p:nvPr/>
        </p:nvGrpSpPr>
        <p:grpSpPr>
          <a:xfrm>
            <a:off x="4778032" y="0"/>
            <a:ext cx="2698175" cy="1648006"/>
            <a:chOff x="4778032" y="0"/>
            <a:chExt cx="2698175" cy="1648006"/>
          </a:xfrm>
        </p:grpSpPr>
        <p:sp>
          <p:nvSpPr>
            <p:cNvPr id="65" name="矩形 64"/>
            <p:cNvSpPr/>
            <p:nvPr/>
          </p:nvSpPr>
          <p:spPr>
            <a:xfrm>
              <a:off x="4778032" y="1124786"/>
              <a:ext cx="2698175" cy="523220"/>
            </a:xfrm>
            <a:prstGeom prst="rect">
              <a:avLst/>
            </a:prstGeom>
          </p:spPr>
          <p:txBody>
            <a:bodyPr wrap="none">
              <a:spAutoFit/>
            </a:bodyPr>
            <a:lstStyle/>
            <a:p>
              <a:r>
                <a:rPr lang="zh-CN" altLang="en-US" sz="2800" b="1" i="0" smtClean="0">
                  <a:solidFill>
                    <a:schemeClr val="accent2">
                      <a:lumMod val="75000"/>
                    </a:schemeClr>
                  </a:solidFill>
                  <a:effectLst/>
                  <a:latin typeface="Simsun" panose="02010600030101010101" pitchFamily="2" charset="-122"/>
                  <a:ea typeface="Simsun" panose="02010600030101010101" pitchFamily="2" charset="-122"/>
                </a:rPr>
                <a:t>什么是需求分析</a:t>
              </a:r>
              <a:endParaRPr lang="zh-CN" altLang="en-US" sz="2800" b="1" dirty="0"/>
            </a:p>
          </p:txBody>
        </p:sp>
        <p:cxnSp>
          <p:nvCxnSpPr>
            <p:cNvPr id="66" name="直接连接符 65"/>
            <p:cNvCxnSpPr>
              <a:stCxn id="67" idx="4"/>
              <a:endCxn id="68" idx="4"/>
            </p:cNvCxnSpPr>
            <p:nvPr/>
          </p:nvCxnSpPr>
          <p:spPr>
            <a:xfrm>
              <a:off x="6110728" y="133446"/>
              <a:ext cx="12193" cy="91789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67" name="椭圆 66"/>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8" name="椭圆 67"/>
            <p:cNvSpPr/>
            <p:nvPr/>
          </p:nvSpPr>
          <p:spPr>
            <a:xfrm>
              <a:off x="6056198" y="91789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69" name="矩形 68"/>
          <p:cNvSpPr/>
          <p:nvPr/>
        </p:nvSpPr>
        <p:spPr>
          <a:xfrm>
            <a:off x="7263912" y="2615703"/>
            <a:ext cx="3401568" cy="2585323"/>
          </a:xfrm>
          <a:prstGeom prst="rect">
            <a:avLst/>
          </a:prstGeom>
        </p:spPr>
        <p:txBody>
          <a:bodyPr wrap="square">
            <a:spAutoFit/>
          </a:bodyPr>
          <a:lstStyle/>
          <a:p>
            <a:r>
              <a:rPr lang="zh-CN" altLang="en-US" i="0" dirty="0" smtClean="0">
                <a:solidFill>
                  <a:schemeClr val="accent2">
                    <a:lumMod val="75000"/>
                  </a:schemeClr>
                </a:solidFill>
                <a:effectLst/>
                <a:latin typeface="Simsun" panose="02010600030101010101" pitchFamily="2" charset="-122"/>
                <a:ea typeface="Simsun" panose="02010600030101010101" pitchFamily="2" charset="-122"/>
              </a:rPr>
              <a:t>理解问题和运行环境</a:t>
            </a:r>
            <a:endParaRPr lang="en-US" altLang="zh-CN" i="0" dirty="0" smtClean="0">
              <a:solidFill>
                <a:schemeClr val="accent2">
                  <a:lumMod val="75000"/>
                </a:schemeClr>
              </a:solidFill>
              <a:effectLst/>
              <a:latin typeface="Simsun" panose="02010600030101010101" pitchFamily="2" charset="-122"/>
              <a:ea typeface="Simsun" panose="02010600030101010101" pitchFamily="2" charset="-122"/>
            </a:endParaRPr>
          </a:p>
          <a:p>
            <a:endParaRPr lang="en-US" altLang="zh-CN" dirty="0">
              <a:solidFill>
                <a:schemeClr val="accent2">
                  <a:lumMod val="75000"/>
                </a:schemeClr>
              </a:solidFill>
              <a:latin typeface="Simsun" panose="02010600030101010101" pitchFamily="2" charset="-122"/>
              <a:ea typeface="Simsun" panose="02010600030101010101" pitchFamily="2" charset="-122"/>
            </a:endParaRPr>
          </a:p>
          <a:p>
            <a:r>
              <a:rPr lang="zh-CN" altLang="en-US" i="0" dirty="0" smtClean="0">
                <a:solidFill>
                  <a:schemeClr val="accent2">
                    <a:lumMod val="75000"/>
                  </a:schemeClr>
                </a:solidFill>
                <a:effectLst/>
                <a:latin typeface="Simsun" panose="02010600030101010101" pitchFamily="2" charset="-122"/>
                <a:ea typeface="Simsun" panose="02010600030101010101" pitchFamily="2" charset="-122"/>
              </a:rPr>
              <a:t>帮助客户挖掘需求</a:t>
            </a:r>
            <a:endParaRPr lang="en-US" altLang="zh-CN" i="0" dirty="0" smtClean="0">
              <a:solidFill>
                <a:schemeClr val="accent2">
                  <a:lumMod val="75000"/>
                </a:schemeClr>
              </a:solidFill>
              <a:effectLst/>
              <a:latin typeface="Simsun" panose="02010600030101010101" pitchFamily="2" charset="-122"/>
              <a:ea typeface="Simsun" panose="02010600030101010101" pitchFamily="2" charset="-122"/>
            </a:endParaRPr>
          </a:p>
          <a:p>
            <a:endParaRPr lang="en-US" altLang="zh-CN" dirty="0">
              <a:solidFill>
                <a:schemeClr val="accent2">
                  <a:lumMod val="75000"/>
                </a:schemeClr>
              </a:solidFill>
              <a:latin typeface="Simsun" panose="02010600030101010101" pitchFamily="2" charset="-122"/>
              <a:ea typeface="Simsun" panose="02010600030101010101" pitchFamily="2" charset="-122"/>
            </a:endParaRPr>
          </a:p>
          <a:p>
            <a:r>
              <a:rPr lang="zh-CN" altLang="en-US" dirty="0" smtClean="0">
                <a:solidFill>
                  <a:schemeClr val="accent2">
                    <a:lumMod val="75000"/>
                  </a:schemeClr>
                </a:solidFill>
                <a:latin typeface="Simsun" panose="02010600030101010101" pitchFamily="2" charset="-122"/>
                <a:ea typeface="Simsun" panose="02010600030101010101" pitchFamily="2" charset="-122"/>
              </a:rPr>
              <a:t> 分析可行性</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r>
              <a:rPr lang="mr-IN" altLang="zh-CN" dirty="0" smtClean="0">
                <a:solidFill>
                  <a:schemeClr val="accent2">
                    <a:lumMod val="75000"/>
                  </a:schemeClr>
                </a:solidFill>
                <a:latin typeface="Simsun" panose="02010600030101010101" pitchFamily="2" charset="-122"/>
                <a:ea typeface="Simsun" panose="02010600030101010101" pitchFamily="2" charset="-122"/>
              </a:rPr>
              <a:t>……</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endParaRPr lang="en-US" altLang="zh-CN" dirty="0">
              <a:solidFill>
                <a:schemeClr val="accent2">
                  <a:lumMod val="75000"/>
                </a:schemeClr>
              </a:solidFill>
              <a:latin typeface="Simsun" panose="02010600030101010101" pitchFamily="2" charset="-122"/>
              <a:ea typeface="Simsun" panose="02010600030101010101" pitchFamily="2" charset="-122"/>
            </a:endParaRPr>
          </a:p>
          <a:p>
            <a:r>
              <a:rPr lang="zh-CN" altLang="en-US" dirty="0" smtClean="0">
                <a:solidFill>
                  <a:schemeClr val="accent2">
                    <a:lumMod val="75000"/>
                  </a:schemeClr>
                </a:solidFill>
              </a:rPr>
              <a:t>形成完整的文档</a:t>
            </a:r>
            <a:endParaRPr lang="zh-CN" altLang="en-US" dirty="0">
              <a:solidFill>
                <a:schemeClr val="accent2">
                  <a:lumMod val="75000"/>
                </a:schemeClr>
              </a:solidFill>
            </a:endParaRPr>
          </a:p>
        </p:txBody>
      </p:sp>
    </p:spTree>
    <p:extLst>
      <p:ext uri="{BB962C8B-B14F-4D97-AF65-F5344CB8AC3E}">
        <p14:creationId xmlns:p14="http://schemas.microsoft.com/office/powerpoint/2010/main" val="242533696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组合 10"/>
          <p:cNvGrpSpPr/>
          <p:nvPr/>
        </p:nvGrpSpPr>
        <p:grpSpPr>
          <a:xfrm>
            <a:off x="1255319" y="1544247"/>
            <a:ext cx="2490524" cy="1195569"/>
            <a:chOff x="1366837" y="1863742"/>
            <a:chExt cx="10403683" cy="4994258"/>
          </a:xfrm>
        </p:grpSpPr>
        <p:grpSp>
          <p:nvGrpSpPr>
            <p:cNvPr id="8" name="组合 7"/>
            <p:cNvGrpSpPr/>
            <p:nvPr/>
          </p:nvGrpSpPr>
          <p:grpSpPr>
            <a:xfrm>
              <a:off x="7041357" y="2634476"/>
              <a:ext cx="4729163" cy="3347484"/>
              <a:chOff x="3731418" y="2034141"/>
              <a:chExt cx="4729163" cy="3347484"/>
            </a:xfrm>
          </p:grpSpPr>
          <p:pic>
            <p:nvPicPr>
              <p:cNvPr id="9" name="图片 8"/>
              <p:cNvPicPr>
                <a:picLocks noChangeAspect="1"/>
              </p:cNvPicPr>
              <p:nvPr/>
            </p:nvPicPr>
            <p:blipFill>
              <a:blip r:embed="rId2">
                <a:extLst>
                  <a:ext uri="{BEBA8EAE-BF5A-486C-A8C5-ECC9F3942E4B}">
                    <a14:imgProps xmlns:a14="http://schemas.microsoft.com/office/drawing/2010/main">
                      <a14:imgLayer r:embed="rId3">
                        <a14:imgEffect>
                          <a14:backgroundRemoval t="6040" b="93960" l="9857" r="89905"/>
                        </a14:imgEffect>
                      </a14:imgLayer>
                    </a14:imgProps>
                  </a:ext>
                </a:extLst>
              </a:blip>
              <a:stretch>
                <a:fillRect/>
              </a:stretch>
            </p:blipFill>
            <p:spPr>
              <a:xfrm>
                <a:off x="3731418" y="2034141"/>
                <a:ext cx="4729163" cy="3347484"/>
              </a:xfrm>
              <a:prstGeom prst="rect">
                <a:avLst/>
              </a:prstGeom>
            </p:spPr>
          </p:pic>
          <p:pic>
            <p:nvPicPr>
              <p:cNvPr id="10" name="图片 9"/>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0551" y="2419944"/>
                <a:ext cx="3114674" cy="1752006"/>
              </a:xfrm>
              <a:prstGeom prst="rect">
                <a:avLst/>
              </a:prstGeom>
            </p:spPr>
          </p:pic>
        </p:grpSp>
        <p:grpSp>
          <p:nvGrpSpPr>
            <p:cNvPr id="5" name="组合 4"/>
            <p:cNvGrpSpPr/>
            <p:nvPr/>
          </p:nvGrpSpPr>
          <p:grpSpPr>
            <a:xfrm>
              <a:off x="1366837" y="2538799"/>
              <a:ext cx="4729163" cy="3347484"/>
              <a:chOff x="3731418" y="2034141"/>
              <a:chExt cx="4729163" cy="3347484"/>
            </a:xfrm>
          </p:grpSpPr>
          <p:pic>
            <p:nvPicPr>
              <p:cNvPr id="6" name="图片 5"/>
              <p:cNvPicPr>
                <a:picLocks noChangeAspect="1"/>
              </p:cNvPicPr>
              <p:nvPr/>
            </p:nvPicPr>
            <p:blipFill>
              <a:blip r:embed="rId2">
                <a:extLst>
                  <a:ext uri="{BEBA8EAE-BF5A-486C-A8C5-ECC9F3942E4B}">
                    <a14:imgProps xmlns:a14="http://schemas.microsoft.com/office/drawing/2010/main">
                      <a14:imgLayer r:embed="rId3">
                        <a14:imgEffect>
                          <a14:backgroundRemoval t="6040" b="93960" l="9857" r="89905"/>
                        </a14:imgEffect>
                      </a14:imgLayer>
                    </a14:imgProps>
                  </a:ext>
                </a:extLst>
              </a:blip>
              <a:stretch>
                <a:fillRect/>
              </a:stretch>
            </p:blipFill>
            <p:spPr>
              <a:xfrm>
                <a:off x="3731418" y="2034141"/>
                <a:ext cx="4729163" cy="3347484"/>
              </a:xfrm>
              <a:prstGeom prst="rect">
                <a:avLst/>
              </a:prstGeom>
            </p:spPr>
          </p:pic>
          <p:pic>
            <p:nvPicPr>
              <p:cNvPr id="7" name="图片 6"/>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400551" y="2419944"/>
                <a:ext cx="3114674" cy="1752006"/>
              </a:xfrm>
              <a:prstGeom prst="rect">
                <a:avLst/>
              </a:prstGeom>
            </p:spPr>
          </p:pic>
        </p:grpSp>
        <p:grpSp>
          <p:nvGrpSpPr>
            <p:cNvPr id="4" name="组合 3"/>
            <p:cNvGrpSpPr/>
            <p:nvPr/>
          </p:nvGrpSpPr>
          <p:grpSpPr>
            <a:xfrm>
              <a:off x="3040856" y="1863742"/>
              <a:ext cx="7055645" cy="4994258"/>
              <a:chOff x="3731418" y="2034141"/>
              <a:chExt cx="4729163" cy="3347484"/>
            </a:xfrm>
          </p:grpSpPr>
          <p:pic>
            <p:nvPicPr>
              <p:cNvPr id="2" name="图片 1"/>
              <p:cNvPicPr>
                <a:picLocks noChangeAspect="1"/>
              </p:cNvPicPr>
              <p:nvPr/>
            </p:nvPicPr>
            <p:blipFill>
              <a:blip r:embed="rId2">
                <a:extLst>
                  <a:ext uri="{BEBA8EAE-BF5A-486C-A8C5-ECC9F3942E4B}">
                    <a14:imgProps xmlns:a14="http://schemas.microsoft.com/office/drawing/2010/main">
                      <a14:imgLayer r:embed="rId3">
                        <a14:imgEffect>
                          <a14:backgroundRemoval t="6040" b="93960" l="9857" r="89905"/>
                        </a14:imgEffect>
                      </a14:imgLayer>
                    </a14:imgProps>
                  </a:ext>
                </a:extLst>
              </a:blip>
              <a:stretch>
                <a:fillRect/>
              </a:stretch>
            </p:blipFill>
            <p:spPr>
              <a:xfrm>
                <a:off x="3731418" y="2034141"/>
                <a:ext cx="4729163" cy="3347484"/>
              </a:xfrm>
              <a:prstGeom prst="rect">
                <a:avLst/>
              </a:prstGeom>
            </p:spPr>
          </p:pic>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400551" y="2419944"/>
                <a:ext cx="3114674" cy="1752006"/>
              </a:xfrm>
              <a:prstGeom prst="rect">
                <a:avLst/>
              </a:prstGeom>
            </p:spPr>
          </p:pic>
        </p:grpSp>
      </p:grpSp>
      <p:sp>
        <p:nvSpPr>
          <p:cNvPr id="15" name="矩形 14"/>
          <p:cNvSpPr/>
          <p:nvPr/>
        </p:nvSpPr>
        <p:spPr>
          <a:xfrm>
            <a:off x="5864100" y="2136248"/>
            <a:ext cx="6096000" cy="1338828"/>
          </a:xfrm>
          <a:prstGeom prst="rect">
            <a:avLst/>
          </a:prstGeom>
        </p:spPr>
        <p:txBody>
          <a:bodyPr>
            <a:spAutoFit/>
          </a:bodyPr>
          <a:lstStyle/>
          <a:p>
            <a:pPr marL="285750" indent="-285750">
              <a:lnSpc>
                <a:spcPct val="150000"/>
              </a:lnSpc>
              <a:buFont typeface="Arial" charset="0"/>
              <a:buChar char="•"/>
            </a:pPr>
            <a:r>
              <a:rPr lang="zh-CN" altLang="en-US" dirty="0" smtClean="0">
                <a:solidFill>
                  <a:schemeClr val="accent2">
                    <a:lumMod val="75000"/>
                  </a:schemeClr>
                </a:solidFill>
                <a:latin typeface="Simsun" panose="02010600030101010101" pitchFamily="2" charset="-122"/>
                <a:ea typeface="Simsun" panose="02010600030101010101" pitchFamily="2" charset="-122"/>
              </a:rPr>
              <a:t>需求</a:t>
            </a:r>
            <a:r>
              <a:rPr lang="zh-CN" altLang="en-US" dirty="0">
                <a:solidFill>
                  <a:schemeClr val="accent2">
                    <a:lumMod val="75000"/>
                  </a:schemeClr>
                </a:solidFill>
                <a:latin typeface="Simsun" panose="02010600030101010101" pitchFamily="2" charset="-122"/>
                <a:ea typeface="Simsun" panose="02010600030101010101" pitchFamily="2" charset="-122"/>
              </a:rPr>
              <a:t>分析处于整个软件开发流程的</a:t>
            </a:r>
            <a:r>
              <a:rPr lang="zh-CN" altLang="en-US" dirty="0" smtClean="0">
                <a:solidFill>
                  <a:schemeClr val="accent2">
                    <a:lumMod val="75000"/>
                  </a:schemeClr>
                </a:solidFill>
                <a:latin typeface="Simsun" panose="02010600030101010101" pitchFamily="2" charset="-122"/>
                <a:ea typeface="Simsun" panose="02010600030101010101" pitchFamily="2" charset="-122"/>
              </a:rPr>
              <a:t>上游</a:t>
            </a:r>
            <a:endParaRPr lang="en-US" altLang="zh-CN" dirty="0">
              <a:solidFill>
                <a:schemeClr val="accent2">
                  <a:lumMod val="75000"/>
                </a:schemeClr>
              </a:solidFill>
              <a:latin typeface="Simsun" panose="02010600030101010101" pitchFamily="2" charset="-122"/>
              <a:ea typeface="Simsun" panose="02010600030101010101" pitchFamily="2" charset="-122"/>
            </a:endParaRPr>
          </a:p>
          <a:p>
            <a:pPr marL="285750" indent="-285750">
              <a:lnSpc>
                <a:spcPct val="150000"/>
              </a:lnSpc>
              <a:buFont typeface="Arial" charset="0"/>
              <a:buChar char="•"/>
            </a:pPr>
            <a:r>
              <a:rPr lang="zh-CN" altLang="en-US" dirty="0">
                <a:solidFill>
                  <a:schemeClr val="accent2">
                    <a:lumMod val="75000"/>
                  </a:schemeClr>
                </a:solidFill>
                <a:latin typeface="Simsun" panose="02010600030101010101" pitchFamily="2" charset="-122"/>
                <a:ea typeface="Simsun" panose="02010600030101010101" pitchFamily="2" charset="-122"/>
              </a:rPr>
              <a:t>由于</a:t>
            </a:r>
            <a:r>
              <a:rPr lang="zh-CN" altLang="en-US" dirty="0" smtClean="0">
                <a:solidFill>
                  <a:schemeClr val="accent2">
                    <a:lumMod val="75000"/>
                  </a:schemeClr>
                </a:solidFill>
                <a:latin typeface="Simsun" panose="02010600030101010101" pitchFamily="2" charset="-122"/>
                <a:ea typeface="Simsun" panose="02010600030101010101" pitchFamily="2" charset="-122"/>
              </a:rPr>
              <a:t>需求</a:t>
            </a:r>
            <a:r>
              <a:rPr lang="zh-CN" altLang="en-US" dirty="0">
                <a:solidFill>
                  <a:schemeClr val="accent2">
                    <a:lumMod val="75000"/>
                  </a:schemeClr>
                </a:solidFill>
                <a:latin typeface="Simsun" panose="02010600030101010101" pitchFamily="2" charset="-122"/>
                <a:ea typeface="Simsun" panose="02010600030101010101" pitchFamily="2" charset="-122"/>
              </a:rPr>
              <a:t>分析错误造成根本性的功能问题尤为</a:t>
            </a:r>
            <a:r>
              <a:rPr lang="zh-CN" altLang="en-US" dirty="0" smtClean="0">
                <a:solidFill>
                  <a:schemeClr val="accent2">
                    <a:lumMod val="75000"/>
                  </a:schemeClr>
                </a:solidFill>
                <a:latin typeface="Simsun" panose="02010600030101010101" pitchFamily="2" charset="-122"/>
                <a:ea typeface="Simsun" panose="02010600030101010101" pitchFamily="2" charset="-122"/>
              </a:rPr>
              <a:t>突出</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pPr marL="285750" indent="-285750">
              <a:lnSpc>
                <a:spcPct val="150000"/>
              </a:lnSpc>
              <a:buFont typeface="Arial" charset="0"/>
              <a:buChar char="•"/>
            </a:pPr>
            <a:r>
              <a:rPr lang="zh-CN" altLang="en-US" dirty="0">
                <a:solidFill>
                  <a:schemeClr val="accent2">
                    <a:lumMod val="75000"/>
                  </a:schemeClr>
                </a:solidFill>
                <a:latin typeface="Simsun" panose="02010600030101010101" pitchFamily="2" charset="-122"/>
                <a:ea typeface="Simsun" panose="02010600030101010101" pitchFamily="2" charset="-122"/>
              </a:rPr>
              <a:t>失败的项目中，</a:t>
            </a:r>
            <a:r>
              <a:rPr lang="en-US" altLang="zh-CN" dirty="0">
                <a:solidFill>
                  <a:schemeClr val="accent2">
                    <a:lumMod val="75000"/>
                  </a:schemeClr>
                </a:solidFill>
                <a:latin typeface="Simsun" panose="02010600030101010101" pitchFamily="2" charset="-122"/>
                <a:ea typeface="Simsun" panose="02010600030101010101" pitchFamily="2" charset="-122"/>
              </a:rPr>
              <a:t>80</a:t>
            </a:r>
            <a:r>
              <a:rPr lang="zh-CN" altLang="en-US" dirty="0">
                <a:solidFill>
                  <a:schemeClr val="accent2">
                    <a:lumMod val="75000"/>
                  </a:schemeClr>
                </a:solidFill>
                <a:latin typeface="Simsun" panose="02010600030101010101" pitchFamily="2" charset="-122"/>
                <a:ea typeface="Simsun" panose="02010600030101010101" pitchFamily="2" charset="-122"/>
              </a:rPr>
              <a:t>％是由于需求分析的不明确而造成</a:t>
            </a:r>
            <a:r>
              <a:rPr lang="zh-CN" altLang="en-US" dirty="0" smtClean="0">
                <a:solidFill>
                  <a:schemeClr val="accent2">
                    <a:lumMod val="75000"/>
                  </a:schemeClr>
                </a:solidFill>
                <a:latin typeface="Simsun" panose="02010600030101010101" pitchFamily="2" charset="-122"/>
                <a:ea typeface="Simsun" panose="02010600030101010101" pitchFamily="2" charset="-122"/>
              </a:rPr>
              <a:t>的</a:t>
            </a:r>
            <a:endParaRPr lang="en-US" altLang="zh-CN" dirty="0">
              <a:solidFill>
                <a:schemeClr val="accent2">
                  <a:lumMod val="75000"/>
                </a:schemeClr>
              </a:solidFill>
              <a:latin typeface="Simsun" panose="02010600030101010101" pitchFamily="2" charset="-122"/>
              <a:ea typeface="Simsun" panose="02010600030101010101" pitchFamily="2" charset="-122"/>
            </a:endParaRPr>
          </a:p>
        </p:txBody>
      </p:sp>
      <p:grpSp>
        <p:nvGrpSpPr>
          <p:cNvPr id="18" name="组合 17"/>
          <p:cNvGrpSpPr/>
          <p:nvPr/>
        </p:nvGrpSpPr>
        <p:grpSpPr>
          <a:xfrm>
            <a:off x="4514750" y="0"/>
            <a:ext cx="1674894" cy="1635218"/>
            <a:chOff x="4514750" y="0"/>
            <a:chExt cx="1674894" cy="1635218"/>
          </a:xfrm>
        </p:grpSpPr>
        <p:sp>
          <p:nvSpPr>
            <p:cNvPr id="19" name="矩形 18"/>
            <p:cNvSpPr/>
            <p:nvPr/>
          </p:nvSpPr>
          <p:spPr>
            <a:xfrm>
              <a:off x="4514750" y="1111998"/>
              <a:ext cx="184731" cy="523220"/>
            </a:xfrm>
            <a:prstGeom prst="rect">
              <a:avLst/>
            </a:prstGeom>
          </p:spPr>
          <p:txBody>
            <a:bodyPr wrap="none">
              <a:spAutoFit/>
            </a:bodyPr>
            <a:lstStyle/>
            <a:p>
              <a:endParaRPr lang="zh-CN" altLang="en-US" sz="2800" b="1" dirty="0"/>
            </a:p>
          </p:txBody>
        </p:sp>
        <p:cxnSp>
          <p:nvCxnSpPr>
            <p:cNvPr id="20" name="直接连接符 19"/>
            <p:cNvCxnSpPr>
              <a:stCxn id="21" idx="4"/>
              <a:endCxn id="22" idx="4"/>
            </p:cNvCxnSpPr>
            <p:nvPr/>
          </p:nvCxnSpPr>
          <p:spPr>
            <a:xfrm>
              <a:off x="6110728" y="133446"/>
              <a:ext cx="12193" cy="91789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椭圆 21"/>
            <p:cNvSpPr/>
            <p:nvPr/>
          </p:nvSpPr>
          <p:spPr>
            <a:xfrm>
              <a:off x="6056198" y="91789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3" name="矩形 22"/>
          <p:cNvSpPr/>
          <p:nvPr/>
        </p:nvSpPr>
        <p:spPr>
          <a:xfrm>
            <a:off x="4402568" y="1152512"/>
            <a:ext cx="3416320" cy="523220"/>
          </a:xfrm>
          <a:prstGeom prst="rect">
            <a:avLst/>
          </a:prstGeom>
        </p:spPr>
        <p:txBody>
          <a:bodyPr wrap="none">
            <a:spAutoFit/>
          </a:bodyPr>
          <a:lstStyle/>
          <a:p>
            <a:r>
              <a:rPr lang="zh-CN" altLang="en-US" sz="2800" b="1" i="0" dirty="0" smtClean="0">
                <a:solidFill>
                  <a:schemeClr val="accent2">
                    <a:lumMod val="75000"/>
                  </a:schemeClr>
                </a:solidFill>
                <a:effectLst/>
                <a:latin typeface="Simsun" panose="02010600030101010101" pitchFamily="2" charset="-122"/>
                <a:ea typeface="Simsun" panose="02010600030101010101" pitchFamily="2" charset="-122"/>
              </a:rPr>
              <a:t>需求分析是关键环节</a:t>
            </a:r>
            <a:endParaRPr lang="zh-CN" altLang="en-US" sz="2800" b="1" dirty="0"/>
          </a:p>
        </p:txBody>
      </p:sp>
      <p:sp>
        <p:nvSpPr>
          <p:cNvPr id="12" name="文本框 11"/>
          <p:cNvSpPr txBox="1"/>
          <p:nvPr/>
        </p:nvSpPr>
        <p:spPr>
          <a:xfrm>
            <a:off x="6841671" y="4049486"/>
            <a:ext cx="4555672" cy="1754326"/>
          </a:xfrm>
          <a:prstGeom prst="rect">
            <a:avLst/>
          </a:prstGeom>
          <a:noFill/>
        </p:spPr>
        <p:txBody>
          <a:bodyPr wrap="square" rtlCol="0">
            <a:spAutoFit/>
          </a:bodyPr>
          <a:lstStyle/>
          <a:p>
            <a:r>
              <a:rPr lang="en-US" altLang="zh-CN" dirty="0" smtClean="0">
                <a:solidFill>
                  <a:schemeClr val="accent2">
                    <a:lumMod val="75000"/>
                  </a:schemeClr>
                </a:solidFill>
                <a:latin typeface="Simsun" panose="02010600030101010101" pitchFamily="2" charset="-122"/>
                <a:ea typeface="Simsun" panose="02010600030101010101" pitchFamily="2" charset="-122"/>
              </a:rPr>
              <a:t>《</a:t>
            </a:r>
            <a:r>
              <a:rPr lang="zh-CN" altLang="en-US" dirty="0" smtClean="0">
                <a:solidFill>
                  <a:schemeClr val="accent2">
                    <a:lumMod val="75000"/>
                  </a:schemeClr>
                </a:solidFill>
                <a:latin typeface="Simsun" panose="02010600030101010101" pitchFamily="2" charset="-122"/>
                <a:ea typeface="Simsun" panose="02010600030101010101" pitchFamily="2" charset="-122"/>
              </a:rPr>
              <a:t>如果</a:t>
            </a:r>
            <a:r>
              <a:rPr lang="zh-CN" altLang="en-US" dirty="0">
                <a:solidFill>
                  <a:schemeClr val="accent2">
                    <a:lumMod val="75000"/>
                  </a:schemeClr>
                </a:solidFill>
                <a:latin typeface="Simsun" panose="02010600030101010101" pitchFamily="2" charset="-122"/>
                <a:ea typeface="Simsun" panose="02010600030101010101" pitchFamily="2" charset="-122"/>
              </a:rPr>
              <a:t>你的项目失败了</a:t>
            </a:r>
            <a:r>
              <a:rPr lang="zh-CN" altLang="en-US" dirty="0" smtClean="0">
                <a:solidFill>
                  <a:schemeClr val="accent2">
                    <a:lumMod val="75000"/>
                  </a:schemeClr>
                </a:solidFill>
                <a:latin typeface="Simsun" panose="02010600030101010101" pitchFamily="2" charset="-122"/>
                <a:ea typeface="Simsun" panose="02010600030101010101" pitchFamily="2" charset="-122"/>
              </a:rPr>
              <a:t>，</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r>
              <a:rPr lang="zh-CN" altLang="en-US" dirty="0">
                <a:solidFill>
                  <a:schemeClr val="accent2">
                    <a:lumMod val="75000"/>
                  </a:schemeClr>
                </a:solidFill>
                <a:latin typeface="Simsun" panose="02010600030101010101" pitchFamily="2" charset="-122"/>
                <a:ea typeface="Simsun" panose="02010600030101010101" pitchFamily="2" charset="-122"/>
              </a:rPr>
              <a:t> </a:t>
            </a:r>
            <a:r>
              <a:rPr lang="zh-CN" altLang="en-US" dirty="0" smtClean="0">
                <a:solidFill>
                  <a:schemeClr val="accent2">
                    <a:lumMod val="75000"/>
                  </a:schemeClr>
                </a:solidFill>
                <a:latin typeface="Simsun" panose="02010600030101010101" pitchFamily="2" charset="-122"/>
                <a:ea typeface="Simsun" panose="02010600030101010101" pitchFamily="2" charset="-122"/>
              </a:rPr>
              <a:t>         应该</a:t>
            </a:r>
            <a:r>
              <a:rPr lang="zh-CN" altLang="en-US" dirty="0">
                <a:solidFill>
                  <a:schemeClr val="accent2">
                    <a:lumMod val="75000"/>
                  </a:schemeClr>
                </a:solidFill>
                <a:latin typeface="Simsun" panose="02010600030101010101" pitchFamily="2" charset="-122"/>
                <a:ea typeface="Simsun" panose="02010600030101010101" pitchFamily="2" charset="-122"/>
              </a:rPr>
              <a:t>是做了失败的需求</a:t>
            </a:r>
            <a:r>
              <a:rPr lang="zh-CN" altLang="en-US" dirty="0" smtClean="0">
                <a:solidFill>
                  <a:schemeClr val="accent2">
                    <a:lumMod val="75000"/>
                  </a:schemeClr>
                </a:solidFill>
                <a:latin typeface="Simsun" panose="02010600030101010101" pitchFamily="2" charset="-122"/>
                <a:ea typeface="Simsun" panose="02010600030101010101" pitchFamily="2" charset="-122"/>
              </a:rPr>
              <a:t>分析</a:t>
            </a:r>
            <a:r>
              <a:rPr lang="en-US" altLang="zh-CN" dirty="0" smtClean="0">
                <a:solidFill>
                  <a:schemeClr val="accent2">
                    <a:lumMod val="75000"/>
                  </a:schemeClr>
                </a:solidFill>
                <a:latin typeface="Simsun" panose="02010600030101010101" pitchFamily="2" charset="-122"/>
                <a:ea typeface="Simsun" panose="02010600030101010101" pitchFamily="2" charset="-122"/>
              </a:rPr>
              <a:t>》</a:t>
            </a:r>
            <a:r>
              <a:rPr lang="zh-CN" altLang="en-US" dirty="0" smtClean="0">
                <a:solidFill>
                  <a:schemeClr val="accent2">
                    <a:lumMod val="75000"/>
                  </a:schemeClr>
                </a:solidFill>
                <a:latin typeface="Simsun" panose="02010600030101010101" pitchFamily="2" charset="-122"/>
                <a:ea typeface="Simsun" panose="02010600030101010101" pitchFamily="2" charset="-122"/>
              </a:rPr>
              <a:t>：</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endParaRPr lang="en-US" altLang="zh-CN" dirty="0">
              <a:solidFill>
                <a:schemeClr val="accent2">
                  <a:lumMod val="75000"/>
                </a:schemeClr>
              </a:solidFill>
              <a:latin typeface="Simsun" panose="02010600030101010101" pitchFamily="2" charset="-122"/>
              <a:ea typeface="Simsun" panose="02010600030101010101" pitchFamily="2" charset="-122"/>
            </a:endParaRPr>
          </a:p>
          <a:p>
            <a:r>
              <a:rPr lang="zh-CN" altLang="en-US" dirty="0" smtClean="0">
                <a:solidFill>
                  <a:schemeClr val="accent2">
                    <a:lumMod val="75000"/>
                  </a:schemeClr>
                </a:solidFill>
                <a:latin typeface="Simsun" panose="02010600030101010101" pitchFamily="2" charset="-122"/>
                <a:ea typeface="Simsun" panose="02010600030101010101" pitchFamily="2" charset="-122"/>
              </a:rPr>
              <a:t>“ 需求</a:t>
            </a:r>
            <a:r>
              <a:rPr lang="zh-CN" altLang="en-US" dirty="0">
                <a:solidFill>
                  <a:schemeClr val="accent2">
                    <a:lumMod val="75000"/>
                  </a:schemeClr>
                </a:solidFill>
                <a:latin typeface="Simsun" panose="02010600030101010101" pitchFamily="2" charset="-122"/>
                <a:ea typeface="Simsun" panose="02010600030101010101" pitchFamily="2" charset="-122"/>
              </a:rPr>
              <a:t>捕获和分析是解决产品的前提，也是解决争议的前提，也是产品立项的</a:t>
            </a:r>
            <a:r>
              <a:rPr lang="zh-CN" altLang="en-US" dirty="0" smtClean="0">
                <a:solidFill>
                  <a:schemeClr val="accent2">
                    <a:lumMod val="75000"/>
                  </a:schemeClr>
                </a:solidFill>
                <a:latin typeface="Simsun" panose="02010600030101010101" pitchFamily="2" charset="-122"/>
                <a:ea typeface="Simsun" panose="02010600030101010101" pitchFamily="2" charset="-122"/>
              </a:rPr>
              <a:t>基准 ”</a:t>
            </a:r>
            <a:endParaRPr lang="zh-CN" altLang="en-US" dirty="0">
              <a:solidFill>
                <a:schemeClr val="accent2">
                  <a:lumMod val="75000"/>
                </a:schemeClr>
              </a:solidFill>
              <a:latin typeface="Simsun" panose="02010600030101010101" pitchFamily="2" charset="-122"/>
              <a:ea typeface="Simsun" panose="02010600030101010101" pitchFamily="2" charset="-122"/>
            </a:endParaRPr>
          </a:p>
          <a:p>
            <a:endParaRPr kumimoji="1" lang="zh-CN" altLang="en-US" dirty="0"/>
          </a:p>
        </p:txBody>
      </p:sp>
      <p:cxnSp>
        <p:nvCxnSpPr>
          <p:cNvPr id="24" name="直接连接符 56"/>
          <p:cNvCxnSpPr/>
          <p:nvPr/>
        </p:nvCxnSpPr>
        <p:spPr>
          <a:xfrm>
            <a:off x="6512560" y="3921760"/>
            <a:ext cx="2540" cy="1882052"/>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6" name="直接连接符 57"/>
          <p:cNvCxnSpPr/>
          <p:nvPr/>
        </p:nvCxnSpPr>
        <p:spPr>
          <a:xfrm>
            <a:off x="6512560" y="5803812"/>
            <a:ext cx="4650740" cy="0"/>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直接连接符 56"/>
          <p:cNvCxnSpPr/>
          <p:nvPr/>
        </p:nvCxnSpPr>
        <p:spPr>
          <a:xfrm>
            <a:off x="11486205" y="3921760"/>
            <a:ext cx="2540" cy="1882052"/>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1" name="直接连接符 57"/>
          <p:cNvCxnSpPr/>
          <p:nvPr/>
        </p:nvCxnSpPr>
        <p:spPr>
          <a:xfrm>
            <a:off x="6841671" y="3921760"/>
            <a:ext cx="4321629" cy="0"/>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pic>
        <p:nvPicPr>
          <p:cNvPr id="33" name="图片 32"/>
          <p:cNvPicPr>
            <a:picLocks noChangeAspect="1"/>
          </p:cNvPicPr>
          <p:nvPr/>
        </p:nvPicPr>
        <p:blipFill>
          <a:blip r:embed="rId6"/>
          <a:stretch>
            <a:fillRect/>
          </a:stretch>
        </p:blipFill>
        <p:spPr>
          <a:xfrm>
            <a:off x="551043" y="2985131"/>
            <a:ext cx="4912316" cy="3250316"/>
          </a:xfrm>
          <a:prstGeom prst="rect">
            <a:avLst/>
          </a:prstGeom>
        </p:spPr>
      </p:pic>
    </p:spTree>
    <p:extLst>
      <p:ext uri="{BB962C8B-B14F-4D97-AF65-F5344CB8AC3E}">
        <p14:creationId xmlns:p14="http://schemas.microsoft.com/office/powerpoint/2010/main" val="6684757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endParaRPr lang="zh-CN" altLang="en-US"/>
          </a:p>
        </p:txBody>
      </p:sp>
      <p:sp>
        <p:nvSpPr>
          <p:cNvPr id="3" name="内容占位符 2"/>
          <p:cNvSpPr>
            <a:spLocks noGrp="1"/>
          </p:cNvSpPr>
          <p:nvPr>
            <p:ph idx="1"/>
          </p:nvPr>
        </p:nvSpPr>
        <p:spPr/>
        <p:txBody>
          <a:bodyPr/>
          <a:lstStyle/>
          <a:p>
            <a:r>
              <a:rPr lang="zh-CN" altLang="zh-CN" dirty="0"/>
              <a:t>软件工程开发流程图</a:t>
            </a:r>
          </a:p>
        </p:txBody>
      </p:sp>
      <p:pic>
        <p:nvPicPr>
          <p:cNvPr id="4" name="图片 3" descr="流程图"/>
          <p:cNvPicPr>
            <a:picLocks noChangeAspect="1"/>
          </p:cNvPicPr>
          <p:nvPr/>
        </p:nvPicPr>
        <p:blipFill>
          <a:blip r:embed="rId2"/>
          <a:stretch>
            <a:fillRect/>
          </a:stretch>
        </p:blipFill>
        <p:spPr>
          <a:xfrm>
            <a:off x="2512695" y="1938020"/>
            <a:ext cx="6196330" cy="3451860"/>
          </a:xfrm>
          <a:prstGeom prst="rect">
            <a:avLst/>
          </a:prstGeom>
        </p:spPr>
      </p:pic>
      <p:sp>
        <p:nvSpPr>
          <p:cNvPr id="5" name="椭圆 4"/>
          <p:cNvSpPr/>
          <p:nvPr/>
        </p:nvSpPr>
        <p:spPr>
          <a:xfrm>
            <a:off x="3169920" y="2209800"/>
            <a:ext cx="1386840" cy="655320"/>
          </a:xfrm>
          <a:prstGeom prst="ellipse">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D3F41"/>
              </a:solidFill>
              <a:effectLst/>
              <a:uLnTx/>
              <a:uFillTx/>
              <a:latin typeface="Arial"/>
              <a:ea typeface="黑体"/>
              <a:cs typeface="+mn-cs"/>
            </a:endParaRPr>
          </a:p>
        </p:txBody>
      </p:sp>
      <p:sp>
        <p:nvSpPr>
          <p:cNvPr id="6" name="椭圆 5"/>
          <p:cNvSpPr/>
          <p:nvPr/>
        </p:nvSpPr>
        <p:spPr>
          <a:xfrm>
            <a:off x="7322185" y="3754120"/>
            <a:ext cx="1386840" cy="655320"/>
          </a:xfrm>
          <a:prstGeom prst="ellipse">
            <a:avLst/>
          </a:prstGeom>
          <a:noFill/>
          <a:ln w="28575">
            <a:solidFill>
              <a:srgbClr val="FF0000"/>
            </a:solidFill>
          </a:ln>
          <a:extLst>
            <a:ext uri="{909E8E84-426E-40DD-AFC4-6F175D3DCCD1}">
              <a14:hiddenFill xmlns:a14="http://schemas.microsoft.com/office/drawing/2010/main">
                <a:solidFill>
                  <a:schemeClr val="lt1"/>
                </a:solidFill>
              </a14:hiddenFill>
            </a:ext>
          </a:extLst>
        </p:spPr>
        <p:style>
          <a:lnRef idx="2">
            <a:schemeClr val="accent6"/>
          </a:lnRef>
          <a:fillRef idx="1">
            <a:schemeClr val="lt1"/>
          </a:fillRef>
          <a:effectRef idx="0">
            <a:schemeClr val="accent6"/>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3D3F41"/>
              </a:solidFill>
              <a:effectLst/>
              <a:uLnTx/>
              <a:uFillTx/>
              <a:latin typeface="Arial"/>
              <a:ea typeface="黑体"/>
              <a:cs typeface="+mn-cs"/>
            </a:endParaRPr>
          </a:p>
        </p:txBody>
      </p:sp>
    </p:spTree>
    <p:extLst>
      <p:ext uri="{BB962C8B-B14F-4D97-AF65-F5344CB8AC3E}">
        <p14:creationId xmlns:p14="http://schemas.microsoft.com/office/powerpoint/2010/main" val="3019688573"/>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checkerboard(across)">
                                      <p:cBhvr>
                                        <p:cTn id="7" dur="500"/>
                                        <p:tgtEl>
                                          <p:spTgt spid="5"/>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checkerboard(across)">
                                      <p:cBhvr>
                                        <p:cTn id="10"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6"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任意多边形 45"/>
          <p:cNvSpPr/>
          <p:nvPr>
            <p:custDataLst>
              <p:tags r:id="rId2"/>
            </p:custDataLst>
          </p:nvPr>
        </p:nvSpPr>
        <p:spPr bwMode="auto">
          <a:xfrm>
            <a:off x="1701357" y="1636872"/>
            <a:ext cx="8794048" cy="3781684"/>
          </a:xfrm>
          <a:custGeom>
            <a:avLst/>
            <a:gdLst>
              <a:gd name="T0" fmla="*/ 0 w 3456384"/>
              <a:gd name="T1" fmla="*/ 3054350 h 3882329"/>
              <a:gd name="T2" fmla="*/ 8794750 w 3456384"/>
              <a:gd name="T3" fmla="*/ 3054350 h 3882329"/>
              <a:gd name="T4" fmla="*/ 0 w 3456384"/>
              <a:gd name="T5" fmla="*/ 3054350 h 3882329"/>
              <a:gd name="T6" fmla="*/ 0 w 3456384"/>
              <a:gd name="T7" fmla="*/ 0 h 3882329"/>
              <a:gd name="T8" fmla="*/ 8794750 w 3456384"/>
              <a:gd name="T9" fmla="*/ 0 h 3882329"/>
              <a:gd name="T10" fmla="*/ 0 w 3456384"/>
              <a:gd name="T11" fmla="*/ 0 h 3882329"/>
              <a:gd name="T12" fmla="*/ 0 60000 65536"/>
              <a:gd name="T13" fmla="*/ 0 60000 65536"/>
              <a:gd name="T14" fmla="*/ 0 60000 65536"/>
              <a:gd name="T15" fmla="*/ 0 60000 65536"/>
              <a:gd name="T16" fmla="*/ 0 60000 65536"/>
              <a:gd name="T17" fmla="*/ 0 60000 65536"/>
              <a:gd name="T18" fmla="*/ 0 w 3456384"/>
              <a:gd name="T19" fmla="*/ 0 h 3882329"/>
              <a:gd name="T20" fmla="*/ 3456384 w 3456384"/>
              <a:gd name="T21" fmla="*/ 3882329 h 3882329"/>
            </a:gdLst>
            <a:ahLst/>
            <a:cxnLst>
              <a:cxn ang="T12">
                <a:pos x="T0" y="T1"/>
              </a:cxn>
              <a:cxn ang="T13">
                <a:pos x="T2" y="T3"/>
              </a:cxn>
              <a:cxn ang="T14">
                <a:pos x="T4" y="T5"/>
              </a:cxn>
              <a:cxn ang="T15">
                <a:pos x="T6" y="T7"/>
              </a:cxn>
              <a:cxn ang="T16">
                <a:pos x="T8" y="T9"/>
              </a:cxn>
              <a:cxn ang="T17">
                <a:pos x="T10" y="T11"/>
              </a:cxn>
            </a:cxnLst>
            <a:rect l="T18" t="T19" r="T20" b="T21"/>
            <a:pathLst>
              <a:path w="3456384" h="3882329">
                <a:moveTo>
                  <a:pt x="0" y="3882329"/>
                </a:moveTo>
                <a:lnTo>
                  <a:pt x="3456384" y="3882329"/>
                </a:lnTo>
                <a:lnTo>
                  <a:pt x="0" y="3882329"/>
                </a:lnTo>
                <a:close/>
                <a:moveTo>
                  <a:pt x="0" y="0"/>
                </a:moveTo>
                <a:lnTo>
                  <a:pt x="3456384" y="0"/>
                </a:lnTo>
                <a:lnTo>
                  <a:pt x="0" y="0"/>
                </a:lnTo>
                <a:close/>
              </a:path>
            </a:pathLst>
          </a:custGeom>
          <a:noFill/>
          <a:ln w="22225" cmpd="sng">
            <a:solidFill>
              <a:schemeClr val="accent1"/>
            </a:solidFill>
            <a:bevel/>
          </a:ln>
          <a:extLst>
            <a:ext uri="{909E8E84-426E-40DD-AFC4-6F175D3DCCD1}">
              <a14:hiddenFill xmlns:a14="http://schemas.microsoft.com/office/drawing/2010/main">
                <a:solidFill>
                  <a:srgbClr val="FFFFFF"/>
                </a:solidFill>
              </a14:hiddenFill>
            </a:ext>
          </a:extLst>
        </p:spPr>
        <p:txBody>
          <a:bodyPr wrap="square" lIns="0" tIns="71981" rIns="0" bIns="71981" anchor="t" anchorCtr="0">
            <a:normAutofit/>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3D3F41"/>
                </a:solidFill>
                <a:effectLst/>
                <a:uLnTx/>
                <a:uFillTx/>
                <a:latin typeface="Arial"/>
                <a:ea typeface="黑体"/>
                <a:cs typeface="+mn-cs"/>
              </a:rPr>
              <a:t>        </a:t>
            </a:r>
            <a:r>
              <a:rPr kumimoji="0" lang="zh-CN" altLang="en-US" sz="1800" b="0" i="0" u="none" strike="noStrike" kern="1200" cap="none" spc="0" normalizeH="0" baseline="0" noProof="0" dirty="0">
                <a:ln>
                  <a:noFill/>
                </a:ln>
                <a:solidFill>
                  <a:srgbClr val="FF0000"/>
                </a:solidFill>
                <a:effectLst/>
                <a:uLnTx/>
                <a:uFillTx/>
                <a:latin typeface="Arial"/>
                <a:ea typeface="黑体"/>
                <a:cs typeface="+mn-cs"/>
              </a:rPr>
              <a:t>需求分析是项目建设的基石</a:t>
            </a:r>
            <a:r>
              <a:rPr kumimoji="0" lang="zh-CN" altLang="en-US" sz="1800" b="0" i="0" u="none" strike="noStrike" kern="1200" cap="none" spc="0" normalizeH="0" baseline="0" noProof="0" dirty="0">
                <a:ln>
                  <a:noFill/>
                </a:ln>
                <a:solidFill>
                  <a:srgbClr val="3D3F41"/>
                </a:solidFill>
                <a:effectLst/>
                <a:uLnTx/>
                <a:uFillTx/>
                <a:latin typeface="Arial"/>
                <a:ea typeface="黑体"/>
                <a:cs typeface="+mn-cs"/>
              </a:rPr>
              <a:t>，在以往建设失败的项目中，</a:t>
            </a:r>
            <a:r>
              <a:rPr kumimoji="0" lang="en-US" altLang="zh-CN" sz="1800" b="0" i="0" u="none" strike="noStrike" kern="1200" cap="none" spc="0" normalizeH="0" baseline="0" noProof="0" dirty="0">
                <a:ln>
                  <a:noFill/>
                </a:ln>
                <a:solidFill>
                  <a:srgbClr val="3D3F41"/>
                </a:solidFill>
                <a:effectLst/>
                <a:uLnTx/>
                <a:uFillTx/>
                <a:latin typeface="Arial"/>
                <a:ea typeface="黑体"/>
                <a:cs typeface="+mn-cs"/>
              </a:rPr>
              <a:t>80%</a:t>
            </a:r>
            <a:r>
              <a:rPr kumimoji="0" lang="zh-CN" altLang="en-US" sz="1800" b="0" i="0" u="none" strike="noStrike" kern="1200" cap="none" spc="0" normalizeH="0" baseline="0" noProof="0" dirty="0">
                <a:ln>
                  <a:noFill/>
                </a:ln>
                <a:solidFill>
                  <a:srgbClr val="3D3F41"/>
                </a:solidFill>
                <a:effectLst/>
                <a:uLnTx/>
                <a:uFillTx/>
                <a:latin typeface="Arial"/>
                <a:ea typeface="黑体"/>
                <a:cs typeface="+mn-cs"/>
              </a:rPr>
              <a:t>是由于需求分析不明确造成的。因此对需求分析的把握程度影响了项目成功与否。</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3D3F41"/>
              </a:solidFill>
              <a:effectLst/>
              <a:uLnTx/>
              <a:uFillTx/>
              <a:latin typeface="Arial"/>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3D3F41"/>
                </a:solidFill>
                <a:effectLst/>
                <a:uLnTx/>
                <a:uFillTx/>
                <a:latin typeface="Arial"/>
                <a:ea typeface="黑体"/>
                <a:cs typeface="+mn-cs"/>
              </a:rPr>
              <a:t>        随着人们对软件的需求越来越高，</a:t>
            </a:r>
            <a:r>
              <a:rPr kumimoji="0" lang="zh-CN" altLang="en-US" sz="1800" b="0" i="0" u="none" strike="noStrike" kern="1200" cap="none" spc="0" normalizeH="0" baseline="0" noProof="0" dirty="0">
                <a:ln>
                  <a:noFill/>
                </a:ln>
                <a:solidFill>
                  <a:srgbClr val="FF0000"/>
                </a:solidFill>
                <a:effectLst/>
                <a:uLnTx/>
                <a:uFillTx/>
                <a:latin typeface="Arial"/>
                <a:ea typeface="黑体"/>
                <a:cs typeface="+mn-cs"/>
              </a:rPr>
              <a:t>软件产品的需求分析质量直接关系到软件成品的质量</a:t>
            </a:r>
            <a:r>
              <a:rPr kumimoji="0" lang="zh-CN" altLang="en-US" sz="1800" b="0" i="0" u="none" strike="noStrike" kern="1200" cap="none" spc="0" normalizeH="0" baseline="0" noProof="0" dirty="0">
                <a:ln>
                  <a:noFill/>
                </a:ln>
                <a:solidFill>
                  <a:srgbClr val="3D3F41"/>
                </a:solidFill>
                <a:effectLst/>
                <a:uLnTx/>
                <a:uFillTx/>
                <a:latin typeface="Arial"/>
                <a:ea typeface="黑体"/>
                <a:cs typeface="+mn-cs"/>
              </a:rPr>
              <a:t>。由此可见，提高软件需求分析的质量，不仅能够促进软件项目的发展，更是提高软件技术的重要手段。</a:t>
            </a:r>
          </a:p>
        </p:txBody>
      </p:sp>
      <p:sp>
        <p:nvSpPr>
          <p:cNvPr id="4" name="文本框 3"/>
          <p:cNvSpPr txBox="1"/>
          <p:nvPr>
            <p:custDataLst>
              <p:tags r:id="rId3"/>
            </p:custDataLst>
          </p:nvPr>
        </p:nvSpPr>
        <p:spPr>
          <a:xfrm>
            <a:off x="625313" y="260351"/>
            <a:ext cx="1097311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a:bodyPr>
          <a:lstStyle>
            <a:lvl1pPr fontAlgn="base">
              <a:spcBef>
                <a:spcPct val="0"/>
              </a:spcBef>
              <a:spcAft>
                <a:spcPct val="0"/>
              </a:spcAft>
              <a:defRPr baseline="0">
                <a:solidFill>
                  <a:schemeClr val="accent1">
                    <a:lumMod val="75000"/>
                  </a:schemeClr>
                </a:solidFill>
                <a:latin typeface="+mj-lt"/>
                <a:ea typeface="+mj-ea"/>
                <a:cs typeface="+mj-cs"/>
              </a:defRPr>
            </a:lvl1pPr>
            <a:lvl2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2pPr>
            <a:lvl3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3pPr>
            <a:lvl4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4pPr>
            <a:lvl5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5pPr>
            <a:lvl6pPr marL="457200"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6pPr>
            <a:lvl7pPr marL="914400"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7pPr>
            <a:lvl8pPr marL="1370965"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8pPr>
            <a:lvl9pPr marL="1828165"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zh-CN" sz="1800" b="0" i="0" u="none" strike="noStrike" kern="1200" cap="none" spc="0" normalizeH="0" baseline="0" noProof="0">
                <a:ln>
                  <a:noFill/>
                </a:ln>
                <a:solidFill>
                  <a:srgbClr val="04AEDA">
                    <a:lumMod val="75000"/>
                  </a:srgbClr>
                </a:solidFill>
                <a:effectLst/>
                <a:uLnTx/>
                <a:uFillTx/>
                <a:latin typeface="Arial"/>
                <a:ea typeface="黑体"/>
                <a:cs typeface="+mj-cs"/>
              </a:rPr>
              <a:t>背景</a:t>
            </a:r>
          </a:p>
        </p:txBody>
      </p:sp>
    </p:spTree>
    <p:custDataLst>
      <p:tags r:id="rId1"/>
    </p:custDataLst>
    <p:extLst>
      <p:ext uri="{BB962C8B-B14F-4D97-AF65-F5344CB8AC3E}">
        <p14:creationId xmlns:p14="http://schemas.microsoft.com/office/powerpoint/2010/main" val="200235001"/>
      </p:ext>
    </p:extLst>
  </p:cSld>
  <p:clrMapOvr>
    <a:masterClrMapping/>
  </p:clrMapOvr>
  <p:transition>
    <p:wipe/>
  </p:transition>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custDataLst>
              <p:tags r:id="rId2"/>
            </p:custDataLst>
          </p:nvPr>
        </p:nvSpPr>
        <p:spPr>
          <a:xfrm>
            <a:off x="1554600" y="35198"/>
            <a:ext cx="9082800" cy="939600"/>
          </a:xfrm>
          <a:prstGeom prst="rect">
            <a:avLst/>
          </a:prstGeom>
        </p:spPr>
        <p:txBody>
          <a:bodyPr vert="horz" lIns="91440" tIns="45720" rIns="91440" bIns="45720" rtlCol="0" anchor="ctr">
            <a:normAutofit/>
          </a:bodyPr>
          <a:lstStyle>
            <a:lvl1pPr defTabSz="685800">
              <a:spcBef>
                <a:spcPct val="0"/>
              </a:spcBef>
              <a:buNone/>
              <a:defRPr sz="3600" b="1" i="0" baseline="0">
                <a:solidFill>
                  <a:schemeClr val="accent1"/>
                </a:solidFill>
                <a:effectLst/>
                <a:latin typeface="+mj-lt"/>
                <a:ea typeface="+mj-ea"/>
                <a:cs typeface="+mj-cs"/>
              </a:defRPr>
            </a:lvl1pPr>
          </a:lstStyle>
          <a:p>
            <a:pPr marL="0" marR="0" lvl="0" indent="0" algn="l" defTabSz="685800" rtl="0" eaLnBrk="1" fontAlgn="auto" latinLnBrk="0" hangingPunct="1">
              <a:lnSpc>
                <a:spcPct val="100000"/>
              </a:lnSpc>
              <a:spcBef>
                <a:spcPct val="0"/>
              </a:spcBef>
              <a:spcAft>
                <a:spcPts val="0"/>
              </a:spcAft>
              <a:buClrTx/>
              <a:buSzTx/>
              <a:buFontTx/>
              <a:buNone/>
              <a:tabLst/>
              <a:defRPr/>
            </a:pPr>
            <a:r>
              <a:rPr kumimoji="0" lang="zh-CN" altLang="zh-CN" sz="3600" b="0" i="0" u="none" strike="noStrike" kern="1200" cap="none" spc="0" normalizeH="0" baseline="0" noProof="0" dirty="0">
                <a:ln>
                  <a:noFill/>
                </a:ln>
                <a:solidFill>
                  <a:srgbClr val="0382A3"/>
                </a:solidFill>
                <a:effectLst/>
                <a:uLnTx/>
                <a:uFillTx/>
                <a:latin typeface="Arial"/>
                <a:ea typeface="黑体"/>
                <a:cs typeface="+mj-cs"/>
              </a:rPr>
              <a:t>需求工程</a:t>
            </a:r>
          </a:p>
        </p:txBody>
      </p:sp>
      <p:pic>
        <p:nvPicPr>
          <p:cNvPr id="3" name="图片 2" descr="捕获2"/>
          <p:cNvPicPr>
            <a:picLocks noChangeAspect="1"/>
          </p:cNvPicPr>
          <p:nvPr/>
        </p:nvPicPr>
        <p:blipFill>
          <a:blip r:embed="rId5"/>
          <a:stretch>
            <a:fillRect/>
          </a:stretch>
        </p:blipFill>
        <p:spPr>
          <a:xfrm>
            <a:off x="1499870" y="1212850"/>
            <a:ext cx="8128635" cy="4006215"/>
          </a:xfrm>
          <a:prstGeom prst="rect">
            <a:avLst/>
          </a:prstGeom>
        </p:spPr>
      </p:pic>
    </p:spTree>
    <p:custDataLst>
      <p:tags r:id="rId1"/>
    </p:custDataLst>
    <p:extLst>
      <p:ext uri="{BB962C8B-B14F-4D97-AF65-F5344CB8AC3E}">
        <p14:creationId xmlns:p14="http://schemas.microsoft.com/office/powerpoint/2010/main" val="2480577251"/>
      </p:ext>
    </p:extLst>
  </p:cSld>
  <p:clrMapOvr>
    <a:masterClrMapping/>
  </p:clrMapOvr>
  <p:transition>
    <p:wipe/>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任意多边形 45"/>
          <p:cNvSpPr/>
          <p:nvPr>
            <p:custDataLst>
              <p:tags r:id="rId2"/>
            </p:custDataLst>
          </p:nvPr>
        </p:nvSpPr>
        <p:spPr bwMode="auto">
          <a:xfrm>
            <a:off x="1701357" y="1636872"/>
            <a:ext cx="8794048" cy="3781684"/>
          </a:xfrm>
          <a:custGeom>
            <a:avLst/>
            <a:gdLst>
              <a:gd name="T0" fmla="*/ 0 w 3456384"/>
              <a:gd name="T1" fmla="*/ 3054350 h 3882329"/>
              <a:gd name="T2" fmla="*/ 8794750 w 3456384"/>
              <a:gd name="T3" fmla="*/ 3054350 h 3882329"/>
              <a:gd name="T4" fmla="*/ 0 w 3456384"/>
              <a:gd name="T5" fmla="*/ 3054350 h 3882329"/>
              <a:gd name="T6" fmla="*/ 0 w 3456384"/>
              <a:gd name="T7" fmla="*/ 0 h 3882329"/>
              <a:gd name="T8" fmla="*/ 8794750 w 3456384"/>
              <a:gd name="T9" fmla="*/ 0 h 3882329"/>
              <a:gd name="T10" fmla="*/ 0 w 3456384"/>
              <a:gd name="T11" fmla="*/ 0 h 3882329"/>
              <a:gd name="T12" fmla="*/ 0 60000 65536"/>
              <a:gd name="T13" fmla="*/ 0 60000 65536"/>
              <a:gd name="T14" fmla="*/ 0 60000 65536"/>
              <a:gd name="T15" fmla="*/ 0 60000 65536"/>
              <a:gd name="T16" fmla="*/ 0 60000 65536"/>
              <a:gd name="T17" fmla="*/ 0 60000 65536"/>
              <a:gd name="T18" fmla="*/ 0 w 3456384"/>
              <a:gd name="T19" fmla="*/ 0 h 3882329"/>
              <a:gd name="T20" fmla="*/ 3456384 w 3456384"/>
              <a:gd name="T21" fmla="*/ 3882329 h 3882329"/>
            </a:gdLst>
            <a:ahLst/>
            <a:cxnLst>
              <a:cxn ang="T12">
                <a:pos x="T0" y="T1"/>
              </a:cxn>
              <a:cxn ang="T13">
                <a:pos x="T2" y="T3"/>
              </a:cxn>
              <a:cxn ang="T14">
                <a:pos x="T4" y="T5"/>
              </a:cxn>
              <a:cxn ang="T15">
                <a:pos x="T6" y="T7"/>
              </a:cxn>
              <a:cxn ang="T16">
                <a:pos x="T8" y="T9"/>
              </a:cxn>
              <a:cxn ang="T17">
                <a:pos x="T10" y="T11"/>
              </a:cxn>
            </a:cxnLst>
            <a:rect l="T18" t="T19" r="T20" b="T21"/>
            <a:pathLst>
              <a:path w="3456384" h="3882329">
                <a:moveTo>
                  <a:pt x="0" y="3882329"/>
                </a:moveTo>
                <a:lnTo>
                  <a:pt x="3456384" y="3882329"/>
                </a:lnTo>
                <a:lnTo>
                  <a:pt x="0" y="3882329"/>
                </a:lnTo>
                <a:close/>
                <a:moveTo>
                  <a:pt x="0" y="0"/>
                </a:moveTo>
                <a:lnTo>
                  <a:pt x="3456384" y="0"/>
                </a:lnTo>
                <a:lnTo>
                  <a:pt x="0" y="0"/>
                </a:lnTo>
                <a:close/>
              </a:path>
            </a:pathLst>
          </a:custGeom>
          <a:noFill/>
          <a:ln w="22225" cmpd="sng">
            <a:solidFill>
              <a:schemeClr val="accent1"/>
            </a:solidFill>
            <a:bevel/>
          </a:ln>
          <a:extLst>
            <a:ext uri="{909E8E84-426E-40DD-AFC4-6F175D3DCCD1}">
              <a14:hiddenFill xmlns:a14="http://schemas.microsoft.com/office/drawing/2010/main">
                <a:solidFill>
                  <a:srgbClr val="FFFFFF"/>
                </a:solidFill>
              </a14:hiddenFill>
            </a:ext>
          </a:extLst>
        </p:spPr>
        <p:txBody>
          <a:bodyPr wrap="square" lIns="0" tIns="71981" rIns="0" bIns="71981" anchor="t" anchorCtr="0">
            <a:normAutofit/>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3D3F41"/>
                </a:solidFill>
                <a:effectLst/>
                <a:uLnTx/>
                <a:uFillTx/>
                <a:latin typeface="Arial"/>
                <a:ea typeface="黑体"/>
                <a:cs typeface="+mn-cs"/>
              </a:rPr>
              <a:t>软件需求分析：</a:t>
            </a: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3D3F41"/>
                </a:solidFill>
                <a:effectLst/>
                <a:uLnTx/>
                <a:uFillTx/>
                <a:latin typeface="Arial"/>
                <a:ea typeface="黑体"/>
                <a:cs typeface="+mn-cs"/>
              </a:rPr>
              <a:t>       是指客户对目标软件产品在功能、行为、性能以及设计约束上的期望，软件需求分析就是对这些问题或者涉及到的信息、功能建立模型，将客户的需求进一步精确化、完全化。</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3D3F41"/>
              </a:solidFill>
              <a:effectLst/>
              <a:uLnTx/>
              <a:uFillTx/>
              <a:latin typeface="Arial"/>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3D3F41"/>
                </a:solidFill>
                <a:effectLst/>
                <a:uLnTx/>
                <a:uFillTx/>
                <a:latin typeface="Arial"/>
                <a:ea typeface="黑体"/>
                <a:cs typeface="+mn-cs"/>
              </a:rPr>
              <a:t>主要分为：业务需求、用户需求、软件需求三方面。</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3D3F41"/>
              </a:solidFill>
              <a:effectLst/>
              <a:uLnTx/>
              <a:uFillTx/>
              <a:latin typeface="Arial"/>
              <a:ea typeface="黑体"/>
              <a:cs typeface="+mn-cs"/>
            </a:endParaRPr>
          </a:p>
        </p:txBody>
      </p:sp>
      <p:sp>
        <p:nvSpPr>
          <p:cNvPr id="4" name="文本框 3"/>
          <p:cNvSpPr txBox="1"/>
          <p:nvPr>
            <p:custDataLst>
              <p:tags r:id="rId3"/>
            </p:custDataLst>
          </p:nvPr>
        </p:nvSpPr>
        <p:spPr>
          <a:xfrm>
            <a:off x="625313" y="260351"/>
            <a:ext cx="1097311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a:bodyPr>
          <a:lstStyle>
            <a:lvl1pPr fontAlgn="base">
              <a:spcBef>
                <a:spcPct val="0"/>
              </a:spcBef>
              <a:spcAft>
                <a:spcPct val="0"/>
              </a:spcAft>
              <a:defRPr baseline="0">
                <a:solidFill>
                  <a:schemeClr val="accent1">
                    <a:lumMod val="75000"/>
                  </a:schemeClr>
                </a:solidFill>
                <a:latin typeface="+mj-lt"/>
                <a:ea typeface="+mj-ea"/>
                <a:cs typeface="+mj-cs"/>
              </a:defRPr>
            </a:lvl1pPr>
            <a:lvl2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2pPr>
            <a:lvl3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3pPr>
            <a:lvl4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4pPr>
            <a:lvl5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5pPr>
            <a:lvl6pPr marL="457200"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6pPr>
            <a:lvl7pPr marL="914400"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7pPr>
            <a:lvl8pPr marL="1370965"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8pPr>
            <a:lvl9pPr marL="1828165"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a:ln>
                  <a:noFill/>
                </a:ln>
                <a:solidFill>
                  <a:srgbClr val="04AEDA">
                    <a:lumMod val="75000"/>
                  </a:srgbClr>
                </a:solidFill>
                <a:effectLst/>
                <a:uLnTx/>
                <a:uFillTx/>
                <a:latin typeface="Arial"/>
                <a:ea typeface="黑体"/>
                <a:cs typeface="+mj-cs"/>
              </a:rPr>
              <a:t>概念</a:t>
            </a:r>
          </a:p>
        </p:txBody>
      </p:sp>
    </p:spTree>
    <p:custDataLst>
      <p:tags r:id="rId1"/>
    </p:custDataLst>
    <p:extLst>
      <p:ext uri="{BB962C8B-B14F-4D97-AF65-F5344CB8AC3E}">
        <p14:creationId xmlns:p14="http://schemas.microsoft.com/office/powerpoint/2010/main" val="2196223811"/>
      </p:ext>
    </p:extLst>
  </p:cSld>
  <p:clrMapOvr>
    <a:masterClrMapping/>
  </p:clrMapOvr>
  <p:transition>
    <p:wipe/>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custDataLst>
              <p:tags r:id="rId2"/>
            </p:custDataLst>
          </p:nvPr>
        </p:nvSpPr>
        <p:spPr>
          <a:noFill/>
        </p:spPr>
        <p:txBody>
          <a:bodyPr>
            <a:normAutofit/>
          </a:bodyPr>
          <a:lstStyle/>
          <a:p>
            <a:r>
              <a:rPr lang="zh-CN" altLang="en-US" dirty="0">
                <a:latin typeface="+mj-lt"/>
                <a:ea typeface="+mj-ea"/>
              </a:rPr>
              <a:t>需求分析的工作目标</a:t>
            </a:r>
          </a:p>
        </p:txBody>
      </p:sp>
      <p:sp>
        <p:nvSpPr>
          <p:cNvPr id="5123" name="Rectangle 3"/>
          <p:cNvSpPr>
            <a:spLocks noGrp="1"/>
          </p:cNvSpPr>
          <p:nvPr>
            <p:ph idx="1"/>
            <p:custDataLst>
              <p:tags r:id="rId3"/>
            </p:custDataLst>
          </p:nvPr>
        </p:nvSpPr>
        <p:spPr/>
        <p:txBody>
          <a:bodyPr>
            <a:normAutofit/>
          </a:bodyPr>
          <a:lstStyle/>
          <a:p>
            <a:r>
              <a:rPr lang="zh-CN" altLang="zh-CN" dirty="0">
                <a:latin typeface="+mn-lt"/>
                <a:ea typeface="+mn-ea"/>
              </a:rPr>
              <a:t>软件需求分析到底要做什么？</a:t>
            </a:r>
          </a:p>
          <a:p>
            <a:r>
              <a:rPr lang="zh-CN" altLang="zh-CN" dirty="0">
                <a:latin typeface="+mn-lt"/>
                <a:ea typeface="+mn-ea"/>
              </a:rPr>
              <a:t>实际就是：</a:t>
            </a:r>
            <a:r>
              <a:rPr lang="zh-CN" altLang="zh-CN" dirty="0">
                <a:solidFill>
                  <a:srgbClr val="FF0000"/>
                </a:solidFill>
                <a:latin typeface="+mn-lt"/>
                <a:ea typeface="+mn-ea"/>
              </a:rPr>
              <a:t>分解、提炼、消除这个过程中存在的矛盾</a:t>
            </a:r>
            <a:r>
              <a:rPr lang="zh-CN" altLang="zh-CN" dirty="0">
                <a:latin typeface="+mn-lt"/>
                <a:ea typeface="+mn-ea"/>
              </a:rPr>
              <a:t>。并最终把用户业务需求形成需要软件信息化的专业描述，以便更加准确合理展开后续工作。</a:t>
            </a:r>
          </a:p>
          <a:p>
            <a:endParaRPr lang="zh-CN" altLang="zh-CN" dirty="0">
              <a:latin typeface="+mn-lt"/>
              <a:ea typeface="+mn-ea"/>
            </a:endParaRPr>
          </a:p>
          <a:p>
            <a:r>
              <a:rPr lang="zh-CN" altLang="zh-CN" dirty="0">
                <a:latin typeface="+mn-lt"/>
                <a:ea typeface="+mn-ea"/>
              </a:rPr>
              <a:t>分解：把复杂的问题拆成若干小问题进行分析。</a:t>
            </a:r>
          </a:p>
          <a:p>
            <a:r>
              <a:rPr lang="zh-CN" altLang="zh-CN" dirty="0">
                <a:latin typeface="+mn-lt"/>
                <a:ea typeface="+mn-ea"/>
              </a:rPr>
              <a:t>提炼：把用户需求变成计算机软件专业性的表述。</a:t>
            </a:r>
          </a:p>
          <a:p>
            <a:r>
              <a:rPr lang="zh-CN" altLang="zh-CN" dirty="0">
                <a:latin typeface="+mn-lt"/>
                <a:ea typeface="+mn-ea"/>
              </a:rPr>
              <a:t>消除矛盾：发现和消除需求分析中出现矛盾的地方</a:t>
            </a:r>
          </a:p>
        </p:txBody>
      </p:sp>
    </p:spTree>
    <p:custDataLst>
      <p:tags r:id="rId1"/>
    </p:custDataLst>
    <p:extLst>
      <p:ext uri="{BB962C8B-B14F-4D97-AF65-F5344CB8AC3E}">
        <p14:creationId xmlns:p14="http://schemas.microsoft.com/office/powerpoint/2010/main" val="2113512846"/>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 name="矩形 39"/>
          <p:cNvSpPr/>
          <p:nvPr>
            <p:custDataLst>
              <p:tags r:id="rId2"/>
            </p:custDataLst>
          </p:nvPr>
        </p:nvSpPr>
        <p:spPr>
          <a:xfrm>
            <a:off x="3152251" y="555792"/>
            <a:ext cx="6466366" cy="624481"/>
          </a:xfrm>
          <a:prstGeom prst="rect">
            <a:avLst/>
          </a:prstGeom>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3D3F41"/>
                </a:solidFill>
                <a:effectLst/>
                <a:uLnTx/>
                <a:uFillTx/>
                <a:latin typeface="Arial"/>
                <a:ea typeface="黑体"/>
                <a:cs typeface="+mn-cs"/>
                <a:sym typeface="Arial" panose="020B0604020202020204" pitchFamily="34" charset="0"/>
              </a:rPr>
              <a:t>软件需求分析</a:t>
            </a:r>
            <a:r>
              <a:rPr kumimoji="0" lang="en-US" altLang="zh-CN" sz="2800" b="1" i="0" u="none" strike="noStrike" kern="1200" cap="none" spc="0" normalizeH="0" baseline="0" noProof="0" dirty="0">
                <a:ln>
                  <a:noFill/>
                </a:ln>
                <a:solidFill>
                  <a:srgbClr val="3D3F41"/>
                </a:solidFill>
                <a:effectLst/>
                <a:uLnTx/>
                <a:uFillTx/>
                <a:latin typeface="Arial"/>
                <a:ea typeface="黑体"/>
                <a:cs typeface="+mn-cs"/>
                <a:sym typeface="Arial" panose="020B0604020202020204" pitchFamily="34" charset="0"/>
              </a:rPr>
              <a:t>-</a:t>
            </a:r>
            <a:r>
              <a:rPr kumimoji="0" lang="zh-CN" altLang="en-US" sz="2800" b="1" i="0" u="none" strike="noStrike" kern="1200" cap="none" spc="0" normalizeH="0" baseline="0" noProof="0" dirty="0">
                <a:ln>
                  <a:noFill/>
                </a:ln>
                <a:solidFill>
                  <a:srgbClr val="3D3F41"/>
                </a:solidFill>
                <a:effectLst/>
                <a:uLnTx/>
                <a:uFillTx/>
                <a:latin typeface="Arial"/>
                <a:ea typeface="黑体"/>
                <a:cs typeface="+mn-cs"/>
                <a:sym typeface="Arial" panose="020B0604020202020204" pitchFamily="34" charset="0"/>
              </a:rPr>
              <a:t>过程</a:t>
            </a:r>
          </a:p>
        </p:txBody>
      </p:sp>
      <p:sp>
        <p:nvSpPr>
          <p:cNvPr id="38" name="六边形 37"/>
          <p:cNvSpPr/>
          <p:nvPr>
            <p:custDataLst>
              <p:tags r:id="rId3"/>
            </p:custDataLst>
          </p:nvPr>
        </p:nvSpPr>
        <p:spPr>
          <a:xfrm>
            <a:off x="6539275" y="2161238"/>
            <a:ext cx="1162668" cy="1002299"/>
          </a:xfrm>
          <a:prstGeom prst="hexagon">
            <a:avLst/>
          </a:prstGeom>
          <a:solidFill>
            <a:srgbClr val="4AABC4"/>
          </a:solidFill>
          <a:ln>
            <a:noFill/>
          </a:ln>
        </p:spPr>
        <p:style>
          <a:lnRef idx="2">
            <a:srgbClr val="F6C171">
              <a:shade val="50000"/>
            </a:srgbClr>
          </a:lnRef>
          <a:fillRef idx="1">
            <a:srgbClr val="F6C171"/>
          </a:fillRef>
          <a:effectRef idx="0">
            <a:srgbClr val="F6C171"/>
          </a:effectRef>
          <a:fontRef idx="minor">
            <a:srgbClr val="FFFFFF"/>
          </a:fontRef>
        </p:style>
        <p:txBody>
          <a:bodyPr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Calibri Light" charset="0"/>
                <a:ea typeface="宋体" panose="02010600030101010101" pitchFamily="2" charset="-122"/>
                <a:cs typeface="+mn-ea"/>
                <a:sym typeface="Arial" panose="020B0604020202020204" pitchFamily="34" charset="0"/>
              </a:rPr>
              <a:t>分析与综合</a:t>
            </a:r>
          </a:p>
        </p:txBody>
      </p:sp>
      <p:sp>
        <p:nvSpPr>
          <p:cNvPr id="19" name="六边形 18"/>
          <p:cNvSpPr/>
          <p:nvPr>
            <p:custDataLst>
              <p:tags r:id="rId4"/>
            </p:custDataLst>
          </p:nvPr>
        </p:nvSpPr>
        <p:spPr>
          <a:xfrm>
            <a:off x="4376327" y="2201051"/>
            <a:ext cx="1790695" cy="1543704"/>
          </a:xfrm>
          <a:prstGeom prst="hexagon">
            <a:avLst/>
          </a:prstGeom>
          <a:solidFill>
            <a:srgbClr val="4AABC4"/>
          </a:solidFill>
          <a:ln>
            <a:noFill/>
          </a:ln>
        </p:spPr>
        <p:style>
          <a:lnRef idx="2">
            <a:srgbClr val="F6C171">
              <a:shade val="50000"/>
            </a:srgbClr>
          </a:lnRef>
          <a:fillRef idx="1">
            <a:srgbClr val="F6C171"/>
          </a:fillRef>
          <a:effectRef idx="0">
            <a:srgbClr val="F6C171"/>
          </a:effectRef>
          <a:fontRef idx="minor">
            <a:srgbClr val="FFFFFF"/>
          </a:fontRef>
        </p:style>
        <p:txBody>
          <a:bodyPr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Calibri Light" charset="0"/>
                <a:ea typeface="宋体" panose="02010600030101010101" pitchFamily="2" charset="-122"/>
                <a:cs typeface="+mn-ea"/>
                <a:sym typeface="Arial" panose="020B0604020202020204" pitchFamily="34" charset="0"/>
              </a:rPr>
              <a:t>问题识别</a:t>
            </a:r>
          </a:p>
        </p:txBody>
      </p:sp>
      <p:sp>
        <p:nvSpPr>
          <p:cNvPr id="20" name="六边形 19"/>
          <p:cNvSpPr/>
          <p:nvPr>
            <p:custDataLst>
              <p:tags r:id="rId5"/>
            </p:custDataLst>
          </p:nvPr>
        </p:nvSpPr>
        <p:spPr>
          <a:xfrm>
            <a:off x="5954881" y="3522107"/>
            <a:ext cx="1790695" cy="1543704"/>
          </a:xfrm>
          <a:prstGeom prst="hexagon">
            <a:avLst/>
          </a:prstGeom>
          <a:solidFill>
            <a:srgbClr val="4AABC4"/>
          </a:solidFill>
          <a:ln>
            <a:noFill/>
          </a:ln>
        </p:spPr>
        <p:style>
          <a:lnRef idx="2">
            <a:srgbClr val="F6C171">
              <a:shade val="50000"/>
            </a:srgbClr>
          </a:lnRef>
          <a:fillRef idx="1">
            <a:srgbClr val="F6C171"/>
          </a:fillRef>
          <a:effectRef idx="0">
            <a:srgbClr val="F6C171"/>
          </a:effectRef>
          <a:fontRef idx="minor">
            <a:srgbClr val="FFFFFF"/>
          </a:fontRef>
        </p:style>
        <p:txBody>
          <a:bodyPr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Calibri Light" charset="0"/>
                <a:ea typeface="宋体" panose="02010600030101010101" pitchFamily="2" charset="-122"/>
                <a:cs typeface="+mn-ea"/>
                <a:sym typeface="Arial" panose="020B0604020202020204" pitchFamily="34" charset="0"/>
              </a:rPr>
              <a:t>评审</a:t>
            </a:r>
          </a:p>
        </p:txBody>
      </p:sp>
      <p:sp>
        <p:nvSpPr>
          <p:cNvPr id="21" name="六边形 20"/>
          <p:cNvSpPr/>
          <p:nvPr>
            <p:custDataLst>
              <p:tags r:id="rId6"/>
            </p:custDataLst>
          </p:nvPr>
        </p:nvSpPr>
        <p:spPr>
          <a:xfrm>
            <a:off x="4405768" y="3981741"/>
            <a:ext cx="1257520" cy="1084068"/>
          </a:xfrm>
          <a:prstGeom prst="hexagon">
            <a:avLst/>
          </a:prstGeom>
          <a:solidFill>
            <a:srgbClr val="4AABC4"/>
          </a:solidFill>
          <a:ln>
            <a:noFill/>
          </a:ln>
        </p:spPr>
        <p:style>
          <a:lnRef idx="2">
            <a:srgbClr val="F6C171">
              <a:shade val="50000"/>
            </a:srgbClr>
          </a:lnRef>
          <a:fillRef idx="1">
            <a:srgbClr val="F6C171"/>
          </a:fillRef>
          <a:effectRef idx="0">
            <a:srgbClr val="F6C171"/>
          </a:effectRef>
          <a:fontRef idx="minor">
            <a:srgbClr val="FFFFFF"/>
          </a:fontRef>
        </p:style>
        <p:txBody>
          <a:bodyPr lIns="0" tIns="0" rIns="0" bIns="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FFFFFF"/>
                </a:solidFill>
                <a:effectLst/>
                <a:uLnTx/>
                <a:uFillTx/>
                <a:latin typeface="Calibri Light" charset="0"/>
                <a:ea typeface="宋体" panose="02010600030101010101" pitchFamily="2" charset="-122"/>
                <a:cs typeface="+mn-ea"/>
                <a:sym typeface="Arial" panose="020B0604020202020204" pitchFamily="34" charset="0"/>
              </a:rPr>
              <a:t>制定规格说明</a:t>
            </a:r>
          </a:p>
        </p:txBody>
      </p:sp>
      <p:cxnSp>
        <p:nvCxnSpPr>
          <p:cNvPr id="25" name="直接连接符 24"/>
          <p:cNvCxnSpPr/>
          <p:nvPr>
            <p:custDataLst>
              <p:tags r:id="rId7"/>
            </p:custDataLst>
          </p:nvPr>
        </p:nvCxnSpPr>
        <p:spPr>
          <a:xfrm flipV="1">
            <a:off x="7182555" y="1687619"/>
            <a:ext cx="0" cy="473249"/>
          </a:xfrm>
          <a:prstGeom prst="line">
            <a:avLst/>
          </a:prstGeom>
          <a:ln w="38100">
            <a:solidFill>
              <a:srgbClr val="4AABC4"/>
            </a:solidFill>
            <a:prstDash val="sysDash"/>
          </a:ln>
        </p:spPr>
        <p:style>
          <a:lnRef idx="1">
            <a:srgbClr val="F6C171"/>
          </a:lnRef>
          <a:fillRef idx="0">
            <a:srgbClr val="F6C171"/>
          </a:fillRef>
          <a:effectRef idx="0">
            <a:srgbClr val="F6C171"/>
          </a:effectRef>
          <a:fontRef idx="minor">
            <a:srgbClr val="4AABC4"/>
          </a:fontRef>
        </p:style>
      </p:cxnSp>
      <p:cxnSp>
        <p:nvCxnSpPr>
          <p:cNvPr id="26" name="直接连接符 25"/>
          <p:cNvCxnSpPr/>
          <p:nvPr>
            <p:custDataLst>
              <p:tags r:id="rId8"/>
            </p:custDataLst>
          </p:nvPr>
        </p:nvCxnSpPr>
        <p:spPr>
          <a:xfrm>
            <a:off x="7182555" y="1670755"/>
            <a:ext cx="2098173" cy="0"/>
          </a:xfrm>
          <a:prstGeom prst="line">
            <a:avLst/>
          </a:prstGeom>
          <a:ln w="38100">
            <a:solidFill>
              <a:srgbClr val="4AABC4"/>
            </a:solidFill>
            <a:prstDash val="sysDash"/>
          </a:ln>
        </p:spPr>
        <p:style>
          <a:lnRef idx="1">
            <a:srgbClr val="F6C171"/>
          </a:lnRef>
          <a:fillRef idx="0">
            <a:srgbClr val="F6C171"/>
          </a:fillRef>
          <a:effectRef idx="0">
            <a:srgbClr val="F6C171"/>
          </a:effectRef>
          <a:fontRef idx="minor">
            <a:srgbClr val="4AABC4"/>
          </a:fontRef>
        </p:style>
      </p:cxnSp>
      <p:cxnSp>
        <p:nvCxnSpPr>
          <p:cNvPr id="29" name="直接连接符 28"/>
          <p:cNvCxnSpPr/>
          <p:nvPr>
            <p:custDataLst>
              <p:tags r:id="rId9"/>
            </p:custDataLst>
          </p:nvPr>
        </p:nvCxnSpPr>
        <p:spPr>
          <a:xfrm>
            <a:off x="7088036" y="5276653"/>
            <a:ext cx="2008047" cy="0"/>
          </a:xfrm>
          <a:prstGeom prst="line">
            <a:avLst/>
          </a:prstGeom>
          <a:ln w="38100">
            <a:solidFill>
              <a:srgbClr val="4AABC4"/>
            </a:solidFill>
            <a:prstDash val="sysDash"/>
          </a:ln>
        </p:spPr>
        <p:style>
          <a:lnRef idx="1">
            <a:srgbClr val="F6C171"/>
          </a:lnRef>
          <a:fillRef idx="0">
            <a:srgbClr val="F6C171"/>
          </a:fillRef>
          <a:effectRef idx="0">
            <a:srgbClr val="F6C171"/>
          </a:effectRef>
          <a:fontRef idx="minor">
            <a:srgbClr val="4AABC4"/>
          </a:fontRef>
        </p:style>
      </p:cxnSp>
      <p:cxnSp>
        <p:nvCxnSpPr>
          <p:cNvPr id="30" name="直接连接符 29"/>
          <p:cNvCxnSpPr/>
          <p:nvPr>
            <p:custDataLst>
              <p:tags r:id="rId10"/>
            </p:custDataLst>
          </p:nvPr>
        </p:nvCxnSpPr>
        <p:spPr>
          <a:xfrm>
            <a:off x="7088036" y="5042647"/>
            <a:ext cx="0" cy="234009"/>
          </a:xfrm>
          <a:prstGeom prst="line">
            <a:avLst/>
          </a:prstGeom>
          <a:ln w="38100">
            <a:solidFill>
              <a:srgbClr val="4AABC4"/>
            </a:solidFill>
            <a:prstDash val="sysDash"/>
          </a:ln>
        </p:spPr>
        <p:style>
          <a:lnRef idx="1">
            <a:srgbClr val="F6C171"/>
          </a:lnRef>
          <a:fillRef idx="0">
            <a:srgbClr val="F6C171"/>
          </a:fillRef>
          <a:effectRef idx="0">
            <a:srgbClr val="F6C171"/>
          </a:effectRef>
          <a:fontRef idx="minor">
            <a:srgbClr val="4AABC4"/>
          </a:fontRef>
        </p:style>
      </p:cxnSp>
      <p:cxnSp>
        <p:nvCxnSpPr>
          <p:cNvPr id="31" name="直接连接符 30"/>
          <p:cNvCxnSpPr/>
          <p:nvPr>
            <p:custDataLst>
              <p:tags r:id="rId11"/>
            </p:custDataLst>
          </p:nvPr>
        </p:nvCxnSpPr>
        <p:spPr>
          <a:xfrm>
            <a:off x="2820795" y="1719781"/>
            <a:ext cx="2387576" cy="0"/>
          </a:xfrm>
          <a:prstGeom prst="line">
            <a:avLst/>
          </a:prstGeom>
          <a:ln w="38100">
            <a:solidFill>
              <a:srgbClr val="4AABC4"/>
            </a:solidFill>
            <a:prstDash val="sysDash"/>
          </a:ln>
        </p:spPr>
        <p:style>
          <a:lnRef idx="1">
            <a:srgbClr val="F6C171"/>
          </a:lnRef>
          <a:fillRef idx="0">
            <a:srgbClr val="F6C171"/>
          </a:fillRef>
          <a:effectRef idx="0">
            <a:srgbClr val="F6C171"/>
          </a:effectRef>
          <a:fontRef idx="minor">
            <a:srgbClr val="4AABC4"/>
          </a:fontRef>
        </p:style>
      </p:cxnSp>
      <p:cxnSp>
        <p:nvCxnSpPr>
          <p:cNvPr id="32" name="直接连接符 31"/>
          <p:cNvCxnSpPr/>
          <p:nvPr>
            <p:custDataLst>
              <p:tags r:id="rId12"/>
            </p:custDataLst>
          </p:nvPr>
        </p:nvCxnSpPr>
        <p:spPr>
          <a:xfrm>
            <a:off x="5219870" y="1719781"/>
            <a:ext cx="0" cy="441086"/>
          </a:xfrm>
          <a:prstGeom prst="line">
            <a:avLst/>
          </a:prstGeom>
          <a:ln w="38100">
            <a:solidFill>
              <a:srgbClr val="4AABC4"/>
            </a:solidFill>
            <a:prstDash val="sysDash"/>
          </a:ln>
        </p:spPr>
        <p:style>
          <a:lnRef idx="1">
            <a:srgbClr val="F6C171"/>
          </a:lnRef>
          <a:fillRef idx="0">
            <a:srgbClr val="F6C171"/>
          </a:fillRef>
          <a:effectRef idx="0">
            <a:srgbClr val="F6C171"/>
          </a:effectRef>
          <a:fontRef idx="minor">
            <a:srgbClr val="4AABC4"/>
          </a:fontRef>
        </p:style>
      </p:cxnSp>
      <p:cxnSp>
        <p:nvCxnSpPr>
          <p:cNvPr id="35" name="直接连接符 34"/>
          <p:cNvCxnSpPr/>
          <p:nvPr>
            <p:custDataLst>
              <p:tags r:id="rId13"/>
            </p:custDataLst>
          </p:nvPr>
        </p:nvCxnSpPr>
        <p:spPr>
          <a:xfrm>
            <a:off x="3031935" y="5276653"/>
            <a:ext cx="1944024" cy="0"/>
          </a:xfrm>
          <a:prstGeom prst="line">
            <a:avLst/>
          </a:prstGeom>
          <a:ln w="38100">
            <a:solidFill>
              <a:srgbClr val="4AABC4"/>
            </a:solidFill>
            <a:prstDash val="sysDash"/>
          </a:ln>
        </p:spPr>
        <p:style>
          <a:lnRef idx="1">
            <a:srgbClr val="F6C171"/>
          </a:lnRef>
          <a:fillRef idx="0">
            <a:srgbClr val="F6C171"/>
          </a:fillRef>
          <a:effectRef idx="0">
            <a:srgbClr val="F6C171"/>
          </a:effectRef>
          <a:fontRef idx="minor">
            <a:srgbClr val="4AABC4"/>
          </a:fontRef>
        </p:style>
      </p:cxnSp>
      <p:cxnSp>
        <p:nvCxnSpPr>
          <p:cNvPr id="36" name="直接连接符 35"/>
          <p:cNvCxnSpPr/>
          <p:nvPr>
            <p:custDataLst>
              <p:tags r:id="rId14"/>
            </p:custDataLst>
          </p:nvPr>
        </p:nvCxnSpPr>
        <p:spPr>
          <a:xfrm>
            <a:off x="4975957" y="5065811"/>
            <a:ext cx="0" cy="221321"/>
          </a:xfrm>
          <a:prstGeom prst="line">
            <a:avLst/>
          </a:prstGeom>
          <a:ln w="38100">
            <a:solidFill>
              <a:srgbClr val="4AABC4"/>
            </a:solidFill>
            <a:prstDash val="sysDash"/>
          </a:ln>
        </p:spPr>
        <p:style>
          <a:lnRef idx="1">
            <a:srgbClr val="F6C171"/>
          </a:lnRef>
          <a:fillRef idx="0">
            <a:srgbClr val="F6C171"/>
          </a:fillRef>
          <a:effectRef idx="0">
            <a:srgbClr val="F6C171"/>
          </a:effectRef>
          <a:fontRef idx="minor">
            <a:srgbClr val="4AABC4"/>
          </a:fontRef>
        </p:style>
      </p:cxnSp>
      <p:sp>
        <p:nvSpPr>
          <p:cNvPr id="41" name="文本框 40"/>
          <p:cNvSpPr txBox="1"/>
          <p:nvPr>
            <p:custDataLst>
              <p:tags r:id="rId15"/>
            </p:custDataLst>
          </p:nvPr>
        </p:nvSpPr>
        <p:spPr>
          <a:xfrm>
            <a:off x="1492250" y="1767840"/>
            <a:ext cx="3010535" cy="998220"/>
          </a:xfrm>
          <a:prstGeom prst="rect">
            <a:avLst/>
          </a:prstGeom>
          <a:noFill/>
        </p:spPr>
        <p:txBody>
          <a:bodyPr wrap="square" rtlCol="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zh-CN" altLang="da-DK" sz="1800" b="0" i="0" u="none" strike="noStrike" kern="1200" cap="none" spc="0" normalizeH="0" baseline="0" noProof="0" dirty="0">
                <a:ln>
                  <a:noFill/>
                </a:ln>
                <a:solidFill>
                  <a:srgbClr val="808080"/>
                </a:solidFill>
                <a:effectLst/>
                <a:uLnTx/>
                <a:uFillTx/>
                <a:latin typeface="Arial"/>
                <a:ea typeface="黑体"/>
                <a:cs typeface="+mn-cs"/>
                <a:sym typeface="Arial" panose="020B0604020202020204" pitchFamily="34" charset="0"/>
              </a:rPr>
              <a:t>从系统角度来理解软件，确定对所开发系统的综合要求</a:t>
            </a:r>
          </a:p>
        </p:txBody>
      </p:sp>
      <p:sp>
        <p:nvSpPr>
          <p:cNvPr id="42" name="文本框 41"/>
          <p:cNvSpPr txBox="1"/>
          <p:nvPr>
            <p:custDataLst>
              <p:tags r:id="rId16"/>
            </p:custDataLst>
          </p:nvPr>
        </p:nvSpPr>
        <p:spPr>
          <a:xfrm>
            <a:off x="7554595" y="1724660"/>
            <a:ext cx="2767330" cy="998220"/>
          </a:xfrm>
          <a:prstGeom prst="rect">
            <a:avLst/>
          </a:prstGeom>
          <a:noFill/>
        </p:spPr>
        <p:txBody>
          <a:bodyPr wrap="square" rtlCol="0">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altLang="zh-CN" sz="1800" b="0" i="0" u="none" strike="noStrike" kern="1200" cap="none" spc="0" normalizeH="0" baseline="0" noProof="0" dirty="0">
                <a:ln>
                  <a:noFill/>
                </a:ln>
                <a:solidFill>
                  <a:srgbClr val="808080"/>
                </a:solidFill>
                <a:effectLst/>
                <a:uLnTx/>
                <a:uFillTx/>
                <a:latin typeface="Arial"/>
                <a:ea typeface="黑体"/>
                <a:cs typeface="+mn-cs"/>
                <a:sym typeface="Arial" panose="020B0604020202020204" pitchFamily="34" charset="0"/>
              </a:rPr>
              <a:t>逐步细化所有的软件功能</a:t>
            </a:r>
            <a:r>
              <a:rPr kumimoji="0" lang="zh-CN" altLang="da-DK" sz="1800" b="0" i="0" u="none" strike="noStrike" kern="1200" cap="none" spc="0" normalizeH="0" baseline="0" noProof="0" dirty="0">
                <a:ln>
                  <a:noFill/>
                </a:ln>
                <a:solidFill>
                  <a:srgbClr val="808080"/>
                </a:solidFill>
                <a:effectLst/>
                <a:uLnTx/>
                <a:uFillTx/>
                <a:latin typeface="Arial"/>
                <a:ea typeface="黑体"/>
                <a:cs typeface="+mn-cs"/>
                <a:sym typeface="Arial" panose="020B0604020202020204" pitchFamily="34" charset="0"/>
              </a:rPr>
              <a:t>，综合成系统的解决方案</a:t>
            </a:r>
          </a:p>
        </p:txBody>
      </p:sp>
      <p:sp>
        <p:nvSpPr>
          <p:cNvPr id="43" name="文本框 42"/>
          <p:cNvSpPr txBox="1"/>
          <p:nvPr>
            <p:custDataLst>
              <p:tags r:id="rId17"/>
            </p:custDataLst>
          </p:nvPr>
        </p:nvSpPr>
        <p:spPr>
          <a:xfrm>
            <a:off x="1652905" y="5342255"/>
            <a:ext cx="3269615" cy="998220"/>
          </a:xfrm>
          <a:prstGeom prst="rect">
            <a:avLst/>
          </a:prstGeom>
          <a:noFill/>
        </p:spPr>
        <p:txBody>
          <a:bodyPr wrap="square" rtlCol="0">
            <a:norm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da-DK" altLang="zh-CN" sz="1800" b="0" i="0" u="none" strike="noStrike" kern="1200" cap="none" spc="0" normalizeH="0" baseline="0" noProof="0" dirty="0">
                <a:ln>
                  <a:noFill/>
                </a:ln>
                <a:solidFill>
                  <a:srgbClr val="808080"/>
                </a:solidFill>
                <a:effectLst/>
                <a:uLnTx/>
                <a:uFillTx/>
                <a:latin typeface="Arial"/>
                <a:ea typeface="黑体"/>
                <a:cs typeface="+mn-cs"/>
                <a:sym typeface="Arial" panose="020B0604020202020204" pitchFamily="34" charset="0"/>
              </a:rPr>
              <a:t>编制文档，描述需求的文档为软件需求规</a:t>
            </a:r>
            <a:r>
              <a:rPr kumimoji="0" lang="zh-CN" altLang="da-DK" sz="1800" b="0" i="0" u="none" strike="noStrike" kern="1200" cap="none" spc="0" normalizeH="0" baseline="0" noProof="0" dirty="0">
                <a:ln>
                  <a:noFill/>
                </a:ln>
                <a:solidFill>
                  <a:srgbClr val="808080"/>
                </a:solidFill>
                <a:effectLst/>
                <a:uLnTx/>
                <a:uFillTx/>
                <a:latin typeface="Arial"/>
                <a:ea typeface="黑体"/>
                <a:cs typeface="+mn-cs"/>
                <a:sym typeface="Arial" panose="020B0604020202020204" pitchFamily="34" charset="0"/>
              </a:rPr>
              <a:t>说明</a:t>
            </a:r>
            <a:r>
              <a:rPr kumimoji="0" lang="da-DK" altLang="zh-CN" sz="1800" b="0" i="0" u="none" strike="noStrike" kern="1200" cap="none" spc="0" normalizeH="0" baseline="0" noProof="0" dirty="0">
                <a:ln>
                  <a:noFill/>
                </a:ln>
                <a:solidFill>
                  <a:srgbClr val="808080"/>
                </a:solidFill>
                <a:effectLst/>
                <a:uLnTx/>
                <a:uFillTx/>
                <a:latin typeface="Arial"/>
                <a:ea typeface="黑体"/>
                <a:cs typeface="+mn-cs"/>
                <a:sym typeface="Arial" panose="020B0604020202020204" pitchFamily="34" charset="0"/>
              </a:rPr>
              <a:t>书</a:t>
            </a:r>
          </a:p>
        </p:txBody>
      </p:sp>
      <p:sp>
        <p:nvSpPr>
          <p:cNvPr id="44" name="文本框 43"/>
          <p:cNvSpPr txBox="1"/>
          <p:nvPr>
            <p:custDataLst>
              <p:tags r:id="rId18"/>
            </p:custDataLst>
          </p:nvPr>
        </p:nvSpPr>
        <p:spPr>
          <a:xfrm>
            <a:off x="7265035" y="5347970"/>
            <a:ext cx="3056890" cy="998220"/>
          </a:xfrm>
          <a:prstGeom prst="rect">
            <a:avLst/>
          </a:prstGeom>
          <a:noFill/>
        </p:spPr>
        <p:txBody>
          <a:bodyPr wrap="square" rtlCol="0">
            <a:normAutofit fontScale="92500"/>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a-DK" altLang="zh-CN" sz="1800" b="0" i="0" u="none" strike="noStrike" kern="1200" cap="none" spc="0" normalizeH="0" baseline="0" noProof="0" dirty="0">
                <a:ln>
                  <a:noFill/>
                </a:ln>
                <a:solidFill>
                  <a:srgbClr val="808080"/>
                </a:solidFill>
                <a:effectLst/>
                <a:uLnTx/>
                <a:uFillTx/>
                <a:latin typeface="Arial"/>
                <a:ea typeface="黑体"/>
                <a:cs typeface="+mn-cs"/>
                <a:sym typeface="Arial" panose="020B0604020202020204" pitchFamily="34" charset="0"/>
              </a:rPr>
              <a:t>对功能的正确性，完整性和清晰性，以及其它需求给予评价</a:t>
            </a:r>
            <a:r>
              <a:rPr kumimoji="0" lang="zh-CN" altLang="da-DK" sz="1800" b="0" i="0" u="none" strike="noStrike" kern="1200" cap="none" spc="0" normalizeH="0" baseline="0" noProof="0" dirty="0">
                <a:ln>
                  <a:noFill/>
                </a:ln>
                <a:solidFill>
                  <a:srgbClr val="808080"/>
                </a:solidFill>
                <a:effectLst/>
                <a:uLnTx/>
                <a:uFillTx/>
                <a:latin typeface="Arial"/>
                <a:ea typeface="黑体"/>
                <a:cs typeface="+mn-cs"/>
                <a:sym typeface="Arial" panose="020B0604020202020204" pitchFamily="34" charset="0"/>
              </a:rPr>
              <a:t>，评审不过则重新进行需求分析</a:t>
            </a:r>
          </a:p>
        </p:txBody>
      </p:sp>
    </p:spTree>
    <p:custDataLst>
      <p:tags r:id="rId1"/>
    </p:custDataLst>
    <p:extLst>
      <p:ext uri="{BB962C8B-B14F-4D97-AF65-F5344CB8AC3E}">
        <p14:creationId xmlns:p14="http://schemas.microsoft.com/office/powerpoint/2010/main" val="1312651827"/>
      </p:ext>
    </p:extLst>
  </p:cSld>
  <p:clrMapOvr>
    <a:masterClrMapping/>
  </p:clrMapOvr>
  <p:transition>
    <p:wipe/>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内容占位符 4"/>
          <p:cNvGraphicFramePr>
            <a:graphicFrameLocks noGrp="1"/>
          </p:cNvGraphicFramePr>
          <p:nvPr>
            <p:ph idx="1"/>
          </p:nvPr>
        </p:nvGraphicFramePr>
        <p:xfrm>
          <a:off x="1144905" y="1510030"/>
          <a:ext cx="9653270" cy="5321300"/>
        </p:xfrm>
        <a:graphic>
          <a:graphicData uri="http://schemas.openxmlformats.org/drawingml/2006/table">
            <a:tbl>
              <a:tblPr firstRow="1" bandRow="1">
                <a:tableStyleId>{5C22544A-7EE6-4342-B048-85BDC9FD1C3A}</a:tableStyleId>
              </a:tblPr>
              <a:tblGrid>
                <a:gridCol w="1424940">
                  <a:extLst>
                    <a:ext uri="{9D8B030D-6E8A-4147-A177-3AD203B41FA5}">
                      <a16:colId xmlns:a16="http://schemas.microsoft.com/office/drawing/2014/main" val="20000"/>
                    </a:ext>
                  </a:extLst>
                </a:gridCol>
                <a:gridCol w="2281555">
                  <a:extLst>
                    <a:ext uri="{9D8B030D-6E8A-4147-A177-3AD203B41FA5}">
                      <a16:colId xmlns:a16="http://schemas.microsoft.com/office/drawing/2014/main" val="20001"/>
                    </a:ext>
                  </a:extLst>
                </a:gridCol>
                <a:gridCol w="2011045">
                  <a:extLst>
                    <a:ext uri="{9D8B030D-6E8A-4147-A177-3AD203B41FA5}">
                      <a16:colId xmlns:a16="http://schemas.microsoft.com/office/drawing/2014/main" val="20002"/>
                    </a:ext>
                  </a:extLst>
                </a:gridCol>
                <a:gridCol w="2038350">
                  <a:extLst>
                    <a:ext uri="{9D8B030D-6E8A-4147-A177-3AD203B41FA5}">
                      <a16:colId xmlns:a16="http://schemas.microsoft.com/office/drawing/2014/main" val="20003"/>
                    </a:ext>
                  </a:extLst>
                </a:gridCol>
                <a:gridCol w="1897380">
                  <a:extLst>
                    <a:ext uri="{9D8B030D-6E8A-4147-A177-3AD203B41FA5}">
                      <a16:colId xmlns:a16="http://schemas.microsoft.com/office/drawing/2014/main" val="20004"/>
                    </a:ext>
                  </a:extLst>
                </a:gridCol>
              </a:tblGrid>
              <a:tr h="335280">
                <a:tc>
                  <a:txBody>
                    <a:bodyPr/>
                    <a:lstStyle/>
                    <a:p>
                      <a:pPr algn="ctr">
                        <a:buNone/>
                      </a:pPr>
                      <a:r>
                        <a:rPr lang="zh-CN" altLang="en-US" sz="1600">
                          <a:solidFill>
                            <a:schemeClr val="accent3">
                              <a:lumMod val="50000"/>
                            </a:schemeClr>
                          </a:solidFill>
                          <a:latin typeface="黑体" panose="02010609060101010101" charset="-122"/>
                          <a:ea typeface="黑体" panose="02010609060101010101" charset="-122"/>
                        </a:rPr>
                        <a:t>方法</a:t>
                      </a:r>
                    </a:p>
                  </a:txBody>
                  <a:tcPr>
                    <a:solidFill>
                      <a:schemeClr val="accent3">
                        <a:lumMod val="75000"/>
                        <a:alpha val="45000"/>
                      </a:schemeClr>
                    </a:solidFill>
                  </a:tcPr>
                </a:tc>
                <a:tc>
                  <a:txBody>
                    <a:bodyPr/>
                    <a:lstStyle/>
                    <a:p>
                      <a:pPr algn="ctr">
                        <a:buNone/>
                      </a:pPr>
                      <a:r>
                        <a:rPr lang="zh-CN" altLang="en-US" sz="1600">
                          <a:solidFill>
                            <a:schemeClr val="accent3">
                              <a:lumMod val="50000"/>
                            </a:schemeClr>
                          </a:solidFill>
                          <a:latin typeface="黑体" panose="02010609060101010101" charset="-122"/>
                          <a:ea typeface="黑体" panose="02010609060101010101" charset="-122"/>
                        </a:rPr>
                        <a:t>视角</a:t>
                      </a:r>
                    </a:p>
                  </a:txBody>
                  <a:tcPr>
                    <a:solidFill>
                      <a:schemeClr val="accent3">
                        <a:lumMod val="75000"/>
                        <a:alpha val="45000"/>
                      </a:schemeClr>
                    </a:solidFill>
                  </a:tcPr>
                </a:tc>
                <a:tc>
                  <a:txBody>
                    <a:bodyPr/>
                    <a:lstStyle/>
                    <a:p>
                      <a:pPr algn="ctr">
                        <a:buNone/>
                      </a:pPr>
                      <a:r>
                        <a:rPr lang="zh-CN" altLang="en-US" sz="1600">
                          <a:solidFill>
                            <a:schemeClr val="accent3">
                              <a:lumMod val="50000"/>
                            </a:schemeClr>
                          </a:solidFill>
                          <a:latin typeface="黑体" panose="02010609060101010101" charset="-122"/>
                          <a:ea typeface="黑体" panose="02010609060101010101" charset="-122"/>
                        </a:rPr>
                        <a:t>手段</a:t>
                      </a:r>
                    </a:p>
                  </a:txBody>
                  <a:tcPr>
                    <a:solidFill>
                      <a:schemeClr val="accent3">
                        <a:lumMod val="75000"/>
                        <a:alpha val="45000"/>
                      </a:schemeClr>
                    </a:solidFill>
                  </a:tcPr>
                </a:tc>
                <a:tc>
                  <a:txBody>
                    <a:bodyPr/>
                    <a:lstStyle/>
                    <a:p>
                      <a:pPr algn="ctr">
                        <a:buNone/>
                      </a:pPr>
                      <a:r>
                        <a:rPr lang="zh-CN" altLang="en-US" sz="1600">
                          <a:solidFill>
                            <a:schemeClr val="accent3">
                              <a:lumMod val="50000"/>
                            </a:schemeClr>
                          </a:solidFill>
                          <a:latin typeface="黑体" panose="02010609060101010101" charset="-122"/>
                          <a:ea typeface="黑体" panose="02010609060101010101" charset="-122"/>
                        </a:rPr>
                        <a:t>途径</a:t>
                      </a:r>
                    </a:p>
                  </a:txBody>
                  <a:tcPr>
                    <a:solidFill>
                      <a:schemeClr val="accent3">
                        <a:lumMod val="75000"/>
                        <a:alpha val="45000"/>
                      </a:schemeClr>
                    </a:solidFill>
                  </a:tcPr>
                </a:tc>
                <a:tc>
                  <a:txBody>
                    <a:bodyPr/>
                    <a:lstStyle/>
                    <a:p>
                      <a:pPr algn="ctr">
                        <a:buNone/>
                      </a:pPr>
                      <a:r>
                        <a:rPr lang="zh-CN" altLang="en-US" sz="1600">
                          <a:solidFill>
                            <a:schemeClr val="accent3">
                              <a:lumMod val="50000"/>
                            </a:schemeClr>
                          </a:solidFill>
                          <a:latin typeface="黑体" panose="02010609060101010101" charset="-122"/>
                          <a:ea typeface="黑体" panose="02010609060101010101" charset="-122"/>
                        </a:rPr>
                        <a:t>线索</a:t>
                      </a:r>
                    </a:p>
                  </a:txBody>
                  <a:tcPr>
                    <a:solidFill>
                      <a:schemeClr val="accent3">
                        <a:lumMod val="75000"/>
                        <a:alpha val="45000"/>
                      </a:schemeClr>
                    </a:solidFill>
                  </a:tcPr>
                </a:tc>
                <a:extLst>
                  <a:ext uri="{0D108BD9-81ED-4DB2-BD59-A6C34878D82A}">
                    <a16:rowId xmlns:a16="http://schemas.microsoft.com/office/drawing/2014/main" val="10000"/>
                  </a:ext>
                </a:extLst>
              </a:tr>
              <a:tr h="679450">
                <a:tc>
                  <a:txBody>
                    <a:bodyPr/>
                    <a:lstStyle/>
                    <a:p>
                      <a:pPr algn="l">
                        <a:buNone/>
                      </a:pPr>
                      <a:r>
                        <a:rPr lang="zh-CN" altLang="en-US" sz="1600" b="1">
                          <a:latin typeface="黑体" panose="02010609060101010101" charset="-122"/>
                          <a:ea typeface="黑体" panose="02010609060101010101" charset="-122"/>
                        </a:rPr>
                        <a:t>面向目标</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存在需要实现的目标</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从高层目标到低层目标的分解</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需求的满足来自低层目标的支撑和贡献</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目标关联</a:t>
                      </a:r>
                    </a:p>
                  </a:txBody>
                  <a:tcPr>
                    <a:solidFill>
                      <a:schemeClr val="accent3">
                        <a:lumMod val="60000"/>
                        <a:lumOff val="40000"/>
                      </a:schemeClr>
                    </a:solidFill>
                  </a:tcPr>
                </a:tc>
                <a:extLst>
                  <a:ext uri="{0D108BD9-81ED-4DB2-BD59-A6C34878D82A}">
                    <a16:rowId xmlns:a16="http://schemas.microsoft.com/office/drawing/2014/main" val="10001"/>
                  </a:ext>
                </a:extLst>
              </a:tr>
              <a:tr h="579120">
                <a:tc>
                  <a:txBody>
                    <a:bodyPr/>
                    <a:lstStyle/>
                    <a:p>
                      <a:pPr algn="l">
                        <a:buNone/>
                      </a:pPr>
                      <a:r>
                        <a:rPr lang="zh-CN" altLang="en-US" sz="1600" b="1">
                          <a:latin typeface="黑体" panose="02010609060101010101" charset="-122"/>
                          <a:ea typeface="黑体" panose="02010609060101010101" charset="-122"/>
                        </a:rPr>
                        <a:t>面向主体</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存在需要维持的组织关系</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依赖关系的建立、反依赖关系的防止</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依赖关系的可满足性、鲁棒性</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主体依赖关系</a:t>
                      </a:r>
                    </a:p>
                  </a:txBody>
                  <a:tcPr>
                    <a:solidFill>
                      <a:schemeClr val="accent3">
                        <a:lumMod val="60000"/>
                        <a:lumOff val="40000"/>
                      </a:schemeClr>
                    </a:solidFill>
                  </a:tcPr>
                </a:tc>
                <a:extLst>
                  <a:ext uri="{0D108BD9-81ED-4DB2-BD59-A6C34878D82A}">
                    <a16:rowId xmlns:a16="http://schemas.microsoft.com/office/drawing/2014/main" val="10002"/>
                  </a:ext>
                </a:extLst>
              </a:tr>
              <a:tr h="579120">
                <a:tc>
                  <a:txBody>
                    <a:bodyPr/>
                    <a:lstStyle/>
                    <a:p>
                      <a:pPr algn="l">
                        <a:buNone/>
                      </a:pPr>
                      <a:r>
                        <a:rPr lang="zh-CN" altLang="en-US" sz="1600" b="1">
                          <a:latin typeface="黑体" panose="02010609060101010101" charset="-122"/>
                          <a:ea typeface="黑体" panose="02010609060101010101" charset="-122"/>
                        </a:rPr>
                        <a:t>面向情景</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存在需要支撑的业务场景</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场景活动分析</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软件需求对业务活动的支持</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cs typeface="黑体" panose="02010609060101010101" charset="-122"/>
                        </a:rPr>
                        <a:t>情景</a:t>
                      </a:r>
                      <a:r>
                        <a:rPr lang="en-US" altLang="zh-CN" sz="1600" b="1">
                          <a:latin typeface="黑体" panose="02010609060101010101" charset="-122"/>
                          <a:ea typeface="黑体" panose="02010609060101010101" charset="-122"/>
                          <a:cs typeface="黑体" panose="02010609060101010101" charset="-122"/>
                        </a:rPr>
                        <a:t>—</a:t>
                      </a:r>
                      <a:r>
                        <a:rPr lang="zh-CN" altLang="en-US" sz="1600" b="1">
                          <a:latin typeface="黑体" panose="02010609060101010101" charset="-122"/>
                          <a:ea typeface="黑体" panose="02010609060101010101" charset="-122"/>
                          <a:cs typeface="黑体" panose="02010609060101010101" charset="-122"/>
                        </a:rPr>
                        <a:t>活动</a:t>
                      </a:r>
                      <a:r>
                        <a:rPr lang="en-US" altLang="zh-CN" sz="1600" b="1">
                          <a:latin typeface="黑体" panose="02010609060101010101" charset="-122"/>
                          <a:ea typeface="黑体" panose="02010609060101010101" charset="-122"/>
                          <a:cs typeface="黑体" panose="02010609060101010101" charset="-122"/>
                        </a:rPr>
                        <a:t>—</a:t>
                      </a:r>
                      <a:r>
                        <a:rPr lang="zh-CN" altLang="en-US" sz="1600" b="1">
                          <a:latin typeface="黑体" panose="02010609060101010101" charset="-122"/>
                          <a:ea typeface="黑体" panose="02010609060101010101" charset="-122"/>
                          <a:cs typeface="黑体" panose="02010609060101010101" charset="-122"/>
                        </a:rPr>
                        <a:t>软件需求</a:t>
                      </a:r>
                    </a:p>
                  </a:txBody>
                  <a:tcPr>
                    <a:solidFill>
                      <a:schemeClr val="accent3">
                        <a:lumMod val="60000"/>
                        <a:lumOff val="40000"/>
                      </a:schemeClr>
                    </a:solidFill>
                  </a:tcPr>
                </a:tc>
                <a:extLst>
                  <a:ext uri="{0D108BD9-81ED-4DB2-BD59-A6C34878D82A}">
                    <a16:rowId xmlns:a16="http://schemas.microsoft.com/office/drawing/2014/main" val="10003"/>
                  </a:ext>
                </a:extLst>
              </a:tr>
              <a:tr h="679450">
                <a:tc>
                  <a:txBody>
                    <a:bodyPr/>
                    <a:lstStyle/>
                    <a:p>
                      <a:pPr algn="l">
                        <a:buNone/>
                      </a:pPr>
                      <a:r>
                        <a:rPr lang="zh-CN" altLang="en-US" sz="1600" b="1">
                          <a:latin typeface="黑体" panose="02010609060101010101" charset="-122"/>
                          <a:ea typeface="黑体" panose="02010609060101010101" charset="-122"/>
                        </a:rPr>
                        <a:t>多角度</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需求来自不同利益相关者</a:t>
                      </a:r>
                    </a:p>
                  </a:txBody>
                  <a:tcPr>
                    <a:solidFill>
                      <a:schemeClr val="accent3">
                        <a:lumMod val="60000"/>
                        <a:lumOff val="40000"/>
                      </a:schemeClr>
                    </a:solidFill>
                  </a:tcPr>
                </a:tc>
                <a:tc>
                  <a:txBody>
                    <a:bodyPr/>
                    <a:lstStyle/>
                    <a:p>
                      <a:pPr algn="l">
                        <a:buNone/>
                      </a:pPr>
                      <a:r>
                        <a:rPr lang="zh-CN" altLang="en-US" sz="1600" b="1" dirty="0">
                          <a:latin typeface="黑体" panose="02010609060101010101" charset="-122"/>
                          <a:ea typeface="黑体" panose="02010609060101010101" charset="-122"/>
                        </a:rPr>
                        <a:t>分视角建模再进行模型组合</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不同视角不同理解，组合时协调统一理解</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按视角建立关联，最后建模组合关联</a:t>
                      </a:r>
                    </a:p>
                  </a:txBody>
                  <a:tcPr>
                    <a:solidFill>
                      <a:schemeClr val="accent3">
                        <a:lumMod val="60000"/>
                        <a:lumOff val="40000"/>
                      </a:schemeClr>
                    </a:solidFill>
                  </a:tcPr>
                </a:tc>
                <a:extLst>
                  <a:ext uri="{0D108BD9-81ED-4DB2-BD59-A6C34878D82A}">
                    <a16:rowId xmlns:a16="http://schemas.microsoft.com/office/drawing/2014/main" val="10004"/>
                  </a:ext>
                </a:extLst>
              </a:tr>
              <a:tr h="1066800">
                <a:tc>
                  <a:txBody>
                    <a:bodyPr/>
                    <a:lstStyle/>
                    <a:p>
                      <a:pPr algn="l">
                        <a:buNone/>
                      </a:pPr>
                      <a:r>
                        <a:rPr lang="zh-CN" altLang="en-US" sz="1600" b="1">
                          <a:latin typeface="黑体" panose="02010609060101010101" charset="-122"/>
                          <a:ea typeface="黑体" panose="02010609060101010101" charset="-122"/>
                        </a:rPr>
                        <a:t>面向对象</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cs typeface="黑体" panose="02010609060101010101" charset="-122"/>
                        </a:rPr>
                        <a:t>软件由对象</a:t>
                      </a:r>
                      <a:r>
                        <a:rPr lang="en-US" altLang="zh-CN" sz="1600" b="1">
                          <a:latin typeface="黑体" panose="02010609060101010101" charset="-122"/>
                          <a:ea typeface="黑体" panose="02010609060101010101" charset="-122"/>
                          <a:cs typeface="黑体" panose="02010609060101010101" charset="-122"/>
                        </a:rPr>
                        <a:t>/</a:t>
                      </a:r>
                      <a:r>
                        <a:rPr lang="zh-CN" altLang="en-US" sz="1600" b="1">
                          <a:latin typeface="黑体" panose="02010609060101010101" charset="-122"/>
                          <a:ea typeface="黑体" panose="02010609060101010101" charset="-122"/>
                          <a:cs typeface="黑体" panose="02010609060101010101" charset="-122"/>
                        </a:rPr>
                        <a:t>类组成。对象</a:t>
                      </a:r>
                      <a:r>
                        <a:rPr lang="en-US" altLang="zh-CN" sz="1600" b="1">
                          <a:latin typeface="黑体" panose="02010609060101010101" charset="-122"/>
                          <a:ea typeface="黑体" panose="02010609060101010101" charset="-122"/>
                          <a:cs typeface="黑体" panose="02010609060101010101" charset="-122"/>
                        </a:rPr>
                        <a:t>/</a:t>
                      </a:r>
                      <a:r>
                        <a:rPr lang="zh-CN" altLang="en-US" sz="1600" b="1">
                          <a:latin typeface="黑体" panose="02010609060101010101" charset="-122"/>
                          <a:ea typeface="黑体" panose="02010609060101010101" charset="-122"/>
                          <a:cs typeface="黑体" panose="02010609060101010101" charset="-122"/>
                        </a:rPr>
                        <a:t>类来自现实世界问题空间或软件世界解空间</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抽象、封装、继承</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对象及其关联表达现实世界的抽象</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统一建模语言</a:t>
                      </a:r>
                    </a:p>
                  </a:txBody>
                  <a:tcPr>
                    <a:solidFill>
                      <a:schemeClr val="accent3">
                        <a:lumMod val="60000"/>
                        <a:lumOff val="40000"/>
                      </a:schemeClr>
                    </a:solidFill>
                  </a:tcPr>
                </a:tc>
                <a:extLst>
                  <a:ext uri="{0D108BD9-81ED-4DB2-BD59-A6C34878D82A}">
                    <a16:rowId xmlns:a16="http://schemas.microsoft.com/office/drawing/2014/main" val="10005"/>
                  </a:ext>
                </a:extLst>
              </a:tr>
              <a:tr h="822960">
                <a:tc>
                  <a:txBody>
                    <a:bodyPr/>
                    <a:lstStyle/>
                    <a:p>
                      <a:pPr algn="l">
                        <a:buNone/>
                      </a:pPr>
                      <a:r>
                        <a:rPr lang="zh-CN" altLang="en-US" sz="1600" b="1">
                          <a:latin typeface="黑体" panose="02010609060101010101" charset="-122"/>
                          <a:ea typeface="黑体" panose="02010609060101010101" charset="-122"/>
                        </a:rPr>
                        <a:t>面向问题</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软件处于环境中，在和环境的交互中展现能力</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通过上下文特征和上下文的交互识别软件问题</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问题框架</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环境模型、共享现象</a:t>
                      </a:r>
                    </a:p>
                  </a:txBody>
                  <a:tcPr>
                    <a:solidFill>
                      <a:schemeClr val="accent3">
                        <a:lumMod val="60000"/>
                        <a:lumOff val="40000"/>
                      </a:schemeClr>
                    </a:solidFill>
                  </a:tcPr>
                </a:tc>
                <a:extLst>
                  <a:ext uri="{0D108BD9-81ED-4DB2-BD59-A6C34878D82A}">
                    <a16:rowId xmlns:a16="http://schemas.microsoft.com/office/drawing/2014/main" val="10006"/>
                  </a:ext>
                </a:extLst>
              </a:tr>
              <a:tr h="579120">
                <a:tc>
                  <a:txBody>
                    <a:bodyPr/>
                    <a:lstStyle/>
                    <a:p>
                      <a:pPr algn="l">
                        <a:buNone/>
                      </a:pPr>
                      <a:r>
                        <a:rPr lang="zh-CN" altLang="en-US" sz="1600" b="1" dirty="0">
                          <a:latin typeface="黑体" panose="02010609060101010101" charset="-122"/>
                          <a:ea typeface="黑体" panose="02010609060101010101" charset="-122"/>
                        </a:rPr>
                        <a:t>面向领域</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共性的需求可以被重用</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共性和变化性建模</a:t>
                      </a:r>
                    </a:p>
                  </a:txBody>
                  <a:tcPr>
                    <a:solidFill>
                      <a:schemeClr val="accent3">
                        <a:lumMod val="60000"/>
                        <a:lumOff val="40000"/>
                      </a:schemeClr>
                    </a:solidFill>
                  </a:tcPr>
                </a:tc>
                <a:tc>
                  <a:txBody>
                    <a:bodyPr/>
                    <a:lstStyle/>
                    <a:p>
                      <a:pPr algn="l">
                        <a:buNone/>
                      </a:pPr>
                      <a:r>
                        <a:rPr lang="zh-CN" altLang="en-US" sz="1600" b="1">
                          <a:latin typeface="黑体" panose="02010609060101010101" charset="-122"/>
                          <a:ea typeface="黑体" panose="02010609060101010101" charset="-122"/>
                        </a:rPr>
                        <a:t>需求重用</a:t>
                      </a:r>
                    </a:p>
                  </a:txBody>
                  <a:tcPr>
                    <a:solidFill>
                      <a:schemeClr val="accent3">
                        <a:lumMod val="60000"/>
                        <a:lumOff val="40000"/>
                      </a:schemeClr>
                    </a:solidFill>
                  </a:tcPr>
                </a:tc>
                <a:tc>
                  <a:txBody>
                    <a:bodyPr/>
                    <a:lstStyle/>
                    <a:p>
                      <a:pPr algn="l">
                        <a:buNone/>
                      </a:pPr>
                      <a:r>
                        <a:rPr lang="zh-CN" altLang="en-US" sz="1600" b="1" dirty="0">
                          <a:latin typeface="黑体" panose="02010609060101010101" charset="-122"/>
                          <a:ea typeface="黑体" panose="02010609060101010101" charset="-122"/>
                        </a:rPr>
                        <a:t>领域模型和应用模型的关系</a:t>
                      </a:r>
                    </a:p>
                  </a:txBody>
                  <a:tcPr>
                    <a:solidFill>
                      <a:schemeClr val="accent3">
                        <a:lumMod val="60000"/>
                        <a:lumOff val="40000"/>
                      </a:schemeClr>
                    </a:solidFill>
                  </a:tcPr>
                </a:tc>
                <a:extLst>
                  <a:ext uri="{0D108BD9-81ED-4DB2-BD59-A6C34878D82A}">
                    <a16:rowId xmlns:a16="http://schemas.microsoft.com/office/drawing/2014/main" val="10007"/>
                  </a:ext>
                </a:extLst>
              </a:tr>
            </a:tbl>
          </a:graphicData>
        </a:graphic>
      </p:graphicFrame>
      <p:grpSp>
        <p:nvGrpSpPr>
          <p:cNvPr id="7" name="组合 6"/>
          <p:cNvGrpSpPr/>
          <p:nvPr/>
        </p:nvGrpSpPr>
        <p:grpSpPr>
          <a:xfrm>
            <a:off x="1746885" y="412115"/>
            <a:ext cx="2607310" cy="829945"/>
            <a:chOff x="2751" y="649"/>
            <a:chExt cx="4106" cy="1307"/>
          </a:xfrm>
        </p:grpSpPr>
        <p:sp>
          <p:nvSpPr>
            <p:cNvPr id="4" name="圆角矩形标注 3"/>
            <p:cNvSpPr/>
            <p:nvPr/>
          </p:nvSpPr>
          <p:spPr>
            <a:xfrm flipH="1">
              <a:off x="2751" y="649"/>
              <a:ext cx="3548" cy="1283"/>
            </a:xfrm>
            <a:prstGeom prst="wedgeRoundRectCallout">
              <a:avLst>
                <a:gd name="adj1" fmla="val -37525"/>
                <a:gd name="adj2" fmla="val 89771"/>
                <a:gd name="adj3" fmla="val 16667"/>
              </a:avLst>
            </a:prstGeom>
            <a:solidFill>
              <a:schemeClr val="accent1">
                <a:lumMod val="40000"/>
                <a:lumOff val="60000"/>
              </a:schemeClr>
            </a:soli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6" name="文本框 5"/>
            <p:cNvSpPr txBox="1"/>
            <p:nvPr/>
          </p:nvSpPr>
          <p:spPr>
            <a:xfrm>
              <a:off x="2751" y="649"/>
              <a:ext cx="4106" cy="130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rPr>
                <a:t>需求来自何处？</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rPr>
                <a:t>谁是需求相关者？</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rPr>
                <a:t>需要回答什么问题？</a:t>
              </a:r>
            </a:p>
          </p:txBody>
        </p:sp>
      </p:grpSp>
      <p:grpSp>
        <p:nvGrpSpPr>
          <p:cNvPr id="9" name="组合 8"/>
          <p:cNvGrpSpPr/>
          <p:nvPr/>
        </p:nvGrpSpPr>
        <p:grpSpPr>
          <a:xfrm>
            <a:off x="3766185" y="416560"/>
            <a:ext cx="2772410" cy="859031"/>
            <a:chOff x="2465" y="625"/>
            <a:chExt cx="4201" cy="1384"/>
          </a:xfrm>
        </p:grpSpPr>
        <p:sp>
          <p:nvSpPr>
            <p:cNvPr id="10" name="圆角矩形标注 9"/>
            <p:cNvSpPr/>
            <p:nvPr/>
          </p:nvSpPr>
          <p:spPr>
            <a:xfrm flipH="1">
              <a:off x="2465" y="625"/>
              <a:ext cx="3548" cy="1283"/>
            </a:xfrm>
            <a:prstGeom prst="wedgeRoundRectCallout">
              <a:avLst>
                <a:gd name="adj1" fmla="val -37525"/>
                <a:gd name="adj2" fmla="val 89771"/>
                <a:gd name="adj3" fmla="val 16667"/>
              </a:avLst>
            </a:prstGeom>
            <a:solidFill>
              <a:schemeClr val="accent1">
                <a:lumMod val="40000"/>
                <a:lumOff val="60000"/>
              </a:schemeClr>
            </a:soli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1" name="文本框 10"/>
            <p:cNvSpPr txBox="1"/>
            <p:nvPr/>
          </p:nvSpPr>
          <p:spPr>
            <a:xfrm>
              <a:off x="2465" y="672"/>
              <a:ext cx="4201" cy="133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黑体" panose="02010609060101010101" charset="-122"/>
                  <a:ea typeface="黑体" panose="02010609060101010101" charset="-122"/>
                  <a:cs typeface="+mn-cs"/>
                </a:rPr>
                <a:t>更深层次的问题？</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黑体" panose="02010609060101010101" charset="-122"/>
                  <a:ea typeface="黑体" panose="02010609060101010101" charset="-122"/>
                  <a:cs typeface="+mn-cs"/>
                </a:rPr>
                <a:t>从什么角度发现隐式？</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黑体" panose="02010609060101010101" charset="-122"/>
                  <a:ea typeface="黑体" panose="02010609060101010101" charset="-122"/>
                  <a:cs typeface="+mn-cs"/>
                </a:rPr>
                <a:t>获取内容正确吗？</a:t>
              </a:r>
            </a:p>
          </p:txBody>
        </p:sp>
      </p:grpSp>
      <p:grpSp>
        <p:nvGrpSpPr>
          <p:cNvPr id="13" name="组合 12"/>
          <p:cNvGrpSpPr/>
          <p:nvPr/>
        </p:nvGrpSpPr>
        <p:grpSpPr>
          <a:xfrm>
            <a:off x="5907405" y="412115"/>
            <a:ext cx="2465705" cy="829945"/>
            <a:chOff x="2751" y="649"/>
            <a:chExt cx="3883" cy="1307"/>
          </a:xfrm>
        </p:grpSpPr>
        <p:sp>
          <p:nvSpPr>
            <p:cNvPr id="14" name="圆角矩形标注 13"/>
            <p:cNvSpPr/>
            <p:nvPr/>
          </p:nvSpPr>
          <p:spPr>
            <a:xfrm flipH="1">
              <a:off x="2751" y="649"/>
              <a:ext cx="3548" cy="1283"/>
            </a:xfrm>
            <a:prstGeom prst="wedgeRoundRectCallout">
              <a:avLst>
                <a:gd name="adj1" fmla="val -37525"/>
                <a:gd name="adj2" fmla="val 89771"/>
                <a:gd name="adj3" fmla="val 16667"/>
              </a:avLst>
            </a:prstGeom>
            <a:solidFill>
              <a:schemeClr val="accent1">
                <a:lumMod val="40000"/>
                <a:lumOff val="60000"/>
              </a:schemeClr>
            </a:soli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5" name="文本框 14"/>
            <p:cNvSpPr txBox="1"/>
            <p:nvPr/>
          </p:nvSpPr>
          <p:spPr>
            <a:xfrm>
              <a:off x="2751" y="649"/>
              <a:ext cx="3883" cy="130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黑体" panose="02010609060101010101" charset="-122"/>
                  <a:ea typeface="黑体" panose="02010609060101010101" charset="-122"/>
                  <a:cs typeface="+mn-cs"/>
                </a:rPr>
                <a:t>如何理解需求？需求间的关系？</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a:ln>
                    <a:noFill/>
                  </a:ln>
                  <a:solidFill>
                    <a:prstClr val="black"/>
                  </a:solidFill>
                  <a:effectLst/>
                  <a:uLnTx/>
                  <a:uFillTx/>
                  <a:latin typeface="黑体" panose="02010609060101010101" charset="-122"/>
                  <a:ea typeface="黑体" panose="02010609060101010101" charset="-122"/>
                  <a:cs typeface="+mn-cs"/>
                </a:rPr>
                <a:t>如何解释需求的可</a:t>
              </a:r>
            </a:p>
          </p:txBody>
        </p:sp>
      </p:grpSp>
      <p:grpSp>
        <p:nvGrpSpPr>
          <p:cNvPr id="16" name="组合 15"/>
          <p:cNvGrpSpPr/>
          <p:nvPr/>
        </p:nvGrpSpPr>
        <p:grpSpPr>
          <a:xfrm>
            <a:off x="7911465" y="396875"/>
            <a:ext cx="2607310" cy="829945"/>
            <a:chOff x="2751" y="649"/>
            <a:chExt cx="4106" cy="1307"/>
          </a:xfrm>
        </p:grpSpPr>
        <p:sp>
          <p:nvSpPr>
            <p:cNvPr id="17" name="圆角矩形标注 16"/>
            <p:cNvSpPr/>
            <p:nvPr/>
          </p:nvSpPr>
          <p:spPr>
            <a:xfrm flipH="1">
              <a:off x="2751" y="649"/>
              <a:ext cx="4105" cy="1283"/>
            </a:xfrm>
            <a:prstGeom prst="wedgeRoundRectCallout">
              <a:avLst>
                <a:gd name="adj1" fmla="val -37525"/>
                <a:gd name="adj2" fmla="val 89771"/>
                <a:gd name="adj3" fmla="val 16667"/>
              </a:avLst>
            </a:prstGeom>
            <a:solidFill>
              <a:schemeClr val="accent1">
                <a:lumMod val="40000"/>
                <a:lumOff val="60000"/>
              </a:schemeClr>
            </a:solidFill>
            <a:ln w="12700" cmpd="sng">
              <a:solidFill>
                <a:schemeClr val="accent1">
                  <a:shade val="50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18" name="文本框 17"/>
            <p:cNvSpPr txBox="1"/>
            <p:nvPr/>
          </p:nvSpPr>
          <p:spPr>
            <a:xfrm>
              <a:off x="2751" y="649"/>
              <a:ext cx="4106" cy="1307"/>
            </a:xfrm>
            <a:prstGeom prst="rect">
              <a:avLst/>
            </a:prstGeom>
            <a:noFill/>
          </p:spPr>
          <p:txBody>
            <a:bodyPr wrap="square" rtlCol="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rPr>
                <a:t>需求维护哪些追踪关系？</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rPr>
                <a:t>这些追踪关系和含义？</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600" b="0" i="0" u="none" strike="noStrike" kern="1200" cap="none" spc="0" normalizeH="0" baseline="0" noProof="0" dirty="0">
                  <a:ln>
                    <a:noFill/>
                  </a:ln>
                  <a:solidFill>
                    <a:prstClr val="black"/>
                  </a:solidFill>
                  <a:effectLst/>
                  <a:uLnTx/>
                  <a:uFillTx/>
                  <a:latin typeface="黑体" panose="02010609060101010101" charset="-122"/>
                  <a:ea typeface="黑体" panose="02010609060101010101" charset="-122"/>
                  <a:cs typeface="+mn-cs"/>
                </a:rPr>
                <a:t>变更管理的依据？</a:t>
              </a:r>
            </a:p>
          </p:txBody>
        </p:sp>
      </p:grpSp>
      <p:sp>
        <p:nvSpPr>
          <p:cNvPr id="19" name="矩形 18"/>
          <p:cNvSpPr/>
          <p:nvPr/>
        </p:nvSpPr>
        <p:spPr>
          <a:xfrm>
            <a:off x="1135118" y="1860331"/>
            <a:ext cx="1434661" cy="4970999"/>
          </a:xfrm>
          <a:prstGeom prst="rect">
            <a:avLst/>
          </a:prstGeom>
          <a:noFill/>
          <a:ln w="3492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0" name="矩形 19"/>
          <p:cNvSpPr/>
          <p:nvPr/>
        </p:nvSpPr>
        <p:spPr>
          <a:xfrm>
            <a:off x="2569778" y="1860331"/>
            <a:ext cx="2270235" cy="4970999"/>
          </a:xfrm>
          <a:prstGeom prst="rect">
            <a:avLst/>
          </a:prstGeom>
          <a:noFill/>
          <a:ln w="3492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1" name="矩形 20"/>
          <p:cNvSpPr/>
          <p:nvPr/>
        </p:nvSpPr>
        <p:spPr>
          <a:xfrm>
            <a:off x="4840012" y="1860331"/>
            <a:ext cx="2033753" cy="4970999"/>
          </a:xfrm>
          <a:prstGeom prst="rect">
            <a:avLst/>
          </a:prstGeom>
          <a:noFill/>
          <a:ln w="3492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2" name="矩形 21"/>
          <p:cNvSpPr/>
          <p:nvPr/>
        </p:nvSpPr>
        <p:spPr>
          <a:xfrm>
            <a:off x="6873764" y="1860331"/>
            <a:ext cx="2017987" cy="4970999"/>
          </a:xfrm>
          <a:prstGeom prst="rect">
            <a:avLst/>
          </a:prstGeom>
          <a:noFill/>
          <a:ln w="3492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3" name="矩形 22"/>
          <p:cNvSpPr/>
          <p:nvPr/>
        </p:nvSpPr>
        <p:spPr>
          <a:xfrm>
            <a:off x="8891751" y="1860331"/>
            <a:ext cx="1906423" cy="4970999"/>
          </a:xfrm>
          <a:prstGeom prst="rect">
            <a:avLst/>
          </a:prstGeom>
          <a:noFill/>
          <a:ln w="34925" cmpd="sng">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2" name="文本框 1"/>
          <p:cNvSpPr txBox="1"/>
          <p:nvPr/>
        </p:nvSpPr>
        <p:spPr>
          <a:xfrm>
            <a:off x="118239" y="115203"/>
            <a:ext cx="740980" cy="6740307"/>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4800" b="1" i="0" u="none" strike="noStrike" kern="1200" cap="none" spc="0" normalizeH="0" baseline="0" noProof="0" dirty="0" smtClean="0">
                <a:ln>
                  <a:noFill/>
                </a:ln>
                <a:solidFill>
                  <a:srgbClr val="00B050"/>
                </a:solidFill>
                <a:effectLst/>
                <a:uLnTx/>
                <a:uFillTx/>
                <a:latin typeface="等线" panose="020F0502020204030204"/>
                <a:ea typeface="等线" panose="02010600030101010101" pitchFamily="2" charset="-122"/>
                <a:cs typeface="+mn-cs"/>
              </a:rPr>
              <a:t>上下求索之需求工程</a:t>
            </a:r>
            <a:endParaRPr kumimoji="0" lang="zh-CN" altLang="en-US" sz="4800" b="1" i="0" u="none" strike="noStrike" kern="1200" cap="none" spc="0" normalizeH="0" baseline="0" noProof="0" dirty="0">
              <a:ln>
                <a:noFill/>
              </a:ln>
              <a:solidFill>
                <a:srgbClr val="00B050"/>
              </a:solidFill>
              <a:effectLst/>
              <a:uLnTx/>
              <a:uFillTx/>
              <a:latin typeface="等线" panose="020F0502020204030204"/>
              <a:ea typeface="等线" panose="02010600030101010101" pitchFamily="2" charset="-122"/>
              <a:cs typeface="+mn-cs"/>
            </a:endParaRPr>
          </a:p>
        </p:txBody>
      </p:sp>
      <p:sp>
        <p:nvSpPr>
          <p:cNvPr id="3" name="文本框 2"/>
          <p:cNvSpPr txBox="1"/>
          <p:nvPr/>
        </p:nvSpPr>
        <p:spPr>
          <a:xfrm>
            <a:off x="10798174" y="5883255"/>
            <a:ext cx="1393826" cy="92333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smtClean="0">
                <a:ln>
                  <a:noFill/>
                </a:ln>
                <a:solidFill>
                  <a:prstClr val="black"/>
                </a:solidFill>
                <a:effectLst/>
                <a:uLnTx/>
                <a:uFillTx/>
                <a:latin typeface="等线" panose="020F0502020204030204"/>
                <a:ea typeface="等线" panose="02010600030101010101" pitchFamily="2" charset="-122"/>
                <a:cs typeface="+mn-cs"/>
              </a:rPr>
              <a:t>此页图表修改自北大金芝老师报告</a:t>
            </a:r>
            <a:endParaRPr kumimoji="0" lang="zh-CN" altLang="en-US" sz="1800" b="0" i="0" u="none" strike="noStrike" kern="1200" cap="none" spc="0" normalizeH="0" baseline="0" noProof="0" dirty="0">
              <a:ln>
                <a:noFill/>
              </a:ln>
              <a:solidFill>
                <a:prstClr val="black"/>
              </a:solidFill>
              <a:effectLst/>
              <a:uLnTx/>
              <a:uFillTx/>
              <a:latin typeface="等线" panose="020F0502020204030204"/>
              <a:ea typeface="等线" panose="02010600030101010101" pitchFamily="2" charset="-122"/>
              <a:cs typeface="+mn-cs"/>
            </a:endParaRPr>
          </a:p>
        </p:txBody>
      </p:sp>
    </p:spTree>
    <p:custDataLst>
      <p:tags r:id="rId1"/>
    </p:custDataLst>
    <p:extLst>
      <p:ext uri="{BB962C8B-B14F-4D97-AF65-F5344CB8AC3E}">
        <p14:creationId xmlns:p14="http://schemas.microsoft.com/office/powerpoint/2010/main" val="4249337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wheel(1)">
                                      <p:cBhvr>
                                        <p:cTn id="7" dur="2000"/>
                                        <p:tgtEl>
                                          <p:spTgt spid="1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par>
                                <p:cTn id="13" presetID="22" presetClass="entr" presetSubtype="4" fill="hold" grpId="0" nodeType="with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down)">
                                      <p:cBhvr>
                                        <p:cTn id="15" dur="5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4" fill="hold"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500"/>
                                        <p:tgtEl>
                                          <p:spTgt spid="9"/>
                                        </p:tgtEl>
                                      </p:cBhvr>
                                    </p:animEffect>
                                  </p:childTnLst>
                                </p:cTn>
                              </p:par>
                              <p:par>
                                <p:cTn id="21" presetID="22" presetClass="entr" presetSubtype="4" fill="hold" grpId="0" nodeType="with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down)">
                                      <p:cBhvr>
                                        <p:cTn id="23" dur="500"/>
                                        <p:tgtEl>
                                          <p:spTgt spid="21"/>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3"/>
                                        </p:tgtEl>
                                        <p:attrNameLst>
                                          <p:attrName>style.visibility</p:attrName>
                                        </p:attrNameLst>
                                      </p:cBhvr>
                                      <p:to>
                                        <p:strVal val="visible"/>
                                      </p:to>
                                    </p:set>
                                    <p:anim calcmode="lin" valueType="num">
                                      <p:cBhvr additive="base">
                                        <p:cTn id="28" dur="500" fill="hold"/>
                                        <p:tgtEl>
                                          <p:spTgt spid="13"/>
                                        </p:tgtEl>
                                        <p:attrNameLst>
                                          <p:attrName>ppt_x</p:attrName>
                                        </p:attrNameLst>
                                      </p:cBhvr>
                                      <p:tavLst>
                                        <p:tav tm="0">
                                          <p:val>
                                            <p:strVal val="#ppt_x"/>
                                          </p:val>
                                        </p:tav>
                                        <p:tav tm="100000">
                                          <p:val>
                                            <p:strVal val="#ppt_x"/>
                                          </p:val>
                                        </p:tav>
                                      </p:tavLst>
                                    </p:anim>
                                    <p:anim calcmode="lin" valueType="num">
                                      <p:cBhvr additive="base">
                                        <p:cTn id="29" dur="500" fill="hold"/>
                                        <p:tgtEl>
                                          <p:spTgt spid="13"/>
                                        </p:tgtEl>
                                        <p:attrNameLst>
                                          <p:attrName>ppt_y</p:attrName>
                                        </p:attrNameLst>
                                      </p:cBhvr>
                                      <p:tavLst>
                                        <p:tav tm="0">
                                          <p:val>
                                            <p:strVal val="1+#ppt_h/2"/>
                                          </p:val>
                                        </p:tav>
                                        <p:tav tm="100000">
                                          <p:val>
                                            <p:strVal val="#ppt_y"/>
                                          </p:val>
                                        </p:tav>
                                      </p:tavLst>
                                    </p:anim>
                                  </p:childTnLst>
                                </p:cTn>
                              </p:par>
                              <p:par>
                                <p:cTn id="30" presetID="2" presetClass="entr" presetSubtype="4" fill="hold" grpId="0" nodeType="withEffect">
                                  <p:stCondLst>
                                    <p:cond delay="0"/>
                                  </p:stCondLst>
                                  <p:childTnLst>
                                    <p:set>
                                      <p:cBhvr>
                                        <p:cTn id="31" dur="1" fill="hold">
                                          <p:stCondLst>
                                            <p:cond delay="0"/>
                                          </p:stCondLst>
                                        </p:cTn>
                                        <p:tgtEl>
                                          <p:spTgt spid="22"/>
                                        </p:tgtEl>
                                        <p:attrNameLst>
                                          <p:attrName>style.visibility</p:attrName>
                                        </p:attrNameLst>
                                      </p:cBhvr>
                                      <p:to>
                                        <p:strVal val="visible"/>
                                      </p:to>
                                    </p:set>
                                    <p:anim calcmode="lin" valueType="num">
                                      <p:cBhvr additive="base">
                                        <p:cTn id="32" dur="500" fill="hold"/>
                                        <p:tgtEl>
                                          <p:spTgt spid="22"/>
                                        </p:tgtEl>
                                        <p:attrNameLst>
                                          <p:attrName>ppt_x</p:attrName>
                                        </p:attrNameLst>
                                      </p:cBhvr>
                                      <p:tavLst>
                                        <p:tav tm="0">
                                          <p:val>
                                            <p:strVal val="#ppt_x"/>
                                          </p:val>
                                        </p:tav>
                                        <p:tav tm="100000">
                                          <p:val>
                                            <p:strVal val="#ppt_x"/>
                                          </p:val>
                                        </p:tav>
                                      </p:tavLst>
                                    </p:anim>
                                    <p:anim calcmode="lin" valueType="num">
                                      <p:cBhvr additive="base">
                                        <p:cTn id="33"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1000"/>
                                        <p:tgtEl>
                                          <p:spTgt spid="16"/>
                                        </p:tgtEl>
                                      </p:cBhvr>
                                    </p:animEffect>
                                    <p:anim calcmode="lin" valueType="num">
                                      <p:cBhvr>
                                        <p:cTn id="39" dur="1000" fill="hold"/>
                                        <p:tgtEl>
                                          <p:spTgt spid="16"/>
                                        </p:tgtEl>
                                        <p:attrNameLst>
                                          <p:attrName>ppt_x</p:attrName>
                                        </p:attrNameLst>
                                      </p:cBhvr>
                                      <p:tavLst>
                                        <p:tav tm="0">
                                          <p:val>
                                            <p:strVal val="#ppt_x"/>
                                          </p:val>
                                        </p:tav>
                                        <p:tav tm="100000">
                                          <p:val>
                                            <p:strVal val="#ppt_x"/>
                                          </p:val>
                                        </p:tav>
                                      </p:tavLst>
                                    </p:anim>
                                    <p:anim calcmode="lin" valueType="num">
                                      <p:cBhvr>
                                        <p:cTn id="40" dur="1000" fill="hold"/>
                                        <p:tgtEl>
                                          <p:spTgt spid="16"/>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23"/>
                                        </p:tgtEl>
                                        <p:attrNameLst>
                                          <p:attrName>style.visibility</p:attrName>
                                        </p:attrNameLst>
                                      </p:cBhvr>
                                      <p:to>
                                        <p:strVal val="visible"/>
                                      </p:to>
                                    </p:set>
                                    <p:animEffect transition="in" filter="fade">
                                      <p:cBhvr>
                                        <p:cTn id="43" dur="1000"/>
                                        <p:tgtEl>
                                          <p:spTgt spid="23"/>
                                        </p:tgtEl>
                                      </p:cBhvr>
                                    </p:animEffect>
                                    <p:anim calcmode="lin" valueType="num">
                                      <p:cBhvr>
                                        <p:cTn id="44" dur="1000" fill="hold"/>
                                        <p:tgtEl>
                                          <p:spTgt spid="23"/>
                                        </p:tgtEl>
                                        <p:attrNameLst>
                                          <p:attrName>ppt_x</p:attrName>
                                        </p:attrNameLst>
                                      </p:cBhvr>
                                      <p:tavLst>
                                        <p:tav tm="0">
                                          <p:val>
                                            <p:strVal val="#ppt_x"/>
                                          </p:val>
                                        </p:tav>
                                        <p:tav tm="100000">
                                          <p:val>
                                            <p:strVal val="#ppt_x"/>
                                          </p:val>
                                        </p:tav>
                                      </p:tavLst>
                                    </p:anim>
                                    <p:anim calcmode="lin" valueType="num">
                                      <p:cBhvr>
                                        <p:cTn id="45"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animBg="1"/>
      <p:bldP spid="20" grpId="0" animBg="1"/>
      <p:bldP spid="21" grpId="0" animBg="1"/>
      <p:bldP spid="22" grpId="0" animBg="1"/>
      <p:bldP spid="23"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9" name="组合 28"/>
          <p:cNvGrpSpPr/>
          <p:nvPr/>
        </p:nvGrpSpPr>
        <p:grpSpPr>
          <a:xfrm>
            <a:off x="4172025" y="2242873"/>
            <a:ext cx="3278938" cy="2862919"/>
            <a:chOff x="4017280" y="2492386"/>
            <a:chExt cx="3278938" cy="2862919"/>
          </a:xfrm>
        </p:grpSpPr>
        <p:grpSp>
          <p:nvGrpSpPr>
            <p:cNvPr id="8" name="组合 7"/>
            <p:cNvGrpSpPr/>
            <p:nvPr/>
          </p:nvGrpSpPr>
          <p:grpSpPr>
            <a:xfrm>
              <a:off x="6590836" y="2492386"/>
              <a:ext cx="705382" cy="705382"/>
              <a:chOff x="3272949" y="3722523"/>
              <a:chExt cx="813408" cy="877328"/>
            </a:xfrm>
          </p:grpSpPr>
          <p:sp>
            <p:nvSpPr>
              <p:cNvPr id="26" name="椭圆 25"/>
              <p:cNvSpPr/>
              <p:nvPr/>
            </p:nvSpPr>
            <p:spPr>
              <a:xfrm>
                <a:off x="3272949" y="3722523"/>
                <a:ext cx="813408" cy="877328"/>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635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7" name="椭圆 26"/>
              <p:cNvSpPr/>
              <p:nvPr/>
            </p:nvSpPr>
            <p:spPr>
              <a:xfrm>
                <a:off x="3286069" y="3736674"/>
                <a:ext cx="787168" cy="849026"/>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17" name="组合 16"/>
            <p:cNvGrpSpPr/>
            <p:nvPr/>
          </p:nvGrpSpPr>
          <p:grpSpPr>
            <a:xfrm>
              <a:off x="4726325" y="2492387"/>
              <a:ext cx="2190211" cy="2190212"/>
              <a:chOff x="1488310" y="1579494"/>
              <a:chExt cx="1414094" cy="1414094"/>
            </a:xfrm>
          </p:grpSpPr>
          <p:grpSp>
            <p:nvGrpSpPr>
              <p:cNvPr id="22" name="组合 21"/>
              <p:cNvGrpSpPr/>
              <p:nvPr/>
            </p:nvGrpSpPr>
            <p:grpSpPr>
              <a:xfrm>
                <a:off x="1488310" y="1579494"/>
                <a:ext cx="1414094" cy="1414094"/>
                <a:chOff x="3176812" y="2273198"/>
                <a:chExt cx="2641825" cy="2726239"/>
              </a:xfrm>
            </p:grpSpPr>
            <p:sp>
              <p:nvSpPr>
                <p:cNvPr id="24" name="椭圆 23"/>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sp>
              <p:nvSpPr>
                <p:cNvPr id="25" name="椭圆 24"/>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grpSp>
          <p:sp>
            <p:nvSpPr>
              <p:cNvPr id="23" name="文本框 22"/>
              <p:cNvSpPr txBox="1"/>
              <p:nvPr/>
            </p:nvSpPr>
            <p:spPr>
              <a:xfrm>
                <a:off x="1957492" y="1840234"/>
                <a:ext cx="475730" cy="1013439"/>
              </a:xfrm>
              <a:prstGeom prst="rect">
                <a:avLst/>
              </a:prstGeom>
              <a:noFill/>
            </p:spPr>
            <p:txBody>
              <a:bodyPr wrap="square" rtlCol="0">
                <a:spAutoFit/>
              </a:bodyPr>
              <a:lstStyle/>
              <a:p>
                <a:pPr algn="ctr"/>
                <a:endParaRPr lang="zh-CN" altLang="en-US" sz="96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grpSp>
          <p:nvGrpSpPr>
            <p:cNvPr id="18" name="组合 17"/>
            <p:cNvGrpSpPr/>
            <p:nvPr/>
          </p:nvGrpSpPr>
          <p:grpSpPr>
            <a:xfrm>
              <a:off x="4017280" y="4162697"/>
              <a:ext cx="1192608" cy="1192608"/>
              <a:chOff x="3272949" y="3722523"/>
              <a:chExt cx="813408" cy="877328"/>
            </a:xfrm>
          </p:grpSpPr>
          <p:sp>
            <p:nvSpPr>
              <p:cNvPr id="20" name="椭圆 19"/>
              <p:cNvSpPr/>
              <p:nvPr/>
            </p:nvSpPr>
            <p:spPr>
              <a:xfrm>
                <a:off x="3272949" y="3722523"/>
                <a:ext cx="813408" cy="877328"/>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635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椭圆 20"/>
              <p:cNvSpPr/>
              <p:nvPr/>
            </p:nvSpPr>
            <p:spPr>
              <a:xfrm>
                <a:off x="3286069" y="3736674"/>
                <a:ext cx="787168" cy="849026"/>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28" name="Freeform 96"/>
            <p:cNvSpPr>
              <a:spLocks noEditPoints="1"/>
            </p:cNvSpPr>
            <p:nvPr/>
          </p:nvSpPr>
          <p:spPr bwMode="auto">
            <a:xfrm>
              <a:off x="4169940" y="4318768"/>
              <a:ext cx="887286" cy="880463"/>
            </a:xfrm>
            <a:custGeom>
              <a:avLst/>
              <a:gdLst>
                <a:gd name="T0" fmla="*/ 225 w 258"/>
                <a:gd name="T1" fmla="*/ 129 h 259"/>
                <a:gd name="T2" fmla="*/ 223 w 258"/>
                <a:gd name="T3" fmla="*/ 122 h 259"/>
                <a:gd name="T4" fmla="*/ 251 w 258"/>
                <a:gd name="T5" fmla="*/ 122 h 259"/>
                <a:gd name="T6" fmla="*/ 251 w 258"/>
                <a:gd name="T7" fmla="*/ 135 h 259"/>
                <a:gd name="T8" fmla="*/ 214 w 258"/>
                <a:gd name="T9" fmla="*/ 87 h 259"/>
                <a:gd name="T10" fmla="*/ 212 w 258"/>
                <a:gd name="T11" fmla="*/ 70 h 259"/>
                <a:gd name="T12" fmla="*/ 239 w 258"/>
                <a:gd name="T13" fmla="*/ 65 h 259"/>
                <a:gd name="T14" fmla="*/ 227 w 258"/>
                <a:gd name="T15" fmla="*/ 83 h 259"/>
                <a:gd name="T16" fmla="*/ 231 w 258"/>
                <a:gd name="T17" fmla="*/ 145 h 259"/>
                <a:gd name="T18" fmla="*/ 239 w 258"/>
                <a:gd name="T19" fmla="*/ 165 h 259"/>
                <a:gd name="T20" fmla="*/ 253 w 258"/>
                <a:gd name="T21" fmla="*/ 170 h 259"/>
                <a:gd name="T22" fmla="*/ 247 w 258"/>
                <a:gd name="T23" fmla="*/ 201 h 259"/>
                <a:gd name="T24" fmla="*/ 110 w 258"/>
                <a:gd name="T25" fmla="*/ 201 h 259"/>
                <a:gd name="T26" fmla="*/ 91 w 258"/>
                <a:gd name="T27" fmla="*/ 181 h 259"/>
                <a:gd name="T28" fmla="*/ 97 w 258"/>
                <a:gd name="T29" fmla="*/ 157 h 259"/>
                <a:gd name="T30" fmla="*/ 114 w 258"/>
                <a:gd name="T31" fmla="*/ 148 h 259"/>
                <a:gd name="T32" fmla="*/ 127 w 258"/>
                <a:gd name="T33" fmla="*/ 135 h 259"/>
                <a:gd name="T34" fmla="*/ 143 w 258"/>
                <a:gd name="T35" fmla="*/ 110 h 259"/>
                <a:gd name="T36" fmla="*/ 179 w 258"/>
                <a:gd name="T37" fmla="*/ 101 h 259"/>
                <a:gd name="T38" fmla="*/ 209 w 258"/>
                <a:gd name="T39" fmla="*/ 130 h 259"/>
                <a:gd name="T40" fmla="*/ 121 w 258"/>
                <a:gd name="T41" fmla="*/ 125 h 259"/>
                <a:gd name="T42" fmla="*/ 97 w 258"/>
                <a:gd name="T43" fmla="*/ 142 h 259"/>
                <a:gd name="T44" fmla="*/ 80 w 258"/>
                <a:gd name="T45" fmla="*/ 149 h 259"/>
                <a:gd name="T46" fmla="*/ 66 w 258"/>
                <a:gd name="T47" fmla="*/ 174 h 259"/>
                <a:gd name="T48" fmla="*/ 53 w 258"/>
                <a:gd name="T49" fmla="*/ 121 h 259"/>
                <a:gd name="T50" fmla="*/ 100 w 258"/>
                <a:gd name="T51" fmla="*/ 57 h 259"/>
                <a:gd name="T52" fmla="*/ 152 w 258"/>
                <a:gd name="T53" fmla="*/ 53 h 259"/>
                <a:gd name="T54" fmla="*/ 197 w 258"/>
                <a:gd name="T55" fmla="*/ 88 h 259"/>
                <a:gd name="T56" fmla="*/ 170 w 258"/>
                <a:gd name="T57" fmla="*/ 80 h 259"/>
                <a:gd name="T58" fmla="*/ 124 w 258"/>
                <a:gd name="T59" fmla="*/ 108 h 259"/>
                <a:gd name="T60" fmla="*/ 170 w 258"/>
                <a:gd name="T61" fmla="*/ 48 h 259"/>
                <a:gd name="T62" fmla="*/ 183 w 258"/>
                <a:gd name="T63" fmla="*/ 18 h 259"/>
                <a:gd name="T64" fmla="*/ 195 w 258"/>
                <a:gd name="T65" fmla="*/ 32 h 259"/>
                <a:gd name="T66" fmla="*/ 173 w 258"/>
                <a:gd name="T67" fmla="*/ 51 h 259"/>
                <a:gd name="T68" fmla="*/ 119 w 258"/>
                <a:gd name="T69" fmla="*/ 27 h 259"/>
                <a:gd name="T70" fmla="*/ 128 w 258"/>
                <a:gd name="T71" fmla="*/ 0 h 259"/>
                <a:gd name="T72" fmla="*/ 139 w 258"/>
                <a:gd name="T73" fmla="*/ 19 h 259"/>
                <a:gd name="T74" fmla="*/ 83 w 258"/>
                <a:gd name="T75" fmla="*/ 51 h 259"/>
                <a:gd name="T76" fmla="*/ 65 w 258"/>
                <a:gd name="T77" fmla="*/ 39 h 259"/>
                <a:gd name="T78" fmla="*/ 69 w 258"/>
                <a:gd name="T79" fmla="*/ 17 h 259"/>
                <a:gd name="T80" fmla="*/ 87 w 258"/>
                <a:gd name="T81" fmla="*/ 43 h 259"/>
                <a:gd name="T82" fmla="*/ 32 w 258"/>
                <a:gd name="T83" fmla="*/ 195 h 259"/>
                <a:gd name="T84" fmla="*/ 18 w 258"/>
                <a:gd name="T85" fmla="*/ 184 h 259"/>
                <a:gd name="T86" fmla="*/ 46 w 258"/>
                <a:gd name="T87" fmla="*/ 171 h 259"/>
                <a:gd name="T88" fmla="*/ 39 w 258"/>
                <a:gd name="T89" fmla="*/ 192 h 259"/>
                <a:gd name="T90" fmla="*/ 17 w 258"/>
                <a:gd name="T91" fmla="*/ 69 h 259"/>
                <a:gd name="T92" fmla="*/ 39 w 258"/>
                <a:gd name="T93" fmla="*/ 65 h 259"/>
                <a:gd name="T94" fmla="*/ 50 w 258"/>
                <a:gd name="T95" fmla="*/ 83 h 259"/>
                <a:gd name="T96" fmla="*/ 39 w 258"/>
                <a:gd name="T97" fmla="*/ 129 h 259"/>
                <a:gd name="T98" fmla="*/ 19 w 258"/>
                <a:gd name="T99" fmla="*/ 139 h 259"/>
                <a:gd name="T100" fmla="*/ 1 w 258"/>
                <a:gd name="T101" fmla="*/ 125 h 259"/>
                <a:gd name="T102" fmla="*/ 32 w 258"/>
                <a:gd name="T103" fmla="*/ 122 h 259"/>
                <a:gd name="T104" fmla="*/ 126 w 258"/>
                <a:gd name="T105" fmla="*/ 223 h 259"/>
                <a:gd name="T106" fmla="*/ 111 w 258"/>
                <a:gd name="T107" fmla="*/ 247 h 259"/>
                <a:gd name="T108" fmla="*/ 102 w 258"/>
                <a:gd name="T109" fmla="*/ 229 h 259"/>
                <a:gd name="T110" fmla="*/ 182 w 258"/>
                <a:gd name="T111" fmla="*/ 222 h 259"/>
                <a:gd name="T112" fmla="*/ 175 w 258"/>
                <a:gd name="T113" fmla="*/ 256 h 259"/>
                <a:gd name="T114" fmla="*/ 156 w 258"/>
                <a:gd name="T115" fmla="*/ 249 h 259"/>
                <a:gd name="T116" fmla="*/ 182 w 258"/>
                <a:gd name="T117" fmla="*/ 222 h 259"/>
                <a:gd name="T118" fmla="*/ 234 w 258"/>
                <a:gd name="T119" fmla="*/ 240 h 259"/>
                <a:gd name="T120" fmla="*/ 217 w 258"/>
                <a:gd name="T121" fmla="*/ 246 h 259"/>
                <a:gd name="T122" fmla="*/ 217 w 258"/>
                <a:gd name="T123" fmla="*/ 22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8" h="259">
                  <a:moveTo>
                    <a:pt x="247" y="138"/>
                  </a:moveTo>
                  <a:lnTo>
                    <a:pt x="247" y="138"/>
                  </a:lnTo>
                  <a:lnTo>
                    <a:pt x="243" y="134"/>
                  </a:lnTo>
                  <a:lnTo>
                    <a:pt x="238" y="131"/>
                  </a:lnTo>
                  <a:lnTo>
                    <a:pt x="231" y="129"/>
                  </a:lnTo>
                  <a:lnTo>
                    <a:pt x="225" y="129"/>
                  </a:lnTo>
                  <a:lnTo>
                    <a:pt x="225" y="129"/>
                  </a:lnTo>
                  <a:lnTo>
                    <a:pt x="221" y="129"/>
                  </a:lnTo>
                  <a:lnTo>
                    <a:pt x="221" y="129"/>
                  </a:lnTo>
                  <a:lnTo>
                    <a:pt x="221" y="125"/>
                  </a:lnTo>
                  <a:lnTo>
                    <a:pt x="221" y="125"/>
                  </a:lnTo>
                  <a:lnTo>
                    <a:pt x="223" y="122"/>
                  </a:lnTo>
                  <a:lnTo>
                    <a:pt x="227" y="121"/>
                  </a:lnTo>
                  <a:lnTo>
                    <a:pt x="232" y="119"/>
                  </a:lnTo>
                  <a:lnTo>
                    <a:pt x="238" y="118"/>
                  </a:lnTo>
                  <a:lnTo>
                    <a:pt x="238" y="118"/>
                  </a:lnTo>
                  <a:lnTo>
                    <a:pt x="245" y="119"/>
                  </a:lnTo>
                  <a:lnTo>
                    <a:pt x="251" y="122"/>
                  </a:lnTo>
                  <a:lnTo>
                    <a:pt x="256" y="125"/>
                  </a:lnTo>
                  <a:lnTo>
                    <a:pt x="257" y="129"/>
                  </a:lnTo>
                  <a:lnTo>
                    <a:pt x="257" y="129"/>
                  </a:lnTo>
                  <a:lnTo>
                    <a:pt x="256" y="131"/>
                  </a:lnTo>
                  <a:lnTo>
                    <a:pt x="254" y="134"/>
                  </a:lnTo>
                  <a:lnTo>
                    <a:pt x="251" y="135"/>
                  </a:lnTo>
                  <a:lnTo>
                    <a:pt x="247" y="138"/>
                  </a:lnTo>
                  <a:lnTo>
                    <a:pt x="247" y="138"/>
                  </a:lnTo>
                  <a:close/>
                  <a:moveTo>
                    <a:pt x="227" y="83"/>
                  </a:moveTo>
                  <a:lnTo>
                    <a:pt x="227" y="83"/>
                  </a:lnTo>
                  <a:lnTo>
                    <a:pt x="221" y="86"/>
                  </a:lnTo>
                  <a:lnTo>
                    <a:pt x="214" y="87"/>
                  </a:lnTo>
                  <a:lnTo>
                    <a:pt x="209" y="86"/>
                  </a:lnTo>
                  <a:lnTo>
                    <a:pt x="206" y="83"/>
                  </a:lnTo>
                  <a:lnTo>
                    <a:pt x="206" y="83"/>
                  </a:lnTo>
                  <a:lnTo>
                    <a:pt x="205" y="79"/>
                  </a:lnTo>
                  <a:lnTo>
                    <a:pt x="208" y="75"/>
                  </a:lnTo>
                  <a:lnTo>
                    <a:pt x="212" y="70"/>
                  </a:lnTo>
                  <a:lnTo>
                    <a:pt x="218" y="65"/>
                  </a:lnTo>
                  <a:lnTo>
                    <a:pt x="218" y="65"/>
                  </a:lnTo>
                  <a:lnTo>
                    <a:pt x="225" y="62"/>
                  </a:lnTo>
                  <a:lnTo>
                    <a:pt x="231" y="61"/>
                  </a:lnTo>
                  <a:lnTo>
                    <a:pt x="236" y="62"/>
                  </a:lnTo>
                  <a:lnTo>
                    <a:pt x="239" y="65"/>
                  </a:lnTo>
                  <a:lnTo>
                    <a:pt x="239" y="65"/>
                  </a:lnTo>
                  <a:lnTo>
                    <a:pt x="240" y="69"/>
                  </a:lnTo>
                  <a:lnTo>
                    <a:pt x="238" y="74"/>
                  </a:lnTo>
                  <a:lnTo>
                    <a:pt x="234" y="78"/>
                  </a:lnTo>
                  <a:lnTo>
                    <a:pt x="227" y="83"/>
                  </a:lnTo>
                  <a:lnTo>
                    <a:pt x="227" y="83"/>
                  </a:lnTo>
                  <a:close/>
                  <a:moveTo>
                    <a:pt x="213" y="138"/>
                  </a:moveTo>
                  <a:lnTo>
                    <a:pt x="213" y="138"/>
                  </a:lnTo>
                  <a:lnTo>
                    <a:pt x="218" y="138"/>
                  </a:lnTo>
                  <a:lnTo>
                    <a:pt x="223" y="140"/>
                  </a:lnTo>
                  <a:lnTo>
                    <a:pt x="227" y="142"/>
                  </a:lnTo>
                  <a:lnTo>
                    <a:pt x="231" y="145"/>
                  </a:lnTo>
                  <a:lnTo>
                    <a:pt x="235" y="149"/>
                  </a:lnTo>
                  <a:lnTo>
                    <a:pt x="238" y="153"/>
                  </a:lnTo>
                  <a:lnTo>
                    <a:pt x="239" y="158"/>
                  </a:lnTo>
                  <a:lnTo>
                    <a:pt x="239" y="164"/>
                  </a:lnTo>
                  <a:lnTo>
                    <a:pt x="239" y="164"/>
                  </a:lnTo>
                  <a:lnTo>
                    <a:pt x="239" y="165"/>
                  </a:lnTo>
                  <a:lnTo>
                    <a:pt x="239" y="165"/>
                  </a:lnTo>
                  <a:lnTo>
                    <a:pt x="240" y="165"/>
                  </a:lnTo>
                  <a:lnTo>
                    <a:pt x="240" y="165"/>
                  </a:lnTo>
                  <a:lnTo>
                    <a:pt x="244" y="165"/>
                  </a:lnTo>
                  <a:lnTo>
                    <a:pt x="247" y="166"/>
                  </a:lnTo>
                  <a:lnTo>
                    <a:pt x="253" y="170"/>
                  </a:lnTo>
                  <a:lnTo>
                    <a:pt x="257" y="177"/>
                  </a:lnTo>
                  <a:lnTo>
                    <a:pt x="258" y="183"/>
                  </a:lnTo>
                  <a:lnTo>
                    <a:pt x="258" y="183"/>
                  </a:lnTo>
                  <a:lnTo>
                    <a:pt x="257" y="191"/>
                  </a:lnTo>
                  <a:lnTo>
                    <a:pt x="253" y="196"/>
                  </a:lnTo>
                  <a:lnTo>
                    <a:pt x="247" y="201"/>
                  </a:lnTo>
                  <a:lnTo>
                    <a:pt x="244" y="201"/>
                  </a:lnTo>
                  <a:lnTo>
                    <a:pt x="240" y="203"/>
                  </a:lnTo>
                  <a:lnTo>
                    <a:pt x="240" y="203"/>
                  </a:lnTo>
                  <a:lnTo>
                    <a:pt x="115" y="203"/>
                  </a:lnTo>
                  <a:lnTo>
                    <a:pt x="115" y="203"/>
                  </a:lnTo>
                  <a:lnTo>
                    <a:pt x="110" y="201"/>
                  </a:lnTo>
                  <a:lnTo>
                    <a:pt x="106" y="200"/>
                  </a:lnTo>
                  <a:lnTo>
                    <a:pt x="101" y="197"/>
                  </a:lnTo>
                  <a:lnTo>
                    <a:pt x="97" y="194"/>
                  </a:lnTo>
                  <a:lnTo>
                    <a:pt x="95" y="190"/>
                  </a:lnTo>
                  <a:lnTo>
                    <a:pt x="92" y="184"/>
                  </a:lnTo>
                  <a:lnTo>
                    <a:pt x="91" y="181"/>
                  </a:lnTo>
                  <a:lnTo>
                    <a:pt x="89" y="174"/>
                  </a:lnTo>
                  <a:lnTo>
                    <a:pt x="89" y="174"/>
                  </a:lnTo>
                  <a:lnTo>
                    <a:pt x="91" y="170"/>
                  </a:lnTo>
                  <a:lnTo>
                    <a:pt x="92" y="165"/>
                  </a:lnTo>
                  <a:lnTo>
                    <a:pt x="95" y="161"/>
                  </a:lnTo>
                  <a:lnTo>
                    <a:pt x="97" y="157"/>
                  </a:lnTo>
                  <a:lnTo>
                    <a:pt x="101" y="153"/>
                  </a:lnTo>
                  <a:lnTo>
                    <a:pt x="105" y="152"/>
                  </a:lnTo>
                  <a:lnTo>
                    <a:pt x="109" y="149"/>
                  </a:lnTo>
                  <a:lnTo>
                    <a:pt x="114" y="149"/>
                  </a:lnTo>
                  <a:lnTo>
                    <a:pt x="114" y="149"/>
                  </a:lnTo>
                  <a:lnTo>
                    <a:pt x="114" y="148"/>
                  </a:lnTo>
                  <a:lnTo>
                    <a:pt x="114" y="148"/>
                  </a:lnTo>
                  <a:lnTo>
                    <a:pt x="115" y="143"/>
                  </a:lnTo>
                  <a:lnTo>
                    <a:pt x="117" y="140"/>
                  </a:lnTo>
                  <a:lnTo>
                    <a:pt x="119" y="138"/>
                  </a:lnTo>
                  <a:lnTo>
                    <a:pt x="122" y="136"/>
                  </a:lnTo>
                  <a:lnTo>
                    <a:pt x="127" y="135"/>
                  </a:lnTo>
                  <a:lnTo>
                    <a:pt x="132" y="135"/>
                  </a:lnTo>
                  <a:lnTo>
                    <a:pt x="132" y="135"/>
                  </a:lnTo>
                  <a:lnTo>
                    <a:pt x="134" y="127"/>
                  </a:lnTo>
                  <a:lnTo>
                    <a:pt x="136" y="121"/>
                  </a:lnTo>
                  <a:lnTo>
                    <a:pt x="139" y="116"/>
                  </a:lnTo>
                  <a:lnTo>
                    <a:pt x="143" y="110"/>
                  </a:lnTo>
                  <a:lnTo>
                    <a:pt x="148" y="106"/>
                  </a:lnTo>
                  <a:lnTo>
                    <a:pt x="154" y="103"/>
                  </a:lnTo>
                  <a:lnTo>
                    <a:pt x="162" y="101"/>
                  </a:lnTo>
                  <a:lnTo>
                    <a:pt x="171" y="100"/>
                  </a:lnTo>
                  <a:lnTo>
                    <a:pt x="171" y="100"/>
                  </a:lnTo>
                  <a:lnTo>
                    <a:pt x="179" y="101"/>
                  </a:lnTo>
                  <a:lnTo>
                    <a:pt x="186" y="103"/>
                  </a:lnTo>
                  <a:lnTo>
                    <a:pt x="192" y="106"/>
                  </a:lnTo>
                  <a:lnTo>
                    <a:pt x="199" y="112"/>
                  </a:lnTo>
                  <a:lnTo>
                    <a:pt x="202" y="117"/>
                  </a:lnTo>
                  <a:lnTo>
                    <a:pt x="206" y="123"/>
                  </a:lnTo>
                  <a:lnTo>
                    <a:pt x="209" y="130"/>
                  </a:lnTo>
                  <a:lnTo>
                    <a:pt x="210" y="138"/>
                  </a:lnTo>
                  <a:lnTo>
                    <a:pt x="210" y="138"/>
                  </a:lnTo>
                  <a:lnTo>
                    <a:pt x="213" y="138"/>
                  </a:lnTo>
                  <a:lnTo>
                    <a:pt x="213" y="138"/>
                  </a:lnTo>
                  <a:close/>
                  <a:moveTo>
                    <a:pt x="121" y="125"/>
                  </a:moveTo>
                  <a:lnTo>
                    <a:pt x="121" y="125"/>
                  </a:lnTo>
                  <a:lnTo>
                    <a:pt x="114" y="126"/>
                  </a:lnTo>
                  <a:lnTo>
                    <a:pt x="106" y="127"/>
                  </a:lnTo>
                  <a:lnTo>
                    <a:pt x="104" y="129"/>
                  </a:lnTo>
                  <a:lnTo>
                    <a:pt x="100" y="131"/>
                  </a:lnTo>
                  <a:lnTo>
                    <a:pt x="98" y="136"/>
                  </a:lnTo>
                  <a:lnTo>
                    <a:pt x="97" y="142"/>
                  </a:lnTo>
                  <a:lnTo>
                    <a:pt x="97" y="142"/>
                  </a:lnTo>
                  <a:lnTo>
                    <a:pt x="97" y="143"/>
                  </a:lnTo>
                  <a:lnTo>
                    <a:pt x="97" y="143"/>
                  </a:lnTo>
                  <a:lnTo>
                    <a:pt x="91" y="144"/>
                  </a:lnTo>
                  <a:lnTo>
                    <a:pt x="85" y="145"/>
                  </a:lnTo>
                  <a:lnTo>
                    <a:pt x="80" y="149"/>
                  </a:lnTo>
                  <a:lnTo>
                    <a:pt x="75" y="153"/>
                  </a:lnTo>
                  <a:lnTo>
                    <a:pt x="71" y="157"/>
                  </a:lnTo>
                  <a:lnTo>
                    <a:pt x="69" y="162"/>
                  </a:lnTo>
                  <a:lnTo>
                    <a:pt x="67" y="168"/>
                  </a:lnTo>
                  <a:lnTo>
                    <a:pt x="66" y="174"/>
                  </a:lnTo>
                  <a:lnTo>
                    <a:pt x="66" y="174"/>
                  </a:lnTo>
                  <a:lnTo>
                    <a:pt x="59" y="164"/>
                  </a:lnTo>
                  <a:lnTo>
                    <a:pt x="56" y="153"/>
                  </a:lnTo>
                  <a:lnTo>
                    <a:pt x="53" y="142"/>
                  </a:lnTo>
                  <a:lnTo>
                    <a:pt x="52" y="130"/>
                  </a:lnTo>
                  <a:lnTo>
                    <a:pt x="52" y="130"/>
                  </a:lnTo>
                  <a:lnTo>
                    <a:pt x="53" y="121"/>
                  </a:lnTo>
                  <a:lnTo>
                    <a:pt x="54" y="113"/>
                  </a:lnTo>
                  <a:lnTo>
                    <a:pt x="58" y="99"/>
                  </a:lnTo>
                  <a:lnTo>
                    <a:pt x="66" y="86"/>
                  </a:lnTo>
                  <a:lnTo>
                    <a:pt x="75" y="74"/>
                  </a:lnTo>
                  <a:lnTo>
                    <a:pt x="87" y="64"/>
                  </a:lnTo>
                  <a:lnTo>
                    <a:pt x="100" y="57"/>
                  </a:lnTo>
                  <a:lnTo>
                    <a:pt x="115" y="52"/>
                  </a:lnTo>
                  <a:lnTo>
                    <a:pt x="123" y="51"/>
                  </a:lnTo>
                  <a:lnTo>
                    <a:pt x="131" y="51"/>
                  </a:lnTo>
                  <a:lnTo>
                    <a:pt x="131" y="51"/>
                  </a:lnTo>
                  <a:lnTo>
                    <a:pt x="141" y="52"/>
                  </a:lnTo>
                  <a:lnTo>
                    <a:pt x="152" y="53"/>
                  </a:lnTo>
                  <a:lnTo>
                    <a:pt x="161" y="57"/>
                  </a:lnTo>
                  <a:lnTo>
                    <a:pt x="170" y="61"/>
                  </a:lnTo>
                  <a:lnTo>
                    <a:pt x="178" y="66"/>
                  </a:lnTo>
                  <a:lnTo>
                    <a:pt x="186" y="73"/>
                  </a:lnTo>
                  <a:lnTo>
                    <a:pt x="192" y="80"/>
                  </a:lnTo>
                  <a:lnTo>
                    <a:pt x="197" y="88"/>
                  </a:lnTo>
                  <a:lnTo>
                    <a:pt x="197" y="88"/>
                  </a:lnTo>
                  <a:lnTo>
                    <a:pt x="192" y="84"/>
                  </a:lnTo>
                  <a:lnTo>
                    <a:pt x="186" y="82"/>
                  </a:lnTo>
                  <a:lnTo>
                    <a:pt x="178" y="80"/>
                  </a:lnTo>
                  <a:lnTo>
                    <a:pt x="170" y="80"/>
                  </a:lnTo>
                  <a:lnTo>
                    <a:pt x="170" y="80"/>
                  </a:lnTo>
                  <a:lnTo>
                    <a:pt x="158" y="80"/>
                  </a:lnTo>
                  <a:lnTo>
                    <a:pt x="148" y="83"/>
                  </a:lnTo>
                  <a:lnTo>
                    <a:pt x="140" y="87"/>
                  </a:lnTo>
                  <a:lnTo>
                    <a:pt x="134" y="93"/>
                  </a:lnTo>
                  <a:lnTo>
                    <a:pt x="128" y="100"/>
                  </a:lnTo>
                  <a:lnTo>
                    <a:pt x="124" y="108"/>
                  </a:lnTo>
                  <a:lnTo>
                    <a:pt x="122" y="116"/>
                  </a:lnTo>
                  <a:lnTo>
                    <a:pt x="121" y="125"/>
                  </a:lnTo>
                  <a:lnTo>
                    <a:pt x="121" y="125"/>
                  </a:lnTo>
                  <a:close/>
                  <a:moveTo>
                    <a:pt x="173" y="51"/>
                  </a:moveTo>
                  <a:lnTo>
                    <a:pt x="173" y="51"/>
                  </a:lnTo>
                  <a:lnTo>
                    <a:pt x="170" y="48"/>
                  </a:lnTo>
                  <a:lnTo>
                    <a:pt x="170" y="43"/>
                  </a:lnTo>
                  <a:lnTo>
                    <a:pt x="171" y="36"/>
                  </a:lnTo>
                  <a:lnTo>
                    <a:pt x="174" y="28"/>
                  </a:lnTo>
                  <a:lnTo>
                    <a:pt x="174" y="28"/>
                  </a:lnTo>
                  <a:lnTo>
                    <a:pt x="179" y="23"/>
                  </a:lnTo>
                  <a:lnTo>
                    <a:pt x="183" y="18"/>
                  </a:lnTo>
                  <a:lnTo>
                    <a:pt x="188" y="17"/>
                  </a:lnTo>
                  <a:lnTo>
                    <a:pt x="192" y="17"/>
                  </a:lnTo>
                  <a:lnTo>
                    <a:pt x="192" y="17"/>
                  </a:lnTo>
                  <a:lnTo>
                    <a:pt x="195" y="21"/>
                  </a:lnTo>
                  <a:lnTo>
                    <a:pt x="196" y="26"/>
                  </a:lnTo>
                  <a:lnTo>
                    <a:pt x="195" y="32"/>
                  </a:lnTo>
                  <a:lnTo>
                    <a:pt x="192" y="39"/>
                  </a:lnTo>
                  <a:lnTo>
                    <a:pt x="192" y="39"/>
                  </a:lnTo>
                  <a:lnTo>
                    <a:pt x="187" y="45"/>
                  </a:lnTo>
                  <a:lnTo>
                    <a:pt x="182" y="49"/>
                  </a:lnTo>
                  <a:lnTo>
                    <a:pt x="178" y="52"/>
                  </a:lnTo>
                  <a:lnTo>
                    <a:pt x="173" y="51"/>
                  </a:lnTo>
                  <a:lnTo>
                    <a:pt x="173" y="51"/>
                  </a:lnTo>
                  <a:close/>
                  <a:moveTo>
                    <a:pt x="128" y="39"/>
                  </a:moveTo>
                  <a:lnTo>
                    <a:pt x="128" y="39"/>
                  </a:lnTo>
                  <a:lnTo>
                    <a:pt x="124" y="38"/>
                  </a:lnTo>
                  <a:lnTo>
                    <a:pt x="121" y="34"/>
                  </a:lnTo>
                  <a:lnTo>
                    <a:pt x="119" y="27"/>
                  </a:lnTo>
                  <a:lnTo>
                    <a:pt x="118" y="19"/>
                  </a:lnTo>
                  <a:lnTo>
                    <a:pt x="118" y="19"/>
                  </a:lnTo>
                  <a:lnTo>
                    <a:pt x="119" y="12"/>
                  </a:lnTo>
                  <a:lnTo>
                    <a:pt x="121" y="6"/>
                  </a:lnTo>
                  <a:lnTo>
                    <a:pt x="124" y="1"/>
                  </a:lnTo>
                  <a:lnTo>
                    <a:pt x="128" y="0"/>
                  </a:lnTo>
                  <a:lnTo>
                    <a:pt x="128" y="0"/>
                  </a:lnTo>
                  <a:lnTo>
                    <a:pt x="132" y="1"/>
                  </a:lnTo>
                  <a:lnTo>
                    <a:pt x="135" y="6"/>
                  </a:lnTo>
                  <a:lnTo>
                    <a:pt x="137" y="12"/>
                  </a:lnTo>
                  <a:lnTo>
                    <a:pt x="139" y="19"/>
                  </a:lnTo>
                  <a:lnTo>
                    <a:pt x="139" y="19"/>
                  </a:lnTo>
                  <a:lnTo>
                    <a:pt x="137" y="27"/>
                  </a:lnTo>
                  <a:lnTo>
                    <a:pt x="135" y="34"/>
                  </a:lnTo>
                  <a:lnTo>
                    <a:pt x="132" y="38"/>
                  </a:lnTo>
                  <a:lnTo>
                    <a:pt x="128" y="39"/>
                  </a:lnTo>
                  <a:lnTo>
                    <a:pt x="128" y="39"/>
                  </a:lnTo>
                  <a:close/>
                  <a:moveTo>
                    <a:pt x="83" y="51"/>
                  </a:moveTo>
                  <a:lnTo>
                    <a:pt x="83" y="51"/>
                  </a:lnTo>
                  <a:lnTo>
                    <a:pt x="79" y="52"/>
                  </a:lnTo>
                  <a:lnTo>
                    <a:pt x="74" y="49"/>
                  </a:lnTo>
                  <a:lnTo>
                    <a:pt x="70" y="45"/>
                  </a:lnTo>
                  <a:lnTo>
                    <a:pt x="65" y="39"/>
                  </a:lnTo>
                  <a:lnTo>
                    <a:pt x="65" y="39"/>
                  </a:lnTo>
                  <a:lnTo>
                    <a:pt x="62" y="32"/>
                  </a:lnTo>
                  <a:lnTo>
                    <a:pt x="61" y="26"/>
                  </a:lnTo>
                  <a:lnTo>
                    <a:pt x="61" y="21"/>
                  </a:lnTo>
                  <a:lnTo>
                    <a:pt x="63" y="17"/>
                  </a:lnTo>
                  <a:lnTo>
                    <a:pt x="63" y="17"/>
                  </a:lnTo>
                  <a:lnTo>
                    <a:pt x="69" y="17"/>
                  </a:lnTo>
                  <a:lnTo>
                    <a:pt x="72" y="18"/>
                  </a:lnTo>
                  <a:lnTo>
                    <a:pt x="78" y="23"/>
                  </a:lnTo>
                  <a:lnTo>
                    <a:pt x="83" y="28"/>
                  </a:lnTo>
                  <a:lnTo>
                    <a:pt x="83" y="28"/>
                  </a:lnTo>
                  <a:lnTo>
                    <a:pt x="85" y="36"/>
                  </a:lnTo>
                  <a:lnTo>
                    <a:pt x="87" y="43"/>
                  </a:lnTo>
                  <a:lnTo>
                    <a:pt x="85" y="48"/>
                  </a:lnTo>
                  <a:lnTo>
                    <a:pt x="83" y="51"/>
                  </a:lnTo>
                  <a:lnTo>
                    <a:pt x="83" y="51"/>
                  </a:lnTo>
                  <a:close/>
                  <a:moveTo>
                    <a:pt x="39" y="192"/>
                  </a:moveTo>
                  <a:lnTo>
                    <a:pt x="39" y="192"/>
                  </a:lnTo>
                  <a:lnTo>
                    <a:pt x="32" y="195"/>
                  </a:lnTo>
                  <a:lnTo>
                    <a:pt x="26" y="196"/>
                  </a:lnTo>
                  <a:lnTo>
                    <a:pt x="20" y="195"/>
                  </a:lnTo>
                  <a:lnTo>
                    <a:pt x="17" y="192"/>
                  </a:lnTo>
                  <a:lnTo>
                    <a:pt x="17" y="192"/>
                  </a:lnTo>
                  <a:lnTo>
                    <a:pt x="17" y="188"/>
                  </a:lnTo>
                  <a:lnTo>
                    <a:pt x="18" y="184"/>
                  </a:lnTo>
                  <a:lnTo>
                    <a:pt x="23" y="179"/>
                  </a:lnTo>
                  <a:lnTo>
                    <a:pt x="28" y="174"/>
                  </a:lnTo>
                  <a:lnTo>
                    <a:pt x="28" y="174"/>
                  </a:lnTo>
                  <a:lnTo>
                    <a:pt x="36" y="171"/>
                  </a:lnTo>
                  <a:lnTo>
                    <a:pt x="41" y="170"/>
                  </a:lnTo>
                  <a:lnTo>
                    <a:pt x="46" y="171"/>
                  </a:lnTo>
                  <a:lnTo>
                    <a:pt x="50" y="174"/>
                  </a:lnTo>
                  <a:lnTo>
                    <a:pt x="50" y="174"/>
                  </a:lnTo>
                  <a:lnTo>
                    <a:pt x="50" y="178"/>
                  </a:lnTo>
                  <a:lnTo>
                    <a:pt x="49" y="183"/>
                  </a:lnTo>
                  <a:lnTo>
                    <a:pt x="45" y="187"/>
                  </a:lnTo>
                  <a:lnTo>
                    <a:pt x="39" y="192"/>
                  </a:lnTo>
                  <a:lnTo>
                    <a:pt x="39" y="192"/>
                  </a:lnTo>
                  <a:close/>
                  <a:moveTo>
                    <a:pt x="28" y="83"/>
                  </a:moveTo>
                  <a:lnTo>
                    <a:pt x="28" y="83"/>
                  </a:lnTo>
                  <a:lnTo>
                    <a:pt x="23" y="78"/>
                  </a:lnTo>
                  <a:lnTo>
                    <a:pt x="18" y="74"/>
                  </a:lnTo>
                  <a:lnTo>
                    <a:pt x="17" y="69"/>
                  </a:lnTo>
                  <a:lnTo>
                    <a:pt x="17" y="65"/>
                  </a:lnTo>
                  <a:lnTo>
                    <a:pt x="17" y="65"/>
                  </a:lnTo>
                  <a:lnTo>
                    <a:pt x="20" y="62"/>
                  </a:lnTo>
                  <a:lnTo>
                    <a:pt x="26" y="61"/>
                  </a:lnTo>
                  <a:lnTo>
                    <a:pt x="32" y="62"/>
                  </a:lnTo>
                  <a:lnTo>
                    <a:pt x="39" y="65"/>
                  </a:lnTo>
                  <a:lnTo>
                    <a:pt x="39" y="65"/>
                  </a:lnTo>
                  <a:lnTo>
                    <a:pt x="45" y="70"/>
                  </a:lnTo>
                  <a:lnTo>
                    <a:pt x="49" y="75"/>
                  </a:lnTo>
                  <a:lnTo>
                    <a:pt x="50" y="79"/>
                  </a:lnTo>
                  <a:lnTo>
                    <a:pt x="50" y="83"/>
                  </a:lnTo>
                  <a:lnTo>
                    <a:pt x="50" y="83"/>
                  </a:lnTo>
                  <a:lnTo>
                    <a:pt x="46" y="86"/>
                  </a:lnTo>
                  <a:lnTo>
                    <a:pt x="41" y="87"/>
                  </a:lnTo>
                  <a:lnTo>
                    <a:pt x="36" y="86"/>
                  </a:lnTo>
                  <a:lnTo>
                    <a:pt x="28" y="83"/>
                  </a:lnTo>
                  <a:lnTo>
                    <a:pt x="28" y="83"/>
                  </a:lnTo>
                  <a:close/>
                  <a:moveTo>
                    <a:pt x="39" y="129"/>
                  </a:moveTo>
                  <a:lnTo>
                    <a:pt x="39" y="129"/>
                  </a:lnTo>
                  <a:lnTo>
                    <a:pt x="37" y="132"/>
                  </a:lnTo>
                  <a:lnTo>
                    <a:pt x="32" y="136"/>
                  </a:lnTo>
                  <a:lnTo>
                    <a:pt x="27" y="138"/>
                  </a:lnTo>
                  <a:lnTo>
                    <a:pt x="19" y="139"/>
                  </a:lnTo>
                  <a:lnTo>
                    <a:pt x="19" y="139"/>
                  </a:lnTo>
                  <a:lnTo>
                    <a:pt x="11" y="138"/>
                  </a:lnTo>
                  <a:lnTo>
                    <a:pt x="5" y="136"/>
                  </a:lnTo>
                  <a:lnTo>
                    <a:pt x="1" y="132"/>
                  </a:lnTo>
                  <a:lnTo>
                    <a:pt x="0" y="129"/>
                  </a:lnTo>
                  <a:lnTo>
                    <a:pt x="0" y="129"/>
                  </a:lnTo>
                  <a:lnTo>
                    <a:pt x="1" y="125"/>
                  </a:lnTo>
                  <a:lnTo>
                    <a:pt x="5" y="122"/>
                  </a:lnTo>
                  <a:lnTo>
                    <a:pt x="11" y="119"/>
                  </a:lnTo>
                  <a:lnTo>
                    <a:pt x="19" y="118"/>
                  </a:lnTo>
                  <a:lnTo>
                    <a:pt x="19" y="118"/>
                  </a:lnTo>
                  <a:lnTo>
                    <a:pt x="27" y="119"/>
                  </a:lnTo>
                  <a:lnTo>
                    <a:pt x="32" y="122"/>
                  </a:lnTo>
                  <a:lnTo>
                    <a:pt x="37" y="125"/>
                  </a:lnTo>
                  <a:lnTo>
                    <a:pt x="39" y="129"/>
                  </a:lnTo>
                  <a:lnTo>
                    <a:pt x="39" y="129"/>
                  </a:lnTo>
                  <a:close/>
                  <a:moveTo>
                    <a:pt x="127" y="210"/>
                  </a:moveTo>
                  <a:lnTo>
                    <a:pt x="127" y="210"/>
                  </a:lnTo>
                  <a:lnTo>
                    <a:pt x="126" y="223"/>
                  </a:lnTo>
                  <a:lnTo>
                    <a:pt x="126" y="234"/>
                  </a:lnTo>
                  <a:lnTo>
                    <a:pt x="123" y="240"/>
                  </a:lnTo>
                  <a:lnTo>
                    <a:pt x="123" y="240"/>
                  </a:lnTo>
                  <a:lnTo>
                    <a:pt x="121" y="244"/>
                  </a:lnTo>
                  <a:lnTo>
                    <a:pt x="115" y="247"/>
                  </a:lnTo>
                  <a:lnTo>
                    <a:pt x="111" y="247"/>
                  </a:lnTo>
                  <a:lnTo>
                    <a:pt x="106" y="246"/>
                  </a:lnTo>
                  <a:lnTo>
                    <a:pt x="106" y="246"/>
                  </a:lnTo>
                  <a:lnTo>
                    <a:pt x="102" y="242"/>
                  </a:lnTo>
                  <a:lnTo>
                    <a:pt x="101" y="238"/>
                  </a:lnTo>
                  <a:lnTo>
                    <a:pt x="100" y="233"/>
                  </a:lnTo>
                  <a:lnTo>
                    <a:pt x="102" y="229"/>
                  </a:lnTo>
                  <a:lnTo>
                    <a:pt x="102" y="229"/>
                  </a:lnTo>
                  <a:lnTo>
                    <a:pt x="108" y="222"/>
                  </a:lnTo>
                  <a:lnTo>
                    <a:pt x="115" y="217"/>
                  </a:lnTo>
                  <a:lnTo>
                    <a:pt x="127" y="210"/>
                  </a:lnTo>
                  <a:lnTo>
                    <a:pt x="127" y="210"/>
                  </a:lnTo>
                  <a:close/>
                  <a:moveTo>
                    <a:pt x="182" y="222"/>
                  </a:moveTo>
                  <a:lnTo>
                    <a:pt x="182" y="222"/>
                  </a:lnTo>
                  <a:lnTo>
                    <a:pt x="182" y="235"/>
                  </a:lnTo>
                  <a:lnTo>
                    <a:pt x="180" y="244"/>
                  </a:lnTo>
                  <a:lnTo>
                    <a:pt x="178" y="252"/>
                  </a:lnTo>
                  <a:lnTo>
                    <a:pt x="178" y="252"/>
                  </a:lnTo>
                  <a:lnTo>
                    <a:pt x="175" y="256"/>
                  </a:lnTo>
                  <a:lnTo>
                    <a:pt x="171" y="257"/>
                  </a:lnTo>
                  <a:lnTo>
                    <a:pt x="166" y="259"/>
                  </a:lnTo>
                  <a:lnTo>
                    <a:pt x="161" y="256"/>
                  </a:lnTo>
                  <a:lnTo>
                    <a:pt x="161" y="256"/>
                  </a:lnTo>
                  <a:lnTo>
                    <a:pt x="157" y="253"/>
                  </a:lnTo>
                  <a:lnTo>
                    <a:pt x="156" y="249"/>
                  </a:lnTo>
                  <a:lnTo>
                    <a:pt x="156" y="244"/>
                  </a:lnTo>
                  <a:lnTo>
                    <a:pt x="157" y="239"/>
                  </a:lnTo>
                  <a:lnTo>
                    <a:pt x="157" y="239"/>
                  </a:lnTo>
                  <a:lnTo>
                    <a:pt x="162" y="234"/>
                  </a:lnTo>
                  <a:lnTo>
                    <a:pt x="170" y="229"/>
                  </a:lnTo>
                  <a:lnTo>
                    <a:pt x="182" y="222"/>
                  </a:lnTo>
                  <a:lnTo>
                    <a:pt x="182" y="222"/>
                  </a:lnTo>
                  <a:close/>
                  <a:moveTo>
                    <a:pt x="236" y="210"/>
                  </a:moveTo>
                  <a:lnTo>
                    <a:pt x="236" y="210"/>
                  </a:lnTo>
                  <a:lnTo>
                    <a:pt x="236" y="223"/>
                  </a:lnTo>
                  <a:lnTo>
                    <a:pt x="235" y="234"/>
                  </a:lnTo>
                  <a:lnTo>
                    <a:pt x="234" y="240"/>
                  </a:lnTo>
                  <a:lnTo>
                    <a:pt x="234" y="240"/>
                  </a:lnTo>
                  <a:lnTo>
                    <a:pt x="230" y="244"/>
                  </a:lnTo>
                  <a:lnTo>
                    <a:pt x="226" y="247"/>
                  </a:lnTo>
                  <a:lnTo>
                    <a:pt x="221" y="247"/>
                  </a:lnTo>
                  <a:lnTo>
                    <a:pt x="217" y="246"/>
                  </a:lnTo>
                  <a:lnTo>
                    <a:pt x="217" y="246"/>
                  </a:lnTo>
                  <a:lnTo>
                    <a:pt x="213" y="242"/>
                  </a:lnTo>
                  <a:lnTo>
                    <a:pt x="210" y="238"/>
                  </a:lnTo>
                  <a:lnTo>
                    <a:pt x="210" y="233"/>
                  </a:lnTo>
                  <a:lnTo>
                    <a:pt x="212" y="229"/>
                  </a:lnTo>
                  <a:lnTo>
                    <a:pt x="212" y="229"/>
                  </a:lnTo>
                  <a:lnTo>
                    <a:pt x="217" y="222"/>
                  </a:lnTo>
                  <a:lnTo>
                    <a:pt x="226" y="217"/>
                  </a:lnTo>
                  <a:lnTo>
                    <a:pt x="236" y="210"/>
                  </a:lnTo>
                  <a:lnTo>
                    <a:pt x="236" y="210"/>
                  </a:ln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sp>
        <p:nvSpPr>
          <p:cNvPr id="30" name="矩形 29"/>
          <p:cNvSpPr/>
          <p:nvPr/>
        </p:nvSpPr>
        <p:spPr>
          <a:xfrm>
            <a:off x="4324685" y="5442218"/>
            <a:ext cx="3877985" cy="584775"/>
          </a:xfrm>
          <a:prstGeom prst="rect">
            <a:avLst/>
          </a:prstGeom>
        </p:spPr>
        <p:txBody>
          <a:bodyPr wrap="none">
            <a:spAutoFit/>
          </a:bodyPr>
          <a:lstStyle/>
          <a:p>
            <a:r>
              <a:rPr lang="zh-CN" altLang="en-US" sz="3200" dirty="0" smtClean="0">
                <a:solidFill>
                  <a:schemeClr val="accent2">
                    <a:lumMod val="75000"/>
                  </a:schemeClr>
                </a:solidFill>
                <a:latin typeface="微软雅黑" panose="020B0503020204020204" pitchFamily="34" charset="-122"/>
                <a:ea typeface="微软雅黑" panose="020B0503020204020204" pitchFamily="34" charset="-122"/>
              </a:rPr>
              <a:t>需求</a:t>
            </a:r>
            <a:r>
              <a:rPr lang="zh-CN" altLang="en-US" sz="3200" smtClean="0">
                <a:solidFill>
                  <a:schemeClr val="accent2">
                    <a:lumMod val="75000"/>
                  </a:schemeClr>
                </a:solidFill>
                <a:latin typeface="微软雅黑" panose="020B0503020204020204" pitchFamily="34" charset="-122"/>
                <a:ea typeface="微软雅黑" panose="020B0503020204020204" pitchFamily="34" charset="-122"/>
              </a:rPr>
              <a:t>分析的常见问题</a:t>
            </a:r>
            <a:endParaRPr lang="zh-CN" altLang="en-US" sz="3200" b="1" dirty="0"/>
          </a:p>
        </p:txBody>
      </p:sp>
      <p:grpSp>
        <p:nvGrpSpPr>
          <p:cNvPr id="41" name="组合 2"/>
          <p:cNvGrpSpPr/>
          <p:nvPr/>
        </p:nvGrpSpPr>
        <p:grpSpPr>
          <a:xfrm>
            <a:off x="6044005" y="0"/>
            <a:ext cx="138209" cy="1686967"/>
            <a:chOff x="6044005" y="0"/>
            <a:chExt cx="138209" cy="1686967"/>
          </a:xfrm>
        </p:grpSpPr>
        <p:cxnSp>
          <p:nvCxnSpPr>
            <p:cNvPr id="42" name="直接连接符 3"/>
            <p:cNvCxnSpPr/>
            <p:nvPr/>
          </p:nvCxnSpPr>
          <p:spPr>
            <a:xfrm flipH="1">
              <a:off x="6096000" y="36610"/>
              <a:ext cx="1" cy="1558157"/>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4" name="椭圆 43"/>
            <p:cNvSpPr/>
            <p:nvPr/>
          </p:nvSpPr>
          <p:spPr>
            <a:xfrm>
              <a:off x="6048768" y="1553521"/>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extLst>
      <p:ext uri="{BB962C8B-B14F-4D97-AF65-F5344CB8AC3E}">
        <p14:creationId xmlns:p14="http://schemas.microsoft.com/office/powerpoint/2010/main" val="6802976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1" name="组合 30"/>
          <p:cNvGrpSpPr/>
          <p:nvPr/>
        </p:nvGrpSpPr>
        <p:grpSpPr>
          <a:xfrm>
            <a:off x="4576226" y="0"/>
            <a:ext cx="3416320" cy="1708002"/>
            <a:chOff x="4576226" y="0"/>
            <a:chExt cx="3416320" cy="1708002"/>
          </a:xfrm>
        </p:grpSpPr>
        <p:sp>
          <p:nvSpPr>
            <p:cNvPr id="32" name="矩形 31"/>
            <p:cNvSpPr/>
            <p:nvPr/>
          </p:nvSpPr>
          <p:spPr>
            <a:xfrm>
              <a:off x="4576226" y="1184782"/>
              <a:ext cx="3416320" cy="523220"/>
            </a:xfrm>
            <a:prstGeom prst="rect">
              <a:avLst/>
            </a:prstGeom>
          </p:spPr>
          <p:txBody>
            <a:bodyPr wrap="none">
              <a:spAutoFit/>
            </a:bodyPr>
            <a:lstStyle/>
            <a:p>
              <a:r>
                <a:rPr lang="zh-CN" altLang="en-US" sz="2800" b="1" dirty="0" smtClean="0">
                  <a:solidFill>
                    <a:schemeClr val="accent2">
                      <a:lumMod val="75000"/>
                    </a:schemeClr>
                  </a:solidFill>
                  <a:latin typeface="Simsun" panose="02010600030101010101" pitchFamily="2" charset="-122"/>
                  <a:ea typeface="Simsun" panose="02010600030101010101" pitchFamily="2" charset="-122"/>
                </a:rPr>
                <a:t>注重编码</a:t>
              </a:r>
              <a:r>
                <a:rPr lang="zh-CN" altLang="en-US" sz="2800" b="1" smtClean="0">
                  <a:solidFill>
                    <a:schemeClr val="accent2">
                      <a:lumMod val="75000"/>
                    </a:schemeClr>
                  </a:solidFill>
                  <a:latin typeface="Simsun" panose="02010600030101010101" pitchFamily="2" charset="-122"/>
                  <a:ea typeface="Simsun" panose="02010600030101010101" pitchFamily="2" charset="-122"/>
                </a:rPr>
                <a:t>而忽视需求</a:t>
              </a:r>
              <a:endParaRPr lang="zh-CN" altLang="en-US" sz="2800" b="1" dirty="0"/>
            </a:p>
          </p:txBody>
        </p:sp>
        <p:cxnSp>
          <p:nvCxnSpPr>
            <p:cNvPr id="33" name="直接连接符 32"/>
            <p:cNvCxnSpPr>
              <a:stCxn id="34" idx="4"/>
              <a:endCxn id="35" idx="4"/>
            </p:cNvCxnSpPr>
            <p:nvPr/>
          </p:nvCxnSpPr>
          <p:spPr>
            <a:xfrm>
              <a:off x="6110728" y="133446"/>
              <a:ext cx="12193" cy="91789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6056198" y="91789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p:cNvPicPr>
            <a:picLocks noChangeAspect="1"/>
          </p:cNvPicPr>
          <p:nvPr/>
        </p:nvPicPr>
        <p:blipFill>
          <a:blip r:embed="rId2">
            <a:clrChange>
              <a:clrFrom>
                <a:srgbClr val="FFFFFF"/>
              </a:clrFrom>
              <a:clrTo>
                <a:srgbClr val="FFFFFF">
                  <a:alpha val="0"/>
                </a:srgbClr>
              </a:clrTo>
            </a:clrChange>
          </a:blip>
          <a:stretch>
            <a:fillRect/>
          </a:stretch>
        </p:blipFill>
        <p:spPr>
          <a:xfrm>
            <a:off x="1087487" y="2544256"/>
            <a:ext cx="1748542" cy="1748542"/>
          </a:xfrm>
          <a:prstGeom prst="rect">
            <a:avLst/>
          </a:prstGeom>
        </p:spPr>
      </p:pic>
      <p:pic>
        <p:nvPicPr>
          <p:cNvPr id="3" name="图片 2"/>
          <p:cNvPicPr>
            <a:picLocks noChangeAspect="1"/>
          </p:cNvPicPr>
          <p:nvPr/>
        </p:nvPicPr>
        <p:blipFill rotWithShape="1">
          <a:blip r:embed="rId3">
            <a:clrChange>
              <a:clrFrom>
                <a:srgbClr val="FFFFFF"/>
              </a:clrFrom>
              <a:clrTo>
                <a:srgbClr val="FFFFFF">
                  <a:alpha val="0"/>
                </a:srgbClr>
              </a:clrTo>
            </a:clrChange>
          </a:blip>
          <a:srcRect t="1" b="5350"/>
          <a:stretch/>
        </p:blipFill>
        <p:spPr>
          <a:xfrm>
            <a:off x="4640463" y="2544256"/>
            <a:ext cx="1752412" cy="1658651"/>
          </a:xfrm>
          <a:prstGeom prst="rect">
            <a:avLst/>
          </a:prstGeom>
        </p:spPr>
      </p:pic>
      <p:sp>
        <p:nvSpPr>
          <p:cNvPr id="36" name="矩形 35"/>
          <p:cNvSpPr/>
          <p:nvPr/>
        </p:nvSpPr>
        <p:spPr>
          <a:xfrm>
            <a:off x="958592" y="4292798"/>
            <a:ext cx="1877437" cy="461665"/>
          </a:xfrm>
          <a:prstGeom prst="rect">
            <a:avLst/>
          </a:prstGeom>
        </p:spPr>
        <p:txBody>
          <a:bodyPr wrap="none">
            <a:spAutoFit/>
          </a:bodyPr>
          <a:lstStyle/>
          <a:p>
            <a:r>
              <a:rPr lang="en-US" altLang="zh-CN" sz="2400" b="1" dirty="0" smtClean="0">
                <a:solidFill>
                  <a:schemeClr val="accent2">
                    <a:lumMod val="75000"/>
                  </a:schemeClr>
                </a:solidFill>
                <a:latin typeface="Simsun" panose="02010600030101010101" pitchFamily="2" charset="-122"/>
                <a:ea typeface="Simsun" panose="02010600030101010101" pitchFamily="2" charset="-122"/>
              </a:rPr>
              <a:t>Programming</a:t>
            </a:r>
            <a:endParaRPr lang="zh-CN" altLang="en-US" sz="2400" b="1" dirty="0">
              <a:solidFill>
                <a:schemeClr val="accent2">
                  <a:lumMod val="75000"/>
                </a:schemeClr>
              </a:solidFill>
              <a:latin typeface="Simsun" panose="02010600030101010101" pitchFamily="2" charset="-122"/>
              <a:ea typeface="Simsun" panose="02010600030101010101" pitchFamily="2" charset="-122"/>
            </a:endParaRPr>
          </a:p>
        </p:txBody>
      </p:sp>
      <p:sp>
        <p:nvSpPr>
          <p:cNvPr id="5" name="矩形 4"/>
          <p:cNvSpPr/>
          <p:nvPr/>
        </p:nvSpPr>
        <p:spPr>
          <a:xfrm>
            <a:off x="4446132" y="4292798"/>
            <a:ext cx="2339102" cy="461665"/>
          </a:xfrm>
          <a:prstGeom prst="rect">
            <a:avLst/>
          </a:prstGeom>
        </p:spPr>
        <p:txBody>
          <a:bodyPr wrap="none">
            <a:spAutoFit/>
          </a:bodyPr>
          <a:lstStyle/>
          <a:p>
            <a:r>
              <a:rPr lang="en-US" altLang="zh-CN" sz="2400" b="1" dirty="0" smtClean="0">
                <a:solidFill>
                  <a:schemeClr val="accent2">
                    <a:lumMod val="75000"/>
                  </a:schemeClr>
                </a:solidFill>
                <a:latin typeface="Simsun" panose="02010600030101010101" pitchFamily="2" charset="-122"/>
                <a:ea typeface="Simsun" panose="02010600030101010101" pitchFamily="2" charset="-122"/>
              </a:rPr>
              <a:t>Customer</a:t>
            </a:r>
            <a:r>
              <a:rPr lang="zh-CN" altLang="en-US" sz="2400" b="1" dirty="0" smtClean="0">
                <a:solidFill>
                  <a:schemeClr val="accent2">
                    <a:lumMod val="75000"/>
                  </a:schemeClr>
                </a:solidFill>
                <a:latin typeface="Simsun" panose="02010600030101010101" pitchFamily="2" charset="-122"/>
                <a:ea typeface="Simsun" panose="02010600030101010101" pitchFamily="2" charset="-122"/>
              </a:rPr>
              <a:t> </a:t>
            </a:r>
            <a:r>
              <a:rPr lang="en-US" altLang="zh-CN" sz="2400" b="1" dirty="0" smtClean="0">
                <a:solidFill>
                  <a:schemeClr val="accent2">
                    <a:lumMod val="75000"/>
                  </a:schemeClr>
                </a:solidFill>
                <a:latin typeface="Simsun" panose="02010600030101010101" pitchFamily="2" charset="-122"/>
                <a:ea typeface="Simsun" panose="02010600030101010101" pitchFamily="2" charset="-122"/>
              </a:rPr>
              <a:t>needs</a:t>
            </a:r>
            <a:endParaRPr lang="zh-CN" altLang="en-US" sz="2400" b="1" dirty="0"/>
          </a:p>
        </p:txBody>
      </p:sp>
      <p:sp>
        <p:nvSpPr>
          <p:cNvPr id="37" name="矩形 36"/>
          <p:cNvSpPr/>
          <p:nvPr/>
        </p:nvSpPr>
        <p:spPr>
          <a:xfrm>
            <a:off x="3030360" y="2297673"/>
            <a:ext cx="1415772" cy="461665"/>
          </a:xfrm>
          <a:prstGeom prst="rect">
            <a:avLst/>
          </a:prstGeom>
        </p:spPr>
        <p:txBody>
          <a:bodyPr wrap="none">
            <a:spAutoFit/>
          </a:bodyPr>
          <a:lstStyle/>
          <a:p>
            <a:r>
              <a:rPr lang="en-US" altLang="zh-CN" sz="2400" b="1" dirty="0" smtClean="0">
                <a:solidFill>
                  <a:schemeClr val="accent2">
                    <a:lumMod val="75000"/>
                  </a:schemeClr>
                </a:solidFill>
                <a:latin typeface="Simsun" panose="02010600030101010101" pitchFamily="2" charset="-122"/>
                <a:ea typeface="Simsun" panose="02010600030101010101" pitchFamily="2" charset="-122"/>
              </a:rPr>
              <a:t>mismatch</a:t>
            </a:r>
            <a:endParaRPr lang="zh-CN" altLang="en-US" sz="2400" b="1" dirty="0">
              <a:solidFill>
                <a:schemeClr val="accent2">
                  <a:lumMod val="75000"/>
                </a:schemeClr>
              </a:solidFill>
              <a:latin typeface="Simsun" panose="02010600030101010101" pitchFamily="2" charset="-122"/>
              <a:ea typeface="Simsun" panose="02010600030101010101" pitchFamily="2" charset="-122"/>
            </a:endParaRPr>
          </a:p>
        </p:txBody>
      </p:sp>
      <p:sp>
        <p:nvSpPr>
          <p:cNvPr id="38" name="右箭头 37"/>
          <p:cNvSpPr/>
          <p:nvPr/>
        </p:nvSpPr>
        <p:spPr>
          <a:xfrm>
            <a:off x="3200046" y="3014004"/>
            <a:ext cx="1343251" cy="512064"/>
          </a:xfrm>
          <a:prstGeom prst="rightArrow">
            <a:avLst/>
          </a:prstGeom>
          <a:solidFill>
            <a:srgbClr val="C55A11"/>
          </a:solidFill>
          <a:ln>
            <a:solidFill>
              <a:srgbClr val="C55A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右箭头 38"/>
          <p:cNvSpPr/>
          <p:nvPr/>
        </p:nvSpPr>
        <p:spPr>
          <a:xfrm rot="10800000">
            <a:off x="2933195" y="3014004"/>
            <a:ext cx="1343251" cy="512064"/>
          </a:xfrm>
          <a:prstGeom prst="rightArrow">
            <a:avLst/>
          </a:prstGeom>
          <a:solidFill>
            <a:srgbClr val="C55A11"/>
          </a:solidFill>
          <a:ln>
            <a:solidFill>
              <a:srgbClr val="C55A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线连接符 19"/>
          <p:cNvCxnSpPr/>
          <p:nvPr/>
        </p:nvCxnSpPr>
        <p:spPr>
          <a:xfrm>
            <a:off x="3543374" y="2892036"/>
            <a:ext cx="389744" cy="756000"/>
          </a:xfrm>
          <a:prstGeom prst="line">
            <a:avLst/>
          </a:prstGeom>
          <a:ln w="76200"/>
        </p:spPr>
        <p:style>
          <a:lnRef idx="1">
            <a:schemeClr val="accent2"/>
          </a:lnRef>
          <a:fillRef idx="0">
            <a:schemeClr val="accent2"/>
          </a:fillRef>
          <a:effectRef idx="0">
            <a:schemeClr val="accent2"/>
          </a:effectRef>
          <a:fontRef idx="minor">
            <a:schemeClr val="tx1"/>
          </a:fontRef>
        </p:style>
      </p:cxnSp>
      <p:sp>
        <p:nvSpPr>
          <p:cNvPr id="40" name="矩形 39"/>
          <p:cNvSpPr/>
          <p:nvPr/>
        </p:nvSpPr>
        <p:spPr>
          <a:xfrm>
            <a:off x="7702659" y="2455497"/>
            <a:ext cx="3456122" cy="1338828"/>
          </a:xfrm>
          <a:prstGeom prst="rect">
            <a:avLst/>
          </a:prstGeom>
        </p:spPr>
        <p:txBody>
          <a:bodyPr wrap="square">
            <a:spAutoFit/>
          </a:bodyPr>
          <a:lstStyle/>
          <a:p>
            <a:pPr marL="285750" indent="-285750">
              <a:lnSpc>
                <a:spcPct val="150000"/>
              </a:lnSpc>
              <a:buFont typeface="Arial" charset="0"/>
              <a:buChar char="•"/>
            </a:pPr>
            <a:r>
              <a:rPr lang="zh-CN" altLang="en-US" dirty="0" smtClean="0">
                <a:solidFill>
                  <a:schemeClr val="accent2">
                    <a:lumMod val="75000"/>
                  </a:schemeClr>
                </a:solidFill>
                <a:latin typeface="Simsun" panose="02010600030101010101" pitchFamily="2" charset="-122"/>
                <a:ea typeface="Simsun" panose="02010600030101010101" pitchFamily="2" charset="-122"/>
              </a:rPr>
              <a:t>用户认为基本的操作没有实现</a:t>
            </a:r>
            <a:endParaRPr lang="en-US" altLang="zh-CN" dirty="0">
              <a:solidFill>
                <a:schemeClr val="accent2">
                  <a:lumMod val="75000"/>
                </a:schemeClr>
              </a:solidFill>
              <a:latin typeface="Simsun" panose="02010600030101010101" pitchFamily="2" charset="-122"/>
              <a:ea typeface="Simsun" panose="02010600030101010101" pitchFamily="2" charset="-122"/>
            </a:endParaRPr>
          </a:p>
          <a:p>
            <a:pPr marL="285750" indent="-285750">
              <a:lnSpc>
                <a:spcPct val="150000"/>
              </a:lnSpc>
              <a:buFont typeface="Arial" charset="0"/>
              <a:buChar char="•"/>
            </a:pPr>
            <a:r>
              <a:rPr lang="zh-CN" altLang="en-US" dirty="0" smtClean="0">
                <a:solidFill>
                  <a:schemeClr val="accent2">
                    <a:lumMod val="75000"/>
                  </a:schemeClr>
                </a:solidFill>
                <a:latin typeface="Simsun" panose="02010600030101010101" pitchFamily="2" charset="-122"/>
                <a:ea typeface="Simsun" panose="02010600030101010101" pitchFamily="2" charset="-122"/>
              </a:rPr>
              <a:t>开发了需求文档之外的功能</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pPr marL="285750" indent="-285750">
              <a:lnSpc>
                <a:spcPct val="150000"/>
              </a:lnSpc>
              <a:buFont typeface="Arial" charset="0"/>
              <a:buChar char="•"/>
            </a:pPr>
            <a:r>
              <a:rPr lang="zh-CN" altLang="en-US" dirty="0" smtClean="0">
                <a:solidFill>
                  <a:schemeClr val="accent2">
                    <a:lumMod val="75000"/>
                  </a:schemeClr>
                </a:solidFill>
                <a:latin typeface="Simsun" panose="02010600030101010101" pitchFamily="2" charset="-122"/>
                <a:ea typeface="Simsun" panose="02010600030101010101" pitchFamily="2" charset="-122"/>
              </a:rPr>
              <a:t>时间和人力成本的浪费</a:t>
            </a:r>
          </a:p>
        </p:txBody>
      </p:sp>
      <p:cxnSp>
        <p:nvCxnSpPr>
          <p:cNvPr id="41" name="直接连接符 56"/>
          <p:cNvCxnSpPr/>
          <p:nvPr/>
        </p:nvCxnSpPr>
        <p:spPr>
          <a:xfrm>
            <a:off x="7312328" y="2459864"/>
            <a:ext cx="2540" cy="1882052"/>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8015458"/>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等腰三角形 27"/>
          <p:cNvSpPr/>
          <p:nvPr/>
        </p:nvSpPr>
        <p:spPr>
          <a:xfrm rot="9235228">
            <a:off x="10226387" y="5337747"/>
            <a:ext cx="714375" cy="712138"/>
          </a:xfrm>
          <a:prstGeom prst="triangle">
            <a:avLst/>
          </a:prstGeom>
          <a:gradFill flip="none" rotWithShape="1">
            <a:gsLst>
              <a:gs pos="65000">
                <a:schemeClr val="accent1">
                  <a:lumMod val="5000"/>
                  <a:lumOff val="95000"/>
                </a:schemeClr>
              </a:gs>
              <a:gs pos="37000">
                <a:schemeClr val="bg1">
                  <a:lumMod val="85000"/>
                </a:schemeClr>
              </a:gs>
              <a:gs pos="100000">
                <a:schemeClr val="bg1">
                  <a:lumMod val="75000"/>
                </a:schemeClr>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等腰三角形 26"/>
          <p:cNvSpPr/>
          <p:nvPr/>
        </p:nvSpPr>
        <p:spPr>
          <a:xfrm rot="9235228">
            <a:off x="10217095" y="5340703"/>
            <a:ext cx="714375" cy="712138"/>
          </a:xfrm>
          <a:prstGeom prst="triangle">
            <a:avLst/>
          </a:prstGeom>
          <a:gradFill>
            <a:gsLst>
              <a:gs pos="61000">
                <a:schemeClr val="accent1">
                  <a:lumMod val="5000"/>
                  <a:lumOff val="95000"/>
                </a:schemeClr>
              </a:gs>
              <a:gs pos="37000">
                <a:schemeClr val="bg1">
                  <a:lumMod val="85000"/>
                </a:schemeClr>
              </a:gs>
              <a:gs pos="100000">
                <a:schemeClr val="bg1">
                  <a:lumMod val="75000"/>
                </a:schemeClr>
              </a:gs>
            </a:gsLst>
            <a:lin ang="189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椭圆形标注 16"/>
          <p:cNvSpPr/>
          <p:nvPr/>
        </p:nvSpPr>
        <p:spPr>
          <a:xfrm>
            <a:off x="7120503" y="2277584"/>
            <a:ext cx="2843633" cy="1905234"/>
          </a:xfrm>
          <a:prstGeom prst="wedgeEllipseCallout">
            <a:avLst/>
          </a:prstGeom>
          <a:no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3" name="组合 22"/>
          <p:cNvGrpSpPr/>
          <p:nvPr/>
        </p:nvGrpSpPr>
        <p:grpSpPr>
          <a:xfrm>
            <a:off x="8317745" y="3803992"/>
            <a:ext cx="2832705" cy="1828978"/>
            <a:chOff x="3176812" y="2273198"/>
            <a:chExt cx="2641825" cy="2726239"/>
          </a:xfrm>
        </p:grpSpPr>
        <p:sp>
          <p:nvSpPr>
            <p:cNvPr id="25" name="椭圆 24"/>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6" name="椭圆 25"/>
            <p:cNvSpPr/>
            <p:nvPr/>
          </p:nvSpPr>
          <p:spPr>
            <a:xfrm>
              <a:off x="3268970" y="2368299"/>
              <a:ext cx="2457512" cy="2536036"/>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29" name="Freeform 95"/>
          <p:cNvSpPr>
            <a:spLocks noEditPoints="1"/>
          </p:cNvSpPr>
          <p:nvPr/>
        </p:nvSpPr>
        <p:spPr bwMode="auto">
          <a:xfrm>
            <a:off x="9297278" y="4272709"/>
            <a:ext cx="873637" cy="880463"/>
          </a:xfrm>
          <a:custGeom>
            <a:avLst/>
            <a:gdLst>
              <a:gd name="T0" fmla="*/ 211 w 257"/>
              <a:gd name="T1" fmla="*/ 119 h 257"/>
              <a:gd name="T2" fmla="*/ 180 w 257"/>
              <a:gd name="T3" fmla="*/ 107 h 257"/>
              <a:gd name="T4" fmla="*/ 156 w 257"/>
              <a:gd name="T5" fmla="*/ 93 h 257"/>
              <a:gd name="T6" fmla="*/ 176 w 257"/>
              <a:gd name="T7" fmla="*/ 72 h 257"/>
              <a:gd name="T8" fmla="*/ 187 w 257"/>
              <a:gd name="T9" fmla="*/ 58 h 257"/>
              <a:gd name="T10" fmla="*/ 221 w 257"/>
              <a:gd name="T11" fmla="*/ 58 h 257"/>
              <a:gd name="T12" fmla="*/ 231 w 257"/>
              <a:gd name="T13" fmla="*/ 72 h 257"/>
              <a:gd name="T14" fmla="*/ 257 w 257"/>
              <a:gd name="T15" fmla="*/ 88 h 257"/>
              <a:gd name="T16" fmla="*/ 245 w 257"/>
              <a:gd name="T17" fmla="*/ 109 h 257"/>
              <a:gd name="T18" fmla="*/ 171 w 257"/>
              <a:gd name="T19" fmla="*/ 48 h 257"/>
              <a:gd name="T20" fmla="*/ 189 w 257"/>
              <a:gd name="T21" fmla="*/ 16 h 257"/>
              <a:gd name="T22" fmla="*/ 192 w 257"/>
              <a:gd name="T23" fmla="*/ 39 h 257"/>
              <a:gd name="T24" fmla="*/ 128 w 257"/>
              <a:gd name="T25" fmla="*/ 39 h 257"/>
              <a:gd name="T26" fmla="*/ 122 w 257"/>
              <a:gd name="T27" fmla="*/ 6 h 257"/>
              <a:gd name="T28" fmla="*/ 139 w 257"/>
              <a:gd name="T29" fmla="*/ 19 h 257"/>
              <a:gd name="T30" fmla="*/ 84 w 257"/>
              <a:gd name="T31" fmla="*/ 50 h 257"/>
              <a:gd name="T32" fmla="*/ 62 w 257"/>
              <a:gd name="T33" fmla="*/ 32 h 257"/>
              <a:gd name="T34" fmla="*/ 79 w 257"/>
              <a:gd name="T35" fmla="*/ 23 h 257"/>
              <a:gd name="T36" fmla="*/ 84 w 257"/>
              <a:gd name="T37" fmla="*/ 50 h 257"/>
              <a:gd name="T38" fmla="*/ 171 w 257"/>
              <a:gd name="T39" fmla="*/ 61 h 257"/>
              <a:gd name="T40" fmla="*/ 153 w 257"/>
              <a:gd name="T41" fmla="*/ 71 h 257"/>
              <a:gd name="T42" fmla="*/ 143 w 257"/>
              <a:gd name="T43" fmla="*/ 100 h 257"/>
              <a:gd name="T44" fmla="*/ 169 w 257"/>
              <a:gd name="T45" fmla="*/ 118 h 257"/>
              <a:gd name="T46" fmla="*/ 195 w 257"/>
              <a:gd name="T47" fmla="*/ 137 h 257"/>
              <a:gd name="T48" fmla="*/ 206 w 257"/>
              <a:gd name="T49" fmla="*/ 152 h 257"/>
              <a:gd name="T50" fmla="*/ 178 w 257"/>
              <a:gd name="T51" fmla="*/ 192 h 257"/>
              <a:gd name="T52" fmla="*/ 145 w 257"/>
              <a:gd name="T53" fmla="*/ 162 h 257"/>
              <a:gd name="T54" fmla="*/ 126 w 257"/>
              <a:gd name="T55" fmla="*/ 140 h 257"/>
              <a:gd name="T56" fmla="*/ 78 w 257"/>
              <a:gd name="T57" fmla="*/ 123 h 257"/>
              <a:gd name="T58" fmla="*/ 53 w 257"/>
              <a:gd name="T59" fmla="*/ 120 h 257"/>
              <a:gd name="T60" fmla="*/ 115 w 257"/>
              <a:gd name="T61" fmla="*/ 52 h 257"/>
              <a:gd name="T62" fmla="*/ 19 w 257"/>
              <a:gd name="T63" fmla="*/ 74 h 257"/>
              <a:gd name="T64" fmla="*/ 40 w 257"/>
              <a:gd name="T65" fmla="*/ 65 h 257"/>
              <a:gd name="T66" fmla="*/ 48 w 257"/>
              <a:gd name="T67" fmla="*/ 87 h 257"/>
              <a:gd name="T68" fmla="*/ 37 w 257"/>
              <a:gd name="T69" fmla="*/ 132 h 257"/>
              <a:gd name="T70" fmla="*/ 2 w 257"/>
              <a:gd name="T71" fmla="*/ 132 h 257"/>
              <a:gd name="T72" fmla="*/ 19 w 257"/>
              <a:gd name="T73" fmla="*/ 118 h 257"/>
              <a:gd name="T74" fmla="*/ 41 w 257"/>
              <a:gd name="T75" fmla="*/ 171 h 257"/>
              <a:gd name="T76" fmla="*/ 63 w 257"/>
              <a:gd name="T77" fmla="*/ 145 h 257"/>
              <a:gd name="T78" fmla="*/ 107 w 257"/>
              <a:gd name="T79" fmla="*/ 145 h 257"/>
              <a:gd name="T80" fmla="*/ 130 w 257"/>
              <a:gd name="T81" fmla="*/ 171 h 257"/>
              <a:gd name="T82" fmla="*/ 161 w 257"/>
              <a:gd name="T83" fmla="*/ 189 h 257"/>
              <a:gd name="T84" fmla="*/ 153 w 257"/>
              <a:gd name="T85" fmla="*/ 221 h 257"/>
              <a:gd name="T86" fmla="*/ 123 w 257"/>
              <a:gd name="T87" fmla="*/ 228 h 257"/>
              <a:gd name="T88" fmla="*/ 97 w 257"/>
              <a:gd name="T89" fmla="*/ 253 h 257"/>
              <a:gd name="T90" fmla="*/ 61 w 257"/>
              <a:gd name="T91" fmla="*/ 232 h 257"/>
              <a:gd name="T92" fmla="*/ 18 w 257"/>
              <a:gd name="T93" fmla="*/ 231 h 257"/>
              <a:gd name="T94" fmla="*/ 0 w 257"/>
              <a:gd name="T95" fmla="*/ 197 h 257"/>
              <a:gd name="T96" fmla="*/ 41 w 257"/>
              <a:gd name="T97" fmla="*/ 171 h 257"/>
              <a:gd name="T98" fmla="*/ 139 w 257"/>
              <a:gd name="T99" fmla="*/ 237 h 257"/>
              <a:gd name="T100" fmla="*/ 124 w 257"/>
              <a:gd name="T101" fmla="*/ 256 h 257"/>
              <a:gd name="T102" fmla="*/ 139 w 257"/>
              <a:gd name="T103" fmla="*/ 232 h 257"/>
              <a:gd name="T104" fmla="*/ 193 w 257"/>
              <a:gd name="T105" fmla="*/ 240 h 257"/>
              <a:gd name="T106" fmla="*/ 171 w 257"/>
              <a:gd name="T107" fmla="*/ 218 h 257"/>
              <a:gd name="T108" fmla="*/ 189 w 257"/>
              <a:gd name="T109" fmla="*/ 213 h 257"/>
              <a:gd name="T110" fmla="*/ 241 w 257"/>
              <a:gd name="T111" fmla="*/ 188 h 257"/>
              <a:gd name="T112" fmla="*/ 218 w 257"/>
              <a:gd name="T113" fmla="*/ 192 h 257"/>
              <a:gd name="T114" fmla="*/ 215 w 257"/>
              <a:gd name="T115" fmla="*/ 170 h 257"/>
              <a:gd name="T116" fmla="*/ 219 w 257"/>
              <a:gd name="T117" fmla="*/ 127 h 257"/>
              <a:gd name="T118" fmla="*/ 237 w 257"/>
              <a:gd name="T119" fmla="*/ 118 h 257"/>
              <a:gd name="T120" fmla="*/ 252 w 257"/>
              <a:gd name="T121" fmla="*/ 136 h 257"/>
              <a:gd name="T122" fmla="*/ 219 w 257"/>
              <a:gd name="T123" fmla="*/ 128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7" h="257">
                <a:moveTo>
                  <a:pt x="231" y="113"/>
                </a:moveTo>
                <a:lnTo>
                  <a:pt x="231" y="113"/>
                </a:lnTo>
                <a:lnTo>
                  <a:pt x="224" y="111"/>
                </a:lnTo>
                <a:lnTo>
                  <a:pt x="219" y="110"/>
                </a:lnTo>
                <a:lnTo>
                  <a:pt x="219" y="110"/>
                </a:lnTo>
                <a:lnTo>
                  <a:pt x="215" y="115"/>
                </a:lnTo>
                <a:lnTo>
                  <a:pt x="211" y="119"/>
                </a:lnTo>
                <a:lnTo>
                  <a:pt x="206" y="122"/>
                </a:lnTo>
                <a:lnTo>
                  <a:pt x="200" y="123"/>
                </a:lnTo>
                <a:lnTo>
                  <a:pt x="200" y="123"/>
                </a:lnTo>
                <a:lnTo>
                  <a:pt x="193" y="122"/>
                </a:lnTo>
                <a:lnTo>
                  <a:pt x="188" y="118"/>
                </a:lnTo>
                <a:lnTo>
                  <a:pt x="183" y="113"/>
                </a:lnTo>
                <a:lnTo>
                  <a:pt x="180" y="107"/>
                </a:lnTo>
                <a:lnTo>
                  <a:pt x="180" y="107"/>
                </a:lnTo>
                <a:lnTo>
                  <a:pt x="176" y="107"/>
                </a:lnTo>
                <a:lnTo>
                  <a:pt x="176" y="107"/>
                </a:lnTo>
                <a:lnTo>
                  <a:pt x="169" y="106"/>
                </a:lnTo>
                <a:lnTo>
                  <a:pt x="162" y="102"/>
                </a:lnTo>
                <a:lnTo>
                  <a:pt x="157" y="97"/>
                </a:lnTo>
                <a:lnTo>
                  <a:pt x="156" y="93"/>
                </a:lnTo>
                <a:lnTo>
                  <a:pt x="156" y="89"/>
                </a:lnTo>
                <a:lnTo>
                  <a:pt x="156" y="89"/>
                </a:lnTo>
                <a:lnTo>
                  <a:pt x="156" y="87"/>
                </a:lnTo>
                <a:lnTo>
                  <a:pt x="157" y="83"/>
                </a:lnTo>
                <a:lnTo>
                  <a:pt x="162" y="78"/>
                </a:lnTo>
                <a:lnTo>
                  <a:pt x="169" y="74"/>
                </a:lnTo>
                <a:lnTo>
                  <a:pt x="176" y="72"/>
                </a:lnTo>
                <a:lnTo>
                  <a:pt x="176" y="72"/>
                </a:lnTo>
                <a:lnTo>
                  <a:pt x="179" y="72"/>
                </a:lnTo>
                <a:lnTo>
                  <a:pt x="179" y="72"/>
                </a:lnTo>
                <a:lnTo>
                  <a:pt x="179" y="68"/>
                </a:lnTo>
                <a:lnTo>
                  <a:pt x="182" y="65"/>
                </a:lnTo>
                <a:lnTo>
                  <a:pt x="183" y="61"/>
                </a:lnTo>
                <a:lnTo>
                  <a:pt x="187" y="58"/>
                </a:lnTo>
                <a:lnTo>
                  <a:pt x="195" y="54"/>
                </a:lnTo>
                <a:lnTo>
                  <a:pt x="198" y="53"/>
                </a:lnTo>
                <a:lnTo>
                  <a:pt x="204" y="53"/>
                </a:lnTo>
                <a:lnTo>
                  <a:pt x="204" y="53"/>
                </a:lnTo>
                <a:lnTo>
                  <a:pt x="209" y="53"/>
                </a:lnTo>
                <a:lnTo>
                  <a:pt x="213" y="54"/>
                </a:lnTo>
                <a:lnTo>
                  <a:pt x="221" y="58"/>
                </a:lnTo>
                <a:lnTo>
                  <a:pt x="223" y="62"/>
                </a:lnTo>
                <a:lnTo>
                  <a:pt x="226" y="65"/>
                </a:lnTo>
                <a:lnTo>
                  <a:pt x="228" y="68"/>
                </a:lnTo>
                <a:lnTo>
                  <a:pt x="228" y="72"/>
                </a:lnTo>
                <a:lnTo>
                  <a:pt x="228" y="72"/>
                </a:lnTo>
                <a:lnTo>
                  <a:pt x="231" y="72"/>
                </a:lnTo>
                <a:lnTo>
                  <a:pt x="231" y="72"/>
                </a:lnTo>
                <a:lnTo>
                  <a:pt x="236" y="72"/>
                </a:lnTo>
                <a:lnTo>
                  <a:pt x="241" y="74"/>
                </a:lnTo>
                <a:lnTo>
                  <a:pt x="245" y="75"/>
                </a:lnTo>
                <a:lnTo>
                  <a:pt x="249" y="78"/>
                </a:lnTo>
                <a:lnTo>
                  <a:pt x="253" y="81"/>
                </a:lnTo>
                <a:lnTo>
                  <a:pt x="254" y="84"/>
                </a:lnTo>
                <a:lnTo>
                  <a:pt x="257" y="88"/>
                </a:lnTo>
                <a:lnTo>
                  <a:pt x="257" y="92"/>
                </a:lnTo>
                <a:lnTo>
                  <a:pt x="257" y="92"/>
                </a:lnTo>
                <a:lnTo>
                  <a:pt x="257" y="96"/>
                </a:lnTo>
                <a:lnTo>
                  <a:pt x="254" y="100"/>
                </a:lnTo>
                <a:lnTo>
                  <a:pt x="253" y="104"/>
                </a:lnTo>
                <a:lnTo>
                  <a:pt x="249" y="106"/>
                </a:lnTo>
                <a:lnTo>
                  <a:pt x="245" y="109"/>
                </a:lnTo>
                <a:lnTo>
                  <a:pt x="241" y="111"/>
                </a:lnTo>
                <a:lnTo>
                  <a:pt x="236" y="113"/>
                </a:lnTo>
                <a:lnTo>
                  <a:pt x="231" y="113"/>
                </a:lnTo>
                <a:lnTo>
                  <a:pt x="231" y="113"/>
                </a:lnTo>
                <a:close/>
                <a:moveTo>
                  <a:pt x="174" y="50"/>
                </a:moveTo>
                <a:lnTo>
                  <a:pt x="174" y="50"/>
                </a:lnTo>
                <a:lnTo>
                  <a:pt x="171" y="48"/>
                </a:lnTo>
                <a:lnTo>
                  <a:pt x="171" y="42"/>
                </a:lnTo>
                <a:lnTo>
                  <a:pt x="171" y="36"/>
                </a:lnTo>
                <a:lnTo>
                  <a:pt x="175" y="28"/>
                </a:lnTo>
                <a:lnTo>
                  <a:pt x="175" y="28"/>
                </a:lnTo>
                <a:lnTo>
                  <a:pt x="179" y="23"/>
                </a:lnTo>
                <a:lnTo>
                  <a:pt x="184" y="19"/>
                </a:lnTo>
                <a:lnTo>
                  <a:pt x="189" y="16"/>
                </a:lnTo>
                <a:lnTo>
                  <a:pt x="193" y="16"/>
                </a:lnTo>
                <a:lnTo>
                  <a:pt x="193" y="16"/>
                </a:lnTo>
                <a:lnTo>
                  <a:pt x="196" y="20"/>
                </a:lnTo>
                <a:lnTo>
                  <a:pt x="196" y="26"/>
                </a:lnTo>
                <a:lnTo>
                  <a:pt x="196" y="32"/>
                </a:lnTo>
                <a:lnTo>
                  <a:pt x="192" y="39"/>
                </a:lnTo>
                <a:lnTo>
                  <a:pt x="192" y="39"/>
                </a:lnTo>
                <a:lnTo>
                  <a:pt x="188" y="45"/>
                </a:lnTo>
                <a:lnTo>
                  <a:pt x="183" y="49"/>
                </a:lnTo>
                <a:lnTo>
                  <a:pt x="178" y="52"/>
                </a:lnTo>
                <a:lnTo>
                  <a:pt x="174" y="50"/>
                </a:lnTo>
                <a:lnTo>
                  <a:pt x="174" y="50"/>
                </a:lnTo>
                <a:close/>
                <a:moveTo>
                  <a:pt x="128" y="39"/>
                </a:moveTo>
                <a:lnTo>
                  <a:pt x="128" y="39"/>
                </a:lnTo>
                <a:lnTo>
                  <a:pt x="124" y="37"/>
                </a:lnTo>
                <a:lnTo>
                  <a:pt x="122" y="33"/>
                </a:lnTo>
                <a:lnTo>
                  <a:pt x="119" y="27"/>
                </a:lnTo>
                <a:lnTo>
                  <a:pt x="119" y="19"/>
                </a:lnTo>
                <a:lnTo>
                  <a:pt x="119" y="19"/>
                </a:lnTo>
                <a:lnTo>
                  <a:pt x="119" y="11"/>
                </a:lnTo>
                <a:lnTo>
                  <a:pt x="122" y="6"/>
                </a:lnTo>
                <a:lnTo>
                  <a:pt x="124" y="1"/>
                </a:lnTo>
                <a:lnTo>
                  <a:pt x="128" y="0"/>
                </a:lnTo>
                <a:lnTo>
                  <a:pt x="128" y="0"/>
                </a:lnTo>
                <a:lnTo>
                  <a:pt x="132" y="1"/>
                </a:lnTo>
                <a:lnTo>
                  <a:pt x="136" y="6"/>
                </a:lnTo>
                <a:lnTo>
                  <a:pt x="139" y="11"/>
                </a:lnTo>
                <a:lnTo>
                  <a:pt x="139" y="19"/>
                </a:lnTo>
                <a:lnTo>
                  <a:pt x="139" y="19"/>
                </a:lnTo>
                <a:lnTo>
                  <a:pt x="139" y="27"/>
                </a:lnTo>
                <a:lnTo>
                  <a:pt x="136" y="33"/>
                </a:lnTo>
                <a:lnTo>
                  <a:pt x="132" y="37"/>
                </a:lnTo>
                <a:lnTo>
                  <a:pt x="128" y="39"/>
                </a:lnTo>
                <a:lnTo>
                  <a:pt x="128" y="39"/>
                </a:lnTo>
                <a:close/>
                <a:moveTo>
                  <a:pt x="84" y="50"/>
                </a:moveTo>
                <a:lnTo>
                  <a:pt x="84" y="50"/>
                </a:lnTo>
                <a:lnTo>
                  <a:pt x="80" y="52"/>
                </a:lnTo>
                <a:lnTo>
                  <a:pt x="75" y="49"/>
                </a:lnTo>
                <a:lnTo>
                  <a:pt x="70" y="45"/>
                </a:lnTo>
                <a:lnTo>
                  <a:pt x="66" y="39"/>
                </a:lnTo>
                <a:lnTo>
                  <a:pt x="66" y="39"/>
                </a:lnTo>
                <a:lnTo>
                  <a:pt x="62" y="32"/>
                </a:lnTo>
                <a:lnTo>
                  <a:pt x="61" y="26"/>
                </a:lnTo>
                <a:lnTo>
                  <a:pt x="62" y="20"/>
                </a:lnTo>
                <a:lnTo>
                  <a:pt x="65" y="16"/>
                </a:lnTo>
                <a:lnTo>
                  <a:pt x="65" y="16"/>
                </a:lnTo>
                <a:lnTo>
                  <a:pt x="69" y="16"/>
                </a:lnTo>
                <a:lnTo>
                  <a:pt x="74" y="19"/>
                </a:lnTo>
                <a:lnTo>
                  <a:pt x="79" y="23"/>
                </a:lnTo>
                <a:lnTo>
                  <a:pt x="83" y="28"/>
                </a:lnTo>
                <a:lnTo>
                  <a:pt x="83" y="28"/>
                </a:lnTo>
                <a:lnTo>
                  <a:pt x="87" y="36"/>
                </a:lnTo>
                <a:lnTo>
                  <a:pt x="87" y="42"/>
                </a:lnTo>
                <a:lnTo>
                  <a:pt x="87" y="48"/>
                </a:lnTo>
                <a:lnTo>
                  <a:pt x="84" y="50"/>
                </a:lnTo>
                <a:lnTo>
                  <a:pt x="84" y="50"/>
                </a:lnTo>
                <a:close/>
                <a:moveTo>
                  <a:pt x="131" y="50"/>
                </a:moveTo>
                <a:lnTo>
                  <a:pt x="131" y="50"/>
                </a:lnTo>
                <a:lnTo>
                  <a:pt x="143" y="52"/>
                </a:lnTo>
                <a:lnTo>
                  <a:pt x="153" y="53"/>
                </a:lnTo>
                <a:lnTo>
                  <a:pt x="162" y="57"/>
                </a:lnTo>
                <a:lnTo>
                  <a:pt x="171" y="61"/>
                </a:lnTo>
                <a:lnTo>
                  <a:pt x="171" y="61"/>
                </a:lnTo>
                <a:lnTo>
                  <a:pt x="171" y="63"/>
                </a:lnTo>
                <a:lnTo>
                  <a:pt x="171" y="63"/>
                </a:lnTo>
                <a:lnTo>
                  <a:pt x="169" y="63"/>
                </a:lnTo>
                <a:lnTo>
                  <a:pt x="169" y="63"/>
                </a:lnTo>
                <a:lnTo>
                  <a:pt x="163" y="65"/>
                </a:lnTo>
                <a:lnTo>
                  <a:pt x="158" y="67"/>
                </a:lnTo>
                <a:lnTo>
                  <a:pt x="153" y="71"/>
                </a:lnTo>
                <a:lnTo>
                  <a:pt x="149" y="75"/>
                </a:lnTo>
                <a:lnTo>
                  <a:pt x="146" y="80"/>
                </a:lnTo>
                <a:lnTo>
                  <a:pt x="144" y="85"/>
                </a:lnTo>
                <a:lnTo>
                  <a:pt x="143" y="91"/>
                </a:lnTo>
                <a:lnTo>
                  <a:pt x="141" y="96"/>
                </a:lnTo>
                <a:lnTo>
                  <a:pt x="141" y="96"/>
                </a:lnTo>
                <a:lnTo>
                  <a:pt x="143" y="100"/>
                </a:lnTo>
                <a:lnTo>
                  <a:pt x="144" y="104"/>
                </a:lnTo>
                <a:lnTo>
                  <a:pt x="146" y="107"/>
                </a:lnTo>
                <a:lnTo>
                  <a:pt x="149" y="111"/>
                </a:lnTo>
                <a:lnTo>
                  <a:pt x="153" y="114"/>
                </a:lnTo>
                <a:lnTo>
                  <a:pt x="158" y="117"/>
                </a:lnTo>
                <a:lnTo>
                  <a:pt x="163" y="118"/>
                </a:lnTo>
                <a:lnTo>
                  <a:pt x="169" y="118"/>
                </a:lnTo>
                <a:lnTo>
                  <a:pt x="169" y="118"/>
                </a:lnTo>
                <a:lnTo>
                  <a:pt x="174" y="118"/>
                </a:lnTo>
                <a:lnTo>
                  <a:pt x="174" y="118"/>
                </a:lnTo>
                <a:lnTo>
                  <a:pt x="176" y="126"/>
                </a:lnTo>
                <a:lnTo>
                  <a:pt x="183" y="132"/>
                </a:lnTo>
                <a:lnTo>
                  <a:pt x="189" y="136"/>
                </a:lnTo>
                <a:lnTo>
                  <a:pt x="195" y="137"/>
                </a:lnTo>
                <a:lnTo>
                  <a:pt x="198" y="137"/>
                </a:lnTo>
                <a:lnTo>
                  <a:pt x="198" y="137"/>
                </a:lnTo>
                <a:lnTo>
                  <a:pt x="205" y="137"/>
                </a:lnTo>
                <a:lnTo>
                  <a:pt x="210" y="135"/>
                </a:lnTo>
                <a:lnTo>
                  <a:pt x="210" y="135"/>
                </a:lnTo>
                <a:lnTo>
                  <a:pt x="209" y="144"/>
                </a:lnTo>
                <a:lnTo>
                  <a:pt x="206" y="152"/>
                </a:lnTo>
                <a:lnTo>
                  <a:pt x="204" y="159"/>
                </a:lnTo>
                <a:lnTo>
                  <a:pt x="200" y="167"/>
                </a:lnTo>
                <a:lnTo>
                  <a:pt x="196" y="175"/>
                </a:lnTo>
                <a:lnTo>
                  <a:pt x="191" y="182"/>
                </a:lnTo>
                <a:lnTo>
                  <a:pt x="184" y="187"/>
                </a:lnTo>
                <a:lnTo>
                  <a:pt x="178" y="192"/>
                </a:lnTo>
                <a:lnTo>
                  <a:pt x="178" y="192"/>
                </a:lnTo>
                <a:lnTo>
                  <a:pt x="176" y="185"/>
                </a:lnTo>
                <a:lnTo>
                  <a:pt x="174" y="180"/>
                </a:lnTo>
                <a:lnTo>
                  <a:pt x="170" y="175"/>
                </a:lnTo>
                <a:lnTo>
                  <a:pt x="165" y="170"/>
                </a:lnTo>
                <a:lnTo>
                  <a:pt x="159" y="166"/>
                </a:lnTo>
                <a:lnTo>
                  <a:pt x="153" y="163"/>
                </a:lnTo>
                <a:lnTo>
                  <a:pt x="145" y="162"/>
                </a:lnTo>
                <a:lnTo>
                  <a:pt x="139" y="161"/>
                </a:lnTo>
                <a:lnTo>
                  <a:pt x="139" y="161"/>
                </a:lnTo>
                <a:lnTo>
                  <a:pt x="135" y="162"/>
                </a:lnTo>
                <a:lnTo>
                  <a:pt x="135" y="162"/>
                </a:lnTo>
                <a:lnTo>
                  <a:pt x="133" y="154"/>
                </a:lnTo>
                <a:lnTo>
                  <a:pt x="130" y="146"/>
                </a:lnTo>
                <a:lnTo>
                  <a:pt x="126" y="140"/>
                </a:lnTo>
                <a:lnTo>
                  <a:pt x="119" y="133"/>
                </a:lnTo>
                <a:lnTo>
                  <a:pt x="113" y="130"/>
                </a:lnTo>
                <a:lnTo>
                  <a:pt x="105" y="126"/>
                </a:lnTo>
                <a:lnTo>
                  <a:pt x="96" y="123"/>
                </a:lnTo>
                <a:lnTo>
                  <a:pt x="87" y="123"/>
                </a:lnTo>
                <a:lnTo>
                  <a:pt x="87" y="123"/>
                </a:lnTo>
                <a:lnTo>
                  <a:pt x="78" y="123"/>
                </a:lnTo>
                <a:lnTo>
                  <a:pt x="69" y="126"/>
                </a:lnTo>
                <a:lnTo>
                  <a:pt x="61" y="130"/>
                </a:lnTo>
                <a:lnTo>
                  <a:pt x="53" y="135"/>
                </a:lnTo>
                <a:lnTo>
                  <a:pt x="53" y="135"/>
                </a:lnTo>
                <a:lnTo>
                  <a:pt x="53" y="130"/>
                </a:lnTo>
                <a:lnTo>
                  <a:pt x="53" y="130"/>
                </a:lnTo>
                <a:lnTo>
                  <a:pt x="53" y="120"/>
                </a:lnTo>
                <a:lnTo>
                  <a:pt x="54" y="113"/>
                </a:lnTo>
                <a:lnTo>
                  <a:pt x="59" y="98"/>
                </a:lnTo>
                <a:lnTo>
                  <a:pt x="66" y="85"/>
                </a:lnTo>
                <a:lnTo>
                  <a:pt x="76" y="74"/>
                </a:lnTo>
                <a:lnTo>
                  <a:pt x="88" y="63"/>
                </a:lnTo>
                <a:lnTo>
                  <a:pt x="101" y="57"/>
                </a:lnTo>
                <a:lnTo>
                  <a:pt x="115" y="52"/>
                </a:lnTo>
                <a:lnTo>
                  <a:pt x="123" y="50"/>
                </a:lnTo>
                <a:lnTo>
                  <a:pt x="131" y="50"/>
                </a:lnTo>
                <a:lnTo>
                  <a:pt x="131" y="50"/>
                </a:lnTo>
                <a:close/>
                <a:moveTo>
                  <a:pt x="30" y="83"/>
                </a:moveTo>
                <a:lnTo>
                  <a:pt x="30" y="83"/>
                </a:lnTo>
                <a:lnTo>
                  <a:pt x="23" y="78"/>
                </a:lnTo>
                <a:lnTo>
                  <a:pt x="19" y="74"/>
                </a:lnTo>
                <a:lnTo>
                  <a:pt x="17" y="68"/>
                </a:lnTo>
                <a:lnTo>
                  <a:pt x="18" y="65"/>
                </a:lnTo>
                <a:lnTo>
                  <a:pt x="18" y="65"/>
                </a:lnTo>
                <a:lnTo>
                  <a:pt x="20" y="62"/>
                </a:lnTo>
                <a:lnTo>
                  <a:pt x="26" y="61"/>
                </a:lnTo>
                <a:lnTo>
                  <a:pt x="32" y="62"/>
                </a:lnTo>
                <a:lnTo>
                  <a:pt x="40" y="65"/>
                </a:lnTo>
                <a:lnTo>
                  <a:pt x="40" y="65"/>
                </a:lnTo>
                <a:lnTo>
                  <a:pt x="45" y="70"/>
                </a:lnTo>
                <a:lnTo>
                  <a:pt x="50" y="75"/>
                </a:lnTo>
                <a:lnTo>
                  <a:pt x="52" y="79"/>
                </a:lnTo>
                <a:lnTo>
                  <a:pt x="52" y="84"/>
                </a:lnTo>
                <a:lnTo>
                  <a:pt x="52" y="84"/>
                </a:lnTo>
                <a:lnTo>
                  <a:pt x="48" y="87"/>
                </a:lnTo>
                <a:lnTo>
                  <a:pt x="43" y="87"/>
                </a:lnTo>
                <a:lnTo>
                  <a:pt x="36" y="85"/>
                </a:lnTo>
                <a:lnTo>
                  <a:pt x="30" y="83"/>
                </a:lnTo>
                <a:lnTo>
                  <a:pt x="30" y="83"/>
                </a:lnTo>
                <a:close/>
                <a:moveTo>
                  <a:pt x="39" y="128"/>
                </a:moveTo>
                <a:lnTo>
                  <a:pt x="39" y="128"/>
                </a:lnTo>
                <a:lnTo>
                  <a:pt x="37" y="132"/>
                </a:lnTo>
                <a:lnTo>
                  <a:pt x="33" y="136"/>
                </a:lnTo>
                <a:lnTo>
                  <a:pt x="27" y="137"/>
                </a:lnTo>
                <a:lnTo>
                  <a:pt x="19" y="139"/>
                </a:lnTo>
                <a:lnTo>
                  <a:pt x="19" y="139"/>
                </a:lnTo>
                <a:lnTo>
                  <a:pt x="13" y="137"/>
                </a:lnTo>
                <a:lnTo>
                  <a:pt x="6" y="136"/>
                </a:lnTo>
                <a:lnTo>
                  <a:pt x="2" y="132"/>
                </a:lnTo>
                <a:lnTo>
                  <a:pt x="1" y="128"/>
                </a:lnTo>
                <a:lnTo>
                  <a:pt x="1" y="128"/>
                </a:lnTo>
                <a:lnTo>
                  <a:pt x="2" y="124"/>
                </a:lnTo>
                <a:lnTo>
                  <a:pt x="6" y="122"/>
                </a:lnTo>
                <a:lnTo>
                  <a:pt x="13" y="119"/>
                </a:lnTo>
                <a:lnTo>
                  <a:pt x="19" y="118"/>
                </a:lnTo>
                <a:lnTo>
                  <a:pt x="19" y="118"/>
                </a:lnTo>
                <a:lnTo>
                  <a:pt x="27" y="119"/>
                </a:lnTo>
                <a:lnTo>
                  <a:pt x="33" y="122"/>
                </a:lnTo>
                <a:lnTo>
                  <a:pt x="37" y="124"/>
                </a:lnTo>
                <a:lnTo>
                  <a:pt x="39" y="128"/>
                </a:lnTo>
                <a:lnTo>
                  <a:pt x="39" y="128"/>
                </a:lnTo>
                <a:close/>
                <a:moveTo>
                  <a:pt x="41" y="171"/>
                </a:moveTo>
                <a:lnTo>
                  <a:pt x="41" y="171"/>
                </a:lnTo>
                <a:lnTo>
                  <a:pt x="45" y="171"/>
                </a:lnTo>
                <a:lnTo>
                  <a:pt x="45" y="171"/>
                </a:lnTo>
                <a:lnTo>
                  <a:pt x="46" y="166"/>
                </a:lnTo>
                <a:lnTo>
                  <a:pt x="49" y="159"/>
                </a:lnTo>
                <a:lnTo>
                  <a:pt x="53" y="154"/>
                </a:lnTo>
                <a:lnTo>
                  <a:pt x="58" y="149"/>
                </a:lnTo>
                <a:lnTo>
                  <a:pt x="63" y="145"/>
                </a:lnTo>
                <a:lnTo>
                  <a:pt x="71" y="143"/>
                </a:lnTo>
                <a:lnTo>
                  <a:pt x="78" y="141"/>
                </a:lnTo>
                <a:lnTo>
                  <a:pt x="85" y="140"/>
                </a:lnTo>
                <a:lnTo>
                  <a:pt x="85" y="140"/>
                </a:lnTo>
                <a:lnTo>
                  <a:pt x="93" y="141"/>
                </a:lnTo>
                <a:lnTo>
                  <a:pt x="101" y="143"/>
                </a:lnTo>
                <a:lnTo>
                  <a:pt x="107" y="145"/>
                </a:lnTo>
                <a:lnTo>
                  <a:pt x="113" y="149"/>
                </a:lnTo>
                <a:lnTo>
                  <a:pt x="118" y="154"/>
                </a:lnTo>
                <a:lnTo>
                  <a:pt x="122" y="159"/>
                </a:lnTo>
                <a:lnTo>
                  <a:pt x="124" y="165"/>
                </a:lnTo>
                <a:lnTo>
                  <a:pt x="126" y="171"/>
                </a:lnTo>
                <a:lnTo>
                  <a:pt x="126" y="171"/>
                </a:lnTo>
                <a:lnTo>
                  <a:pt x="130" y="171"/>
                </a:lnTo>
                <a:lnTo>
                  <a:pt x="130" y="171"/>
                </a:lnTo>
                <a:lnTo>
                  <a:pt x="136" y="172"/>
                </a:lnTo>
                <a:lnTo>
                  <a:pt x="143" y="174"/>
                </a:lnTo>
                <a:lnTo>
                  <a:pt x="149" y="176"/>
                </a:lnTo>
                <a:lnTo>
                  <a:pt x="153" y="180"/>
                </a:lnTo>
                <a:lnTo>
                  <a:pt x="158" y="184"/>
                </a:lnTo>
                <a:lnTo>
                  <a:pt x="161" y="189"/>
                </a:lnTo>
                <a:lnTo>
                  <a:pt x="163" y="195"/>
                </a:lnTo>
                <a:lnTo>
                  <a:pt x="163" y="200"/>
                </a:lnTo>
                <a:lnTo>
                  <a:pt x="163" y="200"/>
                </a:lnTo>
                <a:lnTo>
                  <a:pt x="163" y="206"/>
                </a:lnTo>
                <a:lnTo>
                  <a:pt x="161" y="211"/>
                </a:lnTo>
                <a:lnTo>
                  <a:pt x="158" y="215"/>
                </a:lnTo>
                <a:lnTo>
                  <a:pt x="153" y="221"/>
                </a:lnTo>
                <a:lnTo>
                  <a:pt x="149" y="223"/>
                </a:lnTo>
                <a:lnTo>
                  <a:pt x="143" y="226"/>
                </a:lnTo>
                <a:lnTo>
                  <a:pt x="136" y="228"/>
                </a:lnTo>
                <a:lnTo>
                  <a:pt x="130" y="228"/>
                </a:lnTo>
                <a:lnTo>
                  <a:pt x="130" y="228"/>
                </a:lnTo>
                <a:lnTo>
                  <a:pt x="123" y="228"/>
                </a:lnTo>
                <a:lnTo>
                  <a:pt x="123" y="228"/>
                </a:lnTo>
                <a:lnTo>
                  <a:pt x="120" y="234"/>
                </a:lnTo>
                <a:lnTo>
                  <a:pt x="118" y="237"/>
                </a:lnTo>
                <a:lnTo>
                  <a:pt x="115" y="243"/>
                </a:lnTo>
                <a:lnTo>
                  <a:pt x="111" y="247"/>
                </a:lnTo>
                <a:lnTo>
                  <a:pt x="107" y="249"/>
                </a:lnTo>
                <a:lnTo>
                  <a:pt x="102" y="252"/>
                </a:lnTo>
                <a:lnTo>
                  <a:pt x="97" y="253"/>
                </a:lnTo>
                <a:lnTo>
                  <a:pt x="91" y="253"/>
                </a:lnTo>
                <a:lnTo>
                  <a:pt x="91" y="253"/>
                </a:lnTo>
                <a:lnTo>
                  <a:pt x="85" y="253"/>
                </a:lnTo>
                <a:lnTo>
                  <a:pt x="81" y="252"/>
                </a:lnTo>
                <a:lnTo>
                  <a:pt x="72" y="248"/>
                </a:lnTo>
                <a:lnTo>
                  <a:pt x="66" y="241"/>
                </a:lnTo>
                <a:lnTo>
                  <a:pt x="61" y="232"/>
                </a:lnTo>
                <a:lnTo>
                  <a:pt x="61" y="232"/>
                </a:lnTo>
                <a:lnTo>
                  <a:pt x="52" y="236"/>
                </a:lnTo>
                <a:lnTo>
                  <a:pt x="41" y="237"/>
                </a:lnTo>
                <a:lnTo>
                  <a:pt x="41" y="237"/>
                </a:lnTo>
                <a:lnTo>
                  <a:pt x="32" y="236"/>
                </a:lnTo>
                <a:lnTo>
                  <a:pt x="24" y="235"/>
                </a:lnTo>
                <a:lnTo>
                  <a:pt x="18" y="231"/>
                </a:lnTo>
                <a:lnTo>
                  <a:pt x="11" y="227"/>
                </a:lnTo>
                <a:lnTo>
                  <a:pt x="6" y="222"/>
                </a:lnTo>
                <a:lnTo>
                  <a:pt x="2" y="217"/>
                </a:lnTo>
                <a:lnTo>
                  <a:pt x="0" y="210"/>
                </a:lnTo>
                <a:lnTo>
                  <a:pt x="0" y="204"/>
                </a:lnTo>
                <a:lnTo>
                  <a:pt x="0" y="204"/>
                </a:lnTo>
                <a:lnTo>
                  <a:pt x="0" y="197"/>
                </a:lnTo>
                <a:lnTo>
                  <a:pt x="2" y="192"/>
                </a:lnTo>
                <a:lnTo>
                  <a:pt x="6" y="185"/>
                </a:lnTo>
                <a:lnTo>
                  <a:pt x="11" y="182"/>
                </a:lnTo>
                <a:lnTo>
                  <a:pt x="18" y="176"/>
                </a:lnTo>
                <a:lnTo>
                  <a:pt x="24" y="174"/>
                </a:lnTo>
                <a:lnTo>
                  <a:pt x="32" y="172"/>
                </a:lnTo>
                <a:lnTo>
                  <a:pt x="41" y="171"/>
                </a:lnTo>
                <a:lnTo>
                  <a:pt x="41" y="171"/>
                </a:lnTo>
                <a:close/>
                <a:moveTo>
                  <a:pt x="139" y="232"/>
                </a:moveTo>
                <a:lnTo>
                  <a:pt x="139" y="232"/>
                </a:lnTo>
                <a:lnTo>
                  <a:pt x="139" y="232"/>
                </a:lnTo>
                <a:lnTo>
                  <a:pt x="139" y="232"/>
                </a:lnTo>
                <a:lnTo>
                  <a:pt x="139" y="237"/>
                </a:lnTo>
                <a:lnTo>
                  <a:pt x="139" y="237"/>
                </a:lnTo>
                <a:lnTo>
                  <a:pt x="139" y="245"/>
                </a:lnTo>
                <a:lnTo>
                  <a:pt x="136" y="252"/>
                </a:lnTo>
                <a:lnTo>
                  <a:pt x="132" y="256"/>
                </a:lnTo>
                <a:lnTo>
                  <a:pt x="128" y="257"/>
                </a:lnTo>
                <a:lnTo>
                  <a:pt x="128" y="257"/>
                </a:lnTo>
                <a:lnTo>
                  <a:pt x="127" y="257"/>
                </a:lnTo>
                <a:lnTo>
                  <a:pt x="124" y="256"/>
                </a:lnTo>
                <a:lnTo>
                  <a:pt x="122" y="250"/>
                </a:lnTo>
                <a:lnTo>
                  <a:pt x="122" y="250"/>
                </a:lnTo>
                <a:lnTo>
                  <a:pt x="127" y="241"/>
                </a:lnTo>
                <a:lnTo>
                  <a:pt x="130" y="232"/>
                </a:lnTo>
                <a:lnTo>
                  <a:pt x="130" y="232"/>
                </a:lnTo>
                <a:lnTo>
                  <a:pt x="139" y="232"/>
                </a:lnTo>
                <a:lnTo>
                  <a:pt x="139" y="232"/>
                </a:lnTo>
                <a:close/>
                <a:moveTo>
                  <a:pt x="192" y="218"/>
                </a:moveTo>
                <a:lnTo>
                  <a:pt x="192" y="218"/>
                </a:lnTo>
                <a:lnTo>
                  <a:pt x="196" y="224"/>
                </a:lnTo>
                <a:lnTo>
                  <a:pt x="196" y="231"/>
                </a:lnTo>
                <a:lnTo>
                  <a:pt x="196" y="236"/>
                </a:lnTo>
                <a:lnTo>
                  <a:pt x="193" y="240"/>
                </a:lnTo>
                <a:lnTo>
                  <a:pt x="193" y="240"/>
                </a:lnTo>
                <a:lnTo>
                  <a:pt x="189" y="240"/>
                </a:lnTo>
                <a:lnTo>
                  <a:pt x="184" y="239"/>
                </a:lnTo>
                <a:lnTo>
                  <a:pt x="179" y="234"/>
                </a:lnTo>
                <a:lnTo>
                  <a:pt x="175" y="228"/>
                </a:lnTo>
                <a:lnTo>
                  <a:pt x="175" y="228"/>
                </a:lnTo>
                <a:lnTo>
                  <a:pt x="172" y="223"/>
                </a:lnTo>
                <a:lnTo>
                  <a:pt x="171" y="218"/>
                </a:lnTo>
                <a:lnTo>
                  <a:pt x="171" y="218"/>
                </a:lnTo>
                <a:lnTo>
                  <a:pt x="175" y="211"/>
                </a:lnTo>
                <a:lnTo>
                  <a:pt x="178" y="205"/>
                </a:lnTo>
                <a:lnTo>
                  <a:pt x="178" y="205"/>
                </a:lnTo>
                <a:lnTo>
                  <a:pt x="182" y="206"/>
                </a:lnTo>
                <a:lnTo>
                  <a:pt x="185" y="209"/>
                </a:lnTo>
                <a:lnTo>
                  <a:pt x="189" y="213"/>
                </a:lnTo>
                <a:lnTo>
                  <a:pt x="192" y="218"/>
                </a:lnTo>
                <a:lnTo>
                  <a:pt x="192" y="218"/>
                </a:lnTo>
                <a:close/>
                <a:moveTo>
                  <a:pt x="228" y="174"/>
                </a:moveTo>
                <a:lnTo>
                  <a:pt x="228" y="174"/>
                </a:lnTo>
                <a:lnTo>
                  <a:pt x="235" y="179"/>
                </a:lnTo>
                <a:lnTo>
                  <a:pt x="239" y="184"/>
                </a:lnTo>
                <a:lnTo>
                  <a:pt x="241" y="188"/>
                </a:lnTo>
                <a:lnTo>
                  <a:pt x="240" y="193"/>
                </a:lnTo>
                <a:lnTo>
                  <a:pt x="240" y="193"/>
                </a:lnTo>
                <a:lnTo>
                  <a:pt x="237" y="196"/>
                </a:lnTo>
                <a:lnTo>
                  <a:pt x="232" y="196"/>
                </a:lnTo>
                <a:lnTo>
                  <a:pt x="226" y="195"/>
                </a:lnTo>
                <a:lnTo>
                  <a:pt x="218" y="192"/>
                </a:lnTo>
                <a:lnTo>
                  <a:pt x="218" y="192"/>
                </a:lnTo>
                <a:lnTo>
                  <a:pt x="213" y="187"/>
                </a:lnTo>
                <a:lnTo>
                  <a:pt x="208" y="183"/>
                </a:lnTo>
                <a:lnTo>
                  <a:pt x="206" y="178"/>
                </a:lnTo>
                <a:lnTo>
                  <a:pt x="206" y="174"/>
                </a:lnTo>
                <a:lnTo>
                  <a:pt x="206" y="174"/>
                </a:lnTo>
                <a:lnTo>
                  <a:pt x="210" y="171"/>
                </a:lnTo>
                <a:lnTo>
                  <a:pt x="215" y="170"/>
                </a:lnTo>
                <a:lnTo>
                  <a:pt x="222" y="171"/>
                </a:lnTo>
                <a:lnTo>
                  <a:pt x="228" y="174"/>
                </a:lnTo>
                <a:lnTo>
                  <a:pt x="228" y="174"/>
                </a:lnTo>
                <a:close/>
                <a:moveTo>
                  <a:pt x="219" y="128"/>
                </a:moveTo>
                <a:lnTo>
                  <a:pt x="219" y="128"/>
                </a:lnTo>
                <a:lnTo>
                  <a:pt x="219" y="127"/>
                </a:lnTo>
                <a:lnTo>
                  <a:pt x="219" y="127"/>
                </a:lnTo>
                <a:lnTo>
                  <a:pt x="221" y="124"/>
                </a:lnTo>
                <a:lnTo>
                  <a:pt x="221" y="124"/>
                </a:lnTo>
                <a:lnTo>
                  <a:pt x="223" y="122"/>
                </a:lnTo>
                <a:lnTo>
                  <a:pt x="227" y="120"/>
                </a:lnTo>
                <a:lnTo>
                  <a:pt x="232" y="119"/>
                </a:lnTo>
                <a:lnTo>
                  <a:pt x="237" y="118"/>
                </a:lnTo>
                <a:lnTo>
                  <a:pt x="237" y="118"/>
                </a:lnTo>
                <a:lnTo>
                  <a:pt x="245" y="119"/>
                </a:lnTo>
                <a:lnTo>
                  <a:pt x="252" y="122"/>
                </a:lnTo>
                <a:lnTo>
                  <a:pt x="256" y="124"/>
                </a:lnTo>
                <a:lnTo>
                  <a:pt x="257" y="128"/>
                </a:lnTo>
                <a:lnTo>
                  <a:pt x="257" y="128"/>
                </a:lnTo>
                <a:lnTo>
                  <a:pt x="256" y="132"/>
                </a:lnTo>
                <a:lnTo>
                  <a:pt x="252" y="136"/>
                </a:lnTo>
                <a:lnTo>
                  <a:pt x="245" y="137"/>
                </a:lnTo>
                <a:lnTo>
                  <a:pt x="237" y="139"/>
                </a:lnTo>
                <a:lnTo>
                  <a:pt x="237" y="139"/>
                </a:lnTo>
                <a:lnTo>
                  <a:pt x="231" y="137"/>
                </a:lnTo>
                <a:lnTo>
                  <a:pt x="224" y="136"/>
                </a:lnTo>
                <a:lnTo>
                  <a:pt x="221" y="132"/>
                </a:lnTo>
                <a:lnTo>
                  <a:pt x="219" y="128"/>
                </a:lnTo>
                <a:lnTo>
                  <a:pt x="219" y="128"/>
                </a:lnTo>
                <a:close/>
              </a:path>
            </a:pathLst>
          </a:custGeom>
          <a:solidFill>
            <a:schemeClr val="accent2">
              <a:lumMod val="75000"/>
            </a:schemeClr>
          </a:solidFill>
          <a:ln>
            <a:solidFill>
              <a:srgbClr val="C55A11"/>
            </a:solidFill>
          </a:ln>
          <a:extLst/>
        </p:spPr>
        <p:txBody>
          <a:bodyPr vert="horz" wrap="square" lIns="91440" tIns="45720" rIns="91440" bIns="45720" numCol="1" anchor="t" anchorCtr="0" compatLnSpc="1">
            <a:prstTxWarp prst="textNoShape">
              <a:avLst/>
            </a:prstTxWarp>
          </a:bodyPr>
          <a:lstStyle/>
          <a:p>
            <a:endParaRPr lang="zh-CN" altLang="en-US"/>
          </a:p>
        </p:txBody>
      </p:sp>
      <p:grpSp>
        <p:nvGrpSpPr>
          <p:cNvPr id="31" name="组合 30"/>
          <p:cNvGrpSpPr/>
          <p:nvPr/>
        </p:nvGrpSpPr>
        <p:grpSpPr>
          <a:xfrm>
            <a:off x="4953370" y="0"/>
            <a:ext cx="2339102" cy="1708002"/>
            <a:chOff x="4953370" y="0"/>
            <a:chExt cx="2339102" cy="1708002"/>
          </a:xfrm>
        </p:grpSpPr>
        <p:sp>
          <p:nvSpPr>
            <p:cNvPr id="32" name="矩形 31"/>
            <p:cNvSpPr/>
            <p:nvPr/>
          </p:nvSpPr>
          <p:spPr>
            <a:xfrm>
              <a:off x="4953370" y="1184782"/>
              <a:ext cx="2339102" cy="523220"/>
            </a:xfrm>
            <a:prstGeom prst="rect">
              <a:avLst/>
            </a:prstGeom>
          </p:spPr>
          <p:txBody>
            <a:bodyPr wrap="none">
              <a:spAutoFit/>
            </a:bodyPr>
            <a:lstStyle/>
            <a:p>
              <a:r>
                <a:rPr lang="zh-CN" altLang="en-US" sz="2800" b="1" dirty="0" smtClean="0">
                  <a:solidFill>
                    <a:schemeClr val="accent2">
                      <a:lumMod val="75000"/>
                    </a:schemeClr>
                  </a:solidFill>
                  <a:latin typeface="Simsun" panose="02010600030101010101" pitchFamily="2" charset="-122"/>
                  <a:ea typeface="Simsun" panose="02010600030101010101" pitchFamily="2" charset="-122"/>
                </a:rPr>
                <a:t>需求是模糊的</a:t>
              </a:r>
              <a:endParaRPr lang="zh-CN" altLang="en-US" sz="2800" b="1" dirty="0"/>
            </a:p>
          </p:txBody>
        </p:sp>
        <p:cxnSp>
          <p:nvCxnSpPr>
            <p:cNvPr id="33" name="直接连接符 32"/>
            <p:cNvCxnSpPr>
              <a:stCxn id="34" idx="4"/>
              <a:endCxn id="35" idx="4"/>
            </p:cNvCxnSpPr>
            <p:nvPr/>
          </p:nvCxnSpPr>
          <p:spPr>
            <a:xfrm>
              <a:off x="6110728" y="133446"/>
              <a:ext cx="12193" cy="91789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34" name="椭圆 33"/>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5" name="椭圆 34"/>
            <p:cNvSpPr/>
            <p:nvPr/>
          </p:nvSpPr>
          <p:spPr>
            <a:xfrm>
              <a:off x="6056198" y="91789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1" name="矩形 20"/>
          <p:cNvSpPr/>
          <p:nvPr/>
        </p:nvSpPr>
        <p:spPr>
          <a:xfrm>
            <a:off x="1545080" y="2277584"/>
            <a:ext cx="4968369" cy="2762744"/>
          </a:xfrm>
          <a:prstGeom prst="rect">
            <a:avLst/>
          </a:prstGeom>
        </p:spPr>
        <p:txBody>
          <a:bodyPr wrap="square">
            <a:spAutoFit/>
          </a:bodyPr>
          <a:lstStyle/>
          <a:p>
            <a:pPr marL="285750" indent="-285750">
              <a:lnSpc>
                <a:spcPct val="200000"/>
              </a:lnSpc>
              <a:buFont typeface="Arial" charset="0"/>
              <a:buChar char="•"/>
            </a:pPr>
            <a:r>
              <a:rPr lang="zh-CN" altLang="en-US" dirty="0" smtClean="0">
                <a:solidFill>
                  <a:schemeClr val="accent2">
                    <a:lumMod val="75000"/>
                  </a:schemeClr>
                </a:solidFill>
                <a:latin typeface="Simsun" panose="02010600030101010101" pitchFamily="2" charset="-122"/>
                <a:ea typeface="Simsun" panose="02010600030101010101" pitchFamily="2" charset="-122"/>
              </a:rPr>
              <a:t>很多用户不是专业的，不懂软件</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pPr marL="285750" indent="-285750">
              <a:lnSpc>
                <a:spcPct val="200000"/>
              </a:lnSpc>
              <a:buFont typeface="Arial" charset="0"/>
              <a:buChar char="•"/>
            </a:pPr>
            <a:r>
              <a:rPr lang="zh-CN" altLang="en-US" dirty="0" smtClean="0">
                <a:solidFill>
                  <a:schemeClr val="accent2">
                    <a:lumMod val="75000"/>
                  </a:schemeClr>
                </a:solidFill>
                <a:latin typeface="Simsun" panose="02010600030101010101" pitchFamily="2" charset="-122"/>
                <a:ea typeface="Simsun" panose="02010600030101010101" pitchFamily="2" charset="-122"/>
              </a:rPr>
              <a:t>客户只有基本需求，许多潜在需求待挖掘</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pPr marL="285750" indent="-285750">
              <a:lnSpc>
                <a:spcPct val="200000"/>
              </a:lnSpc>
              <a:buFont typeface="Arial" charset="0"/>
              <a:buChar char="•"/>
            </a:pPr>
            <a:r>
              <a:rPr lang="zh-CN" altLang="en-US" dirty="0" smtClean="0">
                <a:solidFill>
                  <a:schemeClr val="accent2">
                    <a:lumMod val="75000"/>
                  </a:schemeClr>
                </a:solidFill>
                <a:latin typeface="Simsun" panose="02010600030101010101" pitchFamily="2" charset="-122"/>
                <a:ea typeface="Simsun" panose="02010600030101010101" pitchFamily="2" charset="-122"/>
              </a:rPr>
              <a:t>许多创新应用的需求不是一开始就完全明确的，像拼图一块一块拼接起来</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pPr marL="285750" indent="-285750">
              <a:lnSpc>
                <a:spcPct val="200000"/>
              </a:lnSpc>
              <a:buFont typeface="Arial" charset="0"/>
              <a:buChar char="•"/>
            </a:pPr>
            <a:r>
              <a:rPr lang="zh-CN" altLang="en-US" dirty="0" smtClean="0">
                <a:solidFill>
                  <a:schemeClr val="accent2">
                    <a:lumMod val="75000"/>
                  </a:schemeClr>
                </a:solidFill>
                <a:latin typeface="Simsun" panose="02010600030101010101" pitchFamily="2" charset="-122"/>
                <a:ea typeface="Simsun" panose="02010600030101010101" pitchFamily="2" charset="-122"/>
              </a:rPr>
              <a:t>许多客户提需求时忽视了可行性</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39495783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a:off x="5312442" y="0"/>
            <a:ext cx="1620957" cy="1647104"/>
            <a:chOff x="5312442" y="0"/>
            <a:chExt cx="1620957" cy="1647104"/>
          </a:xfrm>
        </p:grpSpPr>
        <p:sp>
          <p:nvSpPr>
            <p:cNvPr id="2" name="矩形 1"/>
            <p:cNvSpPr/>
            <p:nvPr/>
          </p:nvSpPr>
          <p:spPr>
            <a:xfrm>
              <a:off x="5312442" y="1123884"/>
              <a:ext cx="1620957" cy="523220"/>
            </a:xfrm>
            <a:prstGeom prst="rect">
              <a:avLst/>
            </a:prstGeom>
          </p:spPr>
          <p:txBody>
            <a:bodyPr wrap="none">
              <a:spAutoFit/>
            </a:bodyPr>
            <a:lstStyle/>
            <a:p>
              <a:r>
                <a:rPr lang="zh-CN" altLang="en-US" sz="2800" b="1" i="0" smtClean="0">
                  <a:solidFill>
                    <a:schemeClr val="accent2">
                      <a:lumMod val="75000"/>
                    </a:schemeClr>
                  </a:solidFill>
                  <a:effectLst/>
                  <a:latin typeface="Simsun" panose="02010600030101010101" pitchFamily="2" charset="-122"/>
                  <a:ea typeface="Simsun" panose="02010600030101010101" pitchFamily="2" charset="-122"/>
                </a:rPr>
                <a:t>需求变动</a:t>
              </a:r>
              <a:endParaRPr lang="zh-CN" altLang="en-US" sz="2800" b="1" dirty="0"/>
            </a:p>
          </p:txBody>
        </p:sp>
        <p:cxnSp>
          <p:nvCxnSpPr>
            <p:cNvPr id="4" name="直接连接符 3"/>
            <p:cNvCxnSpPr>
              <a:stCxn id="5" idx="4"/>
              <a:endCxn id="6" idx="4"/>
            </p:cNvCxnSpPr>
            <p:nvPr/>
          </p:nvCxnSpPr>
          <p:spPr>
            <a:xfrm>
              <a:off x="6110728" y="133446"/>
              <a:ext cx="12193" cy="91789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6056198" y="91789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6" name="组合 25"/>
          <p:cNvGrpSpPr/>
          <p:nvPr/>
        </p:nvGrpSpPr>
        <p:grpSpPr>
          <a:xfrm>
            <a:off x="1579311" y="2571857"/>
            <a:ext cx="9033377" cy="1746222"/>
            <a:chOff x="953723" y="2972966"/>
            <a:chExt cx="10284553" cy="1988085"/>
          </a:xfrm>
        </p:grpSpPr>
        <p:grpSp>
          <p:nvGrpSpPr>
            <p:cNvPr id="7" name="组合 6"/>
            <p:cNvGrpSpPr/>
            <p:nvPr/>
          </p:nvGrpSpPr>
          <p:grpSpPr>
            <a:xfrm>
              <a:off x="953723" y="2972966"/>
              <a:ext cx="1988083" cy="1988085"/>
              <a:chOff x="1488310" y="1579494"/>
              <a:chExt cx="1414094" cy="1414094"/>
            </a:xfrm>
          </p:grpSpPr>
          <p:grpSp>
            <p:nvGrpSpPr>
              <p:cNvPr id="8" name="组合 7"/>
              <p:cNvGrpSpPr/>
              <p:nvPr/>
            </p:nvGrpSpPr>
            <p:grpSpPr>
              <a:xfrm>
                <a:off x="1488310" y="1579494"/>
                <a:ext cx="1414094" cy="1414094"/>
                <a:chOff x="3176812" y="2273198"/>
                <a:chExt cx="2641825" cy="2726239"/>
              </a:xfrm>
            </p:grpSpPr>
            <p:sp>
              <p:nvSpPr>
                <p:cNvPr id="10" name="椭圆 9"/>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1" name="椭圆 10"/>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9" name="文本框 8"/>
              <p:cNvSpPr txBox="1"/>
              <p:nvPr/>
            </p:nvSpPr>
            <p:spPr>
              <a:xfrm>
                <a:off x="2120558" y="2056678"/>
                <a:ext cx="149595" cy="523400"/>
              </a:xfrm>
              <a:prstGeom prst="rect">
                <a:avLst/>
              </a:prstGeom>
              <a:noFill/>
            </p:spPr>
            <p:txBody>
              <a:bodyPr wrap="none" rtlCol="0">
                <a:spAutoFit/>
              </a:bodyPr>
              <a:lstStyle/>
              <a:p>
                <a:pPr algn="ctr"/>
                <a:endParaRPr lang="zh-CN" altLang="en-US" sz="36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grpSp>
          <p:nvGrpSpPr>
            <p:cNvPr id="12" name="组合 11"/>
            <p:cNvGrpSpPr/>
            <p:nvPr/>
          </p:nvGrpSpPr>
          <p:grpSpPr>
            <a:xfrm>
              <a:off x="9250193" y="2972966"/>
              <a:ext cx="1988083" cy="1988085"/>
              <a:chOff x="1488310" y="1579494"/>
              <a:chExt cx="1414094" cy="1414094"/>
            </a:xfrm>
          </p:grpSpPr>
          <p:grpSp>
            <p:nvGrpSpPr>
              <p:cNvPr id="13" name="组合 12"/>
              <p:cNvGrpSpPr/>
              <p:nvPr/>
            </p:nvGrpSpPr>
            <p:grpSpPr>
              <a:xfrm>
                <a:off x="1488310" y="1579494"/>
                <a:ext cx="1414094" cy="1414094"/>
                <a:chOff x="3176812" y="2273198"/>
                <a:chExt cx="2641825" cy="2726239"/>
              </a:xfrm>
            </p:grpSpPr>
            <p:sp>
              <p:nvSpPr>
                <p:cNvPr id="15" name="椭圆 14"/>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6" name="椭圆 15"/>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4" name="文本框 13"/>
              <p:cNvSpPr txBox="1"/>
              <p:nvPr/>
            </p:nvSpPr>
            <p:spPr>
              <a:xfrm>
                <a:off x="2120558" y="2056678"/>
                <a:ext cx="149595" cy="523400"/>
              </a:xfrm>
              <a:prstGeom prst="rect">
                <a:avLst/>
              </a:prstGeom>
              <a:noFill/>
            </p:spPr>
            <p:txBody>
              <a:bodyPr wrap="none" rtlCol="0">
                <a:spAutoFit/>
              </a:bodyPr>
              <a:lstStyle/>
              <a:p>
                <a:pPr algn="ctr"/>
                <a:endParaRPr lang="zh-CN" altLang="en-US" sz="36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cxnSp>
          <p:nvCxnSpPr>
            <p:cNvPr id="19" name="直接连接符 18"/>
            <p:cNvCxnSpPr/>
            <p:nvPr/>
          </p:nvCxnSpPr>
          <p:spPr>
            <a:xfrm>
              <a:off x="2941806" y="4022892"/>
              <a:ext cx="1770248" cy="0"/>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7511462" y="4020544"/>
              <a:ext cx="1770248" cy="0"/>
            </a:xfrm>
            <a:prstGeom prst="line">
              <a:avLst/>
            </a:prstGeom>
            <a:ln>
              <a:solidFill>
                <a:schemeClr val="bg1">
                  <a:lumMod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2876343" y="3953821"/>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9223724" y="3949049"/>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0" name="矩形 29"/>
          <p:cNvSpPr/>
          <p:nvPr/>
        </p:nvSpPr>
        <p:spPr>
          <a:xfrm>
            <a:off x="8027011" y="4912592"/>
            <a:ext cx="3425128" cy="830997"/>
          </a:xfrm>
          <a:prstGeom prst="rect">
            <a:avLst/>
          </a:prstGeom>
        </p:spPr>
        <p:txBody>
          <a:bodyPr wrap="square">
            <a:spAutoFit/>
          </a:bodyPr>
          <a:lstStyle/>
          <a:p>
            <a:r>
              <a:rPr lang="zh-CN" altLang="en-US" sz="2000" i="0" dirty="0" smtClean="0">
                <a:solidFill>
                  <a:schemeClr val="accent2">
                    <a:lumMod val="75000"/>
                  </a:schemeClr>
                </a:solidFill>
                <a:effectLst/>
                <a:latin typeface="Simsun" panose="02010600030101010101" pitchFamily="2" charset="-122"/>
                <a:ea typeface="Simsun" panose="02010600030101010101" pitchFamily="2" charset="-122"/>
              </a:rPr>
              <a:t>需求在频繁变动中也可能有开发人员和客户之间的误解</a:t>
            </a:r>
            <a:r>
              <a:rPr lang="en-US" altLang="zh-CN" sz="2800" i="0" dirty="0" smtClean="0">
                <a:solidFill>
                  <a:schemeClr val="accent2">
                    <a:lumMod val="75000"/>
                  </a:schemeClr>
                </a:solidFill>
                <a:effectLst/>
                <a:latin typeface="Simsun" panose="02010600030101010101" pitchFamily="2" charset="-122"/>
                <a:ea typeface="Simsun" panose="02010600030101010101" pitchFamily="2" charset="-122"/>
              </a:rPr>
              <a:t> </a:t>
            </a:r>
            <a:endParaRPr lang="zh-CN" altLang="en-US" sz="2800" dirty="0">
              <a:solidFill>
                <a:schemeClr val="accent2">
                  <a:lumMod val="75000"/>
                </a:schemeClr>
              </a:solidFill>
            </a:endParaRPr>
          </a:p>
        </p:txBody>
      </p:sp>
      <p:sp>
        <p:nvSpPr>
          <p:cNvPr id="31" name="矩形 30"/>
          <p:cNvSpPr/>
          <p:nvPr/>
        </p:nvSpPr>
        <p:spPr>
          <a:xfrm>
            <a:off x="911461" y="4912592"/>
            <a:ext cx="3425128" cy="1138773"/>
          </a:xfrm>
          <a:prstGeom prst="rect">
            <a:avLst/>
          </a:prstGeom>
        </p:spPr>
        <p:txBody>
          <a:bodyPr wrap="square">
            <a:spAutoFit/>
          </a:bodyPr>
          <a:lstStyle/>
          <a:p>
            <a:r>
              <a:rPr lang="zh-CN" altLang="en-US" sz="2000" dirty="0" smtClean="0">
                <a:solidFill>
                  <a:schemeClr val="accent2">
                    <a:lumMod val="75000"/>
                  </a:schemeClr>
                </a:solidFill>
                <a:latin typeface="Simsun" panose="02010600030101010101" pitchFamily="2" charset="-122"/>
                <a:ea typeface="Simsun" panose="02010600030101010101" pitchFamily="2" charset="-122"/>
              </a:rPr>
              <a:t>很少有项目的需求是一成不变的，需要在合同中明确“做什么”和“不做什么”</a:t>
            </a:r>
            <a:r>
              <a:rPr lang="en-US" altLang="zh-CN" sz="2800" i="0" dirty="0" smtClean="0">
                <a:solidFill>
                  <a:schemeClr val="accent2">
                    <a:lumMod val="75000"/>
                  </a:schemeClr>
                </a:solidFill>
                <a:effectLst/>
                <a:latin typeface="Simsun" panose="02010600030101010101" pitchFamily="2" charset="-122"/>
                <a:ea typeface="Simsun" panose="02010600030101010101" pitchFamily="2" charset="-122"/>
              </a:rPr>
              <a:t> </a:t>
            </a:r>
            <a:endParaRPr lang="zh-CN" altLang="en-US" sz="2800" dirty="0">
              <a:solidFill>
                <a:schemeClr val="accent2">
                  <a:lumMod val="75000"/>
                </a:schemeClr>
              </a:solidFill>
            </a:endParaRPr>
          </a:p>
        </p:txBody>
      </p:sp>
      <p:pic>
        <p:nvPicPr>
          <p:cNvPr id="18" name="图片 17"/>
          <p:cNvPicPr>
            <a:picLocks noChangeAspect="1"/>
          </p:cNvPicPr>
          <p:nvPr/>
        </p:nvPicPr>
        <p:blipFill>
          <a:blip r:embed="rId2">
            <a:clrChange>
              <a:clrFrom>
                <a:srgbClr val="FFFFFF"/>
              </a:clrFrom>
              <a:clrTo>
                <a:srgbClr val="FFFFFF">
                  <a:alpha val="0"/>
                </a:srgbClr>
              </a:clrTo>
            </a:clrChange>
          </a:blip>
          <a:stretch>
            <a:fillRect/>
          </a:stretch>
        </p:blipFill>
        <p:spPr>
          <a:xfrm>
            <a:off x="4528294" y="1934336"/>
            <a:ext cx="3115307" cy="3115307"/>
          </a:xfrm>
          <a:prstGeom prst="rect">
            <a:avLst/>
          </a:prstGeom>
        </p:spPr>
      </p:pic>
      <p:sp>
        <p:nvSpPr>
          <p:cNvPr id="20" name="文本框 19"/>
          <p:cNvSpPr txBox="1"/>
          <p:nvPr/>
        </p:nvSpPr>
        <p:spPr>
          <a:xfrm>
            <a:off x="1960784" y="3224327"/>
            <a:ext cx="1004834" cy="400110"/>
          </a:xfrm>
          <a:prstGeom prst="rect">
            <a:avLst/>
          </a:prstGeom>
          <a:noFill/>
        </p:spPr>
        <p:txBody>
          <a:bodyPr wrap="square" rtlCol="0">
            <a:spAutoFit/>
          </a:bodyPr>
          <a:lstStyle/>
          <a:p>
            <a:r>
              <a:rPr lang="en-US" altLang="zh-CN" sz="2000" dirty="0">
                <a:solidFill>
                  <a:schemeClr val="accent2">
                    <a:lumMod val="75000"/>
                  </a:schemeClr>
                </a:solidFill>
                <a:latin typeface="Simsun" panose="02010600030101010101" pitchFamily="2" charset="-122"/>
                <a:ea typeface="Simsun" panose="02010600030101010101" pitchFamily="2" charset="-122"/>
              </a:rPr>
              <a:t>change</a:t>
            </a:r>
            <a:endParaRPr lang="zh-CN" altLang="en-US" sz="2000" dirty="0">
              <a:solidFill>
                <a:schemeClr val="accent2">
                  <a:lumMod val="75000"/>
                </a:schemeClr>
              </a:solidFill>
              <a:latin typeface="Simsun" panose="02010600030101010101" pitchFamily="2" charset="-122"/>
              <a:ea typeface="Simsun" panose="02010600030101010101" pitchFamily="2" charset="-122"/>
            </a:endParaRPr>
          </a:p>
        </p:txBody>
      </p:sp>
      <p:sp>
        <p:nvSpPr>
          <p:cNvPr id="32" name="文本框 31"/>
          <p:cNvSpPr txBox="1"/>
          <p:nvPr/>
        </p:nvSpPr>
        <p:spPr>
          <a:xfrm>
            <a:off x="9130869" y="3130021"/>
            <a:ext cx="1217412" cy="707886"/>
          </a:xfrm>
          <a:prstGeom prst="rect">
            <a:avLst/>
          </a:prstGeom>
          <a:noFill/>
        </p:spPr>
        <p:txBody>
          <a:bodyPr wrap="square" rtlCol="0">
            <a:spAutoFit/>
          </a:bodyPr>
          <a:lstStyle/>
          <a:p>
            <a:r>
              <a:rPr lang="en-US" altLang="zh-CN" sz="2000" smtClean="0">
                <a:solidFill>
                  <a:schemeClr val="accent2">
                    <a:lumMod val="75000"/>
                  </a:schemeClr>
                </a:solidFill>
                <a:latin typeface="Simsun" panose="02010600030101010101" pitchFamily="2" charset="-122"/>
                <a:ea typeface="Simsun" panose="02010600030101010101" pitchFamily="2" charset="-122"/>
              </a:rPr>
              <a:t>misunderstand</a:t>
            </a:r>
            <a:endParaRPr lang="zh-CN" altLang="en-US" sz="2000" dirty="0">
              <a:solidFill>
                <a:schemeClr val="accent2">
                  <a:lumMod val="75000"/>
                </a:schemeClr>
              </a:solidFill>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388664932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圆角矩形 27"/>
          <p:cNvSpPr>
            <a:spLocks noChangeArrowheads="1"/>
          </p:cNvSpPr>
          <p:nvPr>
            <p:custDataLst>
              <p:tags r:id="rId2"/>
            </p:custDataLst>
          </p:nvPr>
        </p:nvSpPr>
        <p:spPr bwMode="auto">
          <a:xfrm>
            <a:off x="2552036" y="4174790"/>
            <a:ext cx="7092691" cy="106335"/>
          </a:xfrm>
          <a:prstGeom prst="roundRect">
            <a:avLst>
              <a:gd name="adj" fmla="val 50000"/>
            </a:avLst>
          </a:prstGeom>
          <a:solidFill>
            <a:srgbClr val="F2F2F2"/>
          </a:solidFill>
          <a:ln>
            <a:noFill/>
          </a:ln>
          <a:extLst>
            <a:ext uri="{91240B29-F687-4F45-9708-019B960494DF}">
              <a14:hiddenLine xmlns:a14="http://schemas.microsoft.com/office/drawing/2010/main" w="9525">
                <a:solidFill>
                  <a:srgbClr val="000000"/>
                </a:solidFill>
                <a:round/>
              </a14:hiddenLine>
            </a:ext>
          </a:extLst>
        </p:spPr>
        <p:txBody>
          <a:bodyPr wrap="square" anchor="ctr">
            <a:normAutofit fontScale="25000" lnSpcReduction="20000"/>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00" b="0" i="0" u="none" strike="noStrike" kern="1200" cap="none" spc="0" normalizeH="0" baseline="0" noProof="0">
              <a:ln>
                <a:noFill/>
              </a:ln>
              <a:solidFill>
                <a:srgbClr val="FFFFFF"/>
              </a:solidFill>
              <a:effectLst/>
              <a:uLnTx/>
              <a:uFillTx/>
              <a:latin typeface="Arial"/>
              <a:ea typeface="黑体"/>
              <a:cs typeface="+mn-cs"/>
            </a:endParaRPr>
          </a:p>
        </p:txBody>
      </p:sp>
      <p:grpSp>
        <p:nvGrpSpPr>
          <p:cNvPr id="4" name="组合 3"/>
          <p:cNvGrpSpPr/>
          <p:nvPr>
            <p:custDataLst>
              <p:tags r:id="rId3"/>
            </p:custDataLst>
          </p:nvPr>
        </p:nvGrpSpPr>
        <p:grpSpPr>
          <a:xfrm>
            <a:off x="2333019" y="1790986"/>
            <a:ext cx="2010839" cy="3964402"/>
            <a:chOff x="2333019" y="1790986"/>
            <a:chExt cx="2010839" cy="3964402"/>
          </a:xfrm>
        </p:grpSpPr>
        <p:sp>
          <p:nvSpPr>
            <p:cNvPr id="14339" name="下箭头 21"/>
            <p:cNvSpPr>
              <a:spLocks noChangeArrowheads="1"/>
            </p:cNvSpPr>
            <p:nvPr>
              <p:custDataLst>
                <p:tags r:id="rId15"/>
              </p:custDataLst>
            </p:nvPr>
          </p:nvSpPr>
          <p:spPr bwMode="auto">
            <a:xfrm>
              <a:off x="2729789" y="2316311"/>
              <a:ext cx="1218883" cy="1617241"/>
            </a:xfrm>
            <a:prstGeom prst="downArrow">
              <a:avLst>
                <a:gd name="adj1" fmla="val 50000"/>
                <a:gd name="adj2" fmla="val 50002"/>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normAutofit/>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00" b="0" i="0" u="none" strike="noStrike" kern="1200" cap="none" spc="0" normalizeH="0" baseline="0" noProof="0">
                <a:ln>
                  <a:noFill/>
                </a:ln>
                <a:solidFill>
                  <a:srgbClr val="FFFFFF"/>
                </a:solidFill>
                <a:effectLst/>
                <a:uLnTx/>
                <a:uFillTx/>
                <a:latin typeface="Arial"/>
                <a:ea typeface="黑体"/>
                <a:cs typeface="+mn-cs"/>
              </a:endParaRPr>
            </a:p>
          </p:txBody>
        </p:sp>
        <p:sp>
          <p:nvSpPr>
            <p:cNvPr id="14340" name="椭圆 23"/>
            <p:cNvSpPr>
              <a:spLocks noChangeArrowheads="1"/>
            </p:cNvSpPr>
            <p:nvPr>
              <p:custDataLst>
                <p:tags r:id="rId16"/>
              </p:custDataLst>
            </p:nvPr>
          </p:nvSpPr>
          <p:spPr bwMode="auto">
            <a:xfrm>
              <a:off x="2825015" y="1790986"/>
              <a:ext cx="1030020" cy="1031606"/>
            </a:xfrm>
            <a:prstGeom prst="ellipse">
              <a:avLst/>
            </a:prstGeom>
            <a:solidFill>
              <a:srgbClr val="FFFFFF"/>
            </a:solidFill>
            <a:ln w="190500" cmpd="sng">
              <a:solidFill>
                <a:schemeClr val="accent1"/>
              </a:solidFill>
              <a:round/>
            </a:ln>
          </p:spPr>
          <p:txBody>
            <a:bodyPr wrap="square" lIns="0" tIns="0" rIns="0" bIns="0" anchor="ctr">
              <a:normAutofit/>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333333"/>
                  </a:solidFill>
                  <a:effectLst/>
                  <a:uLnTx/>
                  <a:uFillTx/>
                  <a:latin typeface="Arial"/>
                  <a:ea typeface="黑体"/>
                  <a:cs typeface="+mn-cs"/>
                </a:rPr>
                <a:t>交流</a:t>
              </a:r>
            </a:p>
          </p:txBody>
        </p:sp>
        <p:sp>
          <p:nvSpPr>
            <p:cNvPr id="14341" name="椭圆 28"/>
            <p:cNvSpPr>
              <a:spLocks noChangeArrowheads="1"/>
            </p:cNvSpPr>
            <p:nvPr>
              <p:custDataLst>
                <p:tags r:id="rId17"/>
              </p:custDataLst>
            </p:nvPr>
          </p:nvSpPr>
          <p:spPr bwMode="auto">
            <a:xfrm>
              <a:off x="3256703" y="4143048"/>
              <a:ext cx="168231" cy="169819"/>
            </a:xfrm>
            <a:prstGeom prst="ellipse">
              <a:avLst/>
            </a:prstGeom>
            <a:solidFill>
              <a:srgbClr val="FFFFFF"/>
            </a:solidFill>
            <a:ln w="38100" cmpd="sng">
              <a:solidFill>
                <a:schemeClr val="accent1"/>
              </a:solidFill>
              <a:round/>
            </a:ln>
          </p:spPr>
          <p:txBody>
            <a:bodyPr wrap="square" anchor="ctr">
              <a:normAutofit fontScale="25000" lnSpcReduction="20000"/>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00" b="0" i="0" u="none" strike="noStrike" kern="1200" cap="none" spc="0" normalizeH="0" baseline="0" noProof="0">
                <a:ln>
                  <a:noFill/>
                </a:ln>
                <a:solidFill>
                  <a:srgbClr val="FFFFFF"/>
                </a:solidFill>
                <a:effectLst/>
                <a:uLnTx/>
                <a:uFillTx/>
                <a:latin typeface="Arial"/>
                <a:ea typeface="黑体"/>
                <a:cs typeface="+mn-cs"/>
              </a:endParaRPr>
            </a:p>
          </p:txBody>
        </p:sp>
        <p:sp>
          <p:nvSpPr>
            <p:cNvPr id="14348" name="TextBox 39"/>
            <p:cNvSpPr txBox="1">
              <a:spLocks noChangeArrowheads="1"/>
            </p:cNvSpPr>
            <p:nvPr>
              <p:custDataLst>
                <p:tags r:id="rId18"/>
              </p:custDataLst>
            </p:nvPr>
          </p:nvSpPr>
          <p:spPr bwMode="auto">
            <a:xfrm>
              <a:off x="2333019" y="4463639"/>
              <a:ext cx="2010839" cy="12917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nchorCtr="0">
              <a:normAutofit/>
            </a:bodyPr>
            <a:lstStyle>
              <a:lvl1pPr algn="just">
                <a:lnSpc>
                  <a:spcPct val="110000"/>
                </a:lnSpc>
                <a:spcBef>
                  <a:spcPts val="1800"/>
                </a:spcBef>
                <a:buClr>
                  <a:srgbClr val="7DA44B"/>
                </a:buClr>
                <a:buSzPct val="100000"/>
                <a:buFont typeface="Webdings" panose="05030102010509060703" pitchFamily="18" charset="2"/>
                <a:buChar char="Ë"/>
                <a:defRPr sz="2400">
                  <a:solidFill>
                    <a:srgbClr val="227577"/>
                  </a:solidFill>
                  <a:latin typeface="Arial" panose="020B0604020202020204" pitchFamily="34" charset="0"/>
                  <a:ea typeface="黑体" panose="02010609060101010101" pitchFamily="49" charset="-122"/>
                </a:defRPr>
              </a:lvl1pPr>
              <a:lvl2pPr marL="742950" indent="-285750" algn="just">
                <a:lnSpc>
                  <a:spcPct val="130000"/>
                </a:lnSpc>
                <a:spcAft>
                  <a:spcPts val="600"/>
                </a:spcAft>
                <a:buClr>
                  <a:srgbClr val="83BBDD"/>
                </a:buClr>
                <a:buFont typeface="幼圆" pitchFamily="49" charset="-122"/>
                <a:buChar char=" "/>
                <a:defRPr sz="2000">
                  <a:solidFill>
                    <a:srgbClr val="7D7D7D"/>
                  </a:solidFill>
                  <a:latin typeface="幼圆" pitchFamily="49" charset="-122"/>
                  <a:ea typeface="黑体" panose="02010609060101010101" pitchFamily="49" charset="-122"/>
                </a:defRPr>
              </a:lvl2pPr>
              <a:lvl3pPr marL="1143000" indent="-228600">
                <a:lnSpc>
                  <a:spcPct val="90000"/>
                </a:lnSpc>
                <a:spcBef>
                  <a:spcPts val="500"/>
                </a:spcBef>
                <a:buChar char="•"/>
                <a:defRPr sz="2000">
                  <a:solidFill>
                    <a:schemeClr val="tx1"/>
                  </a:solidFill>
                  <a:latin typeface="Calibri" panose="020F05020202040A0204" charset="0"/>
                  <a:ea typeface="幼圆" pitchFamily="49" charset="-122"/>
                </a:defRPr>
              </a:lvl3pPr>
              <a:lvl4pPr marL="1600200" indent="-228600">
                <a:lnSpc>
                  <a:spcPct val="90000"/>
                </a:lnSpc>
                <a:spcBef>
                  <a:spcPts val="500"/>
                </a:spcBef>
                <a:buChar char="•"/>
                <a:defRPr>
                  <a:solidFill>
                    <a:schemeClr val="tx1"/>
                  </a:solidFill>
                  <a:latin typeface="Calibri" panose="020F05020202040A0204" charset="0"/>
                  <a:ea typeface="幼圆" pitchFamily="49" charset="-122"/>
                </a:defRPr>
              </a:lvl4pPr>
              <a:lvl5pPr marL="2057400" indent="-228600">
                <a:lnSpc>
                  <a:spcPct val="90000"/>
                </a:lnSpc>
                <a:spcBef>
                  <a:spcPts val="500"/>
                </a:spcBef>
                <a:buChar char="•"/>
                <a:defRPr>
                  <a:solidFill>
                    <a:schemeClr val="tx1"/>
                  </a:solidFill>
                  <a:latin typeface="Calibri" panose="020F05020202040A0204" charset="0"/>
                  <a:ea typeface="幼圆" pitchFamily="49"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9pPr>
            </a:lstStyle>
            <a:p>
              <a:pPr marL="0" marR="0" lvl="0" indent="0" algn="just" defTabSz="914400" rtl="0" eaLnBrk="1" fontAlgn="auto" latinLnBrk="0" hangingPunct="1">
                <a:lnSpc>
                  <a:spcPct val="130000"/>
                </a:lnSpc>
                <a:spcBef>
                  <a:spcPct val="0"/>
                </a:spcBef>
                <a:spcAft>
                  <a:spcPts val="0"/>
                </a:spcAft>
                <a:buClrTx/>
                <a:buSzTx/>
                <a:buFont typeface="Webdings" panose="05030102010509060703" pitchFamily="18" charset="2"/>
                <a:buNone/>
                <a:tabLst/>
                <a:defRPr/>
              </a:pPr>
              <a:r>
                <a:rPr kumimoji="0" lang="zh-CN" altLang="pt-BR" sz="2000" b="0" i="0" u="none" strike="noStrike" kern="1200" cap="none" spc="0" normalizeH="0" baseline="0" noProof="0" dirty="0">
                  <a:ln>
                    <a:noFill/>
                  </a:ln>
                  <a:solidFill>
                    <a:srgbClr val="3D3F41"/>
                  </a:solidFill>
                  <a:effectLst/>
                  <a:uLnTx/>
                  <a:uFillTx/>
                  <a:latin typeface="Arial"/>
                  <a:ea typeface="黑体"/>
                  <a:cs typeface="+mn-cs"/>
                </a:rPr>
                <a:t>开发人员与用户不熟悉彼此的需要</a:t>
              </a:r>
            </a:p>
          </p:txBody>
        </p:sp>
      </p:grpSp>
      <p:grpSp>
        <p:nvGrpSpPr>
          <p:cNvPr id="3" name="组合 2"/>
          <p:cNvGrpSpPr/>
          <p:nvPr>
            <p:custDataLst>
              <p:tags r:id="rId4"/>
            </p:custDataLst>
          </p:nvPr>
        </p:nvGrpSpPr>
        <p:grpSpPr>
          <a:xfrm>
            <a:off x="5046936" y="1790986"/>
            <a:ext cx="2012426" cy="3964978"/>
            <a:chOff x="5046936" y="1790986"/>
            <a:chExt cx="2012426" cy="3964978"/>
          </a:xfrm>
        </p:grpSpPr>
        <p:sp>
          <p:nvSpPr>
            <p:cNvPr id="14342" name="下箭头 30"/>
            <p:cNvSpPr>
              <a:spLocks noChangeArrowheads="1"/>
            </p:cNvSpPr>
            <p:nvPr>
              <p:custDataLst>
                <p:tags r:id="rId11"/>
              </p:custDataLst>
            </p:nvPr>
          </p:nvSpPr>
          <p:spPr bwMode="auto">
            <a:xfrm>
              <a:off x="5443708" y="2316311"/>
              <a:ext cx="1218883" cy="1617241"/>
            </a:xfrm>
            <a:prstGeom prst="downArrow">
              <a:avLst>
                <a:gd name="adj1" fmla="val 50000"/>
                <a:gd name="adj2" fmla="val 50002"/>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normAutofit/>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00" b="0" i="0" u="none" strike="noStrike" kern="1200" cap="none" spc="0" normalizeH="0" baseline="0" noProof="0">
                <a:ln>
                  <a:noFill/>
                </a:ln>
                <a:solidFill>
                  <a:srgbClr val="FFFFFF"/>
                </a:solidFill>
                <a:effectLst/>
                <a:uLnTx/>
                <a:uFillTx/>
                <a:latin typeface="Arial"/>
                <a:ea typeface="黑体"/>
                <a:cs typeface="+mn-cs"/>
              </a:endParaRPr>
            </a:p>
          </p:txBody>
        </p:sp>
        <p:sp>
          <p:nvSpPr>
            <p:cNvPr id="14343" name="椭圆 31"/>
            <p:cNvSpPr>
              <a:spLocks noChangeArrowheads="1"/>
            </p:cNvSpPr>
            <p:nvPr>
              <p:custDataLst>
                <p:tags r:id="rId12"/>
              </p:custDataLst>
            </p:nvPr>
          </p:nvSpPr>
          <p:spPr bwMode="auto">
            <a:xfrm>
              <a:off x="5537346" y="1790986"/>
              <a:ext cx="1033193" cy="1031606"/>
            </a:xfrm>
            <a:prstGeom prst="ellipse">
              <a:avLst/>
            </a:prstGeom>
            <a:solidFill>
              <a:srgbClr val="FFFFFF"/>
            </a:solidFill>
            <a:ln w="190500" cmpd="sng">
              <a:solidFill>
                <a:schemeClr val="accent1"/>
              </a:solidFill>
              <a:round/>
            </a:ln>
          </p:spPr>
          <p:txBody>
            <a:bodyPr wrap="square" lIns="0" tIns="0" rIns="0" bIns="0" anchor="ctr">
              <a:normAutofit/>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333333"/>
                  </a:solidFill>
                  <a:effectLst/>
                  <a:uLnTx/>
                  <a:uFillTx/>
                  <a:latin typeface="Arial"/>
                  <a:ea typeface="黑体"/>
                  <a:cs typeface="+mn-cs"/>
                </a:rPr>
                <a:t>变化</a:t>
              </a:r>
            </a:p>
          </p:txBody>
        </p:sp>
        <p:sp>
          <p:nvSpPr>
            <p:cNvPr id="14344" name="椭圆 32"/>
            <p:cNvSpPr>
              <a:spLocks noChangeArrowheads="1"/>
            </p:cNvSpPr>
            <p:nvPr>
              <p:custDataLst>
                <p:tags r:id="rId13"/>
              </p:custDataLst>
            </p:nvPr>
          </p:nvSpPr>
          <p:spPr bwMode="auto">
            <a:xfrm>
              <a:off x="5969034" y="4143048"/>
              <a:ext cx="169818" cy="169819"/>
            </a:xfrm>
            <a:prstGeom prst="ellipse">
              <a:avLst/>
            </a:prstGeom>
            <a:solidFill>
              <a:srgbClr val="FFFFFF"/>
            </a:solidFill>
            <a:ln w="38100" cmpd="sng">
              <a:solidFill>
                <a:schemeClr val="accent1"/>
              </a:solidFill>
              <a:round/>
            </a:ln>
          </p:spPr>
          <p:txBody>
            <a:bodyPr wrap="square" anchor="ctr">
              <a:normAutofit fontScale="25000" lnSpcReduction="20000"/>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00" b="0" i="0" u="none" strike="noStrike" kern="1200" cap="none" spc="0" normalizeH="0" baseline="0" noProof="0">
                <a:ln>
                  <a:noFill/>
                </a:ln>
                <a:solidFill>
                  <a:srgbClr val="FFFFFF"/>
                </a:solidFill>
                <a:effectLst/>
                <a:uLnTx/>
                <a:uFillTx/>
                <a:latin typeface="Arial"/>
                <a:ea typeface="黑体"/>
                <a:cs typeface="+mn-cs"/>
              </a:endParaRPr>
            </a:p>
          </p:txBody>
        </p:sp>
        <p:sp>
          <p:nvSpPr>
            <p:cNvPr id="14349" name="TextBox 39"/>
            <p:cNvSpPr txBox="1">
              <a:spLocks noChangeArrowheads="1"/>
            </p:cNvSpPr>
            <p:nvPr>
              <p:custDataLst>
                <p:tags r:id="rId14"/>
              </p:custDataLst>
            </p:nvPr>
          </p:nvSpPr>
          <p:spPr bwMode="auto">
            <a:xfrm>
              <a:off x="5046936" y="4463639"/>
              <a:ext cx="2012426" cy="12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nchorCtr="0">
              <a:normAutofit/>
            </a:bodyPr>
            <a:lstStyle>
              <a:lvl1pPr algn="just">
                <a:lnSpc>
                  <a:spcPct val="110000"/>
                </a:lnSpc>
                <a:spcBef>
                  <a:spcPts val="1800"/>
                </a:spcBef>
                <a:buClr>
                  <a:srgbClr val="7DA44B"/>
                </a:buClr>
                <a:buSzPct val="100000"/>
                <a:buFont typeface="Webdings" panose="05030102010509060703" pitchFamily="18" charset="2"/>
                <a:buChar char="Ë"/>
                <a:defRPr sz="2400">
                  <a:solidFill>
                    <a:srgbClr val="227577"/>
                  </a:solidFill>
                  <a:latin typeface="Arial" panose="020B0604020202020204" pitchFamily="34" charset="0"/>
                  <a:ea typeface="黑体" panose="02010609060101010101" pitchFamily="49" charset="-122"/>
                </a:defRPr>
              </a:lvl1pPr>
              <a:lvl2pPr marL="742950" indent="-285750" algn="just">
                <a:lnSpc>
                  <a:spcPct val="130000"/>
                </a:lnSpc>
                <a:spcAft>
                  <a:spcPts val="600"/>
                </a:spcAft>
                <a:buClr>
                  <a:srgbClr val="83BBDD"/>
                </a:buClr>
                <a:buFont typeface="幼圆" pitchFamily="49" charset="-122"/>
                <a:buChar char=" "/>
                <a:defRPr sz="2000">
                  <a:solidFill>
                    <a:srgbClr val="7D7D7D"/>
                  </a:solidFill>
                  <a:latin typeface="幼圆" pitchFamily="49" charset="-122"/>
                  <a:ea typeface="黑体" panose="02010609060101010101" pitchFamily="49" charset="-122"/>
                </a:defRPr>
              </a:lvl2pPr>
              <a:lvl3pPr marL="1143000" indent="-228600">
                <a:lnSpc>
                  <a:spcPct val="90000"/>
                </a:lnSpc>
                <a:spcBef>
                  <a:spcPts val="500"/>
                </a:spcBef>
                <a:buChar char="•"/>
                <a:defRPr sz="2000">
                  <a:solidFill>
                    <a:schemeClr val="tx1"/>
                  </a:solidFill>
                  <a:latin typeface="Calibri" panose="020F05020202040A0204" charset="0"/>
                  <a:ea typeface="幼圆" pitchFamily="49" charset="-122"/>
                </a:defRPr>
              </a:lvl3pPr>
              <a:lvl4pPr marL="1600200" indent="-228600">
                <a:lnSpc>
                  <a:spcPct val="90000"/>
                </a:lnSpc>
                <a:spcBef>
                  <a:spcPts val="500"/>
                </a:spcBef>
                <a:buChar char="•"/>
                <a:defRPr>
                  <a:solidFill>
                    <a:schemeClr val="tx1"/>
                  </a:solidFill>
                  <a:latin typeface="Calibri" panose="020F05020202040A0204" charset="0"/>
                  <a:ea typeface="幼圆" pitchFamily="49" charset="-122"/>
                </a:defRPr>
              </a:lvl4pPr>
              <a:lvl5pPr marL="2057400" indent="-228600">
                <a:lnSpc>
                  <a:spcPct val="90000"/>
                </a:lnSpc>
                <a:spcBef>
                  <a:spcPts val="500"/>
                </a:spcBef>
                <a:buChar char="•"/>
                <a:defRPr>
                  <a:solidFill>
                    <a:schemeClr val="tx1"/>
                  </a:solidFill>
                  <a:latin typeface="Calibri" panose="020F05020202040A0204" charset="0"/>
                  <a:ea typeface="幼圆" pitchFamily="49"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9pPr>
            </a:lstStyle>
            <a:p>
              <a:pPr marL="0" marR="0" lvl="0" indent="0" algn="just" defTabSz="914400" rtl="0" eaLnBrk="1" fontAlgn="auto" latinLnBrk="0" hangingPunct="1">
                <a:lnSpc>
                  <a:spcPct val="130000"/>
                </a:lnSpc>
                <a:spcBef>
                  <a:spcPct val="0"/>
                </a:spcBef>
                <a:spcAft>
                  <a:spcPts val="0"/>
                </a:spcAft>
                <a:buClrTx/>
                <a:buSzTx/>
                <a:buFont typeface="Webdings" panose="05030102010509060703" pitchFamily="18" charset="2"/>
                <a:buNone/>
                <a:tabLst/>
                <a:defRPr/>
              </a:pPr>
              <a:r>
                <a:rPr kumimoji="0" lang="zh-CN" altLang="pt-BR" sz="2000" b="0" i="0" u="none" strike="noStrike" kern="1200" cap="none" spc="0" normalizeH="0" baseline="0" noProof="0" dirty="0">
                  <a:ln>
                    <a:noFill/>
                  </a:ln>
                  <a:solidFill>
                    <a:srgbClr val="3D3F41"/>
                  </a:solidFill>
                  <a:effectLst/>
                  <a:uLnTx/>
                  <a:uFillTx/>
                  <a:latin typeface="Arial"/>
                  <a:ea typeface="黑体"/>
                  <a:cs typeface="+mn-cs"/>
                </a:rPr>
                <a:t>初期用户需求是模糊的，后期经常会有新需求</a:t>
              </a:r>
            </a:p>
          </p:txBody>
        </p:sp>
      </p:grpSp>
      <p:grpSp>
        <p:nvGrpSpPr>
          <p:cNvPr id="2" name="组合 1"/>
          <p:cNvGrpSpPr/>
          <p:nvPr>
            <p:custDataLst>
              <p:tags r:id="rId5"/>
            </p:custDataLst>
          </p:nvPr>
        </p:nvGrpSpPr>
        <p:grpSpPr>
          <a:xfrm>
            <a:off x="7762442" y="1790986"/>
            <a:ext cx="2010838" cy="3964978"/>
            <a:chOff x="7762442" y="1790986"/>
            <a:chExt cx="2010838" cy="3964978"/>
          </a:xfrm>
        </p:grpSpPr>
        <p:sp>
          <p:nvSpPr>
            <p:cNvPr id="14345" name="下箭头 33"/>
            <p:cNvSpPr>
              <a:spLocks noChangeArrowheads="1"/>
            </p:cNvSpPr>
            <p:nvPr>
              <p:custDataLst>
                <p:tags r:id="rId7"/>
              </p:custDataLst>
            </p:nvPr>
          </p:nvSpPr>
          <p:spPr bwMode="auto">
            <a:xfrm>
              <a:off x="8157626" y="2316311"/>
              <a:ext cx="1220470" cy="1617241"/>
            </a:xfrm>
            <a:prstGeom prst="downArrow">
              <a:avLst>
                <a:gd name="adj1" fmla="val 50000"/>
                <a:gd name="adj2" fmla="val 49937"/>
              </a:avLst>
            </a:prstGeom>
            <a:solidFill>
              <a:srgbClr val="D9D9D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normAutofit/>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00" b="0" i="0" u="none" strike="noStrike" kern="1200" cap="none" spc="0" normalizeH="0" baseline="0" noProof="0">
                <a:ln>
                  <a:noFill/>
                </a:ln>
                <a:solidFill>
                  <a:srgbClr val="FFFFFF"/>
                </a:solidFill>
                <a:effectLst/>
                <a:uLnTx/>
                <a:uFillTx/>
                <a:latin typeface="Arial"/>
                <a:ea typeface="黑体"/>
                <a:cs typeface="+mn-cs"/>
              </a:endParaRPr>
            </a:p>
          </p:txBody>
        </p:sp>
        <p:sp>
          <p:nvSpPr>
            <p:cNvPr id="14346" name="椭圆 35"/>
            <p:cNvSpPr>
              <a:spLocks noChangeArrowheads="1"/>
            </p:cNvSpPr>
            <p:nvPr>
              <p:custDataLst>
                <p:tags r:id="rId8"/>
              </p:custDataLst>
            </p:nvPr>
          </p:nvSpPr>
          <p:spPr bwMode="auto">
            <a:xfrm>
              <a:off x="8254439" y="1790986"/>
              <a:ext cx="1030019" cy="1031606"/>
            </a:xfrm>
            <a:prstGeom prst="ellipse">
              <a:avLst/>
            </a:prstGeom>
            <a:solidFill>
              <a:srgbClr val="FFFFFF"/>
            </a:solidFill>
            <a:ln w="190500" cmpd="sng">
              <a:solidFill>
                <a:schemeClr val="accent1"/>
              </a:solidFill>
              <a:round/>
            </a:ln>
          </p:spPr>
          <p:txBody>
            <a:bodyPr wrap="square" lIns="0" tIns="0" rIns="0" bIns="0" anchor="ctr">
              <a:normAutofit/>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400" b="0" i="0" u="none" strike="noStrike" kern="1200" cap="none" spc="0" normalizeH="0" baseline="0" noProof="0" dirty="0">
                  <a:ln>
                    <a:noFill/>
                  </a:ln>
                  <a:solidFill>
                    <a:srgbClr val="333333"/>
                  </a:solidFill>
                  <a:effectLst/>
                  <a:uLnTx/>
                  <a:uFillTx/>
                  <a:latin typeface="Arial"/>
                  <a:ea typeface="黑体"/>
                  <a:cs typeface="+mn-cs"/>
                </a:rPr>
                <a:t>后续</a:t>
              </a:r>
            </a:p>
          </p:txBody>
        </p:sp>
        <p:sp>
          <p:nvSpPr>
            <p:cNvPr id="14347" name="椭圆 37"/>
            <p:cNvSpPr>
              <a:spLocks noChangeArrowheads="1"/>
            </p:cNvSpPr>
            <p:nvPr>
              <p:custDataLst>
                <p:tags r:id="rId9"/>
              </p:custDataLst>
            </p:nvPr>
          </p:nvSpPr>
          <p:spPr bwMode="auto">
            <a:xfrm>
              <a:off x="8686127" y="4143048"/>
              <a:ext cx="168231" cy="169819"/>
            </a:xfrm>
            <a:prstGeom prst="ellipse">
              <a:avLst/>
            </a:prstGeom>
            <a:solidFill>
              <a:srgbClr val="FFFFFF"/>
            </a:solidFill>
            <a:ln w="38100" cmpd="sng">
              <a:solidFill>
                <a:schemeClr val="accent1"/>
              </a:solidFill>
              <a:round/>
            </a:ln>
          </p:spPr>
          <p:txBody>
            <a:bodyPr wrap="square" anchor="ctr">
              <a:normAutofit fontScale="25000" lnSpcReduction="20000"/>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300" b="0" i="0" u="none" strike="noStrike" kern="1200" cap="none" spc="0" normalizeH="0" baseline="0" noProof="0">
                <a:ln>
                  <a:noFill/>
                </a:ln>
                <a:solidFill>
                  <a:srgbClr val="FFFFFF"/>
                </a:solidFill>
                <a:effectLst/>
                <a:uLnTx/>
                <a:uFillTx/>
                <a:latin typeface="Arial"/>
                <a:ea typeface="黑体"/>
                <a:cs typeface="+mn-cs"/>
              </a:endParaRPr>
            </a:p>
          </p:txBody>
        </p:sp>
        <p:sp>
          <p:nvSpPr>
            <p:cNvPr id="14350" name="TextBox 39"/>
            <p:cNvSpPr txBox="1">
              <a:spLocks noChangeArrowheads="1"/>
            </p:cNvSpPr>
            <p:nvPr>
              <p:custDataLst>
                <p:tags r:id="rId10"/>
              </p:custDataLst>
            </p:nvPr>
          </p:nvSpPr>
          <p:spPr bwMode="auto">
            <a:xfrm>
              <a:off x="7762442" y="4463639"/>
              <a:ext cx="2010838" cy="1292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t" anchorCtr="0">
              <a:normAutofit/>
            </a:bodyPr>
            <a:lstStyle>
              <a:lvl1pPr algn="just">
                <a:lnSpc>
                  <a:spcPct val="110000"/>
                </a:lnSpc>
                <a:spcBef>
                  <a:spcPts val="1800"/>
                </a:spcBef>
                <a:buClr>
                  <a:srgbClr val="7DA44B"/>
                </a:buClr>
                <a:buSzPct val="100000"/>
                <a:buFont typeface="Webdings" panose="05030102010509060703" pitchFamily="18" charset="2"/>
                <a:buChar char="Ë"/>
                <a:defRPr sz="2400">
                  <a:solidFill>
                    <a:srgbClr val="227577"/>
                  </a:solidFill>
                  <a:latin typeface="Arial" panose="020B0604020202020204" pitchFamily="34" charset="0"/>
                  <a:ea typeface="黑体" panose="02010609060101010101" pitchFamily="49" charset="-122"/>
                </a:defRPr>
              </a:lvl1pPr>
              <a:lvl2pPr marL="742950" indent="-285750" algn="just">
                <a:lnSpc>
                  <a:spcPct val="130000"/>
                </a:lnSpc>
                <a:spcAft>
                  <a:spcPts val="600"/>
                </a:spcAft>
                <a:buClr>
                  <a:srgbClr val="83BBDD"/>
                </a:buClr>
                <a:buFont typeface="幼圆" pitchFamily="49" charset="-122"/>
                <a:buChar char=" "/>
                <a:defRPr sz="2000">
                  <a:solidFill>
                    <a:srgbClr val="7D7D7D"/>
                  </a:solidFill>
                  <a:latin typeface="幼圆" pitchFamily="49" charset="-122"/>
                  <a:ea typeface="黑体" panose="02010609060101010101" pitchFamily="49" charset="-122"/>
                </a:defRPr>
              </a:lvl2pPr>
              <a:lvl3pPr marL="1143000" indent="-228600">
                <a:lnSpc>
                  <a:spcPct val="90000"/>
                </a:lnSpc>
                <a:spcBef>
                  <a:spcPts val="500"/>
                </a:spcBef>
                <a:buChar char="•"/>
                <a:defRPr sz="2000">
                  <a:solidFill>
                    <a:schemeClr val="tx1"/>
                  </a:solidFill>
                  <a:latin typeface="Calibri" panose="020F05020202040A0204" charset="0"/>
                  <a:ea typeface="幼圆" pitchFamily="49" charset="-122"/>
                </a:defRPr>
              </a:lvl3pPr>
              <a:lvl4pPr marL="1600200" indent="-228600">
                <a:lnSpc>
                  <a:spcPct val="90000"/>
                </a:lnSpc>
                <a:spcBef>
                  <a:spcPts val="500"/>
                </a:spcBef>
                <a:buChar char="•"/>
                <a:defRPr>
                  <a:solidFill>
                    <a:schemeClr val="tx1"/>
                  </a:solidFill>
                  <a:latin typeface="Calibri" panose="020F05020202040A0204" charset="0"/>
                  <a:ea typeface="幼圆" pitchFamily="49" charset="-122"/>
                </a:defRPr>
              </a:lvl4pPr>
              <a:lvl5pPr marL="2057400" indent="-228600">
                <a:lnSpc>
                  <a:spcPct val="90000"/>
                </a:lnSpc>
                <a:spcBef>
                  <a:spcPts val="500"/>
                </a:spcBef>
                <a:buChar char="•"/>
                <a:defRPr>
                  <a:solidFill>
                    <a:schemeClr val="tx1"/>
                  </a:solidFill>
                  <a:latin typeface="Calibri" panose="020F05020202040A0204" charset="0"/>
                  <a:ea typeface="幼圆" pitchFamily="49" charset="-122"/>
                </a:defRPr>
              </a:lvl5pPr>
              <a:lvl6pPr marL="25146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6pPr>
              <a:lvl7pPr marL="29718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7pPr>
              <a:lvl8pPr marL="34290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8pPr>
              <a:lvl9pPr marL="3886200" indent="-228600" fontAlgn="base">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幼圆" pitchFamily="49" charset="-122"/>
                </a:defRPr>
              </a:lvl9pPr>
            </a:lstStyle>
            <a:p>
              <a:pPr marL="0" marR="0" lvl="0" indent="0" algn="just" defTabSz="914400" rtl="0" eaLnBrk="1" fontAlgn="auto" latinLnBrk="0" hangingPunct="1">
                <a:lnSpc>
                  <a:spcPct val="130000"/>
                </a:lnSpc>
                <a:spcBef>
                  <a:spcPct val="0"/>
                </a:spcBef>
                <a:spcAft>
                  <a:spcPts val="0"/>
                </a:spcAft>
                <a:buClrTx/>
                <a:buSzTx/>
                <a:buFont typeface="Webdings" panose="05030102010509060703" pitchFamily="18" charset="2"/>
                <a:buNone/>
                <a:tabLst/>
                <a:defRPr/>
              </a:pPr>
              <a:r>
                <a:rPr kumimoji="0" lang="zh-CN" altLang="pt-BR" sz="2000" b="0" i="0" u="none" strike="noStrike" kern="1200" cap="none" spc="0" normalizeH="0" baseline="0" noProof="0" dirty="0">
                  <a:ln>
                    <a:noFill/>
                  </a:ln>
                  <a:solidFill>
                    <a:srgbClr val="3D3F41"/>
                  </a:solidFill>
                  <a:effectLst/>
                  <a:uLnTx/>
                  <a:uFillTx/>
                  <a:latin typeface="Arial"/>
                  <a:ea typeface="黑体"/>
                  <a:cs typeface="+mn-cs"/>
                </a:rPr>
                <a:t>需求变化带来的整个工程的后续活动是庞大的</a:t>
              </a:r>
            </a:p>
          </p:txBody>
        </p:sp>
      </p:grpSp>
      <p:sp>
        <p:nvSpPr>
          <p:cNvPr id="5" name="文本框 4"/>
          <p:cNvSpPr txBox="1"/>
          <p:nvPr>
            <p:custDataLst>
              <p:tags r:id="rId6"/>
            </p:custDataLst>
          </p:nvPr>
        </p:nvSpPr>
        <p:spPr>
          <a:xfrm>
            <a:off x="625313" y="260351"/>
            <a:ext cx="1097311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a:bodyPr>
          <a:lstStyle>
            <a:lvl1pPr fontAlgn="base">
              <a:spcBef>
                <a:spcPct val="0"/>
              </a:spcBef>
              <a:spcAft>
                <a:spcPct val="0"/>
              </a:spcAft>
              <a:defRPr baseline="0">
                <a:solidFill>
                  <a:schemeClr val="accent1">
                    <a:lumMod val="75000"/>
                  </a:schemeClr>
                </a:solidFill>
                <a:latin typeface="+mj-lt"/>
                <a:ea typeface="+mj-ea"/>
                <a:cs typeface="+mj-cs"/>
              </a:defRPr>
            </a:lvl1pPr>
            <a:lvl2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2pPr>
            <a:lvl3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3pPr>
            <a:lvl4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4pPr>
            <a:lvl5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5pPr>
            <a:lvl6pPr marL="457200"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6pPr>
            <a:lvl7pPr marL="914400"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7pPr>
            <a:lvl8pPr marL="1370965"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8pPr>
            <a:lvl9pPr marL="1828165"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a:ln>
                  <a:noFill/>
                </a:ln>
                <a:solidFill>
                  <a:srgbClr val="04AEDA">
                    <a:lumMod val="75000"/>
                  </a:srgbClr>
                </a:solidFill>
                <a:effectLst/>
                <a:uLnTx/>
                <a:uFillTx/>
                <a:latin typeface="Arial"/>
                <a:ea typeface="黑体"/>
                <a:cs typeface="+mj-cs"/>
              </a:rPr>
              <a:t>需求分析</a:t>
            </a:r>
            <a:r>
              <a:rPr kumimoji="0" lang="en-US" altLang="zh-CN" sz="1800" b="0" i="0" u="none" strike="noStrike" kern="1200" cap="none" spc="0" normalizeH="0" baseline="0" noProof="0">
                <a:ln>
                  <a:noFill/>
                </a:ln>
                <a:solidFill>
                  <a:srgbClr val="04AEDA">
                    <a:lumMod val="75000"/>
                  </a:srgbClr>
                </a:solidFill>
                <a:effectLst/>
                <a:uLnTx/>
                <a:uFillTx/>
                <a:latin typeface="Arial"/>
                <a:ea typeface="黑体"/>
                <a:cs typeface="+mj-cs"/>
              </a:rPr>
              <a:t>-</a:t>
            </a:r>
            <a:r>
              <a:rPr kumimoji="0" lang="zh-CN" altLang="en-US" sz="1800" b="0" i="0" u="none" strike="noStrike" kern="1200" cap="none" spc="0" normalizeH="0" baseline="0" noProof="0">
                <a:ln>
                  <a:noFill/>
                </a:ln>
                <a:solidFill>
                  <a:srgbClr val="04AEDA">
                    <a:lumMod val="75000"/>
                  </a:srgbClr>
                </a:solidFill>
                <a:effectLst/>
                <a:uLnTx/>
                <a:uFillTx/>
                <a:latin typeface="Arial"/>
                <a:ea typeface="黑体"/>
                <a:cs typeface="+mj-cs"/>
              </a:rPr>
              <a:t>问题</a:t>
            </a:r>
          </a:p>
        </p:txBody>
      </p:sp>
    </p:spTree>
    <p:custDataLst>
      <p:tags r:id="rId1"/>
    </p:custDataLst>
    <p:extLst>
      <p:ext uri="{BB962C8B-B14F-4D97-AF65-F5344CB8AC3E}">
        <p14:creationId xmlns:p14="http://schemas.microsoft.com/office/powerpoint/2010/main" val="1861030681"/>
      </p:ext>
    </p:extLst>
  </p:cSld>
  <p:clrMapOvr>
    <a:masterClrMapping/>
  </p:clrMapOvr>
  <p:transition>
    <p:wipe/>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p:cNvSpPr txBox="1"/>
          <p:nvPr>
            <p:custDataLst>
              <p:tags r:id="rId2"/>
            </p:custDataLst>
          </p:nvPr>
        </p:nvSpPr>
        <p:spPr>
          <a:xfrm>
            <a:off x="800100" y="2411095"/>
            <a:ext cx="10114915" cy="3811270"/>
          </a:xfrm>
          <a:prstGeom prst="rect">
            <a:avLst/>
          </a:prstGeom>
        </p:spPr>
        <p:txBody>
          <a:bodyPr vert="horz" lIns="91440" tIns="45720" rIns="91440" bIns="45720" rtlCol="0">
            <a:normAutofit/>
          </a:bodyPr>
          <a:lstStyle>
            <a:lvl1pPr marL="228600" indent="-228600">
              <a:lnSpc>
                <a:spcPct val="90000"/>
              </a:lnSpc>
              <a:spcBef>
                <a:spcPts val="1000"/>
              </a:spcBef>
              <a:buFont typeface="Arial" panose="020B0604020202020204" pitchFamily="34" charset="0"/>
              <a:buChar char="•"/>
              <a:defRPr sz="2800"/>
            </a:lvl1pPr>
            <a:lvl2pPr marL="685800" indent="-228600">
              <a:lnSpc>
                <a:spcPct val="90000"/>
              </a:lnSpc>
              <a:spcBef>
                <a:spcPts val="500"/>
              </a:spcBef>
              <a:buFont typeface="Arial" panose="020B0604020202020204" pitchFamily="34" charset="0"/>
              <a:buChar char="•"/>
              <a:defRPr sz="2400"/>
            </a:lvl2pPr>
            <a:lvl3pPr marL="1143000" indent="-228600">
              <a:lnSpc>
                <a:spcPct val="90000"/>
              </a:lnSpc>
              <a:spcBef>
                <a:spcPts val="500"/>
              </a:spcBef>
              <a:buFont typeface="Arial" panose="020B0604020202020204" pitchFamily="34" charset="0"/>
              <a:buChar char="•"/>
              <a:defRPr sz="2000"/>
            </a:lvl3pPr>
            <a:lvl4pPr marL="1600200" indent="-228600">
              <a:lnSpc>
                <a:spcPct val="90000"/>
              </a:lnSpc>
              <a:spcBef>
                <a:spcPts val="500"/>
              </a:spcBef>
              <a:buFont typeface="Arial" panose="020B0604020202020204" pitchFamily="34" charset="0"/>
              <a:buChar char="•"/>
            </a:lvl4pPr>
            <a:lvl5pPr marL="2057400" indent="-228600">
              <a:lnSpc>
                <a:spcPct val="90000"/>
              </a:lnSpc>
              <a:spcBef>
                <a:spcPts val="500"/>
              </a:spcBef>
              <a:buFont typeface="Arial" panose="020B0604020202020204" pitchFamily="34" charset="0"/>
              <a:buChar char="•"/>
            </a:lvl5pPr>
            <a:lvl6pPr marL="2514600" indent="-228600">
              <a:lnSpc>
                <a:spcPct val="90000"/>
              </a:lnSpc>
              <a:spcBef>
                <a:spcPts val="500"/>
              </a:spcBef>
              <a:buFont typeface="Arial" panose="020B0604020202020204" pitchFamily="34" charset="0"/>
              <a:buChar char="•"/>
            </a:lvl6pPr>
            <a:lvl7pPr marL="2971800" indent="-228600">
              <a:lnSpc>
                <a:spcPct val="90000"/>
              </a:lnSpc>
              <a:spcBef>
                <a:spcPts val="500"/>
              </a:spcBef>
              <a:buFont typeface="Arial" panose="020B0604020202020204" pitchFamily="34" charset="0"/>
              <a:buChar char="•"/>
            </a:lvl7pPr>
            <a:lvl8pPr marL="3429000" indent="-228600">
              <a:lnSpc>
                <a:spcPct val="90000"/>
              </a:lnSpc>
              <a:spcBef>
                <a:spcPts val="500"/>
              </a:spcBef>
              <a:buFont typeface="Arial" panose="020B0604020202020204" pitchFamily="34" charset="0"/>
              <a:buChar char="•"/>
            </a:lvl8pPr>
            <a:lvl9pPr marL="3886200" indent="-228600">
              <a:lnSpc>
                <a:spcPct val="90000"/>
              </a:lnSpc>
              <a:spcBef>
                <a:spcPts val="500"/>
              </a:spcBef>
              <a:buFont typeface="Arial" panose="020B0604020202020204" pitchFamily="34" charset="0"/>
              <a:buChar char="•"/>
            </a:lvl9pPr>
          </a:lstStyle>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800" b="0" i="1" u="none" strike="noStrike" kern="1200" cap="none" spc="0" normalizeH="0" baseline="0" noProof="0" dirty="0">
                <a:ln>
                  <a:noFill/>
                </a:ln>
                <a:solidFill>
                  <a:srgbClr val="FF0000"/>
                </a:solidFill>
                <a:effectLst/>
                <a:uLnTx/>
                <a:uFillTx/>
                <a:latin typeface="Arial"/>
                <a:ea typeface="黑体"/>
                <a:cs typeface="+mn-cs"/>
              </a:rPr>
              <a:t>决策性</a:t>
            </a:r>
            <a:r>
              <a:rPr kumimoji="0" lang="en-US" altLang="zh-CN" sz="2800" b="0" i="0" u="none" strike="noStrike" kern="1200" cap="none" spc="0" normalizeH="0" baseline="0" noProof="0" dirty="0">
                <a:ln>
                  <a:noFill/>
                </a:ln>
                <a:solidFill>
                  <a:srgbClr val="3D3F41"/>
                </a:solidFill>
                <a:effectLst/>
                <a:uLnTx/>
                <a:uFillTx/>
                <a:latin typeface="Arial"/>
                <a:ea typeface="黑体"/>
                <a:cs typeface="+mn-cs"/>
              </a:rPr>
              <a:t>——</a:t>
            </a:r>
            <a:r>
              <a:rPr kumimoji="0" lang="zh-CN" altLang="en-US" sz="2800" b="0" i="0" u="none" strike="noStrike" kern="1200" cap="none" spc="0" normalizeH="0" baseline="0" noProof="0" dirty="0">
                <a:ln>
                  <a:noFill/>
                </a:ln>
                <a:solidFill>
                  <a:srgbClr val="3D3F41"/>
                </a:solidFill>
                <a:effectLst/>
                <a:uLnTx/>
                <a:uFillTx/>
                <a:latin typeface="Arial"/>
                <a:ea typeface="黑体"/>
                <a:cs typeface="+mn-cs"/>
              </a:rPr>
              <a:t>要不要做这个产品，通过对市场需求的分析来决策项目是否需要立项</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800" b="0" i="1" u="none" strike="noStrike" kern="1200" cap="none" spc="0" normalizeH="0" baseline="0" noProof="0" dirty="0">
                <a:ln>
                  <a:noFill/>
                </a:ln>
                <a:solidFill>
                  <a:srgbClr val="FF0000"/>
                </a:solidFill>
                <a:effectLst/>
                <a:uLnTx/>
                <a:uFillTx/>
                <a:latin typeface="Arial"/>
                <a:ea typeface="黑体"/>
                <a:cs typeface="+mn-cs"/>
              </a:rPr>
              <a:t>方向性</a:t>
            </a:r>
            <a:r>
              <a:rPr kumimoji="0" lang="en-US" altLang="zh-CN" sz="2800" b="0" i="0" u="none" strike="noStrike" kern="1200" cap="none" spc="0" normalizeH="0" baseline="0" noProof="0" dirty="0">
                <a:ln>
                  <a:noFill/>
                </a:ln>
                <a:solidFill>
                  <a:srgbClr val="3D3F41"/>
                </a:solidFill>
                <a:effectLst/>
                <a:uLnTx/>
                <a:uFillTx/>
                <a:latin typeface="Arial"/>
                <a:ea typeface="黑体"/>
                <a:cs typeface="+mn-cs"/>
              </a:rPr>
              <a:t>——良好的需求分析可以对项目人员明确方向，让项目成员知道下面应该如何实施</a:t>
            </a:r>
          </a:p>
          <a:p>
            <a:pPr marL="228600" marR="0" lvl="0" indent="-2286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a:pPr>
            <a:r>
              <a:rPr kumimoji="0" lang="zh-CN" altLang="en-US" sz="2800" b="0" i="1" u="none" strike="noStrike" kern="1200" cap="none" spc="0" normalizeH="0" baseline="0" noProof="0" dirty="0">
                <a:ln>
                  <a:noFill/>
                </a:ln>
                <a:solidFill>
                  <a:srgbClr val="FF0000"/>
                </a:solidFill>
                <a:effectLst/>
                <a:uLnTx/>
                <a:uFillTx/>
                <a:latin typeface="Arial"/>
                <a:ea typeface="黑体"/>
                <a:cs typeface="+mn-cs"/>
              </a:rPr>
              <a:t>策略性</a:t>
            </a:r>
            <a:r>
              <a:rPr kumimoji="0" lang="en-US" altLang="zh-CN" sz="2800" b="0" i="0" u="none" strike="noStrike" kern="1200" cap="none" spc="0" normalizeH="0" baseline="0" noProof="0" dirty="0">
                <a:ln>
                  <a:noFill/>
                </a:ln>
                <a:solidFill>
                  <a:srgbClr val="3D3F41"/>
                </a:solidFill>
                <a:effectLst/>
                <a:uLnTx/>
                <a:uFillTx/>
                <a:latin typeface="Arial"/>
                <a:ea typeface="黑体"/>
                <a:cs typeface="+mn-cs"/>
              </a:rPr>
              <a:t>——既然知道了为什么要做需求分析，就需要了解什么是需求分析，及如何做</a:t>
            </a:r>
          </a:p>
        </p:txBody>
      </p:sp>
      <p:sp>
        <p:nvSpPr>
          <p:cNvPr id="4" name="文本框 3"/>
          <p:cNvSpPr txBox="1"/>
          <p:nvPr>
            <p:custDataLst>
              <p:tags r:id="rId3"/>
            </p:custDataLst>
          </p:nvPr>
        </p:nvSpPr>
        <p:spPr>
          <a:xfrm>
            <a:off x="800102" y="808007"/>
            <a:ext cx="4262438" cy="1603375"/>
          </a:xfrm>
          <a:prstGeom prst="rect">
            <a:avLst/>
          </a:prstGeom>
        </p:spPr>
        <p:txBody>
          <a:bodyPr vert="horz" lIns="91440" tIns="45720" rIns="91440" bIns="45720" rtlCol="0" anchor="ctr">
            <a:normAutofit/>
          </a:bodyPr>
          <a:lstStyle>
            <a:lvl1pPr>
              <a:lnSpc>
                <a:spcPct val="90000"/>
              </a:lnSpc>
              <a:spcBef>
                <a:spcPct val="0"/>
              </a:spcBef>
              <a:buNone/>
              <a:defRPr sz="4000">
                <a:solidFill>
                  <a:srgbClr val="4868A2"/>
                </a:solidFill>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zh-CN" altLang="en-US" sz="4000" b="0" i="0" u="none" strike="noStrike" kern="1200" cap="none" spc="0" normalizeH="0" baseline="0" noProof="0" dirty="0">
                <a:ln>
                  <a:noFill/>
                </a:ln>
                <a:solidFill>
                  <a:srgbClr val="0382A3"/>
                </a:solidFill>
                <a:effectLst/>
                <a:uLnTx/>
                <a:uFillTx/>
                <a:latin typeface="Arial"/>
                <a:ea typeface="黑体"/>
                <a:cs typeface="+mj-cs"/>
              </a:rPr>
              <a:t>需求分析的意义</a:t>
            </a:r>
          </a:p>
        </p:txBody>
      </p:sp>
    </p:spTree>
    <p:custDataLst>
      <p:tags r:id="rId1"/>
    </p:custDataLst>
    <p:extLst>
      <p:ext uri="{BB962C8B-B14F-4D97-AF65-F5344CB8AC3E}">
        <p14:creationId xmlns:p14="http://schemas.microsoft.com/office/powerpoint/2010/main" val="1003005749"/>
      </p:ext>
    </p:extLst>
  </p:cSld>
  <p:clrMapOvr>
    <a:masterClrMapping/>
  </p:clrMapOvr>
  <p:transition>
    <p:wipe/>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MH_Title"/>
          <p:cNvSpPr>
            <a:spLocks noChangeArrowheads="1"/>
          </p:cNvSpPr>
          <p:nvPr>
            <p:custDataLst>
              <p:tags r:id="rId2"/>
            </p:custDataLst>
          </p:nvPr>
        </p:nvSpPr>
        <p:spPr bwMode="auto">
          <a:xfrm>
            <a:off x="3474134" y="2959223"/>
            <a:ext cx="5962684" cy="753867"/>
          </a:xfrm>
          <a:prstGeom prst="hexagon">
            <a:avLst>
              <a:gd name="adj" fmla="val 28232"/>
              <a:gd name="vf" fmla="val 115470"/>
            </a:avLst>
          </a:prstGeom>
          <a:solidFill>
            <a:schemeClr val="accent1"/>
          </a:solidFill>
          <a:ln w="57150" cmpd="sng">
            <a:solidFill>
              <a:srgbClr val="FFFFFF"/>
            </a:solidFill>
            <a:miter lim="800000"/>
          </a:ln>
        </p:spPr>
        <p:txBody>
          <a:bodyPr lIns="503869" tIns="0" rIns="0" bIns="35991" anchor="ctr">
            <a:normAutofit fontScale="90000"/>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800" b="1" i="0" u="none" strike="noStrike" kern="1200" cap="none" spc="0" normalizeH="0" baseline="0" noProof="0" dirty="0">
                <a:ln>
                  <a:noFill/>
                </a:ln>
                <a:solidFill>
                  <a:srgbClr val="FFFFFF"/>
                </a:solidFill>
                <a:effectLst/>
                <a:uLnTx/>
                <a:uFillTx/>
                <a:latin typeface="Arial"/>
                <a:ea typeface="黑体"/>
                <a:cs typeface="+mn-cs"/>
              </a:rPr>
              <a:t>保证软件需求分析质量的方法</a:t>
            </a:r>
          </a:p>
        </p:txBody>
      </p:sp>
      <p:sp>
        <p:nvSpPr>
          <p:cNvPr id="11267" name="MH_Number"/>
          <p:cNvSpPr/>
          <p:nvPr>
            <p:custDataLst>
              <p:tags r:id="rId3"/>
            </p:custDataLst>
          </p:nvPr>
        </p:nvSpPr>
        <p:spPr bwMode="auto">
          <a:xfrm>
            <a:off x="3574120" y="2959223"/>
            <a:ext cx="910988" cy="752279"/>
          </a:xfrm>
          <a:custGeom>
            <a:avLst/>
            <a:gdLst>
              <a:gd name="T0" fmla="*/ 227806 w 373220"/>
              <a:gd name="T1" fmla="*/ 0 h 323217"/>
              <a:gd name="T2" fmla="*/ 683419 w 373220"/>
              <a:gd name="T3" fmla="*/ 0 h 323217"/>
              <a:gd name="T4" fmla="*/ 911225 w 373220"/>
              <a:gd name="T5" fmla="*/ 376239 h 323217"/>
              <a:gd name="T6" fmla="*/ 683419 w 373220"/>
              <a:gd name="T7" fmla="*/ 752475 h 323217"/>
              <a:gd name="T8" fmla="*/ 227809 w 373220"/>
              <a:gd name="T9" fmla="*/ 752473 h 323217"/>
              <a:gd name="T10" fmla="*/ 0 w 373220"/>
              <a:gd name="T11" fmla="*/ 376236 h 323217"/>
              <a:gd name="T12" fmla="*/ 227806 w 373220"/>
              <a:gd name="T13" fmla="*/ 0 h 323217"/>
              <a:gd name="T14" fmla="*/ 0 60000 65536"/>
              <a:gd name="T15" fmla="*/ 0 60000 65536"/>
              <a:gd name="T16" fmla="*/ 0 60000 65536"/>
              <a:gd name="T17" fmla="*/ 0 60000 65536"/>
              <a:gd name="T18" fmla="*/ 0 60000 65536"/>
              <a:gd name="T19" fmla="*/ 0 60000 65536"/>
              <a:gd name="T20" fmla="*/ 0 60000 65536"/>
              <a:gd name="T21" fmla="*/ 0 w 373220"/>
              <a:gd name="T22" fmla="*/ 0 h 323217"/>
              <a:gd name="T23" fmla="*/ 373220 w 373220"/>
              <a:gd name="T24" fmla="*/ 323217 h 323217"/>
            </a:gdLst>
            <a:ahLst/>
            <a:cxnLst>
              <a:cxn ang="T14">
                <a:pos x="T0" y="T1"/>
              </a:cxn>
              <a:cxn ang="T15">
                <a:pos x="T2" y="T3"/>
              </a:cxn>
              <a:cxn ang="T16">
                <a:pos x="T4" y="T5"/>
              </a:cxn>
              <a:cxn ang="T17">
                <a:pos x="T6" y="T7"/>
              </a:cxn>
              <a:cxn ang="T18">
                <a:pos x="T8" y="T9"/>
              </a:cxn>
              <a:cxn ang="T19">
                <a:pos x="T10" y="T11"/>
              </a:cxn>
              <a:cxn ang="T20">
                <a:pos x="T12" y="T13"/>
              </a:cxn>
            </a:cxnLst>
            <a:rect l="T21" t="T22" r="T23" b="T24"/>
            <a:pathLst>
              <a:path w="373220" h="323217">
                <a:moveTo>
                  <a:pt x="93305" y="0"/>
                </a:moveTo>
                <a:lnTo>
                  <a:pt x="279915" y="0"/>
                </a:lnTo>
                <a:lnTo>
                  <a:pt x="373220" y="161609"/>
                </a:lnTo>
                <a:lnTo>
                  <a:pt x="279915" y="323217"/>
                </a:lnTo>
                <a:lnTo>
                  <a:pt x="93306" y="323216"/>
                </a:lnTo>
                <a:lnTo>
                  <a:pt x="0" y="161608"/>
                </a:lnTo>
                <a:lnTo>
                  <a:pt x="93305" y="0"/>
                </a:lnTo>
                <a:close/>
              </a:path>
            </a:pathLst>
          </a:custGeom>
          <a:solidFill>
            <a:schemeClr val="accent1"/>
          </a:solidFill>
          <a:ln w="57150" cmpd="sng">
            <a:solidFill>
              <a:srgbClr val="FFFFFF"/>
            </a:solidFill>
            <a:miter lim="800000"/>
          </a:ln>
        </p:spPr>
        <p:txBody>
          <a:bodyPr lIns="0" tIns="0" rIns="179953" bIns="0" anchor="ctr">
            <a:normAutofit/>
          </a:bodyPr>
          <a:lstStyle>
            <a:lvl1pPr marL="142875">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142875" marR="0" lvl="0" indent="0" algn="ctr" defTabSz="914400" rtl="0" eaLnBrk="1" fontAlgn="auto" latinLnBrk="0" hangingPunct="1">
              <a:lnSpc>
                <a:spcPct val="100000"/>
              </a:lnSpc>
              <a:spcBef>
                <a:spcPts val="0"/>
              </a:spcBef>
              <a:spcAft>
                <a:spcPts val="0"/>
              </a:spcAft>
              <a:buClrTx/>
              <a:buSzTx/>
              <a:buFontTx/>
              <a:buNone/>
              <a:tabLst/>
              <a:defRPr/>
            </a:pPr>
            <a:endParaRPr kumimoji="0" lang="en-US" sz="4000" b="1" i="1" u="none" strike="noStrike" kern="1200" cap="none" spc="0" normalizeH="0" baseline="0" noProof="0" dirty="0" smtClean="0">
              <a:ln>
                <a:noFill/>
              </a:ln>
              <a:solidFill>
                <a:srgbClr val="FFFFFF"/>
              </a:solidFill>
              <a:effectLst/>
              <a:uLnTx/>
              <a:uFillTx/>
              <a:latin typeface="Arial"/>
              <a:ea typeface="黑体"/>
              <a:cs typeface="+mn-cs"/>
            </a:endParaRPr>
          </a:p>
        </p:txBody>
      </p:sp>
      <p:sp>
        <p:nvSpPr>
          <p:cNvPr id="11268" name="MH_Others_1"/>
          <p:cNvSpPr txBox="1">
            <a:spLocks noChangeArrowheads="1"/>
          </p:cNvSpPr>
          <p:nvPr>
            <p:custDataLst>
              <p:tags r:id="rId4"/>
            </p:custDataLst>
          </p:nvPr>
        </p:nvSpPr>
        <p:spPr bwMode="auto">
          <a:xfrm>
            <a:off x="3224961" y="2433897"/>
            <a:ext cx="2521881" cy="5237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rmAutofit/>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800" b="1" i="1" u="none" strike="noStrike" kern="1200" cap="none" spc="0" normalizeH="0" baseline="0" noProof="0" dirty="0">
                <a:ln>
                  <a:noFill/>
                </a:ln>
                <a:solidFill>
                  <a:srgbClr val="04AEDA"/>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rPr>
              <a:t>Chapter</a:t>
            </a:r>
            <a:endParaRPr kumimoji="0" lang="zh-CN" altLang="en-US" sz="2800" b="1" i="1" u="none" strike="noStrike" kern="1200" cap="none" spc="0" normalizeH="0" baseline="0" noProof="0" dirty="0">
              <a:ln>
                <a:noFill/>
              </a:ln>
              <a:solidFill>
                <a:srgbClr val="04AEDA"/>
              </a:solidFill>
              <a:effectLst>
                <a:outerShdw blurRad="38100" dist="38100" dir="2700000" algn="tl">
                  <a:srgbClr val="C0C0C0"/>
                </a:outerShdw>
              </a:effectLst>
              <a:uLnTx/>
              <a:uFillTx/>
              <a:latin typeface="Arial" panose="020B0604020202020204" pitchFamily="34" charset="0"/>
              <a:ea typeface="黑体" panose="02010609060101010101" pitchFamily="49" charset="-122"/>
              <a:cs typeface="+mn-cs"/>
            </a:endParaRPr>
          </a:p>
        </p:txBody>
      </p:sp>
    </p:spTree>
    <p:custDataLst>
      <p:tags r:id="rId1"/>
    </p:custDataLst>
    <p:extLst>
      <p:ext uri="{BB962C8B-B14F-4D97-AF65-F5344CB8AC3E}">
        <p14:creationId xmlns:p14="http://schemas.microsoft.com/office/powerpoint/2010/main" val="2080646698"/>
      </p:ext>
    </p:extLst>
  </p:cSld>
  <p:clrMapOvr>
    <a:masterClrMapping/>
  </p:clrMapOvr>
  <p:transition>
    <p:wipe/>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8851" name="直接连接符 13"/>
          <p:cNvCxnSpPr>
            <a:cxnSpLocks noChangeShapeType="1"/>
          </p:cNvCxnSpPr>
          <p:nvPr>
            <p:custDataLst>
              <p:tags r:id="rId2"/>
            </p:custDataLst>
          </p:nvPr>
        </p:nvCxnSpPr>
        <p:spPr bwMode="auto">
          <a:xfrm>
            <a:off x="1525191" y="3703566"/>
            <a:ext cx="9141619" cy="0"/>
          </a:xfrm>
          <a:prstGeom prst="line">
            <a:avLst/>
          </a:prstGeom>
          <a:noFill/>
          <a:ln w="22225">
            <a:solidFill>
              <a:schemeClr val="bg1">
                <a:lumMod val="85000"/>
              </a:schemeClr>
            </a:solidFill>
            <a:round/>
            <a:tailEnd type="triangle" w="lg" len="lg"/>
          </a:ln>
          <a:extLst>
            <a:ext uri="{909E8E84-426E-40DD-AFC4-6F175D3DCCD1}">
              <a14:hiddenFill xmlns:a14="http://schemas.microsoft.com/office/drawing/2010/main">
                <a:noFill/>
              </a14:hiddenFill>
            </a:ext>
          </a:extLst>
        </p:spPr>
      </p:cxnSp>
      <p:grpSp>
        <p:nvGrpSpPr>
          <p:cNvPr id="4" name="组合 3"/>
          <p:cNvGrpSpPr/>
          <p:nvPr>
            <p:custDataLst>
              <p:tags r:id="rId3"/>
            </p:custDataLst>
          </p:nvPr>
        </p:nvGrpSpPr>
        <p:grpSpPr>
          <a:xfrm>
            <a:off x="1621155" y="1501775"/>
            <a:ext cx="3556000" cy="2214245"/>
            <a:chOff x="1621281" y="1699858"/>
            <a:chExt cx="3556000" cy="2016125"/>
          </a:xfrm>
        </p:grpSpPr>
        <p:sp>
          <p:nvSpPr>
            <p:cNvPr id="80907" name="矩形 45"/>
            <p:cNvSpPr>
              <a:spLocks noChangeArrowheads="1"/>
            </p:cNvSpPr>
            <p:nvPr>
              <p:custDataLst>
                <p:tags r:id="rId11"/>
              </p:custDataLst>
            </p:nvPr>
          </p:nvSpPr>
          <p:spPr bwMode="auto">
            <a:xfrm>
              <a:off x="3282441" y="3191537"/>
              <a:ext cx="1300424" cy="524446"/>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normAutofit fontScale="85000" lnSpcReduction="20000"/>
            </a:bodyPr>
            <a:lstStyle>
              <a:lvl1pPr>
                <a:lnSpc>
                  <a:spcPct val="90000"/>
                </a:lnSpc>
                <a:spcBef>
                  <a:spcPts val="1000"/>
                </a:spcBef>
                <a:buFont typeface="Arial" panose="020B0604020202020204" pitchFamily="34" charset="0"/>
                <a:buChar char="•"/>
                <a:defRPr sz="2800">
                  <a:solidFill>
                    <a:schemeClr val="tx1"/>
                  </a:solidFill>
                  <a:latin typeface="Calibri" panose="020F05020202040A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A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A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9pPr>
            </a:lstStyle>
            <a:p>
              <a:pPr marL="0" marR="0" lvl="0" indent="0" algn="ctr"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rgbClr val="FFFFFF"/>
                  </a:solidFill>
                  <a:effectLst/>
                  <a:uLnTx/>
                  <a:uFillTx/>
                  <a:latin typeface="Arial"/>
                  <a:ea typeface="黑体"/>
                  <a:cs typeface="+mn-cs"/>
                </a:rPr>
                <a:t>原型化方法</a:t>
              </a:r>
            </a:p>
          </p:txBody>
        </p:sp>
        <p:sp>
          <p:nvSpPr>
            <p:cNvPr id="80908" name="文本框 50"/>
            <p:cNvSpPr txBox="1">
              <a:spLocks noChangeArrowheads="1"/>
            </p:cNvSpPr>
            <p:nvPr>
              <p:custDataLst>
                <p:tags r:id="rId12"/>
              </p:custDataLst>
            </p:nvPr>
          </p:nvSpPr>
          <p:spPr bwMode="auto">
            <a:xfrm>
              <a:off x="1621281" y="1699858"/>
              <a:ext cx="3556000" cy="1440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A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A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A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9pPr>
            </a:lstStyle>
            <a:p>
              <a:pPr marL="0" marR="0" lvl="0" indent="0" algn="just" defTabSz="914400" rtl="0" eaLnBrk="1" fontAlgn="auto" latinLnBrk="0" hangingPunct="1">
                <a:lnSpc>
                  <a:spcPct val="130000"/>
                </a:lnSpc>
                <a:spcBef>
                  <a:spcPct val="0"/>
                </a:spcBef>
                <a:spcAft>
                  <a:spcPts val="0"/>
                </a:spcAft>
                <a:buClr>
                  <a:srgbClr val="BFBFBF"/>
                </a:buClr>
                <a:buSzTx/>
                <a:buFont typeface="Arial" panose="020B0604020202020204" pitchFamily="34" charset="0"/>
                <a:buNone/>
                <a:tabLst/>
                <a:defRPr/>
              </a:pPr>
              <a:r>
                <a:rPr kumimoji="0" lang="en-US" altLang="zh-CN" sz="1800" b="0" i="0" u="none" strike="noStrike" kern="1200" cap="none" spc="0" normalizeH="0" baseline="0" noProof="0" dirty="0">
                  <a:ln>
                    <a:noFill/>
                  </a:ln>
                  <a:solidFill>
                    <a:srgbClr val="3D3F41"/>
                  </a:solidFill>
                  <a:effectLst/>
                  <a:uLnTx/>
                  <a:uFillTx/>
                  <a:latin typeface="Arial"/>
                  <a:ea typeface="黑体"/>
                  <a:cs typeface="+mn-cs"/>
                </a:rPr>
                <a:t>尽可能快地建造一个粗糙的系统,这系统实现了目标系统的某些或全部功能,但是这个系统可能在可靠性,界面的友好性或其他方面上存在缺陷</a:t>
              </a:r>
            </a:p>
          </p:txBody>
        </p:sp>
      </p:grpSp>
      <p:grpSp>
        <p:nvGrpSpPr>
          <p:cNvPr id="2" name="组合 1"/>
          <p:cNvGrpSpPr/>
          <p:nvPr>
            <p:custDataLst>
              <p:tags r:id="rId4"/>
            </p:custDataLst>
          </p:nvPr>
        </p:nvGrpSpPr>
        <p:grpSpPr>
          <a:xfrm>
            <a:off x="7014924" y="1699858"/>
            <a:ext cx="3753485" cy="2016761"/>
            <a:chOff x="7014924" y="1699858"/>
            <a:chExt cx="3753485" cy="2016761"/>
          </a:xfrm>
        </p:grpSpPr>
        <p:sp>
          <p:nvSpPr>
            <p:cNvPr id="78853" name="矩形 46"/>
            <p:cNvSpPr>
              <a:spLocks noChangeArrowheads="1"/>
            </p:cNvSpPr>
            <p:nvPr>
              <p:custDataLst>
                <p:tags r:id="rId9"/>
              </p:custDataLst>
            </p:nvPr>
          </p:nvSpPr>
          <p:spPr bwMode="auto">
            <a:xfrm>
              <a:off x="7608649" y="3140039"/>
              <a:ext cx="1407160" cy="576580"/>
            </a:xfrm>
            <a:prstGeom prst="rect">
              <a:avLst/>
            </a:prstGeom>
            <a:solidFill>
              <a:schemeClr val="accent3"/>
            </a:solidFill>
            <a:ln>
              <a:noFill/>
            </a:ln>
          </p:spPr>
          <p:txBody>
            <a:bodyPr wrap="square" anchor="ctr">
              <a:normAutofit fontScale="87500" lnSpcReduction="20000"/>
            </a:bodyPr>
            <a:lstStyle>
              <a:lvl1pPr>
                <a:lnSpc>
                  <a:spcPct val="90000"/>
                </a:lnSpc>
                <a:spcBef>
                  <a:spcPts val="1000"/>
                </a:spcBef>
                <a:buFont typeface="Arial" panose="020B0604020202020204" pitchFamily="34" charset="0"/>
                <a:buChar char="•"/>
                <a:defRPr sz="2800">
                  <a:solidFill>
                    <a:schemeClr val="tx1"/>
                  </a:solidFill>
                  <a:latin typeface="Calibri" panose="020F05020202040A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A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A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9pPr>
            </a:lstStyle>
            <a:p>
              <a:pPr marL="0" marR="0" lvl="0" indent="0" algn="ctr"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rgbClr val="FFFFFF"/>
                  </a:solidFill>
                  <a:effectLst/>
                  <a:uLnTx/>
                  <a:uFillTx/>
                  <a:latin typeface="Arial"/>
                  <a:ea typeface="黑体"/>
                  <a:cs typeface="+mn-cs"/>
                </a:rPr>
                <a:t>动态分析法</a:t>
              </a:r>
            </a:p>
          </p:txBody>
        </p:sp>
        <p:sp>
          <p:nvSpPr>
            <p:cNvPr id="80906" name="文本框 51"/>
            <p:cNvSpPr txBox="1">
              <a:spLocks noChangeArrowheads="1"/>
            </p:cNvSpPr>
            <p:nvPr>
              <p:custDataLst>
                <p:tags r:id="rId10"/>
              </p:custDataLst>
            </p:nvPr>
          </p:nvSpPr>
          <p:spPr bwMode="auto">
            <a:xfrm>
              <a:off x="7014924" y="1699858"/>
              <a:ext cx="3753485" cy="1440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chor="b">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A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A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A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9pPr>
            </a:lstStyle>
            <a:p>
              <a:pPr marL="0" marR="0" lvl="0" indent="0" algn="just" defTabSz="914400" rtl="0" eaLnBrk="1" fontAlgn="auto" latinLnBrk="0" hangingPunct="1">
                <a:lnSpc>
                  <a:spcPct val="130000"/>
                </a:lnSpc>
                <a:spcBef>
                  <a:spcPct val="0"/>
                </a:spcBef>
                <a:spcAft>
                  <a:spcPts val="0"/>
                </a:spcAft>
                <a:buClr>
                  <a:srgbClr val="BFBFBF"/>
                </a:buClr>
                <a:buSzTx/>
                <a:buFont typeface="Arial" panose="020B0604020202020204" pitchFamily="34" charset="0"/>
                <a:buNone/>
                <a:tabLst/>
                <a:defRPr/>
              </a:pPr>
              <a:r>
                <a:rPr kumimoji="0" lang="en-US" altLang="zh-CN" sz="1800" b="0" i="0" u="none" strike="noStrike" kern="1200" cap="none" spc="0" normalizeH="0" baseline="0" noProof="0" dirty="0">
                  <a:ln>
                    <a:noFill/>
                  </a:ln>
                  <a:solidFill>
                    <a:srgbClr val="3D3F41"/>
                  </a:solidFill>
                  <a:effectLst/>
                  <a:uLnTx/>
                  <a:uFillTx/>
                  <a:latin typeface="Arial"/>
                  <a:ea typeface="黑体"/>
                  <a:cs typeface="+mn-cs"/>
                </a:rPr>
                <a:t>动态分析法又叫时序分析法。它是将不同时期的因素指标数值进行比较，求出比率，然后用以分析该项指标增减或发展速度的一种分析方法</a:t>
              </a:r>
            </a:p>
          </p:txBody>
        </p:sp>
      </p:grpSp>
      <p:grpSp>
        <p:nvGrpSpPr>
          <p:cNvPr id="3" name="组合 2"/>
          <p:cNvGrpSpPr/>
          <p:nvPr>
            <p:custDataLst>
              <p:tags r:id="rId5"/>
            </p:custDataLst>
          </p:nvPr>
        </p:nvGrpSpPr>
        <p:grpSpPr>
          <a:xfrm>
            <a:off x="4582739" y="3694046"/>
            <a:ext cx="2772410" cy="1979930"/>
            <a:chOff x="4582739" y="3694046"/>
            <a:chExt cx="2772410" cy="1979930"/>
          </a:xfrm>
        </p:grpSpPr>
        <p:sp>
          <p:nvSpPr>
            <p:cNvPr id="80903" name="矩形 48"/>
            <p:cNvSpPr>
              <a:spLocks noChangeArrowheads="1"/>
            </p:cNvSpPr>
            <p:nvPr>
              <p:custDataLst>
                <p:tags r:id="rId7"/>
              </p:custDataLst>
            </p:nvPr>
          </p:nvSpPr>
          <p:spPr bwMode="auto">
            <a:xfrm>
              <a:off x="5177098" y="3694046"/>
              <a:ext cx="1522281" cy="53975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square" anchor="ctr">
              <a:normAutofit fontScale="85000" lnSpcReduction="10000"/>
            </a:bodyPr>
            <a:lstStyle>
              <a:lvl1pPr>
                <a:lnSpc>
                  <a:spcPct val="90000"/>
                </a:lnSpc>
                <a:spcBef>
                  <a:spcPts val="1000"/>
                </a:spcBef>
                <a:buFont typeface="Arial" panose="020B0604020202020204" pitchFamily="34" charset="0"/>
                <a:buChar char="•"/>
                <a:defRPr sz="2800">
                  <a:solidFill>
                    <a:schemeClr val="tx1"/>
                  </a:solidFill>
                  <a:latin typeface="Calibri" panose="020F05020202040A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A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A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9pPr>
            </a:lstStyle>
            <a:p>
              <a:pPr marL="0" marR="0" lvl="0" indent="0" algn="ctr" defTabSz="914400" rtl="0" eaLnBrk="1" fontAlgn="auto" latinLnBrk="0" hangingPunct="1">
                <a:lnSpc>
                  <a:spcPct val="90000"/>
                </a:lnSpc>
                <a:spcBef>
                  <a:spcPct val="0"/>
                </a:spcBef>
                <a:spcAft>
                  <a:spcPts val="0"/>
                </a:spcAft>
                <a:buClrTx/>
                <a:buSzTx/>
                <a:buFont typeface="Arial" panose="020B0604020202020204" pitchFamily="34" charset="0"/>
                <a:buNone/>
                <a:tabLst/>
                <a:defRPr/>
              </a:pPr>
              <a:r>
                <a:rPr kumimoji="0" lang="zh-CN" altLang="en-US" sz="2400" b="0" i="0" u="none" strike="noStrike" kern="1200" cap="none" spc="0" normalizeH="0" baseline="0" noProof="0" dirty="0">
                  <a:ln>
                    <a:noFill/>
                  </a:ln>
                  <a:solidFill>
                    <a:srgbClr val="FFFFFF"/>
                  </a:solidFill>
                  <a:effectLst/>
                  <a:uLnTx/>
                  <a:uFillTx/>
                  <a:latin typeface="Arial"/>
                  <a:ea typeface="黑体"/>
                  <a:cs typeface="+mn-cs"/>
                </a:rPr>
                <a:t>结构化方法</a:t>
              </a:r>
            </a:p>
          </p:txBody>
        </p:sp>
        <p:sp>
          <p:nvSpPr>
            <p:cNvPr id="80904" name="文本框 53"/>
            <p:cNvSpPr txBox="1">
              <a:spLocks noChangeArrowheads="1"/>
            </p:cNvSpPr>
            <p:nvPr>
              <p:custDataLst>
                <p:tags r:id="rId8"/>
              </p:custDataLst>
            </p:nvPr>
          </p:nvSpPr>
          <p:spPr bwMode="auto">
            <a:xfrm>
              <a:off x="4582739" y="4233796"/>
              <a:ext cx="2772410" cy="14401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rm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A0204" charset="0"/>
                  <a:ea typeface="宋体" panose="02010600030101010101" pitchFamily="2"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A0204" charset="0"/>
                  <a:ea typeface="宋体" panose="02010600030101010101" pitchFamily="2"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A0204" charset="0"/>
                  <a:ea typeface="宋体" panose="02010600030101010101" pitchFamily="2"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A0204" charset="0"/>
                  <a:ea typeface="宋体" panose="02010600030101010101" pitchFamily="2"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A0204" charset="0"/>
                  <a:ea typeface="宋体" panose="02010600030101010101" pitchFamily="2" charset="-122"/>
                </a:defRPr>
              </a:lvl9pPr>
            </a:lstStyle>
            <a:p>
              <a:pPr marL="0" marR="0" lvl="0" indent="0" algn="just" defTabSz="914400" rtl="0" eaLnBrk="1" fontAlgn="auto" latinLnBrk="0" hangingPunct="1">
                <a:lnSpc>
                  <a:spcPct val="130000"/>
                </a:lnSpc>
                <a:spcBef>
                  <a:spcPct val="0"/>
                </a:spcBef>
                <a:spcAft>
                  <a:spcPts val="0"/>
                </a:spcAft>
                <a:buClr>
                  <a:srgbClr val="BFBFBF"/>
                </a:buClr>
                <a:buSzTx/>
                <a:buFont typeface="Arial" panose="020B0604020202020204" pitchFamily="34" charset="0"/>
                <a:buNone/>
                <a:tabLst/>
                <a:defRPr/>
              </a:pPr>
              <a:r>
                <a:rPr kumimoji="0" lang="en-US" altLang="zh-CN" sz="1800" b="0" i="0" u="none" strike="noStrike" kern="1200" cap="none" spc="0" normalizeH="0" baseline="0" noProof="0" dirty="0">
                  <a:ln>
                    <a:noFill/>
                  </a:ln>
                  <a:solidFill>
                    <a:srgbClr val="3D3F41"/>
                  </a:solidFill>
                  <a:effectLst/>
                  <a:uLnTx/>
                  <a:uFillTx/>
                  <a:latin typeface="Arial"/>
                  <a:ea typeface="黑体"/>
                  <a:cs typeface="+mn-cs"/>
                </a:rPr>
                <a:t>强调开发方法的结构合理性以及所开发软件的结构合理性的软件开发方法</a:t>
              </a:r>
            </a:p>
          </p:txBody>
        </p:sp>
      </p:grpSp>
      <p:sp>
        <p:nvSpPr>
          <p:cNvPr id="5" name="文本框 4"/>
          <p:cNvSpPr txBox="1"/>
          <p:nvPr>
            <p:custDataLst>
              <p:tags r:id="rId6"/>
            </p:custDataLst>
          </p:nvPr>
        </p:nvSpPr>
        <p:spPr>
          <a:xfrm>
            <a:off x="625313" y="260351"/>
            <a:ext cx="1097311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a:bodyPr>
          <a:lstStyle>
            <a:lvl1pPr fontAlgn="base">
              <a:spcBef>
                <a:spcPct val="0"/>
              </a:spcBef>
              <a:spcAft>
                <a:spcPct val="0"/>
              </a:spcAft>
              <a:defRPr baseline="0">
                <a:solidFill>
                  <a:schemeClr val="accent1">
                    <a:lumMod val="75000"/>
                  </a:schemeClr>
                </a:solidFill>
                <a:latin typeface="+mj-lt"/>
                <a:ea typeface="+mj-ea"/>
                <a:cs typeface="+mj-cs"/>
              </a:defRPr>
            </a:lvl1pPr>
            <a:lvl2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2pPr>
            <a:lvl3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3pPr>
            <a:lvl4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4pPr>
            <a:lvl5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5pPr>
            <a:lvl6pPr marL="457200"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6pPr>
            <a:lvl7pPr marL="914400"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7pPr>
            <a:lvl8pPr marL="1370965"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8pPr>
            <a:lvl9pPr marL="1828165"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a:ln>
                  <a:noFill/>
                </a:ln>
                <a:solidFill>
                  <a:srgbClr val="04AEDA">
                    <a:lumMod val="75000"/>
                  </a:srgbClr>
                </a:solidFill>
                <a:effectLst/>
                <a:uLnTx/>
                <a:uFillTx/>
                <a:latin typeface="Arial"/>
                <a:ea typeface="黑体"/>
                <a:cs typeface="+mj-cs"/>
              </a:rPr>
              <a:t>具体方法</a:t>
            </a:r>
          </a:p>
        </p:txBody>
      </p:sp>
      <p:sp>
        <p:nvSpPr>
          <p:cNvPr id="6" name="椭圆 5"/>
          <p:cNvSpPr/>
          <p:nvPr/>
        </p:nvSpPr>
        <p:spPr>
          <a:xfrm>
            <a:off x="3032760" y="3048000"/>
            <a:ext cx="1813560" cy="853440"/>
          </a:xfrm>
          <a:prstGeom prst="ellipse">
            <a:avLst/>
          </a:prstGeom>
          <a:noFill/>
          <a:ln w="38100">
            <a:solidFill>
              <a:srgbClr val="FF0000"/>
            </a:solid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a:cs typeface="+mn-cs"/>
            </a:endParaRPr>
          </a:p>
        </p:txBody>
      </p:sp>
    </p:spTree>
    <p:custDataLst>
      <p:tags r:id="rId1"/>
    </p:custDataLst>
    <p:extLst>
      <p:ext uri="{BB962C8B-B14F-4D97-AF65-F5344CB8AC3E}">
        <p14:creationId xmlns:p14="http://schemas.microsoft.com/office/powerpoint/2010/main" val="366372151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checkerboard(across)">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768191" y="3177106"/>
            <a:ext cx="10655619" cy="164714"/>
          </a:xfrm>
          <a:prstGeom prst="rect">
            <a:avLst/>
          </a:prstGeom>
          <a:ln>
            <a:noFill/>
          </a:ln>
        </p:spPr>
        <p:style>
          <a:lnRef idx="2">
            <a:srgbClr val="72C5EA">
              <a:shade val="50000"/>
            </a:srgbClr>
          </a:lnRef>
          <a:fillRef idx="1">
            <a:srgbClr val="72C5EA"/>
          </a:fillRef>
          <a:effectRef idx="0">
            <a:srgbClr val="72C5EA"/>
          </a:effectRef>
          <a:fontRef idx="minor">
            <a:srgbClr val="FFFFFF"/>
          </a:fontRef>
        </p:style>
        <p:txBody>
          <a:bodyPr rtlCol="0" anchor="ctr">
            <a:normAutofit fontScale="3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a:cs typeface="+mn-cs"/>
              <a:sym typeface="Arial" panose="020B0604020202020204" pitchFamily="34" charset="0"/>
            </a:endParaRPr>
          </a:p>
        </p:txBody>
      </p:sp>
      <p:grpSp>
        <p:nvGrpSpPr>
          <p:cNvPr id="23" name="组合 22"/>
          <p:cNvGrpSpPr/>
          <p:nvPr>
            <p:custDataLst>
              <p:tags r:id="rId3"/>
            </p:custDataLst>
          </p:nvPr>
        </p:nvGrpSpPr>
        <p:grpSpPr>
          <a:xfrm>
            <a:off x="1158477" y="1973441"/>
            <a:ext cx="3098165" cy="1368426"/>
            <a:chOff x="860142" y="3209925"/>
            <a:chExt cx="2329093" cy="1028735"/>
          </a:xfrm>
        </p:grpSpPr>
        <p:sp>
          <p:nvSpPr>
            <p:cNvPr id="16" name="任意多边形 15"/>
            <p:cNvSpPr/>
            <p:nvPr>
              <p:custDataLst>
                <p:tags r:id="rId18"/>
              </p:custDataLst>
            </p:nvPr>
          </p:nvSpPr>
          <p:spPr>
            <a:xfrm>
              <a:off x="2055956" y="3209925"/>
              <a:ext cx="1133279" cy="1028735"/>
            </a:xfrm>
            <a:custGeom>
              <a:avLst/>
              <a:gdLst>
                <a:gd name="connsiteX0" fmla="*/ 619143 w 1133493"/>
                <a:gd name="connsiteY0" fmla="*/ 0 h 1028700"/>
                <a:gd name="connsiteX1" fmla="*/ 1133493 w 1133493"/>
                <a:gd name="connsiteY1" fmla="*/ 514350 h 1028700"/>
                <a:gd name="connsiteX2" fmla="*/ 619143 w 1133493"/>
                <a:gd name="connsiteY2" fmla="*/ 1028700 h 1028700"/>
                <a:gd name="connsiteX3" fmla="*/ 331565 w 1133493"/>
                <a:gd name="connsiteY3" fmla="*/ 940857 h 1028700"/>
                <a:gd name="connsiteX4" fmla="*/ 287952 w 1133493"/>
                <a:gd name="connsiteY4" fmla="*/ 904873 h 1028700"/>
                <a:gd name="connsiteX5" fmla="*/ 606443 w 1133493"/>
                <a:gd name="connsiteY5" fmla="*/ 904873 h 1028700"/>
                <a:gd name="connsiteX6" fmla="*/ 606443 w 1133493"/>
                <a:gd name="connsiteY6" fmla="*/ 903431 h 1028700"/>
                <a:gd name="connsiteX7" fmla="*/ 619143 w 1133493"/>
                <a:gd name="connsiteY7" fmla="*/ 904711 h 1028700"/>
                <a:gd name="connsiteX8" fmla="*/ 1009504 w 1133493"/>
                <a:gd name="connsiteY8" fmla="*/ 514350 h 1028700"/>
                <a:gd name="connsiteX9" fmla="*/ 619143 w 1133493"/>
                <a:gd name="connsiteY9" fmla="*/ 123989 h 1028700"/>
                <a:gd name="connsiteX10" fmla="*/ 236713 w 1133493"/>
                <a:gd name="connsiteY10" fmla="*/ 435679 h 1028700"/>
                <a:gd name="connsiteX11" fmla="*/ 232766 w 1133493"/>
                <a:gd name="connsiteY11" fmla="*/ 474828 h 1028700"/>
                <a:gd name="connsiteX12" fmla="*/ 349224 w 1133493"/>
                <a:gd name="connsiteY12" fmla="*/ 418670 h 1028700"/>
                <a:gd name="connsiteX13" fmla="*/ 352029 w 1133493"/>
                <a:gd name="connsiteY13" fmla="*/ 418891 h 1028700"/>
                <a:gd name="connsiteX14" fmla="*/ 152110 w 1133493"/>
                <a:gd name="connsiteY14" fmla="*/ 708352 h 1028700"/>
                <a:gd name="connsiteX15" fmla="*/ 0 w 1133493"/>
                <a:gd name="connsiteY15" fmla="*/ 391149 h 1028700"/>
                <a:gd name="connsiteX16" fmla="*/ 2805 w 1133493"/>
                <a:gd name="connsiteY16" fmla="*/ 391370 h 1028700"/>
                <a:gd name="connsiteX17" fmla="*/ 109712 w 1133493"/>
                <a:gd name="connsiteY17" fmla="*/ 465552 h 1028700"/>
                <a:gd name="connsiteX18" fmla="*/ 115243 w 1133493"/>
                <a:gd name="connsiteY18" fmla="*/ 410691 h 1028700"/>
                <a:gd name="connsiteX19" fmla="*/ 619143 w 1133493"/>
                <a:gd name="connsiteY1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3493" h="1028700">
                  <a:moveTo>
                    <a:pt x="619143" y="0"/>
                  </a:moveTo>
                  <a:cubicBezTo>
                    <a:pt x="903211" y="0"/>
                    <a:pt x="1133493" y="230282"/>
                    <a:pt x="1133493" y="514350"/>
                  </a:cubicBezTo>
                  <a:cubicBezTo>
                    <a:pt x="1133493" y="798418"/>
                    <a:pt x="903211" y="1028700"/>
                    <a:pt x="619143" y="1028700"/>
                  </a:cubicBezTo>
                  <a:cubicBezTo>
                    <a:pt x="512618" y="1028700"/>
                    <a:pt x="413656" y="996317"/>
                    <a:pt x="331565" y="940857"/>
                  </a:cubicBezTo>
                  <a:lnTo>
                    <a:pt x="287952" y="904873"/>
                  </a:lnTo>
                  <a:lnTo>
                    <a:pt x="606443" y="904873"/>
                  </a:lnTo>
                  <a:lnTo>
                    <a:pt x="606443" y="903431"/>
                  </a:lnTo>
                  <a:lnTo>
                    <a:pt x="619143" y="904711"/>
                  </a:lnTo>
                  <a:cubicBezTo>
                    <a:pt x="834733" y="904711"/>
                    <a:pt x="1009504" y="729940"/>
                    <a:pt x="1009504" y="514350"/>
                  </a:cubicBezTo>
                  <a:cubicBezTo>
                    <a:pt x="1009504" y="298760"/>
                    <a:pt x="834733" y="123989"/>
                    <a:pt x="619143" y="123989"/>
                  </a:cubicBezTo>
                  <a:cubicBezTo>
                    <a:pt x="430502" y="123989"/>
                    <a:pt x="273113" y="257798"/>
                    <a:pt x="236713" y="435679"/>
                  </a:cubicBezTo>
                  <a:lnTo>
                    <a:pt x="232766" y="474828"/>
                  </a:lnTo>
                  <a:lnTo>
                    <a:pt x="349224" y="418670"/>
                  </a:lnTo>
                  <a:lnTo>
                    <a:pt x="352029" y="418891"/>
                  </a:lnTo>
                  <a:lnTo>
                    <a:pt x="152110" y="708352"/>
                  </a:lnTo>
                  <a:lnTo>
                    <a:pt x="0" y="391149"/>
                  </a:lnTo>
                  <a:lnTo>
                    <a:pt x="2805" y="391370"/>
                  </a:lnTo>
                  <a:lnTo>
                    <a:pt x="109712" y="465552"/>
                  </a:lnTo>
                  <a:lnTo>
                    <a:pt x="115243" y="410691"/>
                  </a:lnTo>
                  <a:cubicBezTo>
                    <a:pt x="163204" y="176310"/>
                    <a:pt x="370584" y="0"/>
                    <a:pt x="619143" y="0"/>
                  </a:cubicBezTo>
                  <a:close/>
                </a:path>
              </a:pathLst>
            </a:custGeom>
            <a:solidFill>
              <a:srgbClr val="72C5EA"/>
            </a:solidFill>
            <a:ln>
              <a:noFill/>
            </a:ln>
            <a:effectLst/>
          </p:spPr>
          <p:style>
            <a:lnRef idx="2">
              <a:srgbClr val="72C5EA">
                <a:shade val="50000"/>
              </a:srgbClr>
            </a:lnRef>
            <a:fillRef idx="1">
              <a:srgbClr val="72C5EA"/>
            </a:fillRef>
            <a:effectRef idx="0">
              <a:srgbClr val="72C5EA"/>
            </a:effectRef>
            <a:fontRef idx="minor">
              <a:srgbClr val="FFFFFF"/>
            </a:fontRef>
          </p:style>
          <p:txBody>
            <a:bodyPr lIns="25200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72C5EA"/>
                  </a:solidFill>
                  <a:effectLst/>
                  <a:uLnTx/>
                  <a:uFillTx/>
                  <a:latin typeface="Arial"/>
                  <a:ea typeface="黑体"/>
                  <a:cs typeface="+mn-cs"/>
                  <a:sym typeface="Arial" panose="020B0604020202020204" pitchFamily="34" charset="0"/>
                </a:rPr>
                <a:t>1</a:t>
              </a:r>
            </a:p>
          </p:txBody>
        </p:sp>
        <p:sp>
          <p:nvSpPr>
            <p:cNvPr id="17" name="文本框 16"/>
            <p:cNvSpPr txBox="1"/>
            <p:nvPr>
              <p:custDataLst>
                <p:tags r:id="rId19"/>
              </p:custDataLst>
            </p:nvPr>
          </p:nvSpPr>
          <p:spPr>
            <a:xfrm>
              <a:off x="860142" y="3661995"/>
              <a:ext cx="1144736" cy="391922"/>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da-DK" sz="1800" b="0" i="0" u="none" strike="noStrike" kern="1200" cap="none" spc="0" normalizeH="0" baseline="0" noProof="0" smtClean="0">
                  <a:ln>
                    <a:noFill/>
                  </a:ln>
                  <a:solidFill>
                    <a:srgbClr val="72C5EA"/>
                  </a:solidFill>
                  <a:effectLst/>
                  <a:uLnTx/>
                  <a:uFillTx/>
                  <a:latin typeface="Arial"/>
                  <a:ea typeface="黑体"/>
                  <a:cs typeface="+mn-cs"/>
                  <a:sym typeface="Arial" panose="020B0604020202020204" pitchFamily="34" charset="0"/>
                </a:rPr>
                <a:t>探索型</a:t>
              </a:r>
            </a:p>
          </p:txBody>
        </p:sp>
      </p:grpSp>
      <p:grpSp>
        <p:nvGrpSpPr>
          <p:cNvPr id="24" name="组合 23"/>
          <p:cNvGrpSpPr/>
          <p:nvPr>
            <p:custDataLst>
              <p:tags r:id="rId4"/>
            </p:custDataLst>
          </p:nvPr>
        </p:nvGrpSpPr>
        <p:grpSpPr>
          <a:xfrm>
            <a:off x="4391812" y="1973441"/>
            <a:ext cx="3098237" cy="1368379"/>
            <a:chOff x="3290851" y="3209925"/>
            <a:chExt cx="2329147" cy="1028700"/>
          </a:xfrm>
        </p:grpSpPr>
        <p:sp>
          <p:nvSpPr>
            <p:cNvPr id="18" name="任意多边形 17"/>
            <p:cNvSpPr/>
            <p:nvPr>
              <p:custDataLst>
                <p:tags r:id="rId16"/>
              </p:custDataLst>
            </p:nvPr>
          </p:nvSpPr>
          <p:spPr>
            <a:xfrm>
              <a:off x="4486505" y="3209925"/>
              <a:ext cx="1133493" cy="1028700"/>
            </a:xfrm>
            <a:custGeom>
              <a:avLst/>
              <a:gdLst>
                <a:gd name="connsiteX0" fmla="*/ 619143 w 1133493"/>
                <a:gd name="connsiteY0" fmla="*/ 0 h 1028700"/>
                <a:gd name="connsiteX1" fmla="*/ 1133493 w 1133493"/>
                <a:gd name="connsiteY1" fmla="*/ 514350 h 1028700"/>
                <a:gd name="connsiteX2" fmla="*/ 619143 w 1133493"/>
                <a:gd name="connsiteY2" fmla="*/ 1028700 h 1028700"/>
                <a:gd name="connsiteX3" fmla="*/ 331565 w 1133493"/>
                <a:gd name="connsiteY3" fmla="*/ 940857 h 1028700"/>
                <a:gd name="connsiteX4" fmla="*/ 287952 w 1133493"/>
                <a:gd name="connsiteY4" fmla="*/ 904873 h 1028700"/>
                <a:gd name="connsiteX5" fmla="*/ 606443 w 1133493"/>
                <a:gd name="connsiteY5" fmla="*/ 904873 h 1028700"/>
                <a:gd name="connsiteX6" fmla="*/ 606443 w 1133493"/>
                <a:gd name="connsiteY6" fmla="*/ 903431 h 1028700"/>
                <a:gd name="connsiteX7" fmla="*/ 619143 w 1133493"/>
                <a:gd name="connsiteY7" fmla="*/ 904711 h 1028700"/>
                <a:gd name="connsiteX8" fmla="*/ 1009504 w 1133493"/>
                <a:gd name="connsiteY8" fmla="*/ 514350 h 1028700"/>
                <a:gd name="connsiteX9" fmla="*/ 619143 w 1133493"/>
                <a:gd name="connsiteY9" fmla="*/ 123989 h 1028700"/>
                <a:gd name="connsiteX10" fmla="*/ 236713 w 1133493"/>
                <a:gd name="connsiteY10" fmla="*/ 435679 h 1028700"/>
                <a:gd name="connsiteX11" fmla="*/ 232766 w 1133493"/>
                <a:gd name="connsiteY11" fmla="*/ 474828 h 1028700"/>
                <a:gd name="connsiteX12" fmla="*/ 349224 w 1133493"/>
                <a:gd name="connsiteY12" fmla="*/ 418670 h 1028700"/>
                <a:gd name="connsiteX13" fmla="*/ 352029 w 1133493"/>
                <a:gd name="connsiteY13" fmla="*/ 418891 h 1028700"/>
                <a:gd name="connsiteX14" fmla="*/ 152110 w 1133493"/>
                <a:gd name="connsiteY14" fmla="*/ 708352 h 1028700"/>
                <a:gd name="connsiteX15" fmla="*/ 0 w 1133493"/>
                <a:gd name="connsiteY15" fmla="*/ 391149 h 1028700"/>
                <a:gd name="connsiteX16" fmla="*/ 2805 w 1133493"/>
                <a:gd name="connsiteY16" fmla="*/ 391370 h 1028700"/>
                <a:gd name="connsiteX17" fmla="*/ 109712 w 1133493"/>
                <a:gd name="connsiteY17" fmla="*/ 465552 h 1028700"/>
                <a:gd name="connsiteX18" fmla="*/ 115243 w 1133493"/>
                <a:gd name="connsiteY18" fmla="*/ 410691 h 1028700"/>
                <a:gd name="connsiteX19" fmla="*/ 619143 w 1133493"/>
                <a:gd name="connsiteY1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3493" h="1028700">
                  <a:moveTo>
                    <a:pt x="619143" y="0"/>
                  </a:moveTo>
                  <a:cubicBezTo>
                    <a:pt x="903211" y="0"/>
                    <a:pt x="1133493" y="230282"/>
                    <a:pt x="1133493" y="514350"/>
                  </a:cubicBezTo>
                  <a:cubicBezTo>
                    <a:pt x="1133493" y="798418"/>
                    <a:pt x="903211" y="1028700"/>
                    <a:pt x="619143" y="1028700"/>
                  </a:cubicBezTo>
                  <a:cubicBezTo>
                    <a:pt x="512618" y="1028700"/>
                    <a:pt x="413656" y="996317"/>
                    <a:pt x="331565" y="940857"/>
                  </a:cubicBezTo>
                  <a:lnTo>
                    <a:pt x="287952" y="904873"/>
                  </a:lnTo>
                  <a:lnTo>
                    <a:pt x="606443" y="904873"/>
                  </a:lnTo>
                  <a:lnTo>
                    <a:pt x="606443" y="903431"/>
                  </a:lnTo>
                  <a:lnTo>
                    <a:pt x="619143" y="904711"/>
                  </a:lnTo>
                  <a:cubicBezTo>
                    <a:pt x="834733" y="904711"/>
                    <a:pt x="1009504" y="729940"/>
                    <a:pt x="1009504" y="514350"/>
                  </a:cubicBezTo>
                  <a:cubicBezTo>
                    <a:pt x="1009504" y="298760"/>
                    <a:pt x="834733" y="123989"/>
                    <a:pt x="619143" y="123989"/>
                  </a:cubicBezTo>
                  <a:cubicBezTo>
                    <a:pt x="430502" y="123989"/>
                    <a:pt x="273113" y="257798"/>
                    <a:pt x="236713" y="435679"/>
                  </a:cubicBezTo>
                  <a:lnTo>
                    <a:pt x="232766" y="474828"/>
                  </a:lnTo>
                  <a:lnTo>
                    <a:pt x="349224" y="418670"/>
                  </a:lnTo>
                  <a:lnTo>
                    <a:pt x="352029" y="418891"/>
                  </a:lnTo>
                  <a:lnTo>
                    <a:pt x="152110" y="708352"/>
                  </a:lnTo>
                  <a:lnTo>
                    <a:pt x="0" y="391149"/>
                  </a:lnTo>
                  <a:lnTo>
                    <a:pt x="2805" y="391370"/>
                  </a:lnTo>
                  <a:lnTo>
                    <a:pt x="109712" y="465552"/>
                  </a:lnTo>
                  <a:lnTo>
                    <a:pt x="115243" y="410691"/>
                  </a:lnTo>
                  <a:cubicBezTo>
                    <a:pt x="163204" y="176310"/>
                    <a:pt x="370584" y="0"/>
                    <a:pt x="619143" y="0"/>
                  </a:cubicBezTo>
                  <a:close/>
                </a:path>
              </a:pathLst>
            </a:custGeom>
            <a:solidFill>
              <a:srgbClr val="72C5EA"/>
            </a:solidFill>
            <a:ln>
              <a:noFill/>
            </a:ln>
            <a:effectLst/>
          </p:spPr>
          <p:style>
            <a:lnRef idx="2">
              <a:srgbClr val="72C5EA">
                <a:shade val="50000"/>
              </a:srgbClr>
            </a:lnRef>
            <a:fillRef idx="1">
              <a:srgbClr val="72C5EA"/>
            </a:fillRef>
            <a:effectRef idx="0">
              <a:srgbClr val="72C5EA"/>
            </a:effectRef>
            <a:fontRef idx="minor">
              <a:srgbClr val="FFFFFF"/>
            </a:fontRef>
          </p:style>
          <p:txBody>
            <a:bodyPr lIns="25200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72C5EA"/>
                  </a:solidFill>
                  <a:effectLst/>
                  <a:uLnTx/>
                  <a:uFillTx/>
                  <a:latin typeface="Arial"/>
                  <a:ea typeface="黑体"/>
                  <a:cs typeface="+mn-cs"/>
                  <a:sym typeface="Arial" panose="020B0604020202020204" pitchFamily="34" charset="0"/>
                </a:rPr>
                <a:t>2</a:t>
              </a:r>
            </a:p>
          </p:txBody>
        </p:sp>
        <p:sp>
          <p:nvSpPr>
            <p:cNvPr id="19" name="文本框 18"/>
            <p:cNvSpPr txBox="1"/>
            <p:nvPr>
              <p:custDataLst>
                <p:tags r:id="rId17"/>
              </p:custDataLst>
            </p:nvPr>
          </p:nvSpPr>
          <p:spPr>
            <a:xfrm>
              <a:off x="3290851" y="3684627"/>
              <a:ext cx="1144852" cy="369332"/>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da-DK" sz="1800" b="0" i="0" u="none" strike="noStrike" kern="1200" cap="none" spc="0" normalizeH="0" baseline="0" noProof="0" smtClean="0">
                  <a:ln>
                    <a:noFill/>
                  </a:ln>
                  <a:solidFill>
                    <a:srgbClr val="72C5EA"/>
                  </a:solidFill>
                  <a:effectLst/>
                  <a:uLnTx/>
                  <a:uFillTx/>
                  <a:latin typeface="Arial"/>
                  <a:ea typeface="黑体"/>
                  <a:cs typeface="+mn-cs"/>
                  <a:sym typeface="Arial" panose="020B0604020202020204" pitchFamily="34" charset="0"/>
                </a:rPr>
                <a:t>实验型</a:t>
              </a:r>
            </a:p>
          </p:txBody>
        </p:sp>
      </p:grpSp>
      <p:grpSp>
        <p:nvGrpSpPr>
          <p:cNvPr id="7" name="组合 6"/>
          <p:cNvGrpSpPr/>
          <p:nvPr>
            <p:custDataLst>
              <p:tags r:id="rId5"/>
            </p:custDataLst>
          </p:nvPr>
        </p:nvGrpSpPr>
        <p:grpSpPr>
          <a:xfrm>
            <a:off x="7625147" y="1973441"/>
            <a:ext cx="3098237" cy="1368379"/>
            <a:chOff x="5721560" y="3209925"/>
            <a:chExt cx="2329147" cy="1028700"/>
          </a:xfrm>
        </p:grpSpPr>
        <p:sp>
          <p:nvSpPr>
            <p:cNvPr id="20" name="任意多边形 19"/>
            <p:cNvSpPr/>
            <p:nvPr>
              <p:custDataLst>
                <p:tags r:id="rId14"/>
              </p:custDataLst>
            </p:nvPr>
          </p:nvSpPr>
          <p:spPr>
            <a:xfrm>
              <a:off x="6917214" y="3209925"/>
              <a:ext cx="1133493" cy="1028700"/>
            </a:xfrm>
            <a:custGeom>
              <a:avLst/>
              <a:gdLst>
                <a:gd name="connsiteX0" fmla="*/ 619143 w 1133493"/>
                <a:gd name="connsiteY0" fmla="*/ 0 h 1028700"/>
                <a:gd name="connsiteX1" fmla="*/ 1133493 w 1133493"/>
                <a:gd name="connsiteY1" fmla="*/ 514350 h 1028700"/>
                <a:gd name="connsiteX2" fmla="*/ 619143 w 1133493"/>
                <a:gd name="connsiteY2" fmla="*/ 1028700 h 1028700"/>
                <a:gd name="connsiteX3" fmla="*/ 331565 w 1133493"/>
                <a:gd name="connsiteY3" fmla="*/ 940857 h 1028700"/>
                <a:gd name="connsiteX4" fmla="*/ 287952 w 1133493"/>
                <a:gd name="connsiteY4" fmla="*/ 904873 h 1028700"/>
                <a:gd name="connsiteX5" fmla="*/ 606443 w 1133493"/>
                <a:gd name="connsiteY5" fmla="*/ 904873 h 1028700"/>
                <a:gd name="connsiteX6" fmla="*/ 606443 w 1133493"/>
                <a:gd name="connsiteY6" fmla="*/ 903431 h 1028700"/>
                <a:gd name="connsiteX7" fmla="*/ 619143 w 1133493"/>
                <a:gd name="connsiteY7" fmla="*/ 904711 h 1028700"/>
                <a:gd name="connsiteX8" fmla="*/ 1009504 w 1133493"/>
                <a:gd name="connsiteY8" fmla="*/ 514350 h 1028700"/>
                <a:gd name="connsiteX9" fmla="*/ 619143 w 1133493"/>
                <a:gd name="connsiteY9" fmla="*/ 123989 h 1028700"/>
                <a:gd name="connsiteX10" fmla="*/ 236713 w 1133493"/>
                <a:gd name="connsiteY10" fmla="*/ 435679 h 1028700"/>
                <a:gd name="connsiteX11" fmla="*/ 232766 w 1133493"/>
                <a:gd name="connsiteY11" fmla="*/ 474828 h 1028700"/>
                <a:gd name="connsiteX12" fmla="*/ 349224 w 1133493"/>
                <a:gd name="connsiteY12" fmla="*/ 418670 h 1028700"/>
                <a:gd name="connsiteX13" fmla="*/ 352029 w 1133493"/>
                <a:gd name="connsiteY13" fmla="*/ 418891 h 1028700"/>
                <a:gd name="connsiteX14" fmla="*/ 152110 w 1133493"/>
                <a:gd name="connsiteY14" fmla="*/ 708352 h 1028700"/>
                <a:gd name="connsiteX15" fmla="*/ 0 w 1133493"/>
                <a:gd name="connsiteY15" fmla="*/ 391149 h 1028700"/>
                <a:gd name="connsiteX16" fmla="*/ 2805 w 1133493"/>
                <a:gd name="connsiteY16" fmla="*/ 391370 h 1028700"/>
                <a:gd name="connsiteX17" fmla="*/ 109712 w 1133493"/>
                <a:gd name="connsiteY17" fmla="*/ 465552 h 1028700"/>
                <a:gd name="connsiteX18" fmla="*/ 115243 w 1133493"/>
                <a:gd name="connsiteY18" fmla="*/ 410691 h 1028700"/>
                <a:gd name="connsiteX19" fmla="*/ 619143 w 1133493"/>
                <a:gd name="connsiteY1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3493" h="1028700">
                  <a:moveTo>
                    <a:pt x="619143" y="0"/>
                  </a:moveTo>
                  <a:cubicBezTo>
                    <a:pt x="903211" y="0"/>
                    <a:pt x="1133493" y="230282"/>
                    <a:pt x="1133493" y="514350"/>
                  </a:cubicBezTo>
                  <a:cubicBezTo>
                    <a:pt x="1133493" y="798418"/>
                    <a:pt x="903211" y="1028700"/>
                    <a:pt x="619143" y="1028700"/>
                  </a:cubicBezTo>
                  <a:cubicBezTo>
                    <a:pt x="512618" y="1028700"/>
                    <a:pt x="413656" y="996317"/>
                    <a:pt x="331565" y="940857"/>
                  </a:cubicBezTo>
                  <a:lnTo>
                    <a:pt x="287952" y="904873"/>
                  </a:lnTo>
                  <a:lnTo>
                    <a:pt x="606443" y="904873"/>
                  </a:lnTo>
                  <a:lnTo>
                    <a:pt x="606443" y="903431"/>
                  </a:lnTo>
                  <a:lnTo>
                    <a:pt x="619143" y="904711"/>
                  </a:lnTo>
                  <a:cubicBezTo>
                    <a:pt x="834733" y="904711"/>
                    <a:pt x="1009504" y="729940"/>
                    <a:pt x="1009504" y="514350"/>
                  </a:cubicBezTo>
                  <a:cubicBezTo>
                    <a:pt x="1009504" y="298760"/>
                    <a:pt x="834733" y="123989"/>
                    <a:pt x="619143" y="123989"/>
                  </a:cubicBezTo>
                  <a:cubicBezTo>
                    <a:pt x="430502" y="123989"/>
                    <a:pt x="273113" y="257798"/>
                    <a:pt x="236713" y="435679"/>
                  </a:cubicBezTo>
                  <a:lnTo>
                    <a:pt x="232766" y="474828"/>
                  </a:lnTo>
                  <a:lnTo>
                    <a:pt x="349224" y="418670"/>
                  </a:lnTo>
                  <a:lnTo>
                    <a:pt x="352029" y="418891"/>
                  </a:lnTo>
                  <a:lnTo>
                    <a:pt x="152110" y="708352"/>
                  </a:lnTo>
                  <a:lnTo>
                    <a:pt x="0" y="391149"/>
                  </a:lnTo>
                  <a:lnTo>
                    <a:pt x="2805" y="391370"/>
                  </a:lnTo>
                  <a:lnTo>
                    <a:pt x="109712" y="465552"/>
                  </a:lnTo>
                  <a:lnTo>
                    <a:pt x="115243" y="410691"/>
                  </a:lnTo>
                  <a:cubicBezTo>
                    <a:pt x="163204" y="176310"/>
                    <a:pt x="370584" y="0"/>
                    <a:pt x="619143" y="0"/>
                  </a:cubicBezTo>
                  <a:close/>
                </a:path>
              </a:pathLst>
            </a:custGeom>
            <a:solidFill>
              <a:srgbClr val="72C5EA"/>
            </a:solidFill>
            <a:ln>
              <a:noFill/>
            </a:ln>
            <a:effectLst/>
          </p:spPr>
          <p:style>
            <a:lnRef idx="2">
              <a:srgbClr val="72C5EA">
                <a:shade val="50000"/>
              </a:srgbClr>
            </a:lnRef>
            <a:fillRef idx="1">
              <a:srgbClr val="72C5EA"/>
            </a:fillRef>
            <a:effectRef idx="0">
              <a:srgbClr val="72C5EA"/>
            </a:effectRef>
            <a:fontRef idx="minor">
              <a:srgbClr val="FFFFFF"/>
            </a:fontRef>
          </p:style>
          <p:txBody>
            <a:bodyPr lIns="25200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72C5EA"/>
                  </a:solidFill>
                  <a:effectLst/>
                  <a:uLnTx/>
                  <a:uFillTx/>
                  <a:latin typeface="Arial"/>
                  <a:ea typeface="黑体"/>
                  <a:cs typeface="+mn-cs"/>
                  <a:sym typeface="Arial" panose="020B0604020202020204" pitchFamily="34" charset="0"/>
                </a:rPr>
                <a:t>3</a:t>
              </a:r>
            </a:p>
          </p:txBody>
        </p:sp>
        <p:sp>
          <p:nvSpPr>
            <p:cNvPr id="21" name="文本框 20"/>
            <p:cNvSpPr txBox="1"/>
            <p:nvPr>
              <p:custDataLst>
                <p:tags r:id="rId15"/>
              </p:custDataLst>
            </p:nvPr>
          </p:nvSpPr>
          <p:spPr>
            <a:xfrm>
              <a:off x="5721560" y="3684627"/>
              <a:ext cx="1144852" cy="369332"/>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da-DK" sz="1800" b="0" i="0" u="none" strike="noStrike" kern="1200" cap="none" spc="0" normalizeH="0" baseline="0" noProof="0" smtClean="0">
                  <a:ln>
                    <a:noFill/>
                  </a:ln>
                  <a:solidFill>
                    <a:srgbClr val="72C5EA"/>
                  </a:solidFill>
                  <a:effectLst/>
                  <a:uLnTx/>
                  <a:uFillTx/>
                  <a:latin typeface="Arial"/>
                  <a:ea typeface="黑体"/>
                  <a:cs typeface="+mn-cs"/>
                  <a:sym typeface="Arial" panose="020B0604020202020204" pitchFamily="34" charset="0"/>
                </a:rPr>
                <a:t>计划型</a:t>
              </a:r>
            </a:p>
          </p:txBody>
        </p:sp>
      </p:grpSp>
      <p:sp>
        <p:nvSpPr>
          <p:cNvPr id="33" name="矩形 32"/>
          <p:cNvSpPr/>
          <p:nvPr>
            <p:custDataLst>
              <p:tags r:id="rId6"/>
            </p:custDataLst>
          </p:nvPr>
        </p:nvSpPr>
        <p:spPr>
          <a:xfrm>
            <a:off x="768191" y="4372324"/>
            <a:ext cx="10655619" cy="164714"/>
          </a:xfrm>
          <a:prstGeom prst="rect">
            <a:avLst/>
          </a:prstGeom>
          <a:ln>
            <a:noFill/>
          </a:ln>
        </p:spPr>
        <p:style>
          <a:lnRef idx="2">
            <a:srgbClr val="72C5EA">
              <a:shade val="50000"/>
            </a:srgbClr>
          </a:lnRef>
          <a:fillRef idx="1">
            <a:srgbClr val="72C5EA"/>
          </a:fillRef>
          <a:effectRef idx="0">
            <a:srgbClr val="72C5EA"/>
          </a:effectRef>
          <a:fontRef idx="minor">
            <a:srgbClr val="FFFFFF"/>
          </a:fontRef>
        </p:style>
        <p:txBody>
          <a:bodyPr rtlCol="0" anchor="ctr">
            <a:normAutofit fontScale="3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a:cs typeface="+mn-cs"/>
              <a:sym typeface="Arial" panose="020B0604020202020204" pitchFamily="34" charset="0"/>
            </a:endParaRPr>
          </a:p>
        </p:txBody>
      </p:sp>
      <p:grpSp>
        <p:nvGrpSpPr>
          <p:cNvPr id="5" name="组合 4"/>
          <p:cNvGrpSpPr/>
          <p:nvPr>
            <p:custDataLst>
              <p:tags r:id="rId7"/>
            </p:custDataLst>
          </p:nvPr>
        </p:nvGrpSpPr>
        <p:grpSpPr>
          <a:xfrm>
            <a:off x="1158477" y="4372323"/>
            <a:ext cx="3098237" cy="1368379"/>
            <a:chOff x="860142" y="5013322"/>
            <a:chExt cx="2329147" cy="1028700"/>
          </a:xfrm>
        </p:grpSpPr>
        <p:sp>
          <p:nvSpPr>
            <p:cNvPr id="25" name="任意多边形 24"/>
            <p:cNvSpPr/>
            <p:nvPr>
              <p:custDataLst>
                <p:tags r:id="rId12"/>
              </p:custDataLst>
            </p:nvPr>
          </p:nvSpPr>
          <p:spPr>
            <a:xfrm>
              <a:off x="2055796" y="5013322"/>
              <a:ext cx="1133493" cy="1028700"/>
            </a:xfrm>
            <a:custGeom>
              <a:avLst/>
              <a:gdLst>
                <a:gd name="connsiteX0" fmla="*/ 619143 w 1133493"/>
                <a:gd name="connsiteY0" fmla="*/ 0 h 1028700"/>
                <a:gd name="connsiteX1" fmla="*/ 1133493 w 1133493"/>
                <a:gd name="connsiteY1" fmla="*/ 514350 h 1028700"/>
                <a:gd name="connsiteX2" fmla="*/ 619143 w 1133493"/>
                <a:gd name="connsiteY2" fmla="*/ 1028700 h 1028700"/>
                <a:gd name="connsiteX3" fmla="*/ 115243 w 1133493"/>
                <a:gd name="connsiteY3" fmla="*/ 618009 h 1028700"/>
                <a:gd name="connsiteX4" fmla="*/ 109712 w 1133493"/>
                <a:gd name="connsiteY4" fmla="*/ 563148 h 1028700"/>
                <a:gd name="connsiteX5" fmla="*/ 2805 w 1133493"/>
                <a:gd name="connsiteY5" fmla="*/ 637330 h 1028700"/>
                <a:gd name="connsiteX6" fmla="*/ 0 w 1133493"/>
                <a:gd name="connsiteY6" fmla="*/ 637551 h 1028700"/>
                <a:gd name="connsiteX7" fmla="*/ 152110 w 1133493"/>
                <a:gd name="connsiteY7" fmla="*/ 320348 h 1028700"/>
                <a:gd name="connsiteX8" fmla="*/ 352029 w 1133493"/>
                <a:gd name="connsiteY8" fmla="*/ 609809 h 1028700"/>
                <a:gd name="connsiteX9" fmla="*/ 349224 w 1133493"/>
                <a:gd name="connsiteY9" fmla="*/ 610030 h 1028700"/>
                <a:gd name="connsiteX10" fmla="*/ 232766 w 1133493"/>
                <a:gd name="connsiteY10" fmla="*/ 553872 h 1028700"/>
                <a:gd name="connsiteX11" fmla="*/ 236713 w 1133493"/>
                <a:gd name="connsiteY11" fmla="*/ 593021 h 1028700"/>
                <a:gd name="connsiteX12" fmla="*/ 619143 w 1133493"/>
                <a:gd name="connsiteY12" fmla="*/ 904711 h 1028700"/>
                <a:gd name="connsiteX13" fmla="*/ 1009504 w 1133493"/>
                <a:gd name="connsiteY13" fmla="*/ 514350 h 1028700"/>
                <a:gd name="connsiteX14" fmla="*/ 619143 w 1133493"/>
                <a:gd name="connsiteY14" fmla="*/ 123989 h 1028700"/>
                <a:gd name="connsiteX15" fmla="*/ 606443 w 1133493"/>
                <a:gd name="connsiteY15" fmla="*/ 125269 h 1028700"/>
                <a:gd name="connsiteX16" fmla="*/ 606443 w 1133493"/>
                <a:gd name="connsiteY16" fmla="*/ 123827 h 1028700"/>
                <a:gd name="connsiteX17" fmla="*/ 287952 w 1133493"/>
                <a:gd name="connsiteY17" fmla="*/ 123827 h 1028700"/>
                <a:gd name="connsiteX18" fmla="*/ 331565 w 1133493"/>
                <a:gd name="connsiteY18" fmla="*/ 87843 h 1028700"/>
                <a:gd name="connsiteX19" fmla="*/ 619143 w 1133493"/>
                <a:gd name="connsiteY1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3493" h="1028700">
                  <a:moveTo>
                    <a:pt x="619143" y="0"/>
                  </a:moveTo>
                  <a:cubicBezTo>
                    <a:pt x="903211" y="0"/>
                    <a:pt x="1133493" y="230282"/>
                    <a:pt x="1133493" y="514350"/>
                  </a:cubicBezTo>
                  <a:cubicBezTo>
                    <a:pt x="1133493" y="798418"/>
                    <a:pt x="903211" y="1028700"/>
                    <a:pt x="619143" y="1028700"/>
                  </a:cubicBezTo>
                  <a:cubicBezTo>
                    <a:pt x="370584" y="1028700"/>
                    <a:pt x="163204" y="852390"/>
                    <a:pt x="115243" y="618009"/>
                  </a:cubicBezTo>
                  <a:lnTo>
                    <a:pt x="109712" y="563148"/>
                  </a:lnTo>
                  <a:lnTo>
                    <a:pt x="2805" y="637330"/>
                  </a:lnTo>
                  <a:lnTo>
                    <a:pt x="0" y="637551"/>
                  </a:lnTo>
                  <a:lnTo>
                    <a:pt x="152110" y="320348"/>
                  </a:lnTo>
                  <a:lnTo>
                    <a:pt x="352029" y="609809"/>
                  </a:lnTo>
                  <a:lnTo>
                    <a:pt x="349224" y="610030"/>
                  </a:lnTo>
                  <a:lnTo>
                    <a:pt x="232766" y="553872"/>
                  </a:lnTo>
                  <a:lnTo>
                    <a:pt x="236713" y="593021"/>
                  </a:lnTo>
                  <a:cubicBezTo>
                    <a:pt x="273113" y="770902"/>
                    <a:pt x="430502" y="904711"/>
                    <a:pt x="619143" y="904711"/>
                  </a:cubicBezTo>
                  <a:cubicBezTo>
                    <a:pt x="834733" y="904711"/>
                    <a:pt x="1009504" y="729940"/>
                    <a:pt x="1009504" y="514350"/>
                  </a:cubicBezTo>
                  <a:cubicBezTo>
                    <a:pt x="1009504" y="298760"/>
                    <a:pt x="834733" y="123989"/>
                    <a:pt x="619143" y="123989"/>
                  </a:cubicBezTo>
                  <a:lnTo>
                    <a:pt x="606443" y="125269"/>
                  </a:lnTo>
                  <a:lnTo>
                    <a:pt x="606443" y="123827"/>
                  </a:lnTo>
                  <a:lnTo>
                    <a:pt x="287952" y="123827"/>
                  </a:lnTo>
                  <a:lnTo>
                    <a:pt x="331565" y="87843"/>
                  </a:lnTo>
                  <a:cubicBezTo>
                    <a:pt x="413656" y="32383"/>
                    <a:pt x="512618" y="0"/>
                    <a:pt x="619143" y="0"/>
                  </a:cubicBezTo>
                  <a:close/>
                </a:path>
              </a:pathLst>
            </a:custGeom>
            <a:ln>
              <a:noFill/>
            </a:ln>
          </p:spPr>
          <p:style>
            <a:lnRef idx="2">
              <a:srgbClr val="72C5EA">
                <a:shade val="50000"/>
              </a:srgbClr>
            </a:lnRef>
            <a:fillRef idx="1">
              <a:srgbClr val="72C5EA"/>
            </a:fillRef>
            <a:effectRef idx="0">
              <a:srgbClr val="72C5EA"/>
            </a:effectRef>
            <a:fontRef idx="minor">
              <a:srgbClr val="FFFFFF"/>
            </a:fontRef>
          </p:style>
          <p:txBody>
            <a:bodyPr lIns="252000" rIns="9000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72C5EA"/>
                  </a:solidFill>
                  <a:effectLst/>
                  <a:uLnTx/>
                  <a:uFillTx/>
                  <a:latin typeface="Arial"/>
                  <a:ea typeface="黑体"/>
                  <a:cs typeface="+mn-cs"/>
                  <a:sym typeface="Arial" panose="020B0604020202020204" pitchFamily="34" charset="0"/>
                </a:rPr>
                <a:t>1</a:t>
              </a:r>
            </a:p>
          </p:txBody>
        </p:sp>
        <p:sp>
          <p:nvSpPr>
            <p:cNvPr id="15" name="文本框 14"/>
            <p:cNvSpPr txBox="1"/>
            <p:nvPr>
              <p:custDataLst>
                <p:tags r:id="rId13"/>
              </p:custDataLst>
            </p:nvPr>
          </p:nvSpPr>
          <p:spPr>
            <a:xfrm>
              <a:off x="860142" y="5217092"/>
              <a:ext cx="1144852" cy="369332"/>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da-DK" sz="1800" b="0" i="0" u="none" strike="noStrike" kern="1200" cap="none" spc="0" normalizeH="0" baseline="0" noProof="0" smtClean="0">
                  <a:ln>
                    <a:noFill/>
                  </a:ln>
                  <a:solidFill>
                    <a:srgbClr val="72C5EA"/>
                  </a:solidFill>
                  <a:effectLst/>
                  <a:uLnTx/>
                  <a:uFillTx/>
                  <a:latin typeface="Arial"/>
                  <a:ea typeface="黑体"/>
                  <a:cs typeface="+mn-cs"/>
                  <a:sym typeface="Arial" panose="020B0604020202020204" pitchFamily="34" charset="0"/>
                </a:rPr>
                <a:t>废弃策略</a:t>
              </a:r>
            </a:p>
          </p:txBody>
        </p:sp>
      </p:grpSp>
      <p:grpSp>
        <p:nvGrpSpPr>
          <p:cNvPr id="26" name="组合 25"/>
          <p:cNvGrpSpPr/>
          <p:nvPr>
            <p:custDataLst>
              <p:tags r:id="rId8"/>
            </p:custDataLst>
          </p:nvPr>
        </p:nvGrpSpPr>
        <p:grpSpPr>
          <a:xfrm>
            <a:off x="4391812" y="4372323"/>
            <a:ext cx="3098237" cy="1368379"/>
            <a:chOff x="860142" y="5013322"/>
            <a:chExt cx="2329147" cy="1028700"/>
          </a:xfrm>
        </p:grpSpPr>
        <p:sp>
          <p:nvSpPr>
            <p:cNvPr id="27" name="任意多边形 26"/>
            <p:cNvSpPr/>
            <p:nvPr>
              <p:custDataLst>
                <p:tags r:id="rId10"/>
              </p:custDataLst>
            </p:nvPr>
          </p:nvSpPr>
          <p:spPr>
            <a:xfrm>
              <a:off x="2055796" y="5013322"/>
              <a:ext cx="1133493" cy="1028700"/>
            </a:xfrm>
            <a:custGeom>
              <a:avLst/>
              <a:gdLst>
                <a:gd name="connsiteX0" fmla="*/ 619143 w 1133493"/>
                <a:gd name="connsiteY0" fmla="*/ 0 h 1028700"/>
                <a:gd name="connsiteX1" fmla="*/ 1133493 w 1133493"/>
                <a:gd name="connsiteY1" fmla="*/ 514350 h 1028700"/>
                <a:gd name="connsiteX2" fmla="*/ 619143 w 1133493"/>
                <a:gd name="connsiteY2" fmla="*/ 1028700 h 1028700"/>
                <a:gd name="connsiteX3" fmla="*/ 115243 w 1133493"/>
                <a:gd name="connsiteY3" fmla="*/ 618009 h 1028700"/>
                <a:gd name="connsiteX4" fmla="*/ 109712 w 1133493"/>
                <a:gd name="connsiteY4" fmla="*/ 563148 h 1028700"/>
                <a:gd name="connsiteX5" fmla="*/ 2805 w 1133493"/>
                <a:gd name="connsiteY5" fmla="*/ 637330 h 1028700"/>
                <a:gd name="connsiteX6" fmla="*/ 0 w 1133493"/>
                <a:gd name="connsiteY6" fmla="*/ 637551 h 1028700"/>
                <a:gd name="connsiteX7" fmla="*/ 152110 w 1133493"/>
                <a:gd name="connsiteY7" fmla="*/ 320348 h 1028700"/>
                <a:gd name="connsiteX8" fmla="*/ 352029 w 1133493"/>
                <a:gd name="connsiteY8" fmla="*/ 609809 h 1028700"/>
                <a:gd name="connsiteX9" fmla="*/ 349224 w 1133493"/>
                <a:gd name="connsiteY9" fmla="*/ 610030 h 1028700"/>
                <a:gd name="connsiteX10" fmla="*/ 232766 w 1133493"/>
                <a:gd name="connsiteY10" fmla="*/ 553872 h 1028700"/>
                <a:gd name="connsiteX11" fmla="*/ 236713 w 1133493"/>
                <a:gd name="connsiteY11" fmla="*/ 593021 h 1028700"/>
                <a:gd name="connsiteX12" fmla="*/ 619143 w 1133493"/>
                <a:gd name="connsiteY12" fmla="*/ 904711 h 1028700"/>
                <a:gd name="connsiteX13" fmla="*/ 1009504 w 1133493"/>
                <a:gd name="connsiteY13" fmla="*/ 514350 h 1028700"/>
                <a:gd name="connsiteX14" fmla="*/ 619143 w 1133493"/>
                <a:gd name="connsiteY14" fmla="*/ 123989 h 1028700"/>
                <a:gd name="connsiteX15" fmla="*/ 606443 w 1133493"/>
                <a:gd name="connsiteY15" fmla="*/ 125269 h 1028700"/>
                <a:gd name="connsiteX16" fmla="*/ 606443 w 1133493"/>
                <a:gd name="connsiteY16" fmla="*/ 123827 h 1028700"/>
                <a:gd name="connsiteX17" fmla="*/ 287952 w 1133493"/>
                <a:gd name="connsiteY17" fmla="*/ 123827 h 1028700"/>
                <a:gd name="connsiteX18" fmla="*/ 331565 w 1133493"/>
                <a:gd name="connsiteY18" fmla="*/ 87843 h 1028700"/>
                <a:gd name="connsiteX19" fmla="*/ 619143 w 1133493"/>
                <a:gd name="connsiteY1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3493" h="1028700">
                  <a:moveTo>
                    <a:pt x="619143" y="0"/>
                  </a:moveTo>
                  <a:cubicBezTo>
                    <a:pt x="903211" y="0"/>
                    <a:pt x="1133493" y="230282"/>
                    <a:pt x="1133493" y="514350"/>
                  </a:cubicBezTo>
                  <a:cubicBezTo>
                    <a:pt x="1133493" y="798418"/>
                    <a:pt x="903211" y="1028700"/>
                    <a:pt x="619143" y="1028700"/>
                  </a:cubicBezTo>
                  <a:cubicBezTo>
                    <a:pt x="370584" y="1028700"/>
                    <a:pt x="163204" y="852390"/>
                    <a:pt x="115243" y="618009"/>
                  </a:cubicBezTo>
                  <a:lnTo>
                    <a:pt x="109712" y="563148"/>
                  </a:lnTo>
                  <a:lnTo>
                    <a:pt x="2805" y="637330"/>
                  </a:lnTo>
                  <a:lnTo>
                    <a:pt x="0" y="637551"/>
                  </a:lnTo>
                  <a:lnTo>
                    <a:pt x="152110" y="320348"/>
                  </a:lnTo>
                  <a:lnTo>
                    <a:pt x="352029" y="609809"/>
                  </a:lnTo>
                  <a:lnTo>
                    <a:pt x="349224" y="610030"/>
                  </a:lnTo>
                  <a:lnTo>
                    <a:pt x="232766" y="553872"/>
                  </a:lnTo>
                  <a:lnTo>
                    <a:pt x="236713" y="593021"/>
                  </a:lnTo>
                  <a:cubicBezTo>
                    <a:pt x="273113" y="770902"/>
                    <a:pt x="430502" y="904711"/>
                    <a:pt x="619143" y="904711"/>
                  </a:cubicBezTo>
                  <a:cubicBezTo>
                    <a:pt x="834733" y="904711"/>
                    <a:pt x="1009504" y="729940"/>
                    <a:pt x="1009504" y="514350"/>
                  </a:cubicBezTo>
                  <a:cubicBezTo>
                    <a:pt x="1009504" y="298760"/>
                    <a:pt x="834733" y="123989"/>
                    <a:pt x="619143" y="123989"/>
                  </a:cubicBezTo>
                  <a:lnTo>
                    <a:pt x="606443" y="125269"/>
                  </a:lnTo>
                  <a:lnTo>
                    <a:pt x="606443" y="123827"/>
                  </a:lnTo>
                  <a:lnTo>
                    <a:pt x="287952" y="123827"/>
                  </a:lnTo>
                  <a:lnTo>
                    <a:pt x="331565" y="87843"/>
                  </a:lnTo>
                  <a:cubicBezTo>
                    <a:pt x="413656" y="32383"/>
                    <a:pt x="512618" y="0"/>
                    <a:pt x="619143" y="0"/>
                  </a:cubicBezTo>
                  <a:close/>
                </a:path>
              </a:pathLst>
            </a:custGeom>
            <a:ln>
              <a:noFill/>
            </a:ln>
          </p:spPr>
          <p:style>
            <a:lnRef idx="2">
              <a:srgbClr val="72C5EA">
                <a:shade val="50000"/>
              </a:srgbClr>
            </a:lnRef>
            <a:fillRef idx="1">
              <a:srgbClr val="72C5EA"/>
            </a:fillRef>
            <a:effectRef idx="0">
              <a:srgbClr val="72C5EA"/>
            </a:effectRef>
            <a:fontRef idx="minor">
              <a:srgbClr val="FFFFFF"/>
            </a:fontRef>
          </p:style>
          <p:txBody>
            <a:bodyPr lIns="252000" rIns="9000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72C5EA"/>
                  </a:solidFill>
                  <a:effectLst/>
                  <a:uLnTx/>
                  <a:uFillTx/>
                  <a:latin typeface="Arial"/>
                  <a:ea typeface="黑体"/>
                  <a:cs typeface="+mn-cs"/>
                  <a:sym typeface="Arial" panose="020B0604020202020204" pitchFamily="34" charset="0"/>
                </a:rPr>
                <a:t>2</a:t>
              </a:r>
            </a:p>
          </p:txBody>
        </p:sp>
        <p:sp>
          <p:nvSpPr>
            <p:cNvPr id="28" name="文本框 27"/>
            <p:cNvSpPr txBox="1"/>
            <p:nvPr>
              <p:custDataLst>
                <p:tags r:id="rId11"/>
              </p:custDataLst>
            </p:nvPr>
          </p:nvSpPr>
          <p:spPr>
            <a:xfrm>
              <a:off x="860142" y="5217092"/>
              <a:ext cx="1144852" cy="369332"/>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da-DK" sz="1800" b="0" i="0" u="none" strike="noStrike" kern="1200" cap="none" spc="0" normalizeH="0" baseline="0" noProof="0" smtClean="0">
                  <a:ln>
                    <a:noFill/>
                  </a:ln>
                  <a:solidFill>
                    <a:srgbClr val="72C5EA"/>
                  </a:solidFill>
                  <a:effectLst/>
                  <a:uLnTx/>
                  <a:uFillTx/>
                  <a:latin typeface="Arial"/>
                  <a:ea typeface="黑体"/>
                  <a:cs typeface="+mn-cs"/>
                  <a:sym typeface="Arial" panose="020B0604020202020204" pitchFamily="34" charset="0"/>
                </a:rPr>
                <a:t>追加策略</a:t>
              </a:r>
            </a:p>
          </p:txBody>
        </p:sp>
      </p:grpSp>
      <p:sp>
        <p:nvSpPr>
          <p:cNvPr id="6" name="文本框 5"/>
          <p:cNvSpPr txBox="1"/>
          <p:nvPr>
            <p:custDataLst>
              <p:tags r:id="rId9"/>
            </p:custDataLst>
          </p:nvPr>
        </p:nvSpPr>
        <p:spPr>
          <a:xfrm>
            <a:off x="591347" y="3611429"/>
            <a:ext cx="11009306" cy="491286"/>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3D3F41"/>
                </a:solidFill>
                <a:effectLst/>
                <a:uLnTx/>
                <a:uFillTx/>
                <a:latin typeface="Arial"/>
                <a:ea typeface="黑体"/>
                <a:cs typeface="+mn-cs"/>
                <a:sym typeface="Arial" panose="020B0604020202020204" pitchFamily="34" charset="0"/>
              </a:rPr>
              <a:t>原型分析法的</a:t>
            </a:r>
            <a:r>
              <a:rPr kumimoji="0" lang="zh-CN" altLang="en-US" sz="1800" b="0" i="0" u="none" strike="noStrike" kern="1200" cap="none" spc="0" normalizeH="0" baseline="0" noProof="0" dirty="0">
                <a:ln>
                  <a:noFill/>
                </a:ln>
                <a:solidFill>
                  <a:srgbClr val="FF0000"/>
                </a:solidFill>
                <a:effectLst/>
                <a:uLnTx/>
                <a:uFillTx/>
                <a:latin typeface="Arial"/>
                <a:ea typeface="黑体"/>
                <a:cs typeface="+mn-cs"/>
                <a:sym typeface="Arial" panose="020B0604020202020204" pitchFamily="34" charset="0"/>
              </a:rPr>
              <a:t>三种类型</a:t>
            </a:r>
            <a:r>
              <a:rPr kumimoji="0" lang="zh-CN" altLang="en-US" sz="1800" b="0" i="0" u="none" strike="noStrike" kern="1200" cap="none" spc="0" normalizeH="0" baseline="0" noProof="0" dirty="0">
                <a:ln>
                  <a:noFill/>
                </a:ln>
                <a:solidFill>
                  <a:srgbClr val="3D3F41"/>
                </a:solidFill>
                <a:effectLst/>
                <a:uLnTx/>
                <a:uFillTx/>
                <a:latin typeface="Arial"/>
                <a:ea typeface="黑体"/>
                <a:cs typeface="+mn-cs"/>
                <a:sym typeface="Arial" panose="020B0604020202020204" pitchFamily="34" charset="0"/>
              </a:rPr>
              <a:t>、两种策略</a:t>
            </a:r>
          </a:p>
        </p:txBody>
      </p:sp>
      <p:sp>
        <p:nvSpPr>
          <p:cNvPr id="3" name="文本框 2"/>
          <p:cNvSpPr txBox="1"/>
          <p:nvPr/>
        </p:nvSpPr>
        <p:spPr>
          <a:xfrm>
            <a:off x="898525" y="624840"/>
            <a:ext cx="3048635" cy="9144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3D3F41"/>
                </a:solidFill>
                <a:effectLst/>
                <a:uLnTx/>
                <a:uFillTx/>
                <a:latin typeface="Arial"/>
                <a:ea typeface="黑体"/>
                <a:cs typeface="+mn-cs"/>
              </a:rPr>
              <a:t>目的是要弄清楚对目标系统的要求,确定所希望的特性,并探讨多种方案的可行性</a:t>
            </a:r>
          </a:p>
        </p:txBody>
      </p:sp>
      <p:sp>
        <p:nvSpPr>
          <p:cNvPr id="4" name="文本框 3"/>
          <p:cNvSpPr txBox="1"/>
          <p:nvPr/>
        </p:nvSpPr>
        <p:spPr>
          <a:xfrm>
            <a:off x="4587240" y="609600"/>
            <a:ext cx="2865120" cy="91440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3D3F41"/>
                </a:solidFill>
                <a:effectLst/>
                <a:uLnTx/>
                <a:uFillTx/>
                <a:latin typeface="Arial"/>
                <a:ea typeface="黑体"/>
                <a:cs typeface="+mn-cs"/>
              </a:rPr>
              <a:t>用于大规模开发和实现前,考核方案是否合适,规格说明是否可靠</a:t>
            </a:r>
          </a:p>
        </p:txBody>
      </p:sp>
      <p:sp>
        <p:nvSpPr>
          <p:cNvPr id="8" name="文本框 7"/>
          <p:cNvSpPr txBox="1"/>
          <p:nvPr/>
        </p:nvSpPr>
        <p:spPr>
          <a:xfrm>
            <a:off x="8687435" y="594360"/>
            <a:ext cx="2955925" cy="11887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3D3F41"/>
                </a:solidFill>
                <a:effectLst/>
                <a:uLnTx/>
                <a:uFillTx/>
                <a:latin typeface="Arial"/>
                <a:ea typeface="黑体"/>
                <a:cs typeface="+mn-cs"/>
              </a:rPr>
              <a:t>目的不在于改进规格说明,而是将系统建造得易于变化,在改进原型的过程中,逐步将原型进化成最终系统</a:t>
            </a:r>
          </a:p>
        </p:txBody>
      </p:sp>
      <p:sp>
        <p:nvSpPr>
          <p:cNvPr id="9" name="矩形标注 8"/>
          <p:cNvSpPr/>
          <p:nvPr/>
        </p:nvSpPr>
        <p:spPr>
          <a:xfrm>
            <a:off x="685800" y="426085"/>
            <a:ext cx="3261360" cy="1356995"/>
          </a:xfrm>
          <a:prstGeom prst="wedgeRectCallou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a:cs typeface="+mn-cs"/>
            </a:endParaRPr>
          </a:p>
        </p:txBody>
      </p:sp>
      <p:sp>
        <p:nvSpPr>
          <p:cNvPr id="10" name="矩形标注 9"/>
          <p:cNvSpPr/>
          <p:nvPr/>
        </p:nvSpPr>
        <p:spPr>
          <a:xfrm>
            <a:off x="4256405" y="426085"/>
            <a:ext cx="3261360" cy="1356995"/>
          </a:xfrm>
          <a:prstGeom prst="wedgeRectCallou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a:cs typeface="+mn-cs"/>
            </a:endParaRPr>
          </a:p>
        </p:txBody>
      </p:sp>
      <p:sp>
        <p:nvSpPr>
          <p:cNvPr id="11" name="矩形标注 10"/>
          <p:cNvSpPr/>
          <p:nvPr/>
        </p:nvSpPr>
        <p:spPr>
          <a:xfrm>
            <a:off x="8382000" y="509905"/>
            <a:ext cx="3261360" cy="1356995"/>
          </a:xfrm>
          <a:prstGeom prst="wedgeRectCallou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a:cs typeface="+mn-cs"/>
            </a:endParaRPr>
          </a:p>
        </p:txBody>
      </p:sp>
    </p:spTree>
    <p:custDataLst>
      <p:tags r:id="rId1"/>
    </p:custDataLst>
    <p:extLst>
      <p:ext uri="{BB962C8B-B14F-4D97-AF65-F5344CB8AC3E}">
        <p14:creationId xmlns:p14="http://schemas.microsoft.com/office/powerpoint/2010/main" val="3756168602"/>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8" presetClass="entr" presetSubtype="16"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amond(in)">
                                      <p:cBhvr>
                                        <p:cTn id="7" dur="2000"/>
                                        <p:tgtEl>
                                          <p:spTgt spid="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checkerboard(across)">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grpId="0" nodeType="click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checkerboard(across)">
                                      <p:cBhvr>
                                        <p:cTn id="15" dur="500"/>
                                        <p:tgtEl>
                                          <p:spTgt spid="4"/>
                                        </p:tgtEl>
                                      </p:cBhvr>
                                    </p:animEffect>
                                  </p:childTnLst>
                                </p:cTn>
                              </p:par>
                              <p:par>
                                <p:cTn id="16" presetID="5" presetClass="entr" presetSubtype="10" fill="hold" grpId="0"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checkerboard(across)">
                                      <p:cBhvr>
                                        <p:cTn id="18" dur="500"/>
                                        <p:tgtEl>
                                          <p:spTgt spid="10"/>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checkerboard(across)">
                                      <p:cBhvr>
                                        <p:cTn id="23" dur="500"/>
                                        <p:tgtEl>
                                          <p:spTgt spid="8"/>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checkerboard(across)">
                                      <p:cBhvr>
                                        <p:cTn id="26"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8" grpId="0"/>
      <p:bldP spid="9" grpId="0" animBg="1"/>
      <p:bldP spid="10" grpId="0" animBg="1"/>
      <p:bldP spid="1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custDataLst>
              <p:tags r:id="rId2"/>
            </p:custDataLst>
          </p:nvPr>
        </p:nvSpPr>
        <p:spPr>
          <a:xfrm>
            <a:off x="798671" y="1729306"/>
            <a:ext cx="10655619" cy="164714"/>
          </a:xfrm>
          <a:prstGeom prst="rect">
            <a:avLst/>
          </a:prstGeom>
          <a:ln>
            <a:noFill/>
          </a:ln>
        </p:spPr>
        <p:style>
          <a:lnRef idx="2">
            <a:srgbClr val="72C5EA">
              <a:shade val="50000"/>
            </a:srgbClr>
          </a:lnRef>
          <a:fillRef idx="1">
            <a:srgbClr val="72C5EA"/>
          </a:fillRef>
          <a:effectRef idx="0">
            <a:srgbClr val="72C5EA"/>
          </a:effectRef>
          <a:fontRef idx="minor">
            <a:srgbClr val="FFFFFF"/>
          </a:fontRef>
        </p:style>
        <p:txBody>
          <a:bodyPr rtlCol="0" anchor="ctr">
            <a:normAutofit fontScale="3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a:cs typeface="+mn-cs"/>
              <a:sym typeface="Arial" panose="020B0604020202020204" pitchFamily="34" charset="0"/>
            </a:endParaRPr>
          </a:p>
        </p:txBody>
      </p:sp>
      <p:grpSp>
        <p:nvGrpSpPr>
          <p:cNvPr id="23" name="组合 22"/>
          <p:cNvGrpSpPr/>
          <p:nvPr>
            <p:custDataLst>
              <p:tags r:id="rId3"/>
            </p:custDataLst>
          </p:nvPr>
        </p:nvGrpSpPr>
        <p:grpSpPr>
          <a:xfrm>
            <a:off x="1188957" y="525641"/>
            <a:ext cx="3098165" cy="1368426"/>
            <a:chOff x="860142" y="3209925"/>
            <a:chExt cx="2329093" cy="1028735"/>
          </a:xfrm>
        </p:grpSpPr>
        <p:sp>
          <p:nvSpPr>
            <p:cNvPr id="16" name="任意多边形 15"/>
            <p:cNvSpPr/>
            <p:nvPr>
              <p:custDataLst>
                <p:tags r:id="rId18"/>
              </p:custDataLst>
            </p:nvPr>
          </p:nvSpPr>
          <p:spPr>
            <a:xfrm>
              <a:off x="2055956" y="3209925"/>
              <a:ext cx="1133279" cy="1028735"/>
            </a:xfrm>
            <a:custGeom>
              <a:avLst/>
              <a:gdLst>
                <a:gd name="connsiteX0" fmla="*/ 619143 w 1133493"/>
                <a:gd name="connsiteY0" fmla="*/ 0 h 1028700"/>
                <a:gd name="connsiteX1" fmla="*/ 1133493 w 1133493"/>
                <a:gd name="connsiteY1" fmla="*/ 514350 h 1028700"/>
                <a:gd name="connsiteX2" fmla="*/ 619143 w 1133493"/>
                <a:gd name="connsiteY2" fmla="*/ 1028700 h 1028700"/>
                <a:gd name="connsiteX3" fmla="*/ 331565 w 1133493"/>
                <a:gd name="connsiteY3" fmla="*/ 940857 h 1028700"/>
                <a:gd name="connsiteX4" fmla="*/ 287952 w 1133493"/>
                <a:gd name="connsiteY4" fmla="*/ 904873 h 1028700"/>
                <a:gd name="connsiteX5" fmla="*/ 606443 w 1133493"/>
                <a:gd name="connsiteY5" fmla="*/ 904873 h 1028700"/>
                <a:gd name="connsiteX6" fmla="*/ 606443 w 1133493"/>
                <a:gd name="connsiteY6" fmla="*/ 903431 h 1028700"/>
                <a:gd name="connsiteX7" fmla="*/ 619143 w 1133493"/>
                <a:gd name="connsiteY7" fmla="*/ 904711 h 1028700"/>
                <a:gd name="connsiteX8" fmla="*/ 1009504 w 1133493"/>
                <a:gd name="connsiteY8" fmla="*/ 514350 h 1028700"/>
                <a:gd name="connsiteX9" fmla="*/ 619143 w 1133493"/>
                <a:gd name="connsiteY9" fmla="*/ 123989 h 1028700"/>
                <a:gd name="connsiteX10" fmla="*/ 236713 w 1133493"/>
                <a:gd name="connsiteY10" fmla="*/ 435679 h 1028700"/>
                <a:gd name="connsiteX11" fmla="*/ 232766 w 1133493"/>
                <a:gd name="connsiteY11" fmla="*/ 474828 h 1028700"/>
                <a:gd name="connsiteX12" fmla="*/ 349224 w 1133493"/>
                <a:gd name="connsiteY12" fmla="*/ 418670 h 1028700"/>
                <a:gd name="connsiteX13" fmla="*/ 352029 w 1133493"/>
                <a:gd name="connsiteY13" fmla="*/ 418891 h 1028700"/>
                <a:gd name="connsiteX14" fmla="*/ 152110 w 1133493"/>
                <a:gd name="connsiteY14" fmla="*/ 708352 h 1028700"/>
                <a:gd name="connsiteX15" fmla="*/ 0 w 1133493"/>
                <a:gd name="connsiteY15" fmla="*/ 391149 h 1028700"/>
                <a:gd name="connsiteX16" fmla="*/ 2805 w 1133493"/>
                <a:gd name="connsiteY16" fmla="*/ 391370 h 1028700"/>
                <a:gd name="connsiteX17" fmla="*/ 109712 w 1133493"/>
                <a:gd name="connsiteY17" fmla="*/ 465552 h 1028700"/>
                <a:gd name="connsiteX18" fmla="*/ 115243 w 1133493"/>
                <a:gd name="connsiteY18" fmla="*/ 410691 h 1028700"/>
                <a:gd name="connsiteX19" fmla="*/ 619143 w 1133493"/>
                <a:gd name="connsiteY1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3493" h="1028700">
                  <a:moveTo>
                    <a:pt x="619143" y="0"/>
                  </a:moveTo>
                  <a:cubicBezTo>
                    <a:pt x="903211" y="0"/>
                    <a:pt x="1133493" y="230282"/>
                    <a:pt x="1133493" y="514350"/>
                  </a:cubicBezTo>
                  <a:cubicBezTo>
                    <a:pt x="1133493" y="798418"/>
                    <a:pt x="903211" y="1028700"/>
                    <a:pt x="619143" y="1028700"/>
                  </a:cubicBezTo>
                  <a:cubicBezTo>
                    <a:pt x="512618" y="1028700"/>
                    <a:pt x="413656" y="996317"/>
                    <a:pt x="331565" y="940857"/>
                  </a:cubicBezTo>
                  <a:lnTo>
                    <a:pt x="287952" y="904873"/>
                  </a:lnTo>
                  <a:lnTo>
                    <a:pt x="606443" y="904873"/>
                  </a:lnTo>
                  <a:lnTo>
                    <a:pt x="606443" y="903431"/>
                  </a:lnTo>
                  <a:lnTo>
                    <a:pt x="619143" y="904711"/>
                  </a:lnTo>
                  <a:cubicBezTo>
                    <a:pt x="834733" y="904711"/>
                    <a:pt x="1009504" y="729940"/>
                    <a:pt x="1009504" y="514350"/>
                  </a:cubicBezTo>
                  <a:cubicBezTo>
                    <a:pt x="1009504" y="298760"/>
                    <a:pt x="834733" y="123989"/>
                    <a:pt x="619143" y="123989"/>
                  </a:cubicBezTo>
                  <a:cubicBezTo>
                    <a:pt x="430502" y="123989"/>
                    <a:pt x="273113" y="257798"/>
                    <a:pt x="236713" y="435679"/>
                  </a:cubicBezTo>
                  <a:lnTo>
                    <a:pt x="232766" y="474828"/>
                  </a:lnTo>
                  <a:lnTo>
                    <a:pt x="349224" y="418670"/>
                  </a:lnTo>
                  <a:lnTo>
                    <a:pt x="352029" y="418891"/>
                  </a:lnTo>
                  <a:lnTo>
                    <a:pt x="152110" y="708352"/>
                  </a:lnTo>
                  <a:lnTo>
                    <a:pt x="0" y="391149"/>
                  </a:lnTo>
                  <a:lnTo>
                    <a:pt x="2805" y="391370"/>
                  </a:lnTo>
                  <a:lnTo>
                    <a:pt x="109712" y="465552"/>
                  </a:lnTo>
                  <a:lnTo>
                    <a:pt x="115243" y="410691"/>
                  </a:lnTo>
                  <a:cubicBezTo>
                    <a:pt x="163204" y="176310"/>
                    <a:pt x="370584" y="0"/>
                    <a:pt x="619143" y="0"/>
                  </a:cubicBezTo>
                  <a:close/>
                </a:path>
              </a:pathLst>
            </a:custGeom>
            <a:solidFill>
              <a:srgbClr val="72C5EA"/>
            </a:solidFill>
            <a:ln>
              <a:noFill/>
            </a:ln>
            <a:effectLst/>
          </p:spPr>
          <p:style>
            <a:lnRef idx="2">
              <a:srgbClr val="72C5EA">
                <a:shade val="50000"/>
              </a:srgbClr>
            </a:lnRef>
            <a:fillRef idx="1">
              <a:srgbClr val="72C5EA"/>
            </a:fillRef>
            <a:effectRef idx="0">
              <a:srgbClr val="72C5EA"/>
            </a:effectRef>
            <a:fontRef idx="minor">
              <a:srgbClr val="FFFFFF"/>
            </a:fontRef>
          </p:style>
          <p:txBody>
            <a:bodyPr lIns="25200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72C5EA"/>
                  </a:solidFill>
                  <a:effectLst/>
                  <a:uLnTx/>
                  <a:uFillTx/>
                  <a:latin typeface="Arial"/>
                  <a:ea typeface="黑体"/>
                  <a:cs typeface="+mn-cs"/>
                  <a:sym typeface="Arial" panose="020B0604020202020204" pitchFamily="34" charset="0"/>
                </a:rPr>
                <a:t>1</a:t>
              </a:r>
            </a:p>
          </p:txBody>
        </p:sp>
        <p:sp>
          <p:nvSpPr>
            <p:cNvPr id="17" name="文本框 16"/>
            <p:cNvSpPr txBox="1"/>
            <p:nvPr>
              <p:custDataLst>
                <p:tags r:id="rId19"/>
              </p:custDataLst>
            </p:nvPr>
          </p:nvSpPr>
          <p:spPr>
            <a:xfrm>
              <a:off x="860142" y="3661995"/>
              <a:ext cx="1144736" cy="391922"/>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da-DK" sz="1800" b="0" i="0" u="none" strike="noStrike" kern="1200" cap="none" spc="0" normalizeH="0" baseline="0" noProof="0" smtClean="0">
                  <a:ln>
                    <a:noFill/>
                  </a:ln>
                  <a:solidFill>
                    <a:srgbClr val="72C5EA"/>
                  </a:solidFill>
                  <a:effectLst/>
                  <a:uLnTx/>
                  <a:uFillTx/>
                  <a:latin typeface="Arial"/>
                  <a:ea typeface="黑体"/>
                  <a:cs typeface="+mn-cs"/>
                  <a:sym typeface="Arial" panose="020B0604020202020204" pitchFamily="34" charset="0"/>
                </a:rPr>
                <a:t>探索型</a:t>
              </a:r>
            </a:p>
          </p:txBody>
        </p:sp>
      </p:grpSp>
      <p:grpSp>
        <p:nvGrpSpPr>
          <p:cNvPr id="24" name="组合 23"/>
          <p:cNvGrpSpPr/>
          <p:nvPr>
            <p:custDataLst>
              <p:tags r:id="rId4"/>
            </p:custDataLst>
          </p:nvPr>
        </p:nvGrpSpPr>
        <p:grpSpPr>
          <a:xfrm>
            <a:off x="4422292" y="525641"/>
            <a:ext cx="3098237" cy="1368379"/>
            <a:chOff x="3290851" y="3209925"/>
            <a:chExt cx="2329147" cy="1028700"/>
          </a:xfrm>
        </p:grpSpPr>
        <p:sp>
          <p:nvSpPr>
            <p:cNvPr id="18" name="任意多边形 17"/>
            <p:cNvSpPr/>
            <p:nvPr>
              <p:custDataLst>
                <p:tags r:id="rId16"/>
              </p:custDataLst>
            </p:nvPr>
          </p:nvSpPr>
          <p:spPr>
            <a:xfrm>
              <a:off x="4486505" y="3209925"/>
              <a:ext cx="1133493" cy="1028700"/>
            </a:xfrm>
            <a:custGeom>
              <a:avLst/>
              <a:gdLst>
                <a:gd name="connsiteX0" fmla="*/ 619143 w 1133493"/>
                <a:gd name="connsiteY0" fmla="*/ 0 h 1028700"/>
                <a:gd name="connsiteX1" fmla="*/ 1133493 w 1133493"/>
                <a:gd name="connsiteY1" fmla="*/ 514350 h 1028700"/>
                <a:gd name="connsiteX2" fmla="*/ 619143 w 1133493"/>
                <a:gd name="connsiteY2" fmla="*/ 1028700 h 1028700"/>
                <a:gd name="connsiteX3" fmla="*/ 331565 w 1133493"/>
                <a:gd name="connsiteY3" fmla="*/ 940857 h 1028700"/>
                <a:gd name="connsiteX4" fmla="*/ 287952 w 1133493"/>
                <a:gd name="connsiteY4" fmla="*/ 904873 h 1028700"/>
                <a:gd name="connsiteX5" fmla="*/ 606443 w 1133493"/>
                <a:gd name="connsiteY5" fmla="*/ 904873 h 1028700"/>
                <a:gd name="connsiteX6" fmla="*/ 606443 w 1133493"/>
                <a:gd name="connsiteY6" fmla="*/ 903431 h 1028700"/>
                <a:gd name="connsiteX7" fmla="*/ 619143 w 1133493"/>
                <a:gd name="connsiteY7" fmla="*/ 904711 h 1028700"/>
                <a:gd name="connsiteX8" fmla="*/ 1009504 w 1133493"/>
                <a:gd name="connsiteY8" fmla="*/ 514350 h 1028700"/>
                <a:gd name="connsiteX9" fmla="*/ 619143 w 1133493"/>
                <a:gd name="connsiteY9" fmla="*/ 123989 h 1028700"/>
                <a:gd name="connsiteX10" fmla="*/ 236713 w 1133493"/>
                <a:gd name="connsiteY10" fmla="*/ 435679 h 1028700"/>
                <a:gd name="connsiteX11" fmla="*/ 232766 w 1133493"/>
                <a:gd name="connsiteY11" fmla="*/ 474828 h 1028700"/>
                <a:gd name="connsiteX12" fmla="*/ 349224 w 1133493"/>
                <a:gd name="connsiteY12" fmla="*/ 418670 h 1028700"/>
                <a:gd name="connsiteX13" fmla="*/ 352029 w 1133493"/>
                <a:gd name="connsiteY13" fmla="*/ 418891 h 1028700"/>
                <a:gd name="connsiteX14" fmla="*/ 152110 w 1133493"/>
                <a:gd name="connsiteY14" fmla="*/ 708352 h 1028700"/>
                <a:gd name="connsiteX15" fmla="*/ 0 w 1133493"/>
                <a:gd name="connsiteY15" fmla="*/ 391149 h 1028700"/>
                <a:gd name="connsiteX16" fmla="*/ 2805 w 1133493"/>
                <a:gd name="connsiteY16" fmla="*/ 391370 h 1028700"/>
                <a:gd name="connsiteX17" fmla="*/ 109712 w 1133493"/>
                <a:gd name="connsiteY17" fmla="*/ 465552 h 1028700"/>
                <a:gd name="connsiteX18" fmla="*/ 115243 w 1133493"/>
                <a:gd name="connsiteY18" fmla="*/ 410691 h 1028700"/>
                <a:gd name="connsiteX19" fmla="*/ 619143 w 1133493"/>
                <a:gd name="connsiteY1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3493" h="1028700">
                  <a:moveTo>
                    <a:pt x="619143" y="0"/>
                  </a:moveTo>
                  <a:cubicBezTo>
                    <a:pt x="903211" y="0"/>
                    <a:pt x="1133493" y="230282"/>
                    <a:pt x="1133493" y="514350"/>
                  </a:cubicBezTo>
                  <a:cubicBezTo>
                    <a:pt x="1133493" y="798418"/>
                    <a:pt x="903211" y="1028700"/>
                    <a:pt x="619143" y="1028700"/>
                  </a:cubicBezTo>
                  <a:cubicBezTo>
                    <a:pt x="512618" y="1028700"/>
                    <a:pt x="413656" y="996317"/>
                    <a:pt x="331565" y="940857"/>
                  </a:cubicBezTo>
                  <a:lnTo>
                    <a:pt x="287952" y="904873"/>
                  </a:lnTo>
                  <a:lnTo>
                    <a:pt x="606443" y="904873"/>
                  </a:lnTo>
                  <a:lnTo>
                    <a:pt x="606443" y="903431"/>
                  </a:lnTo>
                  <a:lnTo>
                    <a:pt x="619143" y="904711"/>
                  </a:lnTo>
                  <a:cubicBezTo>
                    <a:pt x="834733" y="904711"/>
                    <a:pt x="1009504" y="729940"/>
                    <a:pt x="1009504" y="514350"/>
                  </a:cubicBezTo>
                  <a:cubicBezTo>
                    <a:pt x="1009504" y="298760"/>
                    <a:pt x="834733" y="123989"/>
                    <a:pt x="619143" y="123989"/>
                  </a:cubicBezTo>
                  <a:cubicBezTo>
                    <a:pt x="430502" y="123989"/>
                    <a:pt x="273113" y="257798"/>
                    <a:pt x="236713" y="435679"/>
                  </a:cubicBezTo>
                  <a:lnTo>
                    <a:pt x="232766" y="474828"/>
                  </a:lnTo>
                  <a:lnTo>
                    <a:pt x="349224" y="418670"/>
                  </a:lnTo>
                  <a:lnTo>
                    <a:pt x="352029" y="418891"/>
                  </a:lnTo>
                  <a:lnTo>
                    <a:pt x="152110" y="708352"/>
                  </a:lnTo>
                  <a:lnTo>
                    <a:pt x="0" y="391149"/>
                  </a:lnTo>
                  <a:lnTo>
                    <a:pt x="2805" y="391370"/>
                  </a:lnTo>
                  <a:lnTo>
                    <a:pt x="109712" y="465552"/>
                  </a:lnTo>
                  <a:lnTo>
                    <a:pt x="115243" y="410691"/>
                  </a:lnTo>
                  <a:cubicBezTo>
                    <a:pt x="163204" y="176310"/>
                    <a:pt x="370584" y="0"/>
                    <a:pt x="619143" y="0"/>
                  </a:cubicBezTo>
                  <a:close/>
                </a:path>
              </a:pathLst>
            </a:custGeom>
            <a:solidFill>
              <a:srgbClr val="72C5EA"/>
            </a:solidFill>
            <a:ln>
              <a:noFill/>
            </a:ln>
            <a:effectLst/>
          </p:spPr>
          <p:style>
            <a:lnRef idx="2">
              <a:srgbClr val="72C5EA">
                <a:shade val="50000"/>
              </a:srgbClr>
            </a:lnRef>
            <a:fillRef idx="1">
              <a:srgbClr val="72C5EA"/>
            </a:fillRef>
            <a:effectRef idx="0">
              <a:srgbClr val="72C5EA"/>
            </a:effectRef>
            <a:fontRef idx="minor">
              <a:srgbClr val="FFFFFF"/>
            </a:fontRef>
          </p:style>
          <p:txBody>
            <a:bodyPr lIns="25200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72C5EA"/>
                  </a:solidFill>
                  <a:effectLst/>
                  <a:uLnTx/>
                  <a:uFillTx/>
                  <a:latin typeface="Arial"/>
                  <a:ea typeface="黑体"/>
                  <a:cs typeface="+mn-cs"/>
                  <a:sym typeface="Arial" panose="020B0604020202020204" pitchFamily="34" charset="0"/>
                </a:rPr>
                <a:t>2</a:t>
              </a:r>
            </a:p>
          </p:txBody>
        </p:sp>
        <p:sp>
          <p:nvSpPr>
            <p:cNvPr id="19" name="文本框 18"/>
            <p:cNvSpPr txBox="1"/>
            <p:nvPr>
              <p:custDataLst>
                <p:tags r:id="rId17"/>
              </p:custDataLst>
            </p:nvPr>
          </p:nvSpPr>
          <p:spPr>
            <a:xfrm>
              <a:off x="3290851" y="3684627"/>
              <a:ext cx="1144852" cy="369332"/>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da-DK" sz="1800" b="0" i="0" u="none" strike="noStrike" kern="1200" cap="none" spc="0" normalizeH="0" baseline="0" noProof="0" smtClean="0">
                  <a:ln>
                    <a:noFill/>
                  </a:ln>
                  <a:solidFill>
                    <a:srgbClr val="72C5EA"/>
                  </a:solidFill>
                  <a:effectLst/>
                  <a:uLnTx/>
                  <a:uFillTx/>
                  <a:latin typeface="Arial"/>
                  <a:ea typeface="黑体"/>
                  <a:cs typeface="+mn-cs"/>
                  <a:sym typeface="Arial" panose="020B0604020202020204" pitchFamily="34" charset="0"/>
                </a:rPr>
                <a:t>实验型</a:t>
              </a:r>
            </a:p>
          </p:txBody>
        </p:sp>
      </p:grpSp>
      <p:grpSp>
        <p:nvGrpSpPr>
          <p:cNvPr id="7" name="组合 6"/>
          <p:cNvGrpSpPr/>
          <p:nvPr>
            <p:custDataLst>
              <p:tags r:id="rId5"/>
            </p:custDataLst>
          </p:nvPr>
        </p:nvGrpSpPr>
        <p:grpSpPr>
          <a:xfrm>
            <a:off x="7655627" y="525641"/>
            <a:ext cx="3098237" cy="1368379"/>
            <a:chOff x="5721560" y="3209925"/>
            <a:chExt cx="2329147" cy="1028700"/>
          </a:xfrm>
        </p:grpSpPr>
        <p:sp>
          <p:nvSpPr>
            <p:cNvPr id="20" name="任意多边形 19"/>
            <p:cNvSpPr/>
            <p:nvPr>
              <p:custDataLst>
                <p:tags r:id="rId14"/>
              </p:custDataLst>
            </p:nvPr>
          </p:nvSpPr>
          <p:spPr>
            <a:xfrm>
              <a:off x="6917214" y="3209925"/>
              <a:ext cx="1133493" cy="1028700"/>
            </a:xfrm>
            <a:custGeom>
              <a:avLst/>
              <a:gdLst>
                <a:gd name="connsiteX0" fmla="*/ 619143 w 1133493"/>
                <a:gd name="connsiteY0" fmla="*/ 0 h 1028700"/>
                <a:gd name="connsiteX1" fmla="*/ 1133493 w 1133493"/>
                <a:gd name="connsiteY1" fmla="*/ 514350 h 1028700"/>
                <a:gd name="connsiteX2" fmla="*/ 619143 w 1133493"/>
                <a:gd name="connsiteY2" fmla="*/ 1028700 h 1028700"/>
                <a:gd name="connsiteX3" fmla="*/ 331565 w 1133493"/>
                <a:gd name="connsiteY3" fmla="*/ 940857 h 1028700"/>
                <a:gd name="connsiteX4" fmla="*/ 287952 w 1133493"/>
                <a:gd name="connsiteY4" fmla="*/ 904873 h 1028700"/>
                <a:gd name="connsiteX5" fmla="*/ 606443 w 1133493"/>
                <a:gd name="connsiteY5" fmla="*/ 904873 h 1028700"/>
                <a:gd name="connsiteX6" fmla="*/ 606443 w 1133493"/>
                <a:gd name="connsiteY6" fmla="*/ 903431 h 1028700"/>
                <a:gd name="connsiteX7" fmla="*/ 619143 w 1133493"/>
                <a:gd name="connsiteY7" fmla="*/ 904711 h 1028700"/>
                <a:gd name="connsiteX8" fmla="*/ 1009504 w 1133493"/>
                <a:gd name="connsiteY8" fmla="*/ 514350 h 1028700"/>
                <a:gd name="connsiteX9" fmla="*/ 619143 w 1133493"/>
                <a:gd name="connsiteY9" fmla="*/ 123989 h 1028700"/>
                <a:gd name="connsiteX10" fmla="*/ 236713 w 1133493"/>
                <a:gd name="connsiteY10" fmla="*/ 435679 h 1028700"/>
                <a:gd name="connsiteX11" fmla="*/ 232766 w 1133493"/>
                <a:gd name="connsiteY11" fmla="*/ 474828 h 1028700"/>
                <a:gd name="connsiteX12" fmla="*/ 349224 w 1133493"/>
                <a:gd name="connsiteY12" fmla="*/ 418670 h 1028700"/>
                <a:gd name="connsiteX13" fmla="*/ 352029 w 1133493"/>
                <a:gd name="connsiteY13" fmla="*/ 418891 h 1028700"/>
                <a:gd name="connsiteX14" fmla="*/ 152110 w 1133493"/>
                <a:gd name="connsiteY14" fmla="*/ 708352 h 1028700"/>
                <a:gd name="connsiteX15" fmla="*/ 0 w 1133493"/>
                <a:gd name="connsiteY15" fmla="*/ 391149 h 1028700"/>
                <a:gd name="connsiteX16" fmla="*/ 2805 w 1133493"/>
                <a:gd name="connsiteY16" fmla="*/ 391370 h 1028700"/>
                <a:gd name="connsiteX17" fmla="*/ 109712 w 1133493"/>
                <a:gd name="connsiteY17" fmla="*/ 465552 h 1028700"/>
                <a:gd name="connsiteX18" fmla="*/ 115243 w 1133493"/>
                <a:gd name="connsiteY18" fmla="*/ 410691 h 1028700"/>
                <a:gd name="connsiteX19" fmla="*/ 619143 w 1133493"/>
                <a:gd name="connsiteY1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3493" h="1028700">
                  <a:moveTo>
                    <a:pt x="619143" y="0"/>
                  </a:moveTo>
                  <a:cubicBezTo>
                    <a:pt x="903211" y="0"/>
                    <a:pt x="1133493" y="230282"/>
                    <a:pt x="1133493" y="514350"/>
                  </a:cubicBezTo>
                  <a:cubicBezTo>
                    <a:pt x="1133493" y="798418"/>
                    <a:pt x="903211" y="1028700"/>
                    <a:pt x="619143" y="1028700"/>
                  </a:cubicBezTo>
                  <a:cubicBezTo>
                    <a:pt x="512618" y="1028700"/>
                    <a:pt x="413656" y="996317"/>
                    <a:pt x="331565" y="940857"/>
                  </a:cubicBezTo>
                  <a:lnTo>
                    <a:pt x="287952" y="904873"/>
                  </a:lnTo>
                  <a:lnTo>
                    <a:pt x="606443" y="904873"/>
                  </a:lnTo>
                  <a:lnTo>
                    <a:pt x="606443" y="903431"/>
                  </a:lnTo>
                  <a:lnTo>
                    <a:pt x="619143" y="904711"/>
                  </a:lnTo>
                  <a:cubicBezTo>
                    <a:pt x="834733" y="904711"/>
                    <a:pt x="1009504" y="729940"/>
                    <a:pt x="1009504" y="514350"/>
                  </a:cubicBezTo>
                  <a:cubicBezTo>
                    <a:pt x="1009504" y="298760"/>
                    <a:pt x="834733" y="123989"/>
                    <a:pt x="619143" y="123989"/>
                  </a:cubicBezTo>
                  <a:cubicBezTo>
                    <a:pt x="430502" y="123989"/>
                    <a:pt x="273113" y="257798"/>
                    <a:pt x="236713" y="435679"/>
                  </a:cubicBezTo>
                  <a:lnTo>
                    <a:pt x="232766" y="474828"/>
                  </a:lnTo>
                  <a:lnTo>
                    <a:pt x="349224" y="418670"/>
                  </a:lnTo>
                  <a:lnTo>
                    <a:pt x="352029" y="418891"/>
                  </a:lnTo>
                  <a:lnTo>
                    <a:pt x="152110" y="708352"/>
                  </a:lnTo>
                  <a:lnTo>
                    <a:pt x="0" y="391149"/>
                  </a:lnTo>
                  <a:lnTo>
                    <a:pt x="2805" y="391370"/>
                  </a:lnTo>
                  <a:lnTo>
                    <a:pt x="109712" y="465552"/>
                  </a:lnTo>
                  <a:lnTo>
                    <a:pt x="115243" y="410691"/>
                  </a:lnTo>
                  <a:cubicBezTo>
                    <a:pt x="163204" y="176310"/>
                    <a:pt x="370584" y="0"/>
                    <a:pt x="619143" y="0"/>
                  </a:cubicBezTo>
                  <a:close/>
                </a:path>
              </a:pathLst>
            </a:custGeom>
            <a:solidFill>
              <a:srgbClr val="72C5EA"/>
            </a:solidFill>
            <a:ln>
              <a:noFill/>
            </a:ln>
            <a:effectLst/>
          </p:spPr>
          <p:style>
            <a:lnRef idx="2">
              <a:srgbClr val="72C5EA">
                <a:shade val="50000"/>
              </a:srgbClr>
            </a:lnRef>
            <a:fillRef idx="1">
              <a:srgbClr val="72C5EA"/>
            </a:fillRef>
            <a:effectRef idx="0">
              <a:srgbClr val="72C5EA"/>
            </a:effectRef>
            <a:fontRef idx="minor">
              <a:srgbClr val="FFFFFF"/>
            </a:fontRef>
          </p:style>
          <p:txBody>
            <a:bodyPr lIns="25200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72C5EA"/>
                  </a:solidFill>
                  <a:effectLst/>
                  <a:uLnTx/>
                  <a:uFillTx/>
                  <a:latin typeface="Arial"/>
                  <a:ea typeface="黑体"/>
                  <a:cs typeface="+mn-cs"/>
                  <a:sym typeface="Arial" panose="020B0604020202020204" pitchFamily="34" charset="0"/>
                </a:rPr>
                <a:t>3</a:t>
              </a:r>
            </a:p>
          </p:txBody>
        </p:sp>
        <p:sp>
          <p:nvSpPr>
            <p:cNvPr id="21" name="文本框 20"/>
            <p:cNvSpPr txBox="1"/>
            <p:nvPr>
              <p:custDataLst>
                <p:tags r:id="rId15"/>
              </p:custDataLst>
            </p:nvPr>
          </p:nvSpPr>
          <p:spPr>
            <a:xfrm>
              <a:off x="5721560" y="3684627"/>
              <a:ext cx="1144852" cy="369332"/>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da-DK" sz="1800" b="0" i="0" u="none" strike="noStrike" kern="1200" cap="none" spc="0" normalizeH="0" baseline="0" noProof="0" smtClean="0">
                  <a:ln>
                    <a:noFill/>
                  </a:ln>
                  <a:solidFill>
                    <a:srgbClr val="72C5EA"/>
                  </a:solidFill>
                  <a:effectLst/>
                  <a:uLnTx/>
                  <a:uFillTx/>
                  <a:latin typeface="Arial"/>
                  <a:ea typeface="黑体"/>
                  <a:cs typeface="+mn-cs"/>
                  <a:sym typeface="Arial" panose="020B0604020202020204" pitchFamily="34" charset="0"/>
                </a:rPr>
                <a:t>进化型</a:t>
              </a:r>
            </a:p>
          </p:txBody>
        </p:sp>
      </p:grpSp>
      <p:sp>
        <p:nvSpPr>
          <p:cNvPr id="33" name="矩形 32"/>
          <p:cNvSpPr/>
          <p:nvPr>
            <p:custDataLst>
              <p:tags r:id="rId6"/>
            </p:custDataLst>
          </p:nvPr>
        </p:nvSpPr>
        <p:spPr>
          <a:xfrm>
            <a:off x="798671" y="2924524"/>
            <a:ext cx="10655619" cy="164714"/>
          </a:xfrm>
          <a:prstGeom prst="rect">
            <a:avLst/>
          </a:prstGeom>
          <a:ln>
            <a:noFill/>
          </a:ln>
        </p:spPr>
        <p:style>
          <a:lnRef idx="2">
            <a:srgbClr val="72C5EA">
              <a:shade val="50000"/>
            </a:srgbClr>
          </a:lnRef>
          <a:fillRef idx="1">
            <a:srgbClr val="72C5EA"/>
          </a:fillRef>
          <a:effectRef idx="0">
            <a:srgbClr val="72C5EA"/>
          </a:effectRef>
          <a:fontRef idx="minor">
            <a:srgbClr val="FFFFFF"/>
          </a:fontRef>
        </p:style>
        <p:txBody>
          <a:bodyPr rtlCol="0" anchor="ctr">
            <a:normAutofit fontScale="32500" lnSpcReduction="20000"/>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a:cs typeface="+mn-cs"/>
              <a:sym typeface="Arial" panose="020B0604020202020204" pitchFamily="34" charset="0"/>
            </a:endParaRPr>
          </a:p>
        </p:txBody>
      </p:sp>
      <p:grpSp>
        <p:nvGrpSpPr>
          <p:cNvPr id="5" name="组合 4"/>
          <p:cNvGrpSpPr/>
          <p:nvPr>
            <p:custDataLst>
              <p:tags r:id="rId7"/>
            </p:custDataLst>
          </p:nvPr>
        </p:nvGrpSpPr>
        <p:grpSpPr>
          <a:xfrm>
            <a:off x="1188957" y="2924523"/>
            <a:ext cx="3098237" cy="1368379"/>
            <a:chOff x="860142" y="5013322"/>
            <a:chExt cx="2329147" cy="1028700"/>
          </a:xfrm>
        </p:grpSpPr>
        <p:sp>
          <p:nvSpPr>
            <p:cNvPr id="25" name="任意多边形 24"/>
            <p:cNvSpPr/>
            <p:nvPr>
              <p:custDataLst>
                <p:tags r:id="rId12"/>
              </p:custDataLst>
            </p:nvPr>
          </p:nvSpPr>
          <p:spPr>
            <a:xfrm>
              <a:off x="2055796" y="5013322"/>
              <a:ext cx="1133493" cy="1028700"/>
            </a:xfrm>
            <a:custGeom>
              <a:avLst/>
              <a:gdLst>
                <a:gd name="connsiteX0" fmla="*/ 619143 w 1133493"/>
                <a:gd name="connsiteY0" fmla="*/ 0 h 1028700"/>
                <a:gd name="connsiteX1" fmla="*/ 1133493 w 1133493"/>
                <a:gd name="connsiteY1" fmla="*/ 514350 h 1028700"/>
                <a:gd name="connsiteX2" fmla="*/ 619143 w 1133493"/>
                <a:gd name="connsiteY2" fmla="*/ 1028700 h 1028700"/>
                <a:gd name="connsiteX3" fmla="*/ 115243 w 1133493"/>
                <a:gd name="connsiteY3" fmla="*/ 618009 h 1028700"/>
                <a:gd name="connsiteX4" fmla="*/ 109712 w 1133493"/>
                <a:gd name="connsiteY4" fmla="*/ 563148 h 1028700"/>
                <a:gd name="connsiteX5" fmla="*/ 2805 w 1133493"/>
                <a:gd name="connsiteY5" fmla="*/ 637330 h 1028700"/>
                <a:gd name="connsiteX6" fmla="*/ 0 w 1133493"/>
                <a:gd name="connsiteY6" fmla="*/ 637551 h 1028700"/>
                <a:gd name="connsiteX7" fmla="*/ 152110 w 1133493"/>
                <a:gd name="connsiteY7" fmla="*/ 320348 h 1028700"/>
                <a:gd name="connsiteX8" fmla="*/ 352029 w 1133493"/>
                <a:gd name="connsiteY8" fmla="*/ 609809 h 1028700"/>
                <a:gd name="connsiteX9" fmla="*/ 349224 w 1133493"/>
                <a:gd name="connsiteY9" fmla="*/ 610030 h 1028700"/>
                <a:gd name="connsiteX10" fmla="*/ 232766 w 1133493"/>
                <a:gd name="connsiteY10" fmla="*/ 553872 h 1028700"/>
                <a:gd name="connsiteX11" fmla="*/ 236713 w 1133493"/>
                <a:gd name="connsiteY11" fmla="*/ 593021 h 1028700"/>
                <a:gd name="connsiteX12" fmla="*/ 619143 w 1133493"/>
                <a:gd name="connsiteY12" fmla="*/ 904711 h 1028700"/>
                <a:gd name="connsiteX13" fmla="*/ 1009504 w 1133493"/>
                <a:gd name="connsiteY13" fmla="*/ 514350 h 1028700"/>
                <a:gd name="connsiteX14" fmla="*/ 619143 w 1133493"/>
                <a:gd name="connsiteY14" fmla="*/ 123989 h 1028700"/>
                <a:gd name="connsiteX15" fmla="*/ 606443 w 1133493"/>
                <a:gd name="connsiteY15" fmla="*/ 125269 h 1028700"/>
                <a:gd name="connsiteX16" fmla="*/ 606443 w 1133493"/>
                <a:gd name="connsiteY16" fmla="*/ 123827 h 1028700"/>
                <a:gd name="connsiteX17" fmla="*/ 287952 w 1133493"/>
                <a:gd name="connsiteY17" fmla="*/ 123827 h 1028700"/>
                <a:gd name="connsiteX18" fmla="*/ 331565 w 1133493"/>
                <a:gd name="connsiteY18" fmla="*/ 87843 h 1028700"/>
                <a:gd name="connsiteX19" fmla="*/ 619143 w 1133493"/>
                <a:gd name="connsiteY1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3493" h="1028700">
                  <a:moveTo>
                    <a:pt x="619143" y="0"/>
                  </a:moveTo>
                  <a:cubicBezTo>
                    <a:pt x="903211" y="0"/>
                    <a:pt x="1133493" y="230282"/>
                    <a:pt x="1133493" y="514350"/>
                  </a:cubicBezTo>
                  <a:cubicBezTo>
                    <a:pt x="1133493" y="798418"/>
                    <a:pt x="903211" y="1028700"/>
                    <a:pt x="619143" y="1028700"/>
                  </a:cubicBezTo>
                  <a:cubicBezTo>
                    <a:pt x="370584" y="1028700"/>
                    <a:pt x="163204" y="852390"/>
                    <a:pt x="115243" y="618009"/>
                  </a:cubicBezTo>
                  <a:lnTo>
                    <a:pt x="109712" y="563148"/>
                  </a:lnTo>
                  <a:lnTo>
                    <a:pt x="2805" y="637330"/>
                  </a:lnTo>
                  <a:lnTo>
                    <a:pt x="0" y="637551"/>
                  </a:lnTo>
                  <a:lnTo>
                    <a:pt x="152110" y="320348"/>
                  </a:lnTo>
                  <a:lnTo>
                    <a:pt x="352029" y="609809"/>
                  </a:lnTo>
                  <a:lnTo>
                    <a:pt x="349224" y="610030"/>
                  </a:lnTo>
                  <a:lnTo>
                    <a:pt x="232766" y="553872"/>
                  </a:lnTo>
                  <a:lnTo>
                    <a:pt x="236713" y="593021"/>
                  </a:lnTo>
                  <a:cubicBezTo>
                    <a:pt x="273113" y="770902"/>
                    <a:pt x="430502" y="904711"/>
                    <a:pt x="619143" y="904711"/>
                  </a:cubicBezTo>
                  <a:cubicBezTo>
                    <a:pt x="834733" y="904711"/>
                    <a:pt x="1009504" y="729940"/>
                    <a:pt x="1009504" y="514350"/>
                  </a:cubicBezTo>
                  <a:cubicBezTo>
                    <a:pt x="1009504" y="298760"/>
                    <a:pt x="834733" y="123989"/>
                    <a:pt x="619143" y="123989"/>
                  </a:cubicBezTo>
                  <a:lnTo>
                    <a:pt x="606443" y="125269"/>
                  </a:lnTo>
                  <a:lnTo>
                    <a:pt x="606443" y="123827"/>
                  </a:lnTo>
                  <a:lnTo>
                    <a:pt x="287952" y="123827"/>
                  </a:lnTo>
                  <a:lnTo>
                    <a:pt x="331565" y="87843"/>
                  </a:lnTo>
                  <a:cubicBezTo>
                    <a:pt x="413656" y="32383"/>
                    <a:pt x="512618" y="0"/>
                    <a:pt x="619143" y="0"/>
                  </a:cubicBezTo>
                  <a:close/>
                </a:path>
              </a:pathLst>
            </a:custGeom>
            <a:ln>
              <a:noFill/>
            </a:ln>
          </p:spPr>
          <p:style>
            <a:lnRef idx="2">
              <a:srgbClr val="72C5EA">
                <a:shade val="50000"/>
              </a:srgbClr>
            </a:lnRef>
            <a:fillRef idx="1">
              <a:srgbClr val="72C5EA"/>
            </a:fillRef>
            <a:effectRef idx="0">
              <a:srgbClr val="72C5EA"/>
            </a:effectRef>
            <a:fontRef idx="minor">
              <a:srgbClr val="FFFFFF"/>
            </a:fontRef>
          </p:style>
          <p:txBody>
            <a:bodyPr lIns="252000" rIns="9000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72C5EA"/>
                  </a:solidFill>
                  <a:effectLst/>
                  <a:uLnTx/>
                  <a:uFillTx/>
                  <a:latin typeface="Arial"/>
                  <a:ea typeface="黑体"/>
                  <a:cs typeface="+mn-cs"/>
                  <a:sym typeface="Arial" panose="020B0604020202020204" pitchFamily="34" charset="0"/>
                </a:rPr>
                <a:t>1</a:t>
              </a:r>
            </a:p>
          </p:txBody>
        </p:sp>
        <p:sp>
          <p:nvSpPr>
            <p:cNvPr id="15" name="文本框 14"/>
            <p:cNvSpPr txBox="1"/>
            <p:nvPr>
              <p:custDataLst>
                <p:tags r:id="rId13"/>
              </p:custDataLst>
            </p:nvPr>
          </p:nvSpPr>
          <p:spPr>
            <a:xfrm>
              <a:off x="860142" y="5217092"/>
              <a:ext cx="1144852" cy="369332"/>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da-DK" sz="1800" b="0" i="0" u="none" strike="noStrike" kern="1200" cap="none" spc="0" normalizeH="0" baseline="0" noProof="0" smtClean="0">
                  <a:ln>
                    <a:noFill/>
                  </a:ln>
                  <a:solidFill>
                    <a:srgbClr val="72C5EA"/>
                  </a:solidFill>
                  <a:effectLst/>
                  <a:uLnTx/>
                  <a:uFillTx/>
                  <a:latin typeface="Arial"/>
                  <a:ea typeface="黑体"/>
                  <a:cs typeface="+mn-cs"/>
                  <a:sym typeface="Arial" panose="020B0604020202020204" pitchFamily="34" charset="0"/>
                </a:rPr>
                <a:t>废弃策略</a:t>
              </a:r>
            </a:p>
          </p:txBody>
        </p:sp>
      </p:grpSp>
      <p:grpSp>
        <p:nvGrpSpPr>
          <p:cNvPr id="26" name="组合 25"/>
          <p:cNvGrpSpPr/>
          <p:nvPr>
            <p:custDataLst>
              <p:tags r:id="rId8"/>
            </p:custDataLst>
          </p:nvPr>
        </p:nvGrpSpPr>
        <p:grpSpPr>
          <a:xfrm>
            <a:off x="4422292" y="2924523"/>
            <a:ext cx="3098237" cy="1368379"/>
            <a:chOff x="860142" y="5013322"/>
            <a:chExt cx="2329147" cy="1028700"/>
          </a:xfrm>
        </p:grpSpPr>
        <p:sp>
          <p:nvSpPr>
            <p:cNvPr id="27" name="任意多边形 26"/>
            <p:cNvSpPr/>
            <p:nvPr>
              <p:custDataLst>
                <p:tags r:id="rId10"/>
              </p:custDataLst>
            </p:nvPr>
          </p:nvSpPr>
          <p:spPr>
            <a:xfrm>
              <a:off x="2055796" y="5013322"/>
              <a:ext cx="1133493" cy="1028700"/>
            </a:xfrm>
            <a:custGeom>
              <a:avLst/>
              <a:gdLst>
                <a:gd name="connsiteX0" fmla="*/ 619143 w 1133493"/>
                <a:gd name="connsiteY0" fmla="*/ 0 h 1028700"/>
                <a:gd name="connsiteX1" fmla="*/ 1133493 w 1133493"/>
                <a:gd name="connsiteY1" fmla="*/ 514350 h 1028700"/>
                <a:gd name="connsiteX2" fmla="*/ 619143 w 1133493"/>
                <a:gd name="connsiteY2" fmla="*/ 1028700 h 1028700"/>
                <a:gd name="connsiteX3" fmla="*/ 115243 w 1133493"/>
                <a:gd name="connsiteY3" fmla="*/ 618009 h 1028700"/>
                <a:gd name="connsiteX4" fmla="*/ 109712 w 1133493"/>
                <a:gd name="connsiteY4" fmla="*/ 563148 h 1028700"/>
                <a:gd name="connsiteX5" fmla="*/ 2805 w 1133493"/>
                <a:gd name="connsiteY5" fmla="*/ 637330 h 1028700"/>
                <a:gd name="connsiteX6" fmla="*/ 0 w 1133493"/>
                <a:gd name="connsiteY6" fmla="*/ 637551 h 1028700"/>
                <a:gd name="connsiteX7" fmla="*/ 152110 w 1133493"/>
                <a:gd name="connsiteY7" fmla="*/ 320348 h 1028700"/>
                <a:gd name="connsiteX8" fmla="*/ 352029 w 1133493"/>
                <a:gd name="connsiteY8" fmla="*/ 609809 h 1028700"/>
                <a:gd name="connsiteX9" fmla="*/ 349224 w 1133493"/>
                <a:gd name="connsiteY9" fmla="*/ 610030 h 1028700"/>
                <a:gd name="connsiteX10" fmla="*/ 232766 w 1133493"/>
                <a:gd name="connsiteY10" fmla="*/ 553872 h 1028700"/>
                <a:gd name="connsiteX11" fmla="*/ 236713 w 1133493"/>
                <a:gd name="connsiteY11" fmla="*/ 593021 h 1028700"/>
                <a:gd name="connsiteX12" fmla="*/ 619143 w 1133493"/>
                <a:gd name="connsiteY12" fmla="*/ 904711 h 1028700"/>
                <a:gd name="connsiteX13" fmla="*/ 1009504 w 1133493"/>
                <a:gd name="connsiteY13" fmla="*/ 514350 h 1028700"/>
                <a:gd name="connsiteX14" fmla="*/ 619143 w 1133493"/>
                <a:gd name="connsiteY14" fmla="*/ 123989 h 1028700"/>
                <a:gd name="connsiteX15" fmla="*/ 606443 w 1133493"/>
                <a:gd name="connsiteY15" fmla="*/ 125269 h 1028700"/>
                <a:gd name="connsiteX16" fmla="*/ 606443 w 1133493"/>
                <a:gd name="connsiteY16" fmla="*/ 123827 h 1028700"/>
                <a:gd name="connsiteX17" fmla="*/ 287952 w 1133493"/>
                <a:gd name="connsiteY17" fmla="*/ 123827 h 1028700"/>
                <a:gd name="connsiteX18" fmla="*/ 331565 w 1133493"/>
                <a:gd name="connsiteY18" fmla="*/ 87843 h 1028700"/>
                <a:gd name="connsiteX19" fmla="*/ 619143 w 1133493"/>
                <a:gd name="connsiteY19" fmla="*/ 0 h 1028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33493" h="1028700">
                  <a:moveTo>
                    <a:pt x="619143" y="0"/>
                  </a:moveTo>
                  <a:cubicBezTo>
                    <a:pt x="903211" y="0"/>
                    <a:pt x="1133493" y="230282"/>
                    <a:pt x="1133493" y="514350"/>
                  </a:cubicBezTo>
                  <a:cubicBezTo>
                    <a:pt x="1133493" y="798418"/>
                    <a:pt x="903211" y="1028700"/>
                    <a:pt x="619143" y="1028700"/>
                  </a:cubicBezTo>
                  <a:cubicBezTo>
                    <a:pt x="370584" y="1028700"/>
                    <a:pt x="163204" y="852390"/>
                    <a:pt x="115243" y="618009"/>
                  </a:cubicBezTo>
                  <a:lnTo>
                    <a:pt x="109712" y="563148"/>
                  </a:lnTo>
                  <a:lnTo>
                    <a:pt x="2805" y="637330"/>
                  </a:lnTo>
                  <a:lnTo>
                    <a:pt x="0" y="637551"/>
                  </a:lnTo>
                  <a:lnTo>
                    <a:pt x="152110" y="320348"/>
                  </a:lnTo>
                  <a:lnTo>
                    <a:pt x="352029" y="609809"/>
                  </a:lnTo>
                  <a:lnTo>
                    <a:pt x="349224" y="610030"/>
                  </a:lnTo>
                  <a:lnTo>
                    <a:pt x="232766" y="553872"/>
                  </a:lnTo>
                  <a:lnTo>
                    <a:pt x="236713" y="593021"/>
                  </a:lnTo>
                  <a:cubicBezTo>
                    <a:pt x="273113" y="770902"/>
                    <a:pt x="430502" y="904711"/>
                    <a:pt x="619143" y="904711"/>
                  </a:cubicBezTo>
                  <a:cubicBezTo>
                    <a:pt x="834733" y="904711"/>
                    <a:pt x="1009504" y="729940"/>
                    <a:pt x="1009504" y="514350"/>
                  </a:cubicBezTo>
                  <a:cubicBezTo>
                    <a:pt x="1009504" y="298760"/>
                    <a:pt x="834733" y="123989"/>
                    <a:pt x="619143" y="123989"/>
                  </a:cubicBezTo>
                  <a:lnTo>
                    <a:pt x="606443" y="125269"/>
                  </a:lnTo>
                  <a:lnTo>
                    <a:pt x="606443" y="123827"/>
                  </a:lnTo>
                  <a:lnTo>
                    <a:pt x="287952" y="123827"/>
                  </a:lnTo>
                  <a:lnTo>
                    <a:pt x="331565" y="87843"/>
                  </a:lnTo>
                  <a:cubicBezTo>
                    <a:pt x="413656" y="32383"/>
                    <a:pt x="512618" y="0"/>
                    <a:pt x="619143" y="0"/>
                  </a:cubicBezTo>
                  <a:close/>
                </a:path>
              </a:pathLst>
            </a:custGeom>
            <a:ln>
              <a:noFill/>
            </a:ln>
          </p:spPr>
          <p:style>
            <a:lnRef idx="2">
              <a:srgbClr val="72C5EA">
                <a:shade val="50000"/>
              </a:srgbClr>
            </a:lnRef>
            <a:fillRef idx="1">
              <a:srgbClr val="72C5EA"/>
            </a:fillRef>
            <a:effectRef idx="0">
              <a:srgbClr val="72C5EA"/>
            </a:effectRef>
            <a:fontRef idx="minor">
              <a:srgbClr val="FFFFFF"/>
            </a:fontRef>
          </p:style>
          <p:txBody>
            <a:bodyPr lIns="252000" rIns="90000" rtlCol="0" anchor="ctr">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2800" b="0" i="0" u="none" strike="noStrike" kern="1200" cap="none" spc="0" normalizeH="0" baseline="0" noProof="0" dirty="0">
                  <a:ln>
                    <a:noFill/>
                  </a:ln>
                  <a:solidFill>
                    <a:srgbClr val="72C5EA"/>
                  </a:solidFill>
                  <a:effectLst/>
                  <a:uLnTx/>
                  <a:uFillTx/>
                  <a:latin typeface="Arial"/>
                  <a:ea typeface="黑体"/>
                  <a:cs typeface="+mn-cs"/>
                  <a:sym typeface="Arial" panose="020B0604020202020204" pitchFamily="34" charset="0"/>
                </a:rPr>
                <a:t>2</a:t>
              </a:r>
            </a:p>
          </p:txBody>
        </p:sp>
        <p:sp>
          <p:nvSpPr>
            <p:cNvPr id="28" name="文本框 27"/>
            <p:cNvSpPr txBox="1"/>
            <p:nvPr>
              <p:custDataLst>
                <p:tags r:id="rId11"/>
              </p:custDataLst>
            </p:nvPr>
          </p:nvSpPr>
          <p:spPr>
            <a:xfrm>
              <a:off x="860142" y="5217092"/>
              <a:ext cx="1144852" cy="369332"/>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da-DK" sz="1800" b="0" i="0" u="none" strike="noStrike" kern="1200" cap="none" spc="0" normalizeH="0" baseline="0" noProof="0" smtClean="0">
                  <a:ln>
                    <a:noFill/>
                  </a:ln>
                  <a:solidFill>
                    <a:srgbClr val="72C5EA"/>
                  </a:solidFill>
                  <a:effectLst/>
                  <a:uLnTx/>
                  <a:uFillTx/>
                  <a:latin typeface="Arial"/>
                  <a:ea typeface="黑体"/>
                  <a:cs typeface="+mn-cs"/>
                  <a:sym typeface="Arial" panose="020B0604020202020204" pitchFamily="34" charset="0"/>
                </a:rPr>
                <a:t>追加策略</a:t>
              </a:r>
            </a:p>
          </p:txBody>
        </p:sp>
      </p:grpSp>
      <p:sp>
        <p:nvSpPr>
          <p:cNvPr id="6" name="文本框 5"/>
          <p:cNvSpPr txBox="1"/>
          <p:nvPr>
            <p:custDataLst>
              <p:tags r:id="rId9"/>
            </p:custDataLst>
          </p:nvPr>
        </p:nvSpPr>
        <p:spPr>
          <a:xfrm>
            <a:off x="591347" y="2163629"/>
            <a:ext cx="11009306" cy="491286"/>
          </a:xfrm>
          <a:prstGeom prst="rect">
            <a:avLst/>
          </a:prstGeom>
          <a:noFill/>
        </p:spPr>
        <p:txBody>
          <a:bodyPr wrap="square" rtlCol="0">
            <a:norm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3D3F41"/>
                </a:solidFill>
                <a:effectLst/>
                <a:uLnTx/>
                <a:uFillTx/>
                <a:latin typeface="Arial"/>
                <a:ea typeface="黑体"/>
                <a:cs typeface="+mn-cs"/>
                <a:sym typeface="Arial" panose="020B0604020202020204" pitchFamily="34" charset="0"/>
              </a:rPr>
              <a:t>原型分析法的三种类型、</a:t>
            </a:r>
            <a:r>
              <a:rPr kumimoji="0" lang="zh-CN" altLang="en-US" sz="1800" b="0" i="0" u="none" strike="noStrike" kern="1200" cap="none" spc="0" normalizeH="0" baseline="0" noProof="0" dirty="0">
                <a:ln>
                  <a:noFill/>
                </a:ln>
                <a:solidFill>
                  <a:srgbClr val="FF0000"/>
                </a:solidFill>
                <a:effectLst/>
                <a:uLnTx/>
                <a:uFillTx/>
                <a:latin typeface="Arial"/>
                <a:ea typeface="黑体"/>
                <a:cs typeface="+mn-cs"/>
                <a:sym typeface="Arial" panose="020B0604020202020204" pitchFamily="34" charset="0"/>
              </a:rPr>
              <a:t>两种策略</a:t>
            </a:r>
          </a:p>
        </p:txBody>
      </p:sp>
      <p:sp>
        <p:nvSpPr>
          <p:cNvPr id="3" name="文本框 2"/>
          <p:cNvSpPr txBox="1"/>
          <p:nvPr/>
        </p:nvSpPr>
        <p:spPr>
          <a:xfrm>
            <a:off x="1219200" y="4693920"/>
            <a:ext cx="3550920" cy="146304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3D3F41"/>
                </a:solidFill>
                <a:effectLst/>
                <a:uLnTx/>
                <a:uFillTx/>
                <a:latin typeface="Arial"/>
                <a:ea typeface="黑体"/>
                <a:cs typeface="+mn-cs"/>
              </a:rPr>
              <a:t>先建造一个功能简单而且质量要求不高的模型系统，反复进行修改,据此设计出较完整,准确,一致,可靠的最终系统.则原来的模型系统就被废弃不用</a:t>
            </a:r>
          </a:p>
        </p:txBody>
      </p:sp>
      <p:sp>
        <p:nvSpPr>
          <p:cNvPr id="4" name="文本框 3"/>
          <p:cNvSpPr txBox="1"/>
          <p:nvPr/>
        </p:nvSpPr>
        <p:spPr>
          <a:xfrm>
            <a:off x="6522720" y="4815840"/>
            <a:ext cx="3718560" cy="118872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3D3F41"/>
                </a:solidFill>
                <a:effectLst/>
                <a:uLnTx/>
                <a:uFillTx/>
                <a:latin typeface="Arial"/>
                <a:ea typeface="黑体"/>
                <a:cs typeface="+mn-cs"/>
              </a:rPr>
              <a:t>先构造一个功能简单而且质量要求不高的模型系统，作为最终系统的核心,然后通过不断地扩充修改,逐步追加新要求，发展成为最终系统</a:t>
            </a:r>
          </a:p>
        </p:txBody>
      </p:sp>
      <p:sp>
        <p:nvSpPr>
          <p:cNvPr id="10" name="圆角矩形 9"/>
          <p:cNvSpPr/>
          <p:nvPr/>
        </p:nvSpPr>
        <p:spPr>
          <a:xfrm>
            <a:off x="1051560" y="4617720"/>
            <a:ext cx="3657600" cy="156972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a:cs typeface="+mn-cs"/>
            </a:endParaRPr>
          </a:p>
        </p:txBody>
      </p:sp>
      <p:sp>
        <p:nvSpPr>
          <p:cNvPr id="11" name="圆角矩形 10"/>
          <p:cNvSpPr/>
          <p:nvPr/>
        </p:nvSpPr>
        <p:spPr>
          <a:xfrm>
            <a:off x="6522720" y="4693920"/>
            <a:ext cx="3657600" cy="1569720"/>
          </a:xfrm>
          <a:prstGeom prst="roundRect">
            <a:avLst/>
          </a:prstGeom>
          <a:noFill/>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srgbClr val="FFFFFF"/>
              </a:solidFill>
              <a:effectLst/>
              <a:uLnTx/>
              <a:uFillTx/>
              <a:latin typeface="Arial"/>
              <a:ea typeface="黑体"/>
              <a:cs typeface="+mn-cs"/>
            </a:endParaRPr>
          </a:p>
        </p:txBody>
      </p:sp>
      <p:cxnSp>
        <p:nvCxnSpPr>
          <p:cNvPr id="12" name="直接箭头连接符 11"/>
          <p:cNvCxnSpPr>
            <a:stCxn id="17" idx="2"/>
          </p:cNvCxnSpPr>
          <p:nvPr/>
        </p:nvCxnSpPr>
        <p:spPr>
          <a:xfrm>
            <a:off x="1950085" y="1648460"/>
            <a:ext cx="61595" cy="144526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直接箭头连接符 12"/>
          <p:cNvCxnSpPr>
            <a:stCxn id="19" idx="2"/>
          </p:cNvCxnSpPr>
          <p:nvPr/>
        </p:nvCxnSpPr>
        <p:spPr>
          <a:xfrm flipH="1">
            <a:off x="2286000" y="1648460"/>
            <a:ext cx="2897505" cy="144526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直接箭头连接符 13"/>
          <p:cNvCxnSpPr>
            <a:stCxn id="21" idx="2"/>
            <a:endCxn id="28" idx="0"/>
          </p:cNvCxnSpPr>
          <p:nvPr/>
        </p:nvCxnSpPr>
        <p:spPr>
          <a:xfrm flipH="1">
            <a:off x="5183505" y="1648460"/>
            <a:ext cx="3233420" cy="1546860"/>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extLst>
      <p:ext uri="{BB962C8B-B14F-4D97-AF65-F5344CB8AC3E}">
        <p14:creationId xmlns:p14="http://schemas.microsoft.com/office/powerpoint/2010/main" val="2611140397"/>
      </p:ext>
    </p:extLst>
  </p:cSld>
  <p:clrMapOvr>
    <a:masterClrMapping/>
  </p:clrMapOvr>
  <p:transition>
    <p:wip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checkerboard(across)">
                                      <p:cBhvr>
                                        <p:cTn id="7" dur="500"/>
                                        <p:tgtEl>
                                          <p:spTgt spid="3"/>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checkerboard(across)">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checkerboard(across)">
                                      <p:cBhvr>
                                        <p:cTn id="15" dur="500"/>
                                        <p:tgtEl>
                                          <p:spTgt spid="12"/>
                                        </p:tgtEl>
                                      </p:cBhvr>
                                    </p:animEffect>
                                  </p:childTnLst>
                                </p:cTn>
                              </p:par>
                              <p:par>
                                <p:cTn id="16" presetID="5" presetClass="entr" presetSubtype="1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heckerboard(across)">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5" presetClass="entr" presetSubtype="10" fill="hold" grpId="0" nodeType="click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checkerboard(across)">
                                      <p:cBhvr>
                                        <p:cTn id="23" dur="500"/>
                                        <p:tgtEl>
                                          <p:spTgt spid="4"/>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checkerboard(across)">
                                      <p:cBhvr>
                                        <p:cTn id="26" dur="500"/>
                                        <p:tgtEl>
                                          <p:spTgt spid="11"/>
                                        </p:tgtEl>
                                      </p:cBhvr>
                                    </p:animEffect>
                                  </p:childTnLst>
                                </p:cTn>
                              </p:par>
                            </p:childTnLst>
                          </p:cTn>
                        </p:par>
                      </p:childTnLst>
                    </p:cTn>
                  </p:par>
                  <p:par>
                    <p:cTn id="27" fill="hold">
                      <p:stCondLst>
                        <p:cond delay="indefinite"/>
                      </p:stCondLst>
                      <p:childTnLst>
                        <p:par>
                          <p:cTn id="28" fill="hold">
                            <p:stCondLst>
                              <p:cond delay="0"/>
                            </p:stCondLst>
                            <p:childTnLst>
                              <p:par>
                                <p:cTn id="29" presetID="5" presetClass="entr" presetSubtype="1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checkerboard(across)">
                                      <p:cBhvr>
                                        <p:cTn id="31"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0" grpId="0" animBg="1"/>
      <p:bldP spid="11"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标题 9"/>
          <p:cNvSpPr>
            <a:spLocks noGrp="1"/>
          </p:cNvSpPr>
          <p:nvPr>
            <p:ph type="title"/>
            <p:custDataLst>
              <p:tags r:id="rId2"/>
            </p:custDataLst>
          </p:nvPr>
        </p:nvSpPr>
        <p:spPr/>
        <p:txBody>
          <a:bodyPr/>
          <a:lstStyle/>
          <a:p>
            <a:r>
              <a:rPr lang="zh-CN" altLang="en-US" dirty="0">
                <a:latin typeface="+mj-lt"/>
                <a:ea typeface="+mj-ea"/>
              </a:rPr>
              <a:t>需求分析的方式</a:t>
            </a:r>
          </a:p>
        </p:txBody>
      </p:sp>
      <p:sp>
        <p:nvSpPr>
          <p:cNvPr id="11" name="内容占位符 10"/>
          <p:cNvSpPr>
            <a:spLocks noGrp="1"/>
          </p:cNvSpPr>
          <p:nvPr>
            <p:ph sz="half" idx="1"/>
            <p:custDataLst>
              <p:tags r:id="rId3"/>
            </p:custDataLst>
          </p:nvPr>
        </p:nvSpPr>
        <p:spPr/>
        <p:txBody>
          <a:bodyPr/>
          <a:lstStyle/>
          <a:p>
            <a:r>
              <a:rPr lang="en-US" altLang="zh-CN" dirty="0">
                <a:latin typeface="+mn-lt"/>
                <a:ea typeface="+mn-ea"/>
              </a:rPr>
              <a:t>UML</a:t>
            </a:r>
            <a:r>
              <a:rPr lang="zh-CN" altLang="en-US" dirty="0">
                <a:latin typeface="+mn-lt"/>
                <a:ea typeface="+mn-ea"/>
              </a:rPr>
              <a:t>分析法</a:t>
            </a:r>
          </a:p>
          <a:p>
            <a:r>
              <a:rPr lang="zh-CN" altLang="en-US" dirty="0">
                <a:latin typeface="+mn-lt"/>
                <a:ea typeface="+mn-ea"/>
              </a:rPr>
              <a:t>借助</a:t>
            </a:r>
            <a:r>
              <a:rPr lang="en-US" altLang="zh-CN" dirty="0">
                <a:latin typeface="+mn-lt"/>
                <a:ea typeface="+mn-ea"/>
              </a:rPr>
              <a:t>UML</a:t>
            </a:r>
            <a:r>
              <a:rPr lang="zh-CN" altLang="en-US" dirty="0">
                <a:latin typeface="+mn-lt"/>
                <a:ea typeface="+mn-ea"/>
              </a:rPr>
              <a:t>（统一建模语言）进行需求分析</a:t>
            </a:r>
          </a:p>
          <a:p>
            <a:r>
              <a:rPr lang="zh-CN" altLang="en-US" dirty="0">
                <a:latin typeface="+mn-lt"/>
                <a:ea typeface="+mn-ea"/>
              </a:rPr>
              <a:t>常用</a:t>
            </a:r>
            <a:r>
              <a:rPr lang="en-US" altLang="zh-CN" dirty="0">
                <a:latin typeface="+mn-lt"/>
                <a:ea typeface="+mn-ea"/>
              </a:rPr>
              <a:t>UML</a:t>
            </a:r>
            <a:r>
              <a:rPr lang="zh-CN" altLang="en-US" dirty="0">
                <a:latin typeface="+mn-lt"/>
                <a:ea typeface="+mn-ea"/>
              </a:rPr>
              <a:t>图例：</a:t>
            </a:r>
          </a:p>
          <a:p>
            <a:r>
              <a:rPr lang="zh-CN" altLang="en-US" dirty="0">
                <a:latin typeface="+mn-lt"/>
                <a:ea typeface="+mn-ea"/>
              </a:rPr>
              <a:t>（主体）活动图、跨职责流程图、类图、用例图、状态图</a:t>
            </a:r>
          </a:p>
          <a:p>
            <a:r>
              <a:rPr lang="zh-CN" altLang="en-US" dirty="0">
                <a:latin typeface="+mn-lt"/>
                <a:ea typeface="+mn-ea"/>
              </a:rPr>
              <a:t>（辅助）构件图（主题域划分以及接口）、部署图（描述部署环境，体现设计约束）</a:t>
            </a:r>
          </a:p>
        </p:txBody>
      </p:sp>
      <p:sp>
        <p:nvSpPr>
          <p:cNvPr id="12" name="内容占位符 11"/>
          <p:cNvSpPr>
            <a:spLocks noGrp="1"/>
          </p:cNvSpPr>
          <p:nvPr>
            <p:ph sz="half" idx="2"/>
            <p:custDataLst>
              <p:tags r:id="rId4"/>
            </p:custDataLst>
          </p:nvPr>
        </p:nvSpPr>
        <p:spPr/>
        <p:txBody>
          <a:bodyPr/>
          <a:lstStyle/>
          <a:p>
            <a:r>
              <a:rPr lang="zh-CN" altLang="en-US" dirty="0">
                <a:solidFill>
                  <a:srgbClr val="FF0000"/>
                </a:solidFill>
                <a:latin typeface="+mn-lt"/>
                <a:ea typeface="+mn-ea"/>
              </a:rPr>
              <a:t>头脑风暴</a:t>
            </a:r>
          </a:p>
          <a:p>
            <a:r>
              <a:rPr lang="zh-CN" altLang="en-US" dirty="0">
                <a:latin typeface="+mn-lt"/>
                <a:ea typeface="+mn-ea"/>
              </a:rPr>
              <a:t>借助头脑风暴采取会议形式进行分析，大家求同存异，最终达到需求目标，过程中由专人进行详尽记录。</a:t>
            </a:r>
          </a:p>
        </p:txBody>
      </p:sp>
    </p:spTree>
    <p:custDataLst>
      <p:tags r:id="rId1"/>
    </p:custDataLst>
    <p:extLst>
      <p:ext uri="{BB962C8B-B14F-4D97-AF65-F5344CB8AC3E}">
        <p14:creationId xmlns:p14="http://schemas.microsoft.com/office/powerpoint/2010/main" val="2147094857"/>
      </p:ext>
    </p:extLst>
  </p:cSld>
  <p:clrMapOvr>
    <a:masterClrMapping/>
  </p:clrMapOvr>
  <mc:AlternateContent xmlns:mc="http://schemas.openxmlformats.org/markup-compatibility/2006" xmlns:p14="http://schemas.microsoft.com/office/powerpoint/2010/main">
    <mc:Choice Requires="p14">
      <p:transition>
        <p:wipe/>
      </p:transition>
    </mc:Choice>
    <mc:Fallback xmlns="">
      <p:transition>
        <p:wipe/>
      </p:transition>
    </mc:Fallback>
  </mc:AlternateContent>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7" name="任意多边形 45"/>
          <p:cNvSpPr/>
          <p:nvPr>
            <p:custDataLst>
              <p:tags r:id="rId2"/>
            </p:custDataLst>
          </p:nvPr>
        </p:nvSpPr>
        <p:spPr bwMode="auto">
          <a:xfrm>
            <a:off x="1701357" y="1636872"/>
            <a:ext cx="8794048" cy="3781684"/>
          </a:xfrm>
          <a:custGeom>
            <a:avLst/>
            <a:gdLst>
              <a:gd name="T0" fmla="*/ 0 w 3456384"/>
              <a:gd name="T1" fmla="*/ 3054350 h 3882329"/>
              <a:gd name="T2" fmla="*/ 8794750 w 3456384"/>
              <a:gd name="T3" fmla="*/ 3054350 h 3882329"/>
              <a:gd name="T4" fmla="*/ 0 w 3456384"/>
              <a:gd name="T5" fmla="*/ 3054350 h 3882329"/>
              <a:gd name="T6" fmla="*/ 0 w 3456384"/>
              <a:gd name="T7" fmla="*/ 0 h 3882329"/>
              <a:gd name="T8" fmla="*/ 8794750 w 3456384"/>
              <a:gd name="T9" fmla="*/ 0 h 3882329"/>
              <a:gd name="T10" fmla="*/ 0 w 3456384"/>
              <a:gd name="T11" fmla="*/ 0 h 3882329"/>
              <a:gd name="T12" fmla="*/ 0 60000 65536"/>
              <a:gd name="T13" fmla="*/ 0 60000 65536"/>
              <a:gd name="T14" fmla="*/ 0 60000 65536"/>
              <a:gd name="T15" fmla="*/ 0 60000 65536"/>
              <a:gd name="T16" fmla="*/ 0 60000 65536"/>
              <a:gd name="T17" fmla="*/ 0 60000 65536"/>
              <a:gd name="T18" fmla="*/ 0 w 3456384"/>
              <a:gd name="T19" fmla="*/ 0 h 3882329"/>
              <a:gd name="T20" fmla="*/ 3456384 w 3456384"/>
              <a:gd name="T21" fmla="*/ 3882329 h 3882329"/>
            </a:gdLst>
            <a:ahLst/>
            <a:cxnLst>
              <a:cxn ang="T12">
                <a:pos x="T0" y="T1"/>
              </a:cxn>
              <a:cxn ang="T13">
                <a:pos x="T2" y="T3"/>
              </a:cxn>
              <a:cxn ang="T14">
                <a:pos x="T4" y="T5"/>
              </a:cxn>
              <a:cxn ang="T15">
                <a:pos x="T6" y="T7"/>
              </a:cxn>
              <a:cxn ang="T16">
                <a:pos x="T8" y="T9"/>
              </a:cxn>
              <a:cxn ang="T17">
                <a:pos x="T10" y="T11"/>
              </a:cxn>
            </a:cxnLst>
            <a:rect l="T18" t="T19" r="T20" b="T21"/>
            <a:pathLst>
              <a:path w="3456384" h="3882329">
                <a:moveTo>
                  <a:pt x="0" y="3882329"/>
                </a:moveTo>
                <a:lnTo>
                  <a:pt x="3456384" y="3882329"/>
                </a:lnTo>
                <a:lnTo>
                  <a:pt x="0" y="3882329"/>
                </a:lnTo>
                <a:close/>
                <a:moveTo>
                  <a:pt x="0" y="0"/>
                </a:moveTo>
                <a:lnTo>
                  <a:pt x="3456384" y="0"/>
                </a:lnTo>
                <a:lnTo>
                  <a:pt x="0" y="0"/>
                </a:lnTo>
                <a:close/>
              </a:path>
            </a:pathLst>
          </a:custGeom>
          <a:noFill/>
          <a:ln w="22225" cmpd="sng">
            <a:solidFill>
              <a:schemeClr val="accent1"/>
            </a:solidFill>
            <a:bevel/>
          </a:ln>
          <a:extLst>
            <a:ext uri="{909E8E84-426E-40DD-AFC4-6F175D3DCCD1}">
              <a14:hiddenFill xmlns:a14="http://schemas.microsoft.com/office/drawing/2010/main">
                <a:solidFill>
                  <a:srgbClr val="FFFFFF"/>
                </a:solidFill>
              </a14:hiddenFill>
            </a:ext>
          </a:extLst>
        </p:spPr>
        <p:txBody>
          <a:bodyPr wrap="square" lIns="0" tIns="71981" rIns="0" bIns="71981" anchor="t" anchorCtr="0">
            <a:normAutofit/>
          </a:bodyPr>
          <a:lstStyle>
            <a:lvl1pPr>
              <a:defRPr>
                <a:solidFill>
                  <a:schemeClr val="tx1"/>
                </a:solidFill>
                <a:latin typeface="Calibri" panose="020F05020202040A0204" charset="0"/>
                <a:ea typeface="幼圆" pitchFamily="49" charset="-122"/>
              </a:defRPr>
            </a:lvl1pPr>
            <a:lvl2pPr marL="742950" indent="-285750">
              <a:defRPr>
                <a:solidFill>
                  <a:schemeClr val="tx1"/>
                </a:solidFill>
                <a:latin typeface="Calibri" panose="020F05020202040A0204" charset="0"/>
                <a:ea typeface="幼圆" pitchFamily="49" charset="-122"/>
              </a:defRPr>
            </a:lvl2pPr>
            <a:lvl3pPr marL="1143000" indent="-228600">
              <a:defRPr>
                <a:solidFill>
                  <a:schemeClr val="tx1"/>
                </a:solidFill>
                <a:latin typeface="Calibri" panose="020F05020202040A0204" charset="0"/>
                <a:ea typeface="幼圆" pitchFamily="49" charset="-122"/>
              </a:defRPr>
            </a:lvl3pPr>
            <a:lvl4pPr marL="1600200" indent="-228600">
              <a:defRPr>
                <a:solidFill>
                  <a:schemeClr val="tx1"/>
                </a:solidFill>
                <a:latin typeface="Calibri" panose="020F05020202040A0204" charset="0"/>
                <a:ea typeface="幼圆" pitchFamily="49" charset="-122"/>
              </a:defRPr>
            </a:lvl4pPr>
            <a:lvl5pPr marL="2057400" indent="-228600">
              <a:defRPr>
                <a:solidFill>
                  <a:schemeClr val="tx1"/>
                </a:solidFill>
                <a:latin typeface="Calibri" panose="020F05020202040A0204" charset="0"/>
                <a:ea typeface="幼圆" pitchFamily="49"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Calibri" panose="020F05020202040A0204" charset="0"/>
                <a:ea typeface="幼圆" pitchFamily="49" charset="-122"/>
              </a:defRPr>
            </a:lvl9pPr>
          </a:lstStyle>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3D3F41"/>
                </a:solidFill>
                <a:effectLst/>
                <a:uLnTx/>
                <a:uFillTx/>
                <a:latin typeface="Arial"/>
                <a:ea typeface="黑体"/>
                <a:cs typeface="+mn-cs"/>
              </a:rPr>
              <a:t>概念：无限制的自由联想和讨论，产生新观念或激发创新设想。</a:t>
            </a:r>
          </a:p>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srgbClr val="3D3F41"/>
              </a:solidFill>
              <a:effectLst/>
              <a:uLnTx/>
              <a:uFillTx/>
              <a:latin typeface="Arial"/>
              <a:ea typeface="黑体"/>
              <a:cs typeface="+mn-cs"/>
            </a:endParaRPr>
          </a:p>
          <a:p>
            <a:pPr marL="0" marR="0" lvl="0" indent="0" algn="l" defTabSz="914400" rtl="0" eaLnBrk="1" fontAlgn="auto" latinLnBrk="0" hangingPunct="1">
              <a:lnSpc>
                <a:spcPct val="15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3D3F41"/>
                </a:solidFill>
                <a:effectLst/>
                <a:uLnTx/>
                <a:uFillTx/>
                <a:latin typeface="Arial"/>
                <a:ea typeface="黑体"/>
                <a:cs typeface="+mn-cs"/>
              </a:rPr>
              <a:t>意义：在群体决策中，由于心理相互作用，易屈于大多数人意见，形成所谓</a:t>
            </a:r>
            <a:r>
              <a:rPr kumimoji="0" lang="en-US" altLang="zh-CN" sz="1800" b="0" i="0" u="none" strike="noStrike" kern="1200" cap="none" spc="0" normalizeH="0" baseline="0" noProof="0" dirty="0">
                <a:ln>
                  <a:noFill/>
                </a:ln>
                <a:solidFill>
                  <a:srgbClr val="3D3F41"/>
                </a:solidFill>
                <a:effectLst/>
                <a:uLnTx/>
                <a:uFillTx/>
                <a:latin typeface="Arial"/>
                <a:ea typeface="黑体"/>
                <a:cs typeface="+mn-cs"/>
              </a:rPr>
              <a:t>“</a:t>
            </a:r>
            <a:r>
              <a:rPr kumimoji="0" lang="zh-CN" altLang="en-US" sz="1800" b="0" i="0" u="none" strike="noStrike" kern="1200" cap="none" spc="0" normalizeH="0" baseline="0" noProof="0" dirty="0">
                <a:ln>
                  <a:noFill/>
                </a:ln>
                <a:solidFill>
                  <a:srgbClr val="3D3F41"/>
                </a:solidFill>
                <a:effectLst/>
                <a:uLnTx/>
                <a:uFillTx/>
                <a:latin typeface="Arial"/>
                <a:ea typeface="黑体"/>
                <a:cs typeface="+mn-cs"/>
              </a:rPr>
              <a:t>群体思维</a:t>
            </a:r>
            <a:r>
              <a:rPr kumimoji="0" lang="en-US" altLang="zh-CN" sz="1800" b="0" i="0" u="none" strike="noStrike" kern="1200" cap="none" spc="0" normalizeH="0" baseline="0" noProof="0" dirty="0">
                <a:ln>
                  <a:noFill/>
                </a:ln>
                <a:solidFill>
                  <a:srgbClr val="3D3F41"/>
                </a:solidFill>
                <a:effectLst/>
                <a:uLnTx/>
                <a:uFillTx/>
                <a:latin typeface="Arial"/>
                <a:ea typeface="黑体"/>
                <a:cs typeface="+mn-cs"/>
              </a:rPr>
              <a:t>”</a:t>
            </a:r>
            <a:r>
              <a:rPr kumimoji="0" lang="zh-CN" altLang="en-US" sz="1800" b="0" i="0" u="none" strike="noStrike" kern="1200" cap="none" spc="0" normalizeH="0" baseline="0" noProof="0" dirty="0">
                <a:ln>
                  <a:noFill/>
                </a:ln>
                <a:solidFill>
                  <a:srgbClr val="3D3F41"/>
                </a:solidFill>
                <a:effectLst/>
                <a:uLnTx/>
                <a:uFillTx/>
                <a:latin typeface="Arial"/>
                <a:ea typeface="黑体"/>
                <a:cs typeface="+mn-cs"/>
              </a:rPr>
              <a:t>。这损害了决策的质量。为了保证群体决策的创造性，提高决策质量，形成了一套方法，头脑风暴法是较为典型的一个。</a:t>
            </a:r>
          </a:p>
        </p:txBody>
      </p:sp>
      <p:sp>
        <p:nvSpPr>
          <p:cNvPr id="3" name="文本框 2"/>
          <p:cNvSpPr txBox="1"/>
          <p:nvPr>
            <p:custDataLst>
              <p:tags r:id="rId3"/>
            </p:custDataLst>
          </p:nvPr>
        </p:nvSpPr>
        <p:spPr>
          <a:xfrm>
            <a:off x="625313" y="260351"/>
            <a:ext cx="10973117" cy="576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a:bodyPr>
          <a:lstStyle>
            <a:lvl1pPr fontAlgn="base">
              <a:spcBef>
                <a:spcPct val="0"/>
              </a:spcBef>
              <a:spcAft>
                <a:spcPct val="0"/>
              </a:spcAft>
              <a:defRPr baseline="0">
                <a:solidFill>
                  <a:schemeClr val="accent1">
                    <a:lumMod val="75000"/>
                  </a:schemeClr>
                </a:solidFill>
                <a:latin typeface="+mj-lt"/>
                <a:ea typeface="+mj-ea"/>
                <a:cs typeface="+mj-cs"/>
              </a:defRPr>
            </a:lvl1pPr>
            <a:lvl2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2pPr>
            <a:lvl3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3pPr>
            <a:lvl4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4pPr>
            <a:lvl5pPr fontAlgn="base">
              <a:spcBef>
                <a:spcPct val="0"/>
              </a:spcBef>
              <a:spcAft>
                <a:spcPct val="0"/>
              </a:spcAft>
              <a:defRPr>
                <a:solidFill>
                  <a:schemeClr val="accent1"/>
                </a:solidFill>
                <a:latin typeface="Arial Black" panose="020B0A04020102020204" pitchFamily="34" charset="0"/>
                <a:ea typeface="微软雅黑" panose="020B0503020204020204" charset="-122"/>
                <a:cs typeface="宋体" panose="02010600030101010101" pitchFamily="2" charset="-122"/>
              </a:defRPr>
            </a:lvl5pPr>
            <a:lvl6pPr marL="457200"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6pPr>
            <a:lvl7pPr marL="914400"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7pPr>
            <a:lvl8pPr marL="1370965"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8pPr>
            <a:lvl9pPr marL="1828165" fontAlgn="base">
              <a:spcBef>
                <a:spcPct val="0"/>
              </a:spcBef>
              <a:spcAft>
                <a:spcPct val="0"/>
              </a:spcAft>
              <a:defRPr>
                <a:solidFill>
                  <a:schemeClr val="tx2"/>
                </a:solidFill>
                <a:latin typeface="Arial" panose="020B0604020202020204" pitchFamily="34" charset="0"/>
                <a:ea typeface="微软雅黑" panose="020B0503020204020204" charset="-122"/>
                <a:cs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0" i="0" u="none" strike="noStrike" kern="1200" cap="none" spc="0" normalizeH="0" baseline="0" noProof="0">
                <a:ln>
                  <a:noFill/>
                </a:ln>
                <a:solidFill>
                  <a:srgbClr val="04AEDA">
                    <a:lumMod val="75000"/>
                  </a:srgbClr>
                </a:solidFill>
                <a:effectLst/>
                <a:uLnTx/>
                <a:uFillTx/>
                <a:latin typeface="Arial"/>
                <a:ea typeface="黑体"/>
                <a:cs typeface="+mj-cs"/>
              </a:rPr>
              <a:t>关于头脑风暴</a:t>
            </a:r>
          </a:p>
        </p:txBody>
      </p:sp>
    </p:spTree>
    <p:custDataLst>
      <p:tags r:id="rId1"/>
    </p:custDataLst>
    <p:extLst>
      <p:ext uri="{BB962C8B-B14F-4D97-AF65-F5344CB8AC3E}">
        <p14:creationId xmlns:p14="http://schemas.microsoft.com/office/powerpoint/2010/main" val="2529892166"/>
      </p:ext>
    </p:extLst>
  </p:cSld>
  <p:clrMapOvr>
    <a:masterClrMapping/>
  </p:clrMapOvr>
  <p:transition spd="slow" advClick="0" advTm="0">
    <p:wipe/>
  </p:transition>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组合 7"/>
          <p:cNvGrpSpPr/>
          <p:nvPr/>
        </p:nvGrpSpPr>
        <p:grpSpPr>
          <a:xfrm>
            <a:off x="5677255" y="0"/>
            <a:ext cx="902811" cy="1651469"/>
            <a:chOff x="5677255" y="0"/>
            <a:chExt cx="902811" cy="1651469"/>
          </a:xfrm>
        </p:grpSpPr>
        <p:sp>
          <p:nvSpPr>
            <p:cNvPr id="9" name="矩形 8"/>
            <p:cNvSpPr/>
            <p:nvPr/>
          </p:nvSpPr>
          <p:spPr>
            <a:xfrm>
              <a:off x="5677255" y="1128249"/>
              <a:ext cx="902811" cy="523220"/>
            </a:xfrm>
            <a:prstGeom prst="rect">
              <a:avLst/>
            </a:prstGeom>
          </p:spPr>
          <p:txBody>
            <a:bodyPr wrap="none">
              <a:spAutoFit/>
            </a:bodyPr>
            <a:lstStyle/>
            <a:p>
              <a:r>
                <a:rPr lang="zh-CN" altLang="en-US" sz="2800" b="1" i="0" smtClean="0">
                  <a:solidFill>
                    <a:schemeClr val="accent2">
                      <a:lumMod val="75000"/>
                    </a:schemeClr>
                  </a:solidFill>
                  <a:effectLst/>
                  <a:latin typeface="Simsun" panose="02010600030101010101" pitchFamily="2" charset="-122"/>
                  <a:ea typeface="Simsun" panose="02010600030101010101" pitchFamily="2" charset="-122"/>
                </a:rPr>
                <a:t>概述</a:t>
              </a:r>
              <a:endParaRPr lang="zh-CN" altLang="en-US" sz="2800" b="1" dirty="0"/>
            </a:p>
          </p:txBody>
        </p:sp>
        <p:cxnSp>
          <p:nvCxnSpPr>
            <p:cNvPr id="10" name="直接连接符 9"/>
            <p:cNvCxnSpPr>
              <a:stCxn id="11" idx="4"/>
              <a:endCxn id="12" idx="4"/>
            </p:cNvCxnSpPr>
            <p:nvPr/>
          </p:nvCxnSpPr>
          <p:spPr>
            <a:xfrm>
              <a:off x="6110728" y="133446"/>
              <a:ext cx="12193" cy="91789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11" name="椭圆 10"/>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椭圆 11"/>
            <p:cNvSpPr/>
            <p:nvPr/>
          </p:nvSpPr>
          <p:spPr>
            <a:xfrm>
              <a:off x="6056198" y="91789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 name="组合 2"/>
          <p:cNvGrpSpPr/>
          <p:nvPr/>
        </p:nvGrpSpPr>
        <p:grpSpPr>
          <a:xfrm>
            <a:off x="2506845" y="2517285"/>
            <a:ext cx="832874" cy="832875"/>
            <a:chOff x="1488310" y="1579494"/>
            <a:chExt cx="1414094" cy="1414094"/>
          </a:xfrm>
        </p:grpSpPr>
        <p:grpSp>
          <p:nvGrpSpPr>
            <p:cNvPr id="4" name="组合 3"/>
            <p:cNvGrpSpPr/>
            <p:nvPr/>
          </p:nvGrpSpPr>
          <p:grpSpPr>
            <a:xfrm>
              <a:off x="1488310" y="1579494"/>
              <a:ext cx="1414094" cy="1414094"/>
              <a:chOff x="3176812" y="2273198"/>
              <a:chExt cx="2641825" cy="2726239"/>
            </a:xfrm>
          </p:grpSpPr>
          <p:sp>
            <p:nvSpPr>
              <p:cNvPr id="6" name="椭圆 5"/>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椭圆 6"/>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5" name="文本框 4"/>
            <p:cNvSpPr txBox="1"/>
            <p:nvPr/>
          </p:nvSpPr>
          <p:spPr>
            <a:xfrm>
              <a:off x="1518754" y="1770695"/>
              <a:ext cx="1353207" cy="1097371"/>
            </a:xfrm>
            <a:prstGeom prst="rect">
              <a:avLst/>
            </a:prstGeom>
            <a:noFill/>
          </p:spPr>
          <p:txBody>
            <a:bodyPr wrap="none" rtlCol="0">
              <a:spAutoFit/>
            </a:bodyPr>
            <a:lstStyle/>
            <a:p>
              <a:pPr algn="ctr"/>
              <a:r>
                <a:rPr lang="en-US" altLang="zh-CN" sz="3600" dirty="0" smtClean="0">
                  <a:solidFill>
                    <a:schemeClr val="accent2">
                      <a:lumMod val="75000"/>
                    </a:schemeClr>
                  </a:solidFill>
                  <a:latin typeface="方正超粗黑_GBK" panose="03000509000000000000" pitchFamily="65" charset="-122"/>
                  <a:ea typeface="方正超粗黑_GBK" panose="03000509000000000000" pitchFamily="65" charset="-122"/>
                </a:rPr>
                <a:t>01</a:t>
              </a:r>
              <a:endParaRPr lang="zh-CN" altLang="en-US" sz="36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sp>
        <p:nvSpPr>
          <p:cNvPr id="13" name="椭圆 12"/>
          <p:cNvSpPr/>
          <p:nvPr/>
        </p:nvSpPr>
        <p:spPr>
          <a:xfrm>
            <a:off x="4459367" y="1642951"/>
            <a:ext cx="765008" cy="765008"/>
          </a:xfrm>
          <a:prstGeom prst="ellipse">
            <a:avLst/>
          </a:prstGeom>
          <a:no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accent2">
                    <a:lumMod val="75000"/>
                  </a:schemeClr>
                </a:solidFill>
              </a:rPr>
              <a:t>start</a:t>
            </a:r>
            <a:endParaRPr lang="zh-CN" altLang="en-US" sz="1400" b="1" dirty="0">
              <a:solidFill>
                <a:schemeClr val="accent2">
                  <a:lumMod val="75000"/>
                </a:schemeClr>
              </a:solidFill>
            </a:endParaRPr>
          </a:p>
        </p:txBody>
      </p:sp>
      <p:cxnSp>
        <p:nvCxnSpPr>
          <p:cNvPr id="15" name="直接连接符 14"/>
          <p:cNvCxnSpPr>
            <a:stCxn id="6" idx="7"/>
            <a:endCxn id="13" idx="2"/>
          </p:cNvCxnSpPr>
          <p:nvPr/>
        </p:nvCxnSpPr>
        <p:spPr>
          <a:xfrm flipV="1">
            <a:off x="3217747" y="2025455"/>
            <a:ext cx="1241620" cy="613802"/>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17" name="组合 16"/>
          <p:cNvGrpSpPr/>
          <p:nvPr/>
        </p:nvGrpSpPr>
        <p:grpSpPr>
          <a:xfrm>
            <a:off x="5224375" y="3276230"/>
            <a:ext cx="832874" cy="832875"/>
            <a:chOff x="1488310" y="1579494"/>
            <a:chExt cx="1414094" cy="1414094"/>
          </a:xfrm>
        </p:grpSpPr>
        <p:grpSp>
          <p:nvGrpSpPr>
            <p:cNvPr id="18" name="组合 17"/>
            <p:cNvGrpSpPr/>
            <p:nvPr/>
          </p:nvGrpSpPr>
          <p:grpSpPr>
            <a:xfrm>
              <a:off x="1488310" y="1579494"/>
              <a:ext cx="1414094" cy="1414094"/>
              <a:chOff x="3176812" y="2273198"/>
              <a:chExt cx="2641825" cy="2726239"/>
            </a:xfrm>
          </p:grpSpPr>
          <p:sp>
            <p:nvSpPr>
              <p:cNvPr id="20" name="椭圆 19"/>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1" name="椭圆 20"/>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19" name="文本框 18"/>
            <p:cNvSpPr txBox="1"/>
            <p:nvPr/>
          </p:nvSpPr>
          <p:spPr>
            <a:xfrm>
              <a:off x="1518756" y="1770695"/>
              <a:ext cx="1353207" cy="1097371"/>
            </a:xfrm>
            <a:prstGeom prst="rect">
              <a:avLst/>
            </a:prstGeom>
            <a:noFill/>
          </p:spPr>
          <p:txBody>
            <a:bodyPr wrap="none" rtlCol="0">
              <a:spAutoFit/>
            </a:bodyPr>
            <a:lstStyle/>
            <a:p>
              <a:pPr algn="ctr"/>
              <a:r>
                <a:rPr lang="en-US" altLang="zh-CN" sz="3600" dirty="0" smtClean="0">
                  <a:solidFill>
                    <a:schemeClr val="accent2">
                      <a:lumMod val="75000"/>
                    </a:schemeClr>
                  </a:solidFill>
                  <a:latin typeface="方正超粗黑_GBK" panose="03000509000000000000" pitchFamily="65" charset="-122"/>
                  <a:ea typeface="方正超粗黑_GBK" panose="03000509000000000000" pitchFamily="65" charset="-122"/>
                </a:rPr>
                <a:t>02</a:t>
              </a:r>
              <a:endParaRPr lang="zh-CN" altLang="en-US" sz="36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cxnSp>
        <p:nvCxnSpPr>
          <p:cNvPr id="22" name="直接连接符 21"/>
          <p:cNvCxnSpPr>
            <a:stCxn id="6" idx="5"/>
            <a:endCxn id="19" idx="1"/>
          </p:cNvCxnSpPr>
          <p:nvPr/>
        </p:nvCxnSpPr>
        <p:spPr>
          <a:xfrm>
            <a:off x="3217747" y="3228188"/>
            <a:ext cx="2024560" cy="483822"/>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29" name="组合 28"/>
          <p:cNvGrpSpPr/>
          <p:nvPr/>
        </p:nvGrpSpPr>
        <p:grpSpPr>
          <a:xfrm>
            <a:off x="2506845" y="4440566"/>
            <a:ext cx="832874" cy="832875"/>
            <a:chOff x="1488310" y="1579494"/>
            <a:chExt cx="1414094" cy="1414094"/>
          </a:xfrm>
        </p:grpSpPr>
        <p:grpSp>
          <p:nvGrpSpPr>
            <p:cNvPr id="30" name="组合 29"/>
            <p:cNvGrpSpPr/>
            <p:nvPr/>
          </p:nvGrpSpPr>
          <p:grpSpPr>
            <a:xfrm>
              <a:off x="1488310" y="1579494"/>
              <a:ext cx="1414094" cy="1414094"/>
              <a:chOff x="3176812" y="2273198"/>
              <a:chExt cx="2641825" cy="2726239"/>
            </a:xfrm>
          </p:grpSpPr>
          <p:sp>
            <p:nvSpPr>
              <p:cNvPr id="32" name="椭圆 31"/>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3" name="椭圆 32"/>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31" name="文本框 30"/>
            <p:cNvSpPr txBox="1"/>
            <p:nvPr/>
          </p:nvSpPr>
          <p:spPr>
            <a:xfrm>
              <a:off x="1518756" y="1770695"/>
              <a:ext cx="1353207" cy="1097371"/>
            </a:xfrm>
            <a:prstGeom prst="rect">
              <a:avLst/>
            </a:prstGeom>
            <a:noFill/>
          </p:spPr>
          <p:txBody>
            <a:bodyPr wrap="none" rtlCol="0">
              <a:spAutoFit/>
            </a:bodyPr>
            <a:lstStyle/>
            <a:p>
              <a:pPr algn="ctr"/>
              <a:r>
                <a:rPr lang="en-US" altLang="zh-CN" sz="3600" dirty="0" smtClean="0">
                  <a:solidFill>
                    <a:schemeClr val="accent2">
                      <a:lumMod val="75000"/>
                    </a:schemeClr>
                  </a:solidFill>
                  <a:latin typeface="方正超粗黑_GBK" panose="03000509000000000000" pitchFamily="65" charset="-122"/>
                  <a:ea typeface="方正超粗黑_GBK" panose="03000509000000000000" pitchFamily="65" charset="-122"/>
                </a:rPr>
                <a:t>03</a:t>
              </a:r>
              <a:endParaRPr lang="zh-CN" altLang="en-US" sz="36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cxnSp>
        <p:nvCxnSpPr>
          <p:cNvPr id="39" name="直接连接符 38"/>
          <p:cNvCxnSpPr/>
          <p:nvPr/>
        </p:nvCxnSpPr>
        <p:spPr>
          <a:xfrm flipV="1">
            <a:off x="3339719" y="4035175"/>
            <a:ext cx="2006628" cy="750976"/>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grpSp>
        <p:nvGrpSpPr>
          <p:cNvPr id="42" name="组合 41"/>
          <p:cNvGrpSpPr/>
          <p:nvPr/>
        </p:nvGrpSpPr>
        <p:grpSpPr>
          <a:xfrm>
            <a:off x="5321749" y="5098269"/>
            <a:ext cx="832874" cy="832875"/>
            <a:chOff x="1488310" y="1579494"/>
            <a:chExt cx="1414094" cy="1414094"/>
          </a:xfrm>
        </p:grpSpPr>
        <p:grpSp>
          <p:nvGrpSpPr>
            <p:cNvPr id="43" name="组合 42"/>
            <p:cNvGrpSpPr/>
            <p:nvPr/>
          </p:nvGrpSpPr>
          <p:grpSpPr>
            <a:xfrm>
              <a:off x="1488310" y="1579494"/>
              <a:ext cx="1414094" cy="1414094"/>
              <a:chOff x="3176812" y="2273198"/>
              <a:chExt cx="2641825" cy="2726239"/>
            </a:xfrm>
          </p:grpSpPr>
          <p:sp>
            <p:nvSpPr>
              <p:cNvPr id="45" name="椭圆 44"/>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46" name="椭圆 45"/>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sp>
          <p:nvSpPr>
            <p:cNvPr id="44" name="文本框 43"/>
            <p:cNvSpPr txBox="1"/>
            <p:nvPr/>
          </p:nvSpPr>
          <p:spPr>
            <a:xfrm>
              <a:off x="1518756" y="1770695"/>
              <a:ext cx="1353207" cy="1097371"/>
            </a:xfrm>
            <a:prstGeom prst="rect">
              <a:avLst/>
            </a:prstGeom>
            <a:noFill/>
          </p:spPr>
          <p:txBody>
            <a:bodyPr wrap="none" rtlCol="0">
              <a:spAutoFit/>
            </a:bodyPr>
            <a:lstStyle/>
            <a:p>
              <a:pPr algn="ctr"/>
              <a:r>
                <a:rPr lang="en-US" altLang="zh-CN" sz="3600" dirty="0" smtClean="0">
                  <a:solidFill>
                    <a:schemeClr val="accent2">
                      <a:lumMod val="75000"/>
                    </a:schemeClr>
                  </a:solidFill>
                  <a:latin typeface="方正超粗黑_GBK" panose="03000509000000000000" pitchFamily="65" charset="-122"/>
                  <a:ea typeface="方正超粗黑_GBK" panose="03000509000000000000" pitchFamily="65" charset="-122"/>
                </a:rPr>
                <a:t>04</a:t>
              </a:r>
              <a:endParaRPr lang="zh-CN" altLang="en-US" sz="36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cxnSp>
        <p:nvCxnSpPr>
          <p:cNvPr id="47" name="直接连接符 46"/>
          <p:cNvCxnSpPr>
            <a:endCxn id="44" idx="1"/>
          </p:cNvCxnSpPr>
          <p:nvPr/>
        </p:nvCxnSpPr>
        <p:spPr>
          <a:xfrm>
            <a:off x="3217747" y="5191542"/>
            <a:ext cx="2121934" cy="342507"/>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51" name="直接连接符 50"/>
          <p:cNvCxnSpPr/>
          <p:nvPr/>
        </p:nvCxnSpPr>
        <p:spPr>
          <a:xfrm flipV="1">
            <a:off x="4154337" y="5775315"/>
            <a:ext cx="1241620" cy="613802"/>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3348992" y="5939440"/>
            <a:ext cx="765008" cy="765008"/>
          </a:xfrm>
          <a:prstGeom prst="ellipse">
            <a:avLst/>
          </a:prstGeom>
          <a:no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b="1" dirty="0" smtClean="0">
                <a:solidFill>
                  <a:schemeClr val="accent2">
                    <a:lumMod val="75000"/>
                  </a:schemeClr>
                </a:solidFill>
              </a:rPr>
              <a:t>end</a:t>
            </a:r>
            <a:endParaRPr lang="zh-CN" altLang="en-US" sz="1400" b="1" dirty="0">
              <a:solidFill>
                <a:schemeClr val="accent2">
                  <a:lumMod val="75000"/>
                </a:schemeClr>
              </a:solidFill>
            </a:endParaRPr>
          </a:p>
        </p:txBody>
      </p:sp>
      <p:sp>
        <p:nvSpPr>
          <p:cNvPr id="54" name="矩形 53"/>
          <p:cNvSpPr/>
          <p:nvPr/>
        </p:nvSpPr>
        <p:spPr>
          <a:xfrm>
            <a:off x="425683" y="1779560"/>
            <a:ext cx="1955936" cy="2308324"/>
          </a:xfrm>
          <a:prstGeom prst="rect">
            <a:avLst/>
          </a:prstGeom>
        </p:spPr>
        <p:txBody>
          <a:bodyPr wrap="square">
            <a:spAutoFit/>
          </a:bodyPr>
          <a:lstStyle/>
          <a:p>
            <a:pPr algn="just"/>
            <a:r>
              <a:rPr lang="zh-CN" altLang="en-US" dirty="0" smtClean="0">
                <a:solidFill>
                  <a:schemeClr val="accent2">
                    <a:lumMod val="75000"/>
                  </a:schemeClr>
                </a:solidFill>
                <a:latin typeface="Simsun" panose="02010600030101010101" pitchFamily="2" charset="-122"/>
                <a:ea typeface="Simsun" panose="02010600030101010101" pitchFamily="2" charset="-122"/>
              </a:rPr>
              <a:t>头脑</a:t>
            </a:r>
            <a:r>
              <a:rPr lang="zh-CN" altLang="en-US" dirty="0">
                <a:solidFill>
                  <a:schemeClr val="accent2">
                    <a:lumMod val="75000"/>
                  </a:schemeClr>
                </a:solidFill>
                <a:latin typeface="Simsun" panose="02010600030101010101" pitchFamily="2" charset="-122"/>
                <a:ea typeface="Simsun" panose="02010600030101010101" pitchFamily="2" charset="-122"/>
              </a:rPr>
              <a:t>风暴法 </a:t>
            </a:r>
            <a:r>
              <a:rPr lang="en-US" altLang="zh-CN" dirty="0">
                <a:solidFill>
                  <a:schemeClr val="accent2">
                    <a:lumMod val="75000"/>
                  </a:schemeClr>
                </a:solidFill>
                <a:latin typeface="Simsun" panose="02010600030101010101" pitchFamily="2" charset="-122"/>
                <a:ea typeface="Simsun" panose="02010600030101010101" pitchFamily="2" charset="-122"/>
              </a:rPr>
              <a:t>(Brainstorming) </a:t>
            </a:r>
            <a:r>
              <a:rPr lang="zh-CN" altLang="en-US" dirty="0">
                <a:solidFill>
                  <a:schemeClr val="accent2">
                    <a:lumMod val="75000"/>
                  </a:schemeClr>
                </a:solidFill>
                <a:latin typeface="Simsun" panose="02010600030101010101" pitchFamily="2" charset="-122"/>
                <a:ea typeface="Simsun" panose="02010600030101010101" pitchFamily="2" charset="-122"/>
              </a:rPr>
              <a:t>又称智力激励法，是由美国创造学家 </a:t>
            </a:r>
            <a:r>
              <a:rPr lang="en-US" altLang="zh-CN" dirty="0">
                <a:solidFill>
                  <a:schemeClr val="accent2">
                    <a:lumMod val="75000"/>
                  </a:schemeClr>
                </a:solidFill>
                <a:latin typeface="Simsun" panose="02010600030101010101" pitchFamily="2" charset="-122"/>
                <a:ea typeface="Simsun" panose="02010600030101010101" pitchFamily="2" charset="-122"/>
              </a:rPr>
              <a:t>A.F </a:t>
            </a:r>
            <a:r>
              <a:rPr lang="en-US" altLang="zh-CN" dirty="0" err="1">
                <a:solidFill>
                  <a:schemeClr val="accent2">
                    <a:lumMod val="75000"/>
                  </a:schemeClr>
                </a:solidFill>
                <a:latin typeface="Simsun" panose="02010600030101010101" pitchFamily="2" charset="-122"/>
                <a:ea typeface="Simsun" panose="02010600030101010101" pitchFamily="2" charset="-122"/>
              </a:rPr>
              <a:t>Osbotn</a:t>
            </a:r>
            <a:r>
              <a:rPr lang="en-US" altLang="zh-CN" dirty="0">
                <a:solidFill>
                  <a:schemeClr val="accent2">
                    <a:lumMod val="75000"/>
                  </a:schemeClr>
                </a:solidFill>
                <a:latin typeface="Simsun" panose="02010600030101010101" pitchFamily="2" charset="-122"/>
                <a:ea typeface="Simsun" panose="02010600030101010101" pitchFamily="2" charset="-122"/>
              </a:rPr>
              <a:t> </a:t>
            </a:r>
            <a:r>
              <a:rPr lang="zh-CN" altLang="en-US" dirty="0" smtClean="0">
                <a:solidFill>
                  <a:schemeClr val="accent2">
                    <a:lumMod val="75000"/>
                  </a:schemeClr>
                </a:solidFill>
                <a:latin typeface="Simsun" panose="02010600030101010101" pitchFamily="2" charset="-122"/>
                <a:ea typeface="Simsun" panose="02010600030101010101" pitchFamily="2" charset="-122"/>
              </a:rPr>
              <a:t>提出的</a:t>
            </a:r>
            <a:r>
              <a:rPr lang="zh-CN" altLang="en-US" dirty="0">
                <a:solidFill>
                  <a:schemeClr val="accent2">
                    <a:lumMod val="75000"/>
                  </a:schemeClr>
                </a:solidFill>
                <a:latin typeface="Simsun" panose="02010600030101010101" pitchFamily="2" charset="-122"/>
                <a:ea typeface="Simsun" panose="02010600030101010101" pitchFamily="2" charset="-122"/>
              </a:rPr>
              <a:t>一种激发创造性思维的方法。</a:t>
            </a:r>
            <a:endParaRPr lang="zh-CN" altLang="en-US" dirty="0"/>
          </a:p>
        </p:txBody>
      </p:sp>
      <p:sp>
        <p:nvSpPr>
          <p:cNvPr id="56" name="矩形 55"/>
          <p:cNvSpPr/>
          <p:nvPr/>
        </p:nvSpPr>
        <p:spPr>
          <a:xfrm>
            <a:off x="5250135" y="2456256"/>
            <a:ext cx="1370565" cy="646331"/>
          </a:xfrm>
          <a:prstGeom prst="rect">
            <a:avLst/>
          </a:prstGeom>
        </p:spPr>
        <p:txBody>
          <a:bodyPr wrap="square">
            <a:spAutoFit/>
          </a:bodyPr>
          <a:lstStyle/>
          <a:p>
            <a:r>
              <a:rPr lang="zh-CN" altLang="en-US" smtClean="0">
                <a:solidFill>
                  <a:schemeClr val="accent2">
                    <a:lumMod val="75000"/>
                  </a:schemeClr>
                </a:solidFill>
                <a:latin typeface="Simsun" panose="02010600030101010101" pitchFamily="2" charset="-122"/>
                <a:ea typeface="Simsun" panose="02010600030101010101" pitchFamily="2" charset="-122"/>
              </a:rPr>
              <a:t>激发创造性思维</a:t>
            </a:r>
            <a:endParaRPr lang="zh-CN" altLang="en-US" dirty="0"/>
          </a:p>
        </p:txBody>
      </p:sp>
      <p:sp>
        <p:nvSpPr>
          <p:cNvPr id="58" name="矩形 57"/>
          <p:cNvSpPr/>
          <p:nvPr/>
        </p:nvSpPr>
        <p:spPr>
          <a:xfrm>
            <a:off x="428428" y="4574986"/>
            <a:ext cx="1909426" cy="1200329"/>
          </a:xfrm>
          <a:prstGeom prst="rect">
            <a:avLst/>
          </a:prstGeom>
        </p:spPr>
        <p:txBody>
          <a:bodyPr wrap="square">
            <a:spAutoFit/>
          </a:bodyPr>
          <a:lstStyle/>
          <a:p>
            <a:r>
              <a:rPr lang="en-US" altLang="zh-CN" i="0" dirty="0" smtClean="0">
                <a:solidFill>
                  <a:schemeClr val="accent2">
                    <a:lumMod val="75000"/>
                  </a:schemeClr>
                </a:solidFill>
                <a:effectLst/>
                <a:latin typeface="Simsun" panose="02010600030101010101" pitchFamily="2" charset="-122"/>
                <a:ea typeface="Simsun" panose="02010600030101010101" pitchFamily="2" charset="-122"/>
              </a:rPr>
              <a:t>5-10</a:t>
            </a:r>
            <a:r>
              <a:rPr lang="zh-CN" altLang="en-US" i="0" dirty="0" smtClean="0">
                <a:solidFill>
                  <a:schemeClr val="accent2">
                    <a:lumMod val="75000"/>
                  </a:schemeClr>
                </a:solidFill>
                <a:effectLst/>
                <a:latin typeface="Simsun" panose="02010600030101010101" pitchFamily="2" charset="-122"/>
                <a:ea typeface="Simsun" panose="02010600030101010101" pitchFamily="2" charset="-122"/>
              </a:rPr>
              <a:t>人，</a:t>
            </a:r>
            <a:r>
              <a:rPr lang="en-US" altLang="zh-CN" i="0" dirty="0" smtClean="0">
                <a:solidFill>
                  <a:schemeClr val="accent2">
                    <a:lumMod val="75000"/>
                  </a:schemeClr>
                </a:solidFill>
                <a:effectLst/>
                <a:latin typeface="Simsun" panose="02010600030101010101" pitchFamily="2" charset="-122"/>
                <a:ea typeface="Simsun" panose="02010600030101010101" pitchFamily="2" charset="-122"/>
              </a:rPr>
              <a:t>30</a:t>
            </a:r>
            <a:r>
              <a:rPr lang="zh-CN" altLang="en-US" i="0" dirty="0" smtClean="0">
                <a:solidFill>
                  <a:schemeClr val="accent2">
                    <a:lumMod val="75000"/>
                  </a:schemeClr>
                </a:solidFill>
                <a:effectLst/>
                <a:latin typeface="Simsun" panose="02010600030101010101" pitchFamily="2" charset="-122"/>
                <a:ea typeface="Simsun" panose="02010600030101010101" pitchFamily="2" charset="-122"/>
              </a:rPr>
              <a:t>分钟左右</a:t>
            </a:r>
            <a:endParaRPr lang="en-US" altLang="zh-CN" i="0" dirty="0" smtClean="0">
              <a:solidFill>
                <a:schemeClr val="accent2">
                  <a:lumMod val="75000"/>
                </a:schemeClr>
              </a:solidFill>
              <a:effectLst/>
              <a:latin typeface="Simsun" panose="02010600030101010101" pitchFamily="2" charset="-122"/>
              <a:ea typeface="Simsun" panose="02010600030101010101" pitchFamily="2" charset="-122"/>
            </a:endParaRPr>
          </a:p>
          <a:p>
            <a:r>
              <a:rPr lang="zh-CN" altLang="en-US" dirty="0" smtClean="0">
                <a:solidFill>
                  <a:schemeClr val="accent2">
                    <a:lumMod val="75000"/>
                  </a:schemeClr>
                </a:solidFill>
                <a:latin typeface="Simsun" panose="02010600030101010101" pitchFamily="2" charset="-122"/>
                <a:ea typeface="Simsun" panose="02010600030101010101" pitchFamily="2" charset="-122"/>
              </a:rPr>
              <a:t>轮流发表意见，不做评价</a:t>
            </a:r>
            <a:endParaRPr lang="zh-CN" altLang="en-US" dirty="0"/>
          </a:p>
        </p:txBody>
      </p:sp>
      <p:sp>
        <p:nvSpPr>
          <p:cNvPr id="60" name="矩形 59"/>
          <p:cNvSpPr/>
          <p:nvPr/>
        </p:nvSpPr>
        <p:spPr>
          <a:xfrm>
            <a:off x="5185433" y="4420661"/>
            <a:ext cx="1850590" cy="646331"/>
          </a:xfrm>
          <a:prstGeom prst="rect">
            <a:avLst/>
          </a:prstGeom>
        </p:spPr>
        <p:txBody>
          <a:bodyPr wrap="square">
            <a:spAutoFit/>
          </a:bodyPr>
          <a:lstStyle/>
          <a:p>
            <a:r>
              <a:rPr lang="zh-CN" altLang="en-US" i="0" dirty="0" smtClean="0">
                <a:solidFill>
                  <a:schemeClr val="accent2">
                    <a:lumMod val="75000"/>
                  </a:schemeClr>
                </a:solidFill>
                <a:effectLst/>
                <a:latin typeface="Simsun" panose="02010600030101010101" pitchFamily="2" charset="-122"/>
                <a:ea typeface="Simsun" panose="02010600030101010101" pitchFamily="2" charset="-122"/>
              </a:rPr>
              <a:t>领导者、</a:t>
            </a:r>
            <a:r>
              <a:rPr lang="zh-CN" altLang="en-US" dirty="0" smtClean="0">
                <a:solidFill>
                  <a:schemeClr val="accent2">
                    <a:lumMod val="75000"/>
                  </a:schemeClr>
                </a:solidFill>
                <a:latin typeface="Simsun" panose="02010600030101010101" pitchFamily="2" charset="-122"/>
                <a:ea typeface="Simsun" panose="02010600030101010101" pitchFamily="2" charset="-122"/>
              </a:rPr>
              <a:t>记录者、</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r>
              <a:rPr lang="zh-CN" altLang="en-US" dirty="0" smtClean="0">
                <a:solidFill>
                  <a:schemeClr val="accent2">
                    <a:lumMod val="75000"/>
                  </a:schemeClr>
                </a:solidFill>
                <a:latin typeface="Simsun" panose="02010600030101010101" pitchFamily="2" charset="-122"/>
                <a:ea typeface="Simsun" panose="02010600030101010101" pitchFamily="2" charset="-122"/>
              </a:rPr>
              <a:t>小组成员</a:t>
            </a:r>
            <a:endParaRPr lang="en-US" altLang="zh-CN" dirty="0"/>
          </a:p>
        </p:txBody>
      </p:sp>
      <p:pic>
        <p:nvPicPr>
          <p:cNvPr id="2" name="图片 1"/>
          <p:cNvPicPr>
            <a:picLocks noChangeAspect="1"/>
          </p:cNvPicPr>
          <p:nvPr/>
        </p:nvPicPr>
        <p:blipFill rotWithShape="1">
          <a:blip r:embed="rId2">
            <a:clrChange>
              <a:clrFrom>
                <a:srgbClr val="FFFFFF"/>
              </a:clrFrom>
              <a:clrTo>
                <a:srgbClr val="FFFFFF">
                  <a:alpha val="0"/>
                </a:srgbClr>
              </a:clrTo>
            </a:clrChange>
          </a:blip>
          <a:srcRect b="8507"/>
          <a:stretch/>
        </p:blipFill>
        <p:spPr>
          <a:xfrm>
            <a:off x="7430374" y="1273954"/>
            <a:ext cx="4555650" cy="3010934"/>
          </a:xfrm>
          <a:prstGeom prst="rect">
            <a:avLst/>
          </a:prstGeom>
        </p:spPr>
      </p:pic>
      <p:cxnSp>
        <p:nvCxnSpPr>
          <p:cNvPr id="48" name="直接连接符 25"/>
          <p:cNvCxnSpPr/>
          <p:nvPr/>
        </p:nvCxnSpPr>
        <p:spPr>
          <a:xfrm>
            <a:off x="7216902" y="1273954"/>
            <a:ext cx="0" cy="3101128"/>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pic>
        <p:nvPicPr>
          <p:cNvPr id="23" name="图片 22"/>
          <p:cNvPicPr>
            <a:picLocks noChangeAspect="1"/>
          </p:cNvPicPr>
          <p:nvPr/>
        </p:nvPicPr>
        <p:blipFill rotWithShape="1">
          <a:blip r:embed="rId3"/>
          <a:srcRect b="8941"/>
          <a:stretch/>
        </p:blipFill>
        <p:spPr>
          <a:xfrm>
            <a:off x="9708199" y="4825237"/>
            <a:ext cx="1717431" cy="1563880"/>
          </a:xfrm>
          <a:prstGeom prst="rect">
            <a:avLst/>
          </a:prstGeom>
        </p:spPr>
      </p:pic>
    </p:spTree>
    <p:extLst>
      <p:ext uri="{BB962C8B-B14F-4D97-AF65-F5344CB8AC3E}">
        <p14:creationId xmlns:p14="http://schemas.microsoft.com/office/powerpoint/2010/main" val="672653791"/>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4999284" y="2233980"/>
            <a:ext cx="1988083" cy="1988085"/>
            <a:chOff x="3176812" y="2273198"/>
            <a:chExt cx="2641825" cy="2726239"/>
          </a:xfrm>
        </p:grpSpPr>
        <p:sp>
          <p:nvSpPr>
            <p:cNvPr id="5" name="椭圆 4"/>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6" name="椭圆 5"/>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aphicFrame>
        <p:nvGraphicFramePr>
          <p:cNvPr id="12" name="图表 11"/>
          <p:cNvGraphicFramePr/>
          <p:nvPr>
            <p:extLst>
              <p:ext uri="{D42A27DB-BD31-4B8C-83A1-F6EECF244321}">
                <p14:modId xmlns:p14="http://schemas.microsoft.com/office/powerpoint/2010/main" val="1099815831"/>
              </p:ext>
            </p:extLst>
          </p:nvPr>
        </p:nvGraphicFramePr>
        <p:xfrm>
          <a:off x="4667643" y="1809598"/>
          <a:ext cx="5565195" cy="3942829"/>
        </p:xfrm>
        <a:graphic>
          <a:graphicData uri="http://schemas.openxmlformats.org/drawingml/2006/chart">
            <c:chart xmlns:c="http://schemas.openxmlformats.org/drawingml/2006/chart" xmlns:r="http://schemas.openxmlformats.org/officeDocument/2006/relationships" r:id="rId2"/>
          </a:graphicData>
        </a:graphic>
      </p:graphicFrame>
      <p:sp>
        <p:nvSpPr>
          <p:cNvPr id="13" name="等腰三角形 12"/>
          <p:cNvSpPr/>
          <p:nvPr/>
        </p:nvSpPr>
        <p:spPr>
          <a:xfrm rot="19379487">
            <a:off x="4834978" y="1838537"/>
            <a:ext cx="357187" cy="300038"/>
          </a:xfrm>
          <a:prstGeom prst="triangle">
            <a:avLst/>
          </a:prstGeom>
          <a:solidFill>
            <a:srgbClr val="C55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p:nvSpPr>
        <p:spPr>
          <a:xfrm rot="2302763">
            <a:off x="6808774" y="1855475"/>
            <a:ext cx="357187" cy="300038"/>
          </a:xfrm>
          <a:prstGeom prst="triangle">
            <a:avLst/>
          </a:prstGeom>
          <a:solidFill>
            <a:srgbClr val="C55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p:nvSpPr>
        <p:spPr>
          <a:xfrm rot="6098573">
            <a:off x="7326368" y="3606362"/>
            <a:ext cx="357187" cy="300038"/>
          </a:xfrm>
          <a:prstGeom prst="triangle">
            <a:avLst/>
          </a:prstGeom>
          <a:solidFill>
            <a:srgbClr val="C55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p:nvSpPr>
        <p:spPr>
          <a:xfrm rot="10800000">
            <a:off x="5814729" y="4693580"/>
            <a:ext cx="357187" cy="300038"/>
          </a:xfrm>
          <a:prstGeom prst="triangle">
            <a:avLst/>
          </a:prstGeom>
          <a:solidFill>
            <a:srgbClr val="C55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p:nvSpPr>
        <p:spPr>
          <a:xfrm rot="15060171">
            <a:off x="4386046" y="3628206"/>
            <a:ext cx="357187" cy="300038"/>
          </a:xfrm>
          <a:prstGeom prst="triangle">
            <a:avLst/>
          </a:prstGeom>
          <a:solidFill>
            <a:srgbClr val="C55A1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Freeform 337"/>
          <p:cNvSpPr>
            <a:spLocks noEditPoints="1"/>
          </p:cNvSpPr>
          <p:nvPr/>
        </p:nvSpPr>
        <p:spPr bwMode="auto">
          <a:xfrm>
            <a:off x="3955387" y="1081855"/>
            <a:ext cx="877781" cy="850772"/>
          </a:xfrm>
          <a:custGeom>
            <a:avLst/>
            <a:gdLst>
              <a:gd name="T0" fmla="*/ 123 w 260"/>
              <a:gd name="T1" fmla="*/ 192 h 253"/>
              <a:gd name="T2" fmla="*/ 203 w 260"/>
              <a:gd name="T3" fmla="*/ 81 h 253"/>
              <a:gd name="T4" fmla="*/ 214 w 260"/>
              <a:gd name="T5" fmla="*/ 43 h 253"/>
              <a:gd name="T6" fmla="*/ 209 w 260"/>
              <a:gd name="T7" fmla="*/ 30 h 253"/>
              <a:gd name="T8" fmla="*/ 164 w 260"/>
              <a:gd name="T9" fmla="*/ 14 h 253"/>
              <a:gd name="T10" fmla="*/ 168 w 260"/>
              <a:gd name="T11" fmla="*/ 3 h 253"/>
              <a:gd name="T12" fmla="*/ 156 w 260"/>
              <a:gd name="T13" fmla="*/ 8 h 253"/>
              <a:gd name="T14" fmla="*/ 105 w 260"/>
              <a:gd name="T15" fmla="*/ 8 h 253"/>
              <a:gd name="T16" fmla="*/ 92 w 260"/>
              <a:gd name="T17" fmla="*/ 5 h 253"/>
              <a:gd name="T18" fmla="*/ 58 w 260"/>
              <a:gd name="T19" fmla="*/ 38 h 253"/>
              <a:gd name="T20" fmla="*/ 51 w 260"/>
              <a:gd name="T21" fmla="*/ 30 h 253"/>
              <a:gd name="T22" fmla="*/ 48 w 260"/>
              <a:gd name="T23" fmla="*/ 44 h 253"/>
              <a:gd name="T24" fmla="*/ 51 w 260"/>
              <a:gd name="T25" fmla="*/ 87 h 253"/>
              <a:gd name="T26" fmla="*/ 0 w 260"/>
              <a:gd name="T27" fmla="*/ 112 h 253"/>
              <a:gd name="T28" fmla="*/ 17 w 260"/>
              <a:gd name="T29" fmla="*/ 178 h 253"/>
              <a:gd name="T30" fmla="*/ 82 w 260"/>
              <a:gd name="T31" fmla="*/ 242 h 253"/>
              <a:gd name="T32" fmla="*/ 191 w 260"/>
              <a:gd name="T33" fmla="*/ 233 h 253"/>
              <a:gd name="T34" fmla="*/ 247 w 260"/>
              <a:gd name="T35" fmla="*/ 177 h 253"/>
              <a:gd name="T36" fmla="*/ 259 w 260"/>
              <a:gd name="T37" fmla="*/ 108 h 253"/>
              <a:gd name="T38" fmla="*/ 133 w 260"/>
              <a:gd name="T39" fmla="*/ 75 h 253"/>
              <a:gd name="T40" fmla="*/ 71 w 260"/>
              <a:gd name="T41" fmla="*/ 96 h 253"/>
              <a:gd name="T42" fmla="*/ 195 w 260"/>
              <a:gd name="T43" fmla="*/ 113 h 253"/>
              <a:gd name="T44" fmla="*/ 187 w 260"/>
              <a:gd name="T45" fmla="*/ 143 h 253"/>
              <a:gd name="T46" fmla="*/ 118 w 260"/>
              <a:gd name="T47" fmla="*/ 149 h 253"/>
              <a:gd name="T48" fmla="*/ 108 w 260"/>
              <a:gd name="T49" fmla="*/ 140 h 253"/>
              <a:gd name="T50" fmla="*/ 100 w 260"/>
              <a:gd name="T51" fmla="*/ 127 h 253"/>
              <a:gd name="T52" fmla="*/ 114 w 260"/>
              <a:gd name="T53" fmla="*/ 113 h 253"/>
              <a:gd name="T54" fmla="*/ 125 w 260"/>
              <a:gd name="T55" fmla="*/ 121 h 253"/>
              <a:gd name="T56" fmla="*/ 113 w 260"/>
              <a:gd name="T57" fmla="*/ 122 h 253"/>
              <a:gd name="T58" fmla="*/ 116 w 260"/>
              <a:gd name="T59" fmla="*/ 129 h 253"/>
              <a:gd name="T60" fmla="*/ 131 w 260"/>
              <a:gd name="T61" fmla="*/ 143 h 253"/>
              <a:gd name="T62" fmla="*/ 122 w 260"/>
              <a:gd name="T63" fmla="*/ 161 h 253"/>
              <a:gd name="T64" fmla="*/ 100 w 260"/>
              <a:gd name="T65" fmla="*/ 151 h 253"/>
              <a:gd name="T66" fmla="*/ 113 w 260"/>
              <a:gd name="T67" fmla="*/ 155 h 253"/>
              <a:gd name="T68" fmla="*/ 118 w 260"/>
              <a:gd name="T69" fmla="*/ 151 h 253"/>
              <a:gd name="T70" fmla="*/ 42 w 260"/>
              <a:gd name="T71" fmla="*/ 162 h 253"/>
              <a:gd name="T72" fmla="*/ 26 w 260"/>
              <a:gd name="T73" fmla="*/ 161 h 253"/>
              <a:gd name="T74" fmla="*/ 14 w 260"/>
              <a:gd name="T75" fmla="*/ 139 h 253"/>
              <a:gd name="T76" fmla="*/ 23 w 260"/>
              <a:gd name="T77" fmla="*/ 117 h 253"/>
              <a:gd name="T78" fmla="*/ 42 w 260"/>
              <a:gd name="T79" fmla="*/ 113 h 253"/>
              <a:gd name="T80" fmla="*/ 47 w 260"/>
              <a:gd name="T81" fmla="*/ 121 h 253"/>
              <a:gd name="T82" fmla="*/ 31 w 260"/>
              <a:gd name="T83" fmla="*/ 125 h 253"/>
              <a:gd name="T84" fmla="*/ 34 w 260"/>
              <a:gd name="T85" fmla="*/ 155 h 253"/>
              <a:gd name="T86" fmla="*/ 52 w 260"/>
              <a:gd name="T87" fmla="*/ 153 h 253"/>
              <a:gd name="T88" fmla="*/ 69 w 260"/>
              <a:gd name="T89" fmla="*/ 146 h 253"/>
              <a:gd name="T90" fmla="*/ 84 w 260"/>
              <a:gd name="T91" fmla="*/ 216 h 253"/>
              <a:gd name="T92" fmla="*/ 192 w 260"/>
              <a:gd name="T93" fmla="*/ 200 h 253"/>
              <a:gd name="T94" fmla="*/ 242 w 260"/>
              <a:gd name="T95" fmla="*/ 148 h 253"/>
              <a:gd name="T96" fmla="*/ 227 w 260"/>
              <a:gd name="T97" fmla="*/ 162 h 253"/>
              <a:gd name="T98" fmla="*/ 208 w 260"/>
              <a:gd name="T99" fmla="*/ 156 h 253"/>
              <a:gd name="T100" fmla="*/ 204 w 260"/>
              <a:gd name="T101" fmla="*/ 127 h 253"/>
              <a:gd name="T102" fmla="*/ 224 w 260"/>
              <a:gd name="T103" fmla="*/ 113 h 253"/>
              <a:gd name="T104" fmla="*/ 240 w 260"/>
              <a:gd name="T105" fmla="*/ 124 h 253"/>
              <a:gd name="T106" fmla="*/ 227 w 260"/>
              <a:gd name="T107" fmla="*/ 124 h 253"/>
              <a:gd name="T108" fmla="*/ 217 w 260"/>
              <a:gd name="T109" fmla="*/ 129 h 253"/>
              <a:gd name="T110" fmla="*/ 220 w 260"/>
              <a:gd name="T111" fmla="*/ 155 h 253"/>
              <a:gd name="T112" fmla="*/ 229 w 260"/>
              <a:gd name="T113" fmla="*/ 147 h 253"/>
              <a:gd name="T114" fmla="*/ 77 w 260"/>
              <a:gd name="T115" fmla="*/ 135 h 253"/>
              <a:gd name="T116" fmla="*/ 77 w 260"/>
              <a:gd name="T117" fmla="*/ 135 h 253"/>
              <a:gd name="T118" fmla="*/ 91 w 260"/>
              <a:gd name="T119" fmla="*/ 181 h 253"/>
              <a:gd name="T120" fmla="*/ 174 w 260"/>
              <a:gd name="T121" fmla="*/ 196 h 2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60" h="253">
                <a:moveTo>
                  <a:pt x="117" y="220"/>
                </a:moveTo>
                <a:lnTo>
                  <a:pt x="130" y="213"/>
                </a:lnTo>
                <a:lnTo>
                  <a:pt x="143" y="220"/>
                </a:lnTo>
                <a:lnTo>
                  <a:pt x="140" y="205"/>
                </a:lnTo>
                <a:lnTo>
                  <a:pt x="151" y="195"/>
                </a:lnTo>
                <a:lnTo>
                  <a:pt x="136" y="192"/>
                </a:lnTo>
                <a:lnTo>
                  <a:pt x="130" y="181"/>
                </a:lnTo>
                <a:lnTo>
                  <a:pt x="123" y="192"/>
                </a:lnTo>
                <a:lnTo>
                  <a:pt x="109" y="195"/>
                </a:lnTo>
                <a:lnTo>
                  <a:pt x="120" y="205"/>
                </a:lnTo>
                <a:lnTo>
                  <a:pt x="117" y="220"/>
                </a:lnTo>
                <a:close/>
                <a:moveTo>
                  <a:pt x="239" y="96"/>
                </a:moveTo>
                <a:lnTo>
                  <a:pt x="216" y="96"/>
                </a:lnTo>
                <a:lnTo>
                  <a:pt x="216" y="96"/>
                </a:lnTo>
                <a:lnTo>
                  <a:pt x="209" y="87"/>
                </a:lnTo>
                <a:lnTo>
                  <a:pt x="203" y="81"/>
                </a:lnTo>
                <a:lnTo>
                  <a:pt x="185" y="69"/>
                </a:lnTo>
                <a:lnTo>
                  <a:pt x="205" y="43"/>
                </a:lnTo>
                <a:lnTo>
                  <a:pt x="205" y="43"/>
                </a:lnTo>
                <a:lnTo>
                  <a:pt x="207" y="44"/>
                </a:lnTo>
                <a:lnTo>
                  <a:pt x="209" y="44"/>
                </a:lnTo>
                <a:lnTo>
                  <a:pt x="209" y="44"/>
                </a:lnTo>
                <a:lnTo>
                  <a:pt x="212" y="44"/>
                </a:lnTo>
                <a:lnTo>
                  <a:pt x="214" y="43"/>
                </a:lnTo>
                <a:lnTo>
                  <a:pt x="216" y="40"/>
                </a:lnTo>
                <a:lnTo>
                  <a:pt x="216" y="38"/>
                </a:lnTo>
                <a:lnTo>
                  <a:pt x="216" y="38"/>
                </a:lnTo>
                <a:lnTo>
                  <a:pt x="216" y="35"/>
                </a:lnTo>
                <a:lnTo>
                  <a:pt x="214" y="33"/>
                </a:lnTo>
                <a:lnTo>
                  <a:pt x="212" y="31"/>
                </a:lnTo>
                <a:lnTo>
                  <a:pt x="209" y="30"/>
                </a:lnTo>
                <a:lnTo>
                  <a:pt x="209" y="30"/>
                </a:lnTo>
                <a:lnTo>
                  <a:pt x="207" y="31"/>
                </a:lnTo>
                <a:lnTo>
                  <a:pt x="204" y="33"/>
                </a:lnTo>
                <a:lnTo>
                  <a:pt x="203" y="35"/>
                </a:lnTo>
                <a:lnTo>
                  <a:pt x="203" y="38"/>
                </a:lnTo>
                <a:lnTo>
                  <a:pt x="203" y="38"/>
                </a:lnTo>
                <a:lnTo>
                  <a:pt x="203" y="39"/>
                </a:lnTo>
                <a:lnTo>
                  <a:pt x="169" y="43"/>
                </a:lnTo>
                <a:lnTo>
                  <a:pt x="164" y="14"/>
                </a:lnTo>
                <a:lnTo>
                  <a:pt x="164" y="14"/>
                </a:lnTo>
                <a:lnTo>
                  <a:pt x="166" y="14"/>
                </a:lnTo>
                <a:lnTo>
                  <a:pt x="169" y="12"/>
                </a:lnTo>
                <a:lnTo>
                  <a:pt x="170" y="10"/>
                </a:lnTo>
                <a:lnTo>
                  <a:pt x="170" y="8"/>
                </a:lnTo>
                <a:lnTo>
                  <a:pt x="170" y="8"/>
                </a:lnTo>
                <a:lnTo>
                  <a:pt x="170" y="5"/>
                </a:lnTo>
                <a:lnTo>
                  <a:pt x="168" y="3"/>
                </a:lnTo>
                <a:lnTo>
                  <a:pt x="166" y="1"/>
                </a:lnTo>
                <a:lnTo>
                  <a:pt x="164" y="0"/>
                </a:lnTo>
                <a:lnTo>
                  <a:pt x="164" y="0"/>
                </a:lnTo>
                <a:lnTo>
                  <a:pt x="160" y="1"/>
                </a:lnTo>
                <a:lnTo>
                  <a:pt x="159" y="3"/>
                </a:lnTo>
                <a:lnTo>
                  <a:pt x="157" y="5"/>
                </a:lnTo>
                <a:lnTo>
                  <a:pt x="156" y="8"/>
                </a:lnTo>
                <a:lnTo>
                  <a:pt x="156" y="8"/>
                </a:lnTo>
                <a:lnTo>
                  <a:pt x="156" y="10"/>
                </a:lnTo>
                <a:lnTo>
                  <a:pt x="159" y="13"/>
                </a:lnTo>
                <a:lnTo>
                  <a:pt x="131" y="38"/>
                </a:lnTo>
                <a:lnTo>
                  <a:pt x="104" y="13"/>
                </a:lnTo>
                <a:lnTo>
                  <a:pt x="104" y="13"/>
                </a:lnTo>
                <a:lnTo>
                  <a:pt x="105" y="10"/>
                </a:lnTo>
                <a:lnTo>
                  <a:pt x="105" y="8"/>
                </a:lnTo>
                <a:lnTo>
                  <a:pt x="105" y="8"/>
                </a:lnTo>
                <a:lnTo>
                  <a:pt x="105" y="5"/>
                </a:lnTo>
                <a:lnTo>
                  <a:pt x="103" y="3"/>
                </a:lnTo>
                <a:lnTo>
                  <a:pt x="101" y="1"/>
                </a:lnTo>
                <a:lnTo>
                  <a:pt x="99" y="0"/>
                </a:lnTo>
                <a:lnTo>
                  <a:pt x="99" y="0"/>
                </a:lnTo>
                <a:lnTo>
                  <a:pt x="96" y="1"/>
                </a:lnTo>
                <a:lnTo>
                  <a:pt x="94" y="3"/>
                </a:lnTo>
                <a:lnTo>
                  <a:pt x="92" y="5"/>
                </a:lnTo>
                <a:lnTo>
                  <a:pt x="91" y="8"/>
                </a:lnTo>
                <a:lnTo>
                  <a:pt x="91" y="8"/>
                </a:lnTo>
                <a:lnTo>
                  <a:pt x="92" y="10"/>
                </a:lnTo>
                <a:lnTo>
                  <a:pt x="94" y="12"/>
                </a:lnTo>
                <a:lnTo>
                  <a:pt x="95" y="14"/>
                </a:lnTo>
                <a:lnTo>
                  <a:pt x="97" y="14"/>
                </a:lnTo>
                <a:lnTo>
                  <a:pt x="92" y="43"/>
                </a:lnTo>
                <a:lnTo>
                  <a:pt x="58" y="38"/>
                </a:lnTo>
                <a:lnTo>
                  <a:pt x="58" y="38"/>
                </a:lnTo>
                <a:lnTo>
                  <a:pt x="58" y="38"/>
                </a:lnTo>
                <a:lnTo>
                  <a:pt x="58" y="38"/>
                </a:lnTo>
                <a:lnTo>
                  <a:pt x="57" y="34"/>
                </a:lnTo>
                <a:lnTo>
                  <a:pt x="56" y="33"/>
                </a:lnTo>
                <a:lnTo>
                  <a:pt x="53" y="31"/>
                </a:lnTo>
                <a:lnTo>
                  <a:pt x="51" y="30"/>
                </a:lnTo>
                <a:lnTo>
                  <a:pt x="51" y="30"/>
                </a:lnTo>
                <a:lnTo>
                  <a:pt x="48" y="31"/>
                </a:lnTo>
                <a:lnTo>
                  <a:pt x="45" y="33"/>
                </a:lnTo>
                <a:lnTo>
                  <a:pt x="44" y="34"/>
                </a:lnTo>
                <a:lnTo>
                  <a:pt x="44" y="38"/>
                </a:lnTo>
                <a:lnTo>
                  <a:pt x="44" y="38"/>
                </a:lnTo>
                <a:lnTo>
                  <a:pt x="44" y="40"/>
                </a:lnTo>
                <a:lnTo>
                  <a:pt x="45" y="42"/>
                </a:lnTo>
                <a:lnTo>
                  <a:pt x="48" y="44"/>
                </a:lnTo>
                <a:lnTo>
                  <a:pt x="51" y="44"/>
                </a:lnTo>
                <a:lnTo>
                  <a:pt x="51" y="44"/>
                </a:lnTo>
                <a:lnTo>
                  <a:pt x="53" y="44"/>
                </a:lnTo>
                <a:lnTo>
                  <a:pt x="56" y="42"/>
                </a:lnTo>
                <a:lnTo>
                  <a:pt x="75" y="68"/>
                </a:lnTo>
                <a:lnTo>
                  <a:pt x="75" y="68"/>
                </a:lnTo>
                <a:lnTo>
                  <a:pt x="57" y="81"/>
                </a:lnTo>
                <a:lnTo>
                  <a:pt x="51" y="87"/>
                </a:lnTo>
                <a:lnTo>
                  <a:pt x="43" y="96"/>
                </a:lnTo>
                <a:lnTo>
                  <a:pt x="21" y="96"/>
                </a:lnTo>
                <a:lnTo>
                  <a:pt x="21" y="96"/>
                </a:lnTo>
                <a:lnTo>
                  <a:pt x="17" y="96"/>
                </a:lnTo>
                <a:lnTo>
                  <a:pt x="13" y="98"/>
                </a:lnTo>
                <a:lnTo>
                  <a:pt x="5" y="101"/>
                </a:lnTo>
                <a:lnTo>
                  <a:pt x="1" y="108"/>
                </a:lnTo>
                <a:lnTo>
                  <a:pt x="0" y="112"/>
                </a:lnTo>
                <a:lnTo>
                  <a:pt x="0" y="117"/>
                </a:lnTo>
                <a:lnTo>
                  <a:pt x="0" y="159"/>
                </a:lnTo>
                <a:lnTo>
                  <a:pt x="0" y="159"/>
                </a:lnTo>
                <a:lnTo>
                  <a:pt x="0" y="162"/>
                </a:lnTo>
                <a:lnTo>
                  <a:pt x="1" y="166"/>
                </a:lnTo>
                <a:lnTo>
                  <a:pt x="5" y="173"/>
                </a:lnTo>
                <a:lnTo>
                  <a:pt x="13" y="177"/>
                </a:lnTo>
                <a:lnTo>
                  <a:pt x="17" y="178"/>
                </a:lnTo>
                <a:lnTo>
                  <a:pt x="21" y="179"/>
                </a:lnTo>
                <a:lnTo>
                  <a:pt x="32" y="179"/>
                </a:lnTo>
                <a:lnTo>
                  <a:pt x="32" y="179"/>
                </a:lnTo>
                <a:lnTo>
                  <a:pt x="38" y="195"/>
                </a:lnTo>
                <a:lnTo>
                  <a:pt x="45" y="209"/>
                </a:lnTo>
                <a:lnTo>
                  <a:pt x="56" y="221"/>
                </a:lnTo>
                <a:lnTo>
                  <a:pt x="68" y="233"/>
                </a:lnTo>
                <a:lnTo>
                  <a:pt x="82" y="242"/>
                </a:lnTo>
                <a:lnTo>
                  <a:pt x="96" y="248"/>
                </a:lnTo>
                <a:lnTo>
                  <a:pt x="113" y="252"/>
                </a:lnTo>
                <a:lnTo>
                  <a:pt x="130" y="253"/>
                </a:lnTo>
                <a:lnTo>
                  <a:pt x="130" y="253"/>
                </a:lnTo>
                <a:lnTo>
                  <a:pt x="147" y="252"/>
                </a:lnTo>
                <a:lnTo>
                  <a:pt x="162" y="248"/>
                </a:lnTo>
                <a:lnTo>
                  <a:pt x="178" y="242"/>
                </a:lnTo>
                <a:lnTo>
                  <a:pt x="191" y="233"/>
                </a:lnTo>
                <a:lnTo>
                  <a:pt x="203" y="221"/>
                </a:lnTo>
                <a:lnTo>
                  <a:pt x="213" y="209"/>
                </a:lnTo>
                <a:lnTo>
                  <a:pt x="221" y="195"/>
                </a:lnTo>
                <a:lnTo>
                  <a:pt x="227" y="179"/>
                </a:lnTo>
                <a:lnTo>
                  <a:pt x="239" y="179"/>
                </a:lnTo>
                <a:lnTo>
                  <a:pt x="239" y="179"/>
                </a:lnTo>
                <a:lnTo>
                  <a:pt x="243" y="178"/>
                </a:lnTo>
                <a:lnTo>
                  <a:pt x="247" y="177"/>
                </a:lnTo>
                <a:lnTo>
                  <a:pt x="253" y="173"/>
                </a:lnTo>
                <a:lnTo>
                  <a:pt x="259" y="166"/>
                </a:lnTo>
                <a:lnTo>
                  <a:pt x="259" y="162"/>
                </a:lnTo>
                <a:lnTo>
                  <a:pt x="260" y="159"/>
                </a:lnTo>
                <a:lnTo>
                  <a:pt x="260" y="117"/>
                </a:lnTo>
                <a:lnTo>
                  <a:pt x="260" y="117"/>
                </a:lnTo>
                <a:lnTo>
                  <a:pt x="259" y="112"/>
                </a:lnTo>
                <a:lnTo>
                  <a:pt x="259" y="108"/>
                </a:lnTo>
                <a:lnTo>
                  <a:pt x="253" y="101"/>
                </a:lnTo>
                <a:lnTo>
                  <a:pt x="247" y="98"/>
                </a:lnTo>
                <a:lnTo>
                  <a:pt x="243" y="96"/>
                </a:lnTo>
                <a:lnTo>
                  <a:pt x="239" y="96"/>
                </a:lnTo>
                <a:lnTo>
                  <a:pt x="239" y="96"/>
                </a:lnTo>
                <a:close/>
                <a:moveTo>
                  <a:pt x="120" y="75"/>
                </a:moveTo>
                <a:lnTo>
                  <a:pt x="120" y="75"/>
                </a:lnTo>
                <a:lnTo>
                  <a:pt x="133" y="75"/>
                </a:lnTo>
                <a:lnTo>
                  <a:pt x="133" y="75"/>
                </a:lnTo>
                <a:lnTo>
                  <a:pt x="148" y="77"/>
                </a:lnTo>
                <a:lnTo>
                  <a:pt x="162" y="81"/>
                </a:lnTo>
                <a:lnTo>
                  <a:pt x="170" y="83"/>
                </a:lnTo>
                <a:lnTo>
                  <a:pt x="177" y="86"/>
                </a:lnTo>
                <a:lnTo>
                  <a:pt x="182" y="91"/>
                </a:lnTo>
                <a:lnTo>
                  <a:pt x="187" y="96"/>
                </a:lnTo>
                <a:lnTo>
                  <a:pt x="71" y="96"/>
                </a:lnTo>
                <a:lnTo>
                  <a:pt x="71" y="96"/>
                </a:lnTo>
                <a:lnTo>
                  <a:pt x="77" y="91"/>
                </a:lnTo>
                <a:lnTo>
                  <a:pt x="82" y="87"/>
                </a:lnTo>
                <a:lnTo>
                  <a:pt x="94" y="82"/>
                </a:lnTo>
                <a:lnTo>
                  <a:pt x="107" y="78"/>
                </a:lnTo>
                <a:lnTo>
                  <a:pt x="120" y="75"/>
                </a:lnTo>
                <a:lnTo>
                  <a:pt x="120" y="75"/>
                </a:lnTo>
                <a:close/>
                <a:moveTo>
                  <a:pt x="195" y="113"/>
                </a:moveTo>
                <a:lnTo>
                  <a:pt x="195" y="161"/>
                </a:lnTo>
                <a:lnTo>
                  <a:pt x="181" y="161"/>
                </a:lnTo>
                <a:lnTo>
                  <a:pt x="168" y="131"/>
                </a:lnTo>
                <a:lnTo>
                  <a:pt x="168" y="162"/>
                </a:lnTo>
                <a:lnTo>
                  <a:pt x="160" y="162"/>
                </a:lnTo>
                <a:lnTo>
                  <a:pt x="160" y="113"/>
                </a:lnTo>
                <a:lnTo>
                  <a:pt x="174" y="113"/>
                </a:lnTo>
                <a:lnTo>
                  <a:pt x="187" y="143"/>
                </a:lnTo>
                <a:lnTo>
                  <a:pt x="187" y="113"/>
                </a:lnTo>
                <a:lnTo>
                  <a:pt x="195" y="113"/>
                </a:lnTo>
                <a:close/>
                <a:moveTo>
                  <a:pt x="152" y="113"/>
                </a:moveTo>
                <a:lnTo>
                  <a:pt x="152" y="162"/>
                </a:lnTo>
                <a:lnTo>
                  <a:pt x="139" y="162"/>
                </a:lnTo>
                <a:lnTo>
                  <a:pt x="139" y="113"/>
                </a:lnTo>
                <a:lnTo>
                  <a:pt x="152" y="113"/>
                </a:lnTo>
                <a:close/>
                <a:moveTo>
                  <a:pt x="118" y="149"/>
                </a:moveTo>
                <a:lnTo>
                  <a:pt x="118" y="149"/>
                </a:lnTo>
                <a:lnTo>
                  <a:pt x="118" y="148"/>
                </a:lnTo>
                <a:lnTo>
                  <a:pt x="118" y="148"/>
                </a:lnTo>
                <a:lnTo>
                  <a:pt x="117" y="147"/>
                </a:lnTo>
                <a:lnTo>
                  <a:pt x="117" y="147"/>
                </a:lnTo>
                <a:lnTo>
                  <a:pt x="114" y="144"/>
                </a:lnTo>
                <a:lnTo>
                  <a:pt x="108" y="140"/>
                </a:lnTo>
                <a:lnTo>
                  <a:pt x="108" y="140"/>
                </a:lnTo>
                <a:lnTo>
                  <a:pt x="104" y="138"/>
                </a:lnTo>
                <a:lnTo>
                  <a:pt x="104" y="138"/>
                </a:lnTo>
                <a:lnTo>
                  <a:pt x="101" y="135"/>
                </a:lnTo>
                <a:lnTo>
                  <a:pt x="101" y="135"/>
                </a:lnTo>
                <a:lnTo>
                  <a:pt x="100" y="131"/>
                </a:lnTo>
                <a:lnTo>
                  <a:pt x="100" y="131"/>
                </a:lnTo>
                <a:lnTo>
                  <a:pt x="100" y="127"/>
                </a:lnTo>
                <a:lnTo>
                  <a:pt x="100" y="127"/>
                </a:lnTo>
                <a:lnTo>
                  <a:pt x="101" y="122"/>
                </a:lnTo>
                <a:lnTo>
                  <a:pt x="101" y="122"/>
                </a:lnTo>
                <a:lnTo>
                  <a:pt x="104" y="117"/>
                </a:lnTo>
                <a:lnTo>
                  <a:pt x="104" y="117"/>
                </a:lnTo>
                <a:lnTo>
                  <a:pt x="109" y="114"/>
                </a:lnTo>
                <a:lnTo>
                  <a:pt x="109" y="114"/>
                </a:lnTo>
                <a:lnTo>
                  <a:pt x="114" y="113"/>
                </a:lnTo>
                <a:lnTo>
                  <a:pt x="114" y="113"/>
                </a:lnTo>
                <a:lnTo>
                  <a:pt x="121" y="113"/>
                </a:lnTo>
                <a:lnTo>
                  <a:pt x="121" y="113"/>
                </a:lnTo>
                <a:lnTo>
                  <a:pt x="130" y="116"/>
                </a:lnTo>
                <a:lnTo>
                  <a:pt x="130" y="116"/>
                </a:lnTo>
                <a:lnTo>
                  <a:pt x="130" y="124"/>
                </a:lnTo>
                <a:lnTo>
                  <a:pt x="129" y="122"/>
                </a:lnTo>
                <a:lnTo>
                  <a:pt x="129" y="122"/>
                </a:lnTo>
                <a:lnTo>
                  <a:pt x="125" y="121"/>
                </a:lnTo>
                <a:lnTo>
                  <a:pt x="125" y="121"/>
                </a:lnTo>
                <a:lnTo>
                  <a:pt x="122" y="121"/>
                </a:lnTo>
                <a:lnTo>
                  <a:pt x="122" y="121"/>
                </a:lnTo>
                <a:lnTo>
                  <a:pt x="118" y="120"/>
                </a:lnTo>
                <a:lnTo>
                  <a:pt x="118" y="120"/>
                </a:lnTo>
                <a:lnTo>
                  <a:pt x="114" y="121"/>
                </a:lnTo>
                <a:lnTo>
                  <a:pt x="114" y="121"/>
                </a:lnTo>
                <a:lnTo>
                  <a:pt x="113" y="122"/>
                </a:lnTo>
                <a:lnTo>
                  <a:pt x="113" y="125"/>
                </a:lnTo>
                <a:lnTo>
                  <a:pt x="113" y="125"/>
                </a:lnTo>
                <a:lnTo>
                  <a:pt x="113" y="126"/>
                </a:lnTo>
                <a:lnTo>
                  <a:pt x="113" y="126"/>
                </a:lnTo>
                <a:lnTo>
                  <a:pt x="114" y="127"/>
                </a:lnTo>
                <a:lnTo>
                  <a:pt x="114" y="127"/>
                </a:lnTo>
                <a:lnTo>
                  <a:pt x="116" y="129"/>
                </a:lnTo>
                <a:lnTo>
                  <a:pt x="116" y="129"/>
                </a:lnTo>
                <a:lnTo>
                  <a:pt x="117" y="130"/>
                </a:lnTo>
                <a:lnTo>
                  <a:pt x="123" y="134"/>
                </a:lnTo>
                <a:lnTo>
                  <a:pt x="123" y="134"/>
                </a:lnTo>
                <a:lnTo>
                  <a:pt x="127" y="138"/>
                </a:lnTo>
                <a:lnTo>
                  <a:pt x="127" y="138"/>
                </a:lnTo>
                <a:lnTo>
                  <a:pt x="130" y="140"/>
                </a:lnTo>
                <a:lnTo>
                  <a:pt x="130" y="140"/>
                </a:lnTo>
                <a:lnTo>
                  <a:pt x="131" y="143"/>
                </a:lnTo>
                <a:lnTo>
                  <a:pt x="131" y="143"/>
                </a:lnTo>
                <a:lnTo>
                  <a:pt x="133" y="147"/>
                </a:lnTo>
                <a:lnTo>
                  <a:pt x="133" y="147"/>
                </a:lnTo>
                <a:lnTo>
                  <a:pt x="131" y="153"/>
                </a:lnTo>
                <a:lnTo>
                  <a:pt x="131" y="153"/>
                </a:lnTo>
                <a:lnTo>
                  <a:pt x="127" y="159"/>
                </a:lnTo>
                <a:lnTo>
                  <a:pt x="127" y="159"/>
                </a:lnTo>
                <a:lnTo>
                  <a:pt x="122" y="161"/>
                </a:lnTo>
                <a:lnTo>
                  <a:pt x="122" y="161"/>
                </a:lnTo>
                <a:lnTo>
                  <a:pt x="116" y="162"/>
                </a:lnTo>
                <a:lnTo>
                  <a:pt x="116" y="162"/>
                </a:lnTo>
                <a:lnTo>
                  <a:pt x="110" y="162"/>
                </a:lnTo>
                <a:lnTo>
                  <a:pt x="110" y="162"/>
                </a:lnTo>
                <a:lnTo>
                  <a:pt x="101" y="160"/>
                </a:lnTo>
                <a:lnTo>
                  <a:pt x="100" y="160"/>
                </a:lnTo>
                <a:lnTo>
                  <a:pt x="100" y="151"/>
                </a:lnTo>
                <a:lnTo>
                  <a:pt x="101" y="152"/>
                </a:lnTo>
                <a:lnTo>
                  <a:pt x="101" y="152"/>
                </a:lnTo>
                <a:lnTo>
                  <a:pt x="105" y="153"/>
                </a:lnTo>
                <a:lnTo>
                  <a:pt x="105" y="153"/>
                </a:lnTo>
                <a:lnTo>
                  <a:pt x="109" y="155"/>
                </a:lnTo>
                <a:lnTo>
                  <a:pt x="109" y="155"/>
                </a:lnTo>
                <a:lnTo>
                  <a:pt x="113" y="155"/>
                </a:lnTo>
                <a:lnTo>
                  <a:pt x="113" y="155"/>
                </a:lnTo>
                <a:lnTo>
                  <a:pt x="116" y="155"/>
                </a:lnTo>
                <a:lnTo>
                  <a:pt x="116" y="155"/>
                </a:lnTo>
                <a:lnTo>
                  <a:pt x="117" y="153"/>
                </a:lnTo>
                <a:lnTo>
                  <a:pt x="117" y="153"/>
                </a:lnTo>
                <a:lnTo>
                  <a:pt x="118" y="152"/>
                </a:lnTo>
                <a:lnTo>
                  <a:pt x="118" y="152"/>
                </a:lnTo>
                <a:lnTo>
                  <a:pt x="118" y="151"/>
                </a:lnTo>
                <a:lnTo>
                  <a:pt x="118" y="151"/>
                </a:lnTo>
                <a:lnTo>
                  <a:pt x="118" y="149"/>
                </a:lnTo>
                <a:lnTo>
                  <a:pt x="118" y="149"/>
                </a:lnTo>
                <a:close/>
                <a:moveTo>
                  <a:pt x="52" y="160"/>
                </a:moveTo>
                <a:lnTo>
                  <a:pt x="49" y="160"/>
                </a:lnTo>
                <a:lnTo>
                  <a:pt x="49" y="160"/>
                </a:lnTo>
                <a:lnTo>
                  <a:pt x="44" y="161"/>
                </a:lnTo>
                <a:lnTo>
                  <a:pt x="44" y="161"/>
                </a:lnTo>
                <a:lnTo>
                  <a:pt x="42" y="162"/>
                </a:lnTo>
                <a:lnTo>
                  <a:pt x="42" y="162"/>
                </a:lnTo>
                <a:lnTo>
                  <a:pt x="38" y="162"/>
                </a:lnTo>
                <a:lnTo>
                  <a:pt x="38" y="162"/>
                </a:lnTo>
                <a:lnTo>
                  <a:pt x="35" y="162"/>
                </a:lnTo>
                <a:lnTo>
                  <a:pt x="35" y="162"/>
                </a:lnTo>
                <a:lnTo>
                  <a:pt x="31" y="162"/>
                </a:lnTo>
                <a:lnTo>
                  <a:pt x="26" y="161"/>
                </a:lnTo>
                <a:lnTo>
                  <a:pt x="26" y="161"/>
                </a:lnTo>
                <a:lnTo>
                  <a:pt x="23" y="159"/>
                </a:lnTo>
                <a:lnTo>
                  <a:pt x="19" y="156"/>
                </a:lnTo>
                <a:lnTo>
                  <a:pt x="19" y="156"/>
                </a:lnTo>
                <a:lnTo>
                  <a:pt x="17" y="153"/>
                </a:lnTo>
                <a:lnTo>
                  <a:pt x="16" y="149"/>
                </a:lnTo>
                <a:lnTo>
                  <a:pt x="16" y="149"/>
                </a:lnTo>
                <a:lnTo>
                  <a:pt x="14" y="144"/>
                </a:lnTo>
                <a:lnTo>
                  <a:pt x="14" y="139"/>
                </a:lnTo>
                <a:lnTo>
                  <a:pt x="14" y="139"/>
                </a:lnTo>
                <a:lnTo>
                  <a:pt x="14" y="134"/>
                </a:lnTo>
                <a:lnTo>
                  <a:pt x="16" y="129"/>
                </a:lnTo>
                <a:lnTo>
                  <a:pt x="16" y="129"/>
                </a:lnTo>
                <a:lnTo>
                  <a:pt x="18" y="125"/>
                </a:lnTo>
                <a:lnTo>
                  <a:pt x="21" y="121"/>
                </a:lnTo>
                <a:lnTo>
                  <a:pt x="21" y="121"/>
                </a:lnTo>
                <a:lnTo>
                  <a:pt x="23" y="117"/>
                </a:lnTo>
                <a:lnTo>
                  <a:pt x="29" y="116"/>
                </a:lnTo>
                <a:lnTo>
                  <a:pt x="29" y="116"/>
                </a:lnTo>
                <a:lnTo>
                  <a:pt x="32" y="113"/>
                </a:lnTo>
                <a:lnTo>
                  <a:pt x="38" y="113"/>
                </a:lnTo>
                <a:lnTo>
                  <a:pt x="38" y="113"/>
                </a:lnTo>
                <a:lnTo>
                  <a:pt x="40" y="113"/>
                </a:lnTo>
                <a:lnTo>
                  <a:pt x="40" y="113"/>
                </a:lnTo>
                <a:lnTo>
                  <a:pt x="42" y="113"/>
                </a:lnTo>
                <a:lnTo>
                  <a:pt x="42" y="113"/>
                </a:lnTo>
                <a:lnTo>
                  <a:pt x="45" y="114"/>
                </a:lnTo>
                <a:lnTo>
                  <a:pt x="45" y="114"/>
                </a:lnTo>
                <a:lnTo>
                  <a:pt x="49" y="114"/>
                </a:lnTo>
                <a:lnTo>
                  <a:pt x="52" y="116"/>
                </a:lnTo>
                <a:lnTo>
                  <a:pt x="52" y="122"/>
                </a:lnTo>
                <a:lnTo>
                  <a:pt x="52" y="122"/>
                </a:lnTo>
                <a:lnTo>
                  <a:pt x="47" y="121"/>
                </a:lnTo>
                <a:lnTo>
                  <a:pt x="47" y="121"/>
                </a:lnTo>
                <a:lnTo>
                  <a:pt x="43" y="121"/>
                </a:lnTo>
                <a:lnTo>
                  <a:pt x="43" y="121"/>
                </a:lnTo>
                <a:lnTo>
                  <a:pt x="39" y="121"/>
                </a:lnTo>
                <a:lnTo>
                  <a:pt x="39" y="121"/>
                </a:lnTo>
                <a:lnTo>
                  <a:pt x="34" y="121"/>
                </a:lnTo>
                <a:lnTo>
                  <a:pt x="31" y="125"/>
                </a:lnTo>
                <a:lnTo>
                  <a:pt x="31" y="125"/>
                </a:lnTo>
                <a:lnTo>
                  <a:pt x="29" y="130"/>
                </a:lnTo>
                <a:lnTo>
                  <a:pt x="29" y="138"/>
                </a:lnTo>
                <a:lnTo>
                  <a:pt x="29" y="138"/>
                </a:lnTo>
                <a:lnTo>
                  <a:pt x="29" y="146"/>
                </a:lnTo>
                <a:lnTo>
                  <a:pt x="29" y="146"/>
                </a:lnTo>
                <a:lnTo>
                  <a:pt x="30" y="151"/>
                </a:lnTo>
                <a:lnTo>
                  <a:pt x="30" y="151"/>
                </a:lnTo>
                <a:lnTo>
                  <a:pt x="34" y="155"/>
                </a:lnTo>
                <a:lnTo>
                  <a:pt x="34" y="155"/>
                </a:lnTo>
                <a:lnTo>
                  <a:pt x="38" y="155"/>
                </a:lnTo>
                <a:lnTo>
                  <a:pt x="38" y="155"/>
                </a:lnTo>
                <a:lnTo>
                  <a:pt x="42" y="155"/>
                </a:lnTo>
                <a:lnTo>
                  <a:pt x="42" y="155"/>
                </a:lnTo>
                <a:lnTo>
                  <a:pt x="47" y="155"/>
                </a:lnTo>
                <a:lnTo>
                  <a:pt x="47" y="155"/>
                </a:lnTo>
                <a:lnTo>
                  <a:pt x="52" y="153"/>
                </a:lnTo>
                <a:lnTo>
                  <a:pt x="52" y="160"/>
                </a:lnTo>
                <a:close/>
                <a:moveTo>
                  <a:pt x="55" y="162"/>
                </a:moveTo>
                <a:lnTo>
                  <a:pt x="69" y="113"/>
                </a:lnTo>
                <a:lnTo>
                  <a:pt x="83" y="113"/>
                </a:lnTo>
                <a:lnTo>
                  <a:pt x="97" y="162"/>
                </a:lnTo>
                <a:lnTo>
                  <a:pt x="83" y="162"/>
                </a:lnTo>
                <a:lnTo>
                  <a:pt x="79" y="146"/>
                </a:lnTo>
                <a:lnTo>
                  <a:pt x="69" y="146"/>
                </a:lnTo>
                <a:lnTo>
                  <a:pt x="65" y="162"/>
                </a:lnTo>
                <a:lnTo>
                  <a:pt x="55" y="162"/>
                </a:lnTo>
                <a:close/>
                <a:moveTo>
                  <a:pt x="130" y="231"/>
                </a:moveTo>
                <a:lnTo>
                  <a:pt x="130" y="231"/>
                </a:lnTo>
                <a:lnTo>
                  <a:pt x="117" y="230"/>
                </a:lnTo>
                <a:lnTo>
                  <a:pt x="105" y="227"/>
                </a:lnTo>
                <a:lnTo>
                  <a:pt x="95" y="222"/>
                </a:lnTo>
                <a:lnTo>
                  <a:pt x="84" y="216"/>
                </a:lnTo>
                <a:lnTo>
                  <a:pt x="75" y="209"/>
                </a:lnTo>
                <a:lnTo>
                  <a:pt x="68" y="200"/>
                </a:lnTo>
                <a:lnTo>
                  <a:pt x="61" y="190"/>
                </a:lnTo>
                <a:lnTo>
                  <a:pt x="56" y="179"/>
                </a:lnTo>
                <a:lnTo>
                  <a:pt x="203" y="179"/>
                </a:lnTo>
                <a:lnTo>
                  <a:pt x="203" y="179"/>
                </a:lnTo>
                <a:lnTo>
                  <a:pt x="198" y="190"/>
                </a:lnTo>
                <a:lnTo>
                  <a:pt x="192" y="200"/>
                </a:lnTo>
                <a:lnTo>
                  <a:pt x="185" y="209"/>
                </a:lnTo>
                <a:lnTo>
                  <a:pt x="175" y="216"/>
                </a:lnTo>
                <a:lnTo>
                  <a:pt x="165" y="222"/>
                </a:lnTo>
                <a:lnTo>
                  <a:pt x="153" y="227"/>
                </a:lnTo>
                <a:lnTo>
                  <a:pt x="142" y="230"/>
                </a:lnTo>
                <a:lnTo>
                  <a:pt x="130" y="231"/>
                </a:lnTo>
                <a:lnTo>
                  <a:pt x="130" y="231"/>
                </a:lnTo>
                <a:close/>
                <a:moveTo>
                  <a:pt x="242" y="148"/>
                </a:moveTo>
                <a:lnTo>
                  <a:pt x="242" y="148"/>
                </a:lnTo>
                <a:lnTo>
                  <a:pt x="240" y="152"/>
                </a:lnTo>
                <a:lnTo>
                  <a:pt x="238" y="156"/>
                </a:lnTo>
                <a:lnTo>
                  <a:pt x="238" y="156"/>
                </a:lnTo>
                <a:lnTo>
                  <a:pt x="235" y="159"/>
                </a:lnTo>
                <a:lnTo>
                  <a:pt x="231" y="161"/>
                </a:lnTo>
                <a:lnTo>
                  <a:pt x="231" y="161"/>
                </a:lnTo>
                <a:lnTo>
                  <a:pt x="227" y="162"/>
                </a:lnTo>
                <a:lnTo>
                  <a:pt x="222" y="162"/>
                </a:lnTo>
                <a:lnTo>
                  <a:pt x="222" y="162"/>
                </a:lnTo>
                <a:lnTo>
                  <a:pt x="218" y="162"/>
                </a:lnTo>
                <a:lnTo>
                  <a:pt x="214" y="161"/>
                </a:lnTo>
                <a:lnTo>
                  <a:pt x="214" y="161"/>
                </a:lnTo>
                <a:lnTo>
                  <a:pt x="211" y="159"/>
                </a:lnTo>
                <a:lnTo>
                  <a:pt x="208" y="156"/>
                </a:lnTo>
                <a:lnTo>
                  <a:pt x="208" y="156"/>
                </a:lnTo>
                <a:lnTo>
                  <a:pt x="205" y="153"/>
                </a:lnTo>
                <a:lnTo>
                  <a:pt x="204" y="148"/>
                </a:lnTo>
                <a:lnTo>
                  <a:pt x="204" y="148"/>
                </a:lnTo>
                <a:lnTo>
                  <a:pt x="203" y="139"/>
                </a:lnTo>
                <a:lnTo>
                  <a:pt x="203" y="139"/>
                </a:lnTo>
                <a:lnTo>
                  <a:pt x="203" y="133"/>
                </a:lnTo>
                <a:lnTo>
                  <a:pt x="204" y="127"/>
                </a:lnTo>
                <a:lnTo>
                  <a:pt x="204" y="127"/>
                </a:lnTo>
                <a:lnTo>
                  <a:pt x="205" y="124"/>
                </a:lnTo>
                <a:lnTo>
                  <a:pt x="208" y="120"/>
                </a:lnTo>
                <a:lnTo>
                  <a:pt x="208" y="120"/>
                </a:lnTo>
                <a:lnTo>
                  <a:pt x="211" y="117"/>
                </a:lnTo>
                <a:lnTo>
                  <a:pt x="214" y="114"/>
                </a:lnTo>
                <a:lnTo>
                  <a:pt x="214" y="114"/>
                </a:lnTo>
                <a:lnTo>
                  <a:pt x="218" y="113"/>
                </a:lnTo>
                <a:lnTo>
                  <a:pt x="224" y="113"/>
                </a:lnTo>
                <a:lnTo>
                  <a:pt x="224" y="113"/>
                </a:lnTo>
                <a:lnTo>
                  <a:pt x="227" y="113"/>
                </a:lnTo>
                <a:lnTo>
                  <a:pt x="231" y="114"/>
                </a:lnTo>
                <a:lnTo>
                  <a:pt x="231" y="114"/>
                </a:lnTo>
                <a:lnTo>
                  <a:pt x="235" y="117"/>
                </a:lnTo>
                <a:lnTo>
                  <a:pt x="238" y="120"/>
                </a:lnTo>
                <a:lnTo>
                  <a:pt x="238" y="120"/>
                </a:lnTo>
                <a:lnTo>
                  <a:pt x="240" y="124"/>
                </a:lnTo>
                <a:lnTo>
                  <a:pt x="242" y="127"/>
                </a:lnTo>
                <a:lnTo>
                  <a:pt x="242" y="127"/>
                </a:lnTo>
                <a:lnTo>
                  <a:pt x="243" y="137"/>
                </a:lnTo>
                <a:lnTo>
                  <a:pt x="243" y="137"/>
                </a:lnTo>
                <a:lnTo>
                  <a:pt x="242" y="148"/>
                </a:lnTo>
                <a:lnTo>
                  <a:pt x="242" y="148"/>
                </a:lnTo>
                <a:close/>
                <a:moveTo>
                  <a:pt x="227" y="124"/>
                </a:moveTo>
                <a:lnTo>
                  <a:pt x="227" y="124"/>
                </a:lnTo>
                <a:lnTo>
                  <a:pt x="225" y="121"/>
                </a:lnTo>
                <a:lnTo>
                  <a:pt x="225" y="121"/>
                </a:lnTo>
                <a:lnTo>
                  <a:pt x="222" y="121"/>
                </a:lnTo>
                <a:lnTo>
                  <a:pt x="222" y="121"/>
                </a:lnTo>
                <a:lnTo>
                  <a:pt x="220" y="121"/>
                </a:lnTo>
                <a:lnTo>
                  <a:pt x="218" y="124"/>
                </a:lnTo>
                <a:lnTo>
                  <a:pt x="218" y="124"/>
                </a:lnTo>
                <a:lnTo>
                  <a:pt x="217" y="129"/>
                </a:lnTo>
                <a:lnTo>
                  <a:pt x="217" y="129"/>
                </a:lnTo>
                <a:lnTo>
                  <a:pt x="217" y="138"/>
                </a:lnTo>
                <a:lnTo>
                  <a:pt x="217" y="138"/>
                </a:lnTo>
                <a:lnTo>
                  <a:pt x="217" y="147"/>
                </a:lnTo>
                <a:lnTo>
                  <a:pt x="217" y="147"/>
                </a:lnTo>
                <a:lnTo>
                  <a:pt x="218" y="152"/>
                </a:lnTo>
                <a:lnTo>
                  <a:pt x="218" y="152"/>
                </a:lnTo>
                <a:lnTo>
                  <a:pt x="220" y="155"/>
                </a:lnTo>
                <a:lnTo>
                  <a:pt x="220" y="155"/>
                </a:lnTo>
                <a:lnTo>
                  <a:pt x="222" y="156"/>
                </a:lnTo>
                <a:lnTo>
                  <a:pt x="222" y="156"/>
                </a:lnTo>
                <a:lnTo>
                  <a:pt x="225" y="155"/>
                </a:lnTo>
                <a:lnTo>
                  <a:pt x="225" y="155"/>
                </a:lnTo>
                <a:lnTo>
                  <a:pt x="227" y="152"/>
                </a:lnTo>
                <a:lnTo>
                  <a:pt x="227" y="152"/>
                </a:lnTo>
                <a:lnTo>
                  <a:pt x="229" y="147"/>
                </a:lnTo>
                <a:lnTo>
                  <a:pt x="229" y="147"/>
                </a:lnTo>
                <a:lnTo>
                  <a:pt x="229" y="139"/>
                </a:lnTo>
                <a:lnTo>
                  <a:pt x="229" y="139"/>
                </a:lnTo>
                <a:lnTo>
                  <a:pt x="229" y="130"/>
                </a:lnTo>
                <a:lnTo>
                  <a:pt x="229" y="130"/>
                </a:lnTo>
                <a:lnTo>
                  <a:pt x="227" y="124"/>
                </a:lnTo>
                <a:lnTo>
                  <a:pt x="227" y="124"/>
                </a:lnTo>
                <a:close/>
                <a:moveTo>
                  <a:pt x="77" y="135"/>
                </a:moveTo>
                <a:lnTo>
                  <a:pt x="77" y="135"/>
                </a:lnTo>
                <a:lnTo>
                  <a:pt x="75" y="131"/>
                </a:lnTo>
                <a:lnTo>
                  <a:pt x="75" y="131"/>
                </a:lnTo>
                <a:lnTo>
                  <a:pt x="74" y="126"/>
                </a:lnTo>
                <a:lnTo>
                  <a:pt x="70" y="139"/>
                </a:lnTo>
                <a:lnTo>
                  <a:pt x="78" y="139"/>
                </a:lnTo>
                <a:lnTo>
                  <a:pt x="78" y="139"/>
                </a:lnTo>
                <a:lnTo>
                  <a:pt x="77" y="135"/>
                </a:lnTo>
                <a:lnTo>
                  <a:pt x="77" y="135"/>
                </a:lnTo>
                <a:close/>
                <a:moveTo>
                  <a:pt x="83" y="205"/>
                </a:moveTo>
                <a:lnTo>
                  <a:pt x="91" y="201"/>
                </a:lnTo>
                <a:lnTo>
                  <a:pt x="100" y="205"/>
                </a:lnTo>
                <a:lnTo>
                  <a:pt x="99" y="196"/>
                </a:lnTo>
                <a:lnTo>
                  <a:pt x="104" y="190"/>
                </a:lnTo>
                <a:lnTo>
                  <a:pt x="96" y="188"/>
                </a:lnTo>
                <a:lnTo>
                  <a:pt x="91" y="181"/>
                </a:lnTo>
                <a:lnTo>
                  <a:pt x="87" y="188"/>
                </a:lnTo>
                <a:lnTo>
                  <a:pt x="78" y="190"/>
                </a:lnTo>
                <a:lnTo>
                  <a:pt x="84" y="196"/>
                </a:lnTo>
                <a:lnTo>
                  <a:pt x="83" y="205"/>
                </a:lnTo>
                <a:close/>
                <a:moveTo>
                  <a:pt x="159" y="205"/>
                </a:moveTo>
                <a:lnTo>
                  <a:pt x="168" y="201"/>
                </a:lnTo>
                <a:lnTo>
                  <a:pt x="175" y="205"/>
                </a:lnTo>
                <a:lnTo>
                  <a:pt x="174" y="196"/>
                </a:lnTo>
                <a:lnTo>
                  <a:pt x="181" y="190"/>
                </a:lnTo>
                <a:lnTo>
                  <a:pt x="172" y="188"/>
                </a:lnTo>
                <a:lnTo>
                  <a:pt x="168" y="181"/>
                </a:lnTo>
                <a:lnTo>
                  <a:pt x="162" y="188"/>
                </a:lnTo>
                <a:lnTo>
                  <a:pt x="155" y="190"/>
                </a:lnTo>
                <a:lnTo>
                  <a:pt x="160" y="196"/>
                </a:lnTo>
                <a:lnTo>
                  <a:pt x="159" y="205"/>
                </a:ln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1" name="Freeform 349"/>
          <p:cNvSpPr>
            <a:spLocks noEditPoints="1"/>
          </p:cNvSpPr>
          <p:nvPr/>
        </p:nvSpPr>
        <p:spPr bwMode="auto">
          <a:xfrm>
            <a:off x="3518804" y="3778225"/>
            <a:ext cx="776501" cy="864278"/>
          </a:xfrm>
          <a:custGeom>
            <a:avLst/>
            <a:gdLst>
              <a:gd name="T0" fmla="*/ 169 w 230"/>
              <a:gd name="T1" fmla="*/ 57 h 257"/>
              <a:gd name="T2" fmla="*/ 171 w 230"/>
              <a:gd name="T3" fmla="*/ 37 h 257"/>
              <a:gd name="T4" fmla="*/ 155 w 230"/>
              <a:gd name="T5" fmla="*/ 25 h 257"/>
              <a:gd name="T6" fmla="*/ 134 w 230"/>
              <a:gd name="T7" fmla="*/ 14 h 257"/>
              <a:gd name="T8" fmla="*/ 119 w 230"/>
              <a:gd name="T9" fmla="*/ 0 h 257"/>
              <a:gd name="T10" fmla="*/ 99 w 230"/>
              <a:gd name="T11" fmla="*/ 8 h 257"/>
              <a:gd name="T12" fmla="*/ 89 w 230"/>
              <a:gd name="T13" fmla="*/ 27 h 257"/>
              <a:gd name="T14" fmla="*/ 94 w 230"/>
              <a:gd name="T15" fmla="*/ 66 h 257"/>
              <a:gd name="T16" fmla="*/ 107 w 230"/>
              <a:gd name="T17" fmla="*/ 96 h 257"/>
              <a:gd name="T18" fmla="*/ 156 w 230"/>
              <a:gd name="T19" fmla="*/ 73 h 257"/>
              <a:gd name="T20" fmla="*/ 98 w 230"/>
              <a:gd name="T21" fmla="*/ 104 h 257"/>
              <a:gd name="T22" fmla="*/ 74 w 230"/>
              <a:gd name="T23" fmla="*/ 50 h 257"/>
              <a:gd name="T24" fmla="*/ 59 w 230"/>
              <a:gd name="T25" fmla="*/ 37 h 257"/>
              <a:gd name="T26" fmla="*/ 37 w 230"/>
              <a:gd name="T27" fmla="*/ 35 h 257"/>
              <a:gd name="T28" fmla="*/ 25 w 230"/>
              <a:gd name="T29" fmla="*/ 51 h 257"/>
              <a:gd name="T30" fmla="*/ 16 w 230"/>
              <a:gd name="T31" fmla="*/ 72 h 257"/>
              <a:gd name="T32" fmla="*/ 2 w 230"/>
              <a:gd name="T33" fmla="*/ 87 h 257"/>
              <a:gd name="T34" fmla="*/ 9 w 230"/>
              <a:gd name="T35" fmla="*/ 107 h 257"/>
              <a:gd name="T36" fmla="*/ 28 w 230"/>
              <a:gd name="T37" fmla="*/ 117 h 257"/>
              <a:gd name="T38" fmla="*/ 80 w 230"/>
              <a:gd name="T39" fmla="*/ 112 h 257"/>
              <a:gd name="T40" fmla="*/ 35 w 230"/>
              <a:gd name="T41" fmla="*/ 160 h 257"/>
              <a:gd name="T42" fmla="*/ 34 w 230"/>
              <a:gd name="T43" fmla="*/ 181 h 257"/>
              <a:gd name="T44" fmla="*/ 48 w 230"/>
              <a:gd name="T45" fmla="*/ 191 h 257"/>
              <a:gd name="T46" fmla="*/ 70 w 230"/>
              <a:gd name="T47" fmla="*/ 191 h 257"/>
              <a:gd name="T48" fmla="*/ 93 w 230"/>
              <a:gd name="T49" fmla="*/ 206 h 257"/>
              <a:gd name="T50" fmla="*/ 108 w 230"/>
              <a:gd name="T51" fmla="*/ 203 h 257"/>
              <a:gd name="T52" fmla="*/ 120 w 230"/>
              <a:gd name="T53" fmla="*/ 180 h 257"/>
              <a:gd name="T54" fmla="*/ 116 w 230"/>
              <a:gd name="T55" fmla="*/ 150 h 257"/>
              <a:gd name="T56" fmla="*/ 102 w 230"/>
              <a:gd name="T57" fmla="*/ 113 h 257"/>
              <a:gd name="T58" fmla="*/ 61 w 230"/>
              <a:gd name="T59" fmla="*/ 131 h 257"/>
              <a:gd name="T60" fmla="*/ 35 w 230"/>
              <a:gd name="T61" fmla="*/ 160 h 257"/>
              <a:gd name="T62" fmla="*/ 111 w 230"/>
              <a:gd name="T63" fmla="*/ 113 h 257"/>
              <a:gd name="T64" fmla="*/ 142 w 230"/>
              <a:gd name="T65" fmla="*/ 165 h 257"/>
              <a:gd name="T66" fmla="*/ 159 w 230"/>
              <a:gd name="T67" fmla="*/ 174 h 257"/>
              <a:gd name="T68" fmla="*/ 177 w 230"/>
              <a:gd name="T69" fmla="*/ 170 h 257"/>
              <a:gd name="T70" fmla="*/ 186 w 230"/>
              <a:gd name="T71" fmla="*/ 150 h 257"/>
              <a:gd name="T72" fmla="*/ 200 w 230"/>
              <a:gd name="T73" fmla="*/ 131 h 257"/>
              <a:gd name="T74" fmla="*/ 210 w 230"/>
              <a:gd name="T75" fmla="*/ 116 h 257"/>
              <a:gd name="T76" fmla="*/ 194 w 230"/>
              <a:gd name="T77" fmla="*/ 96 h 257"/>
              <a:gd name="T78" fmla="*/ 174 w 230"/>
              <a:gd name="T79" fmla="*/ 90 h 257"/>
              <a:gd name="T80" fmla="*/ 126 w 230"/>
              <a:gd name="T81" fmla="*/ 98 h 257"/>
              <a:gd name="T82" fmla="*/ 137 w 230"/>
              <a:gd name="T83" fmla="*/ 174 h 257"/>
              <a:gd name="T84" fmla="*/ 137 w 230"/>
              <a:gd name="T85" fmla="*/ 198 h 257"/>
              <a:gd name="T86" fmla="*/ 174 w 230"/>
              <a:gd name="T87" fmla="*/ 234 h 257"/>
              <a:gd name="T88" fmla="*/ 226 w 230"/>
              <a:gd name="T89" fmla="*/ 257 h 257"/>
              <a:gd name="T90" fmla="*/ 219 w 230"/>
              <a:gd name="T91" fmla="*/ 233 h 257"/>
              <a:gd name="T92" fmla="*/ 180 w 230"/>
              <a:gd name="T93" fmla="*/ 220 h 257"/>
              <a:gd name="T94" fmla="*/ 142 w 230"/>
              <a:gd name="T95" fmla="*/ 185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30" h="257">
                <a:moveTo>
                  <a:pt x="163" y="68"/>
                </a:moveTo>
                <a:lnTo>
                  <a:pt x="163" y="68"/>
                </a:lnTo>
                <a:lnTo>
                  <a:pt x="167" y="64"/>
                </a:lnTo>
                <a:lnTo>
                  <a:pt x="169" y="57"/>
                </a:lnTo>
                <a:lnTo>
                  <a:pt x="172" y="51"/>
                </a:lnTo>
                <a:lnTo>
                  <a:pt x="172" y="43"/>
                </a:lnTo>
                <a:lnTo>
                  <a:pt x="172" y="39"/>
                </a:lnTo>
                <a:lnTo>
                  <a:pt x="171" y="37"/>
                </a:lnTo>
                <a:lnTo>
                  <a:pt x="168" y="33"/>
                </a:lnTo>
                <a:lnTo>
                  <a:pt x="164" y="30"/>
                </a:lnTo>
                <a:lnTo>
                  <a:pt x="160" y="27"/>
                </a:lnTo>
                <a:lnTo>
                  <a:pt x="155" y="25"/>
                </a:lnTo>
                <a:lnTo>
                  <a:pt x="147" y="22"/>
                </a:lnTo>
                <a:lnTo>
                  <a:pt x="139" y="22"/>
                </a:lnTo>
                <a:lnTo>
                  <a:pt x="139" y="22"/>
                </a:lnTo>
                <a:lnTo>
                  <a:pt x="134" y="14"/>
                </a:lnTo>
                <a:lnTo>
                  <a:pt x="130" y="9"/>
                </a:lnTo>
                <a:lnTo>
                  <a:pt x="126" y="5"/>
                </a:lnTo>
                <a:lnTo>
                  <a:pt x="122" y="3"/>
                </a:lnTo>
                <a:lnTo>
                  <a:pt x="119" y="0"/>
                </a:lnTo>
                <a:lnTo>
                  <a:pt x="115" y="0"/>
                </a:lnTo>
                <a:lnTo>
                  <a:pt x="108" y="1"/>
                </a:lnTo>
                <a:lnTo>
                  <a:pt x="103" y="4"/>
                </a:lnTo>
                <a:lnTo>
                  <a:pt x="99" y="8"/>
                </a:lnTo>
                <a:lnTo>
                  <a:pt x="94" y="16"/>
                </a:lnTo>
                <a:lnTo>
                  <a:pt x="94" y="16"/>
                </a:lnTo>
                <a:lnTo>
                  <a:pt x="91" y="21"/>
                </a:lnTo>
                <a:lnTo>
                  <a:pt x="89" y="27"/>
                </a:lnTo>
                <a:lnTo>
                  <a:pt x="89" y="34"/>
                </a:lnTo>
                <a:lnTo>
                  <a:pt x="89" y="40"/>
                </a:lnTo>
                <a:lnTo>
                  <a:pt x="90" y="53"/>
                </a:lnTo>
                <a:lnTo>
                  <a:pt x="94" y="66"/>
                </a:lnTo>
                <a:lnTo>
                  <a:pt x="98" y="78"/>
                </a:lnTo>
                <a:lnTo>
                  <a:pt x="102" y="89"/>
                </a:lnTo>
                <a:lnTo>
                  <a:pt x="107" y="96"/>
                </a:lnTo>
                <a:lnTo>
                  <a:pt x="107" y="96"/>
                </a:lnTo>
                <a:lnTo>
                  <a:pt x="113" y="95"/>
                </a:lnTo>
                <a:lnTo>
                  <a:pt x="129" y="89"/>
                </a:lnTo>
                <a:lnTo>
                  <a:pt x="148" y="78"/>
                </a:lnTo>
                <a:lnTo>
                  <a:pt x="156" y="73"/>
                </a:lnTo>
                <a:lnTo>
                  <a:pt x="163" y="68"/>
                </a:lnTo>
                <a:lnTo>
                  <a:pt x="163" y="68"/>
                </a:lnTo>
                <a:close/>
                <a:moveTo>
                  <a:pt x="98" y="104"/>
                </a:moveTo>
                <a:lnTo>
                  <a:pt x="98" y="104"/>
                </a:lnTo>
                <a:lnTo>
                  <a:pt x="95" y="98"/>
                </a:lnTo>
                <a:lnTo>
                  <a:pt x="89" y="79"/>
                </a:lnTo>
                <a:lnTo>
                  <a:pt x="80" y="59"/>
                </a:lnTo>
                <a:lnTo>
                  <a:pt x="74" y="50"/>
                </a:lnTo>
                <a:lnTo>
                  <a:pt x="68" y="43"/>
                </a:lnTo>
                <a:lnTo>
                  <a:pt x="68" y="43"/>
                </a:lnTo>
                <a:lnTo>
                  <a:pt x="64" y="39"/>
                </a:lnTo>
                <a:lnTo>
                  <a:pt x="59" y="37"/>
                </a:lnTo>
                <a:lnTo>
                  <a:pt x="51" y="34"/>
                </a:lnTo>
                <a:lnTo>
                  <a:pt x="44" y="34"/>
                </a:lnTo>
                <a:lnTo>
                  <a:pt x="41" y="34"/>
                </a:lnTo>
                <a:lnTo>
                  <a:pt x="37" y="35"/>
                </a:lnTo>
                <a:lnTo>
                  <a:pt x="33" y="38"/>
                </a:lnTo>
                <a:lnTo>
                  <a:pt x="30" y="42"/>
                </a:lnTo>
                <a:lnTo>
                  <a:pt x="28" y="46"/>
                </a:lnTo>
                <a:lnTo>
                  <a:pt x="25" y="51"/>
                </a:lnTo>
                <a:lnTo>
                  <a:pt x="24" y="59"/>
                </a:lnTo>
                <a:lnTo>
                  <a:pt x="22" y="66"/>
                </a:lnTo>
                <a:lnTo>
                  <a:pt x="22" y="66"/>
                </a:lnTo>
                <a:lnTo>
                  <a:pt x="16" y="72"/>
                </a:lnTo>
                <a:lnTo>
                  <a:pt x="9" y="76"/>
                </a:lnTo>
                <a:lnTo>
                  <a:pt x="5" y="79"/>
                </a:lnTo>
                <a:lnTo>
                  <a:pt x="3" y="83"/>
                </a:lnTo>
                <a:lnTo>
                  <a:pt x="2" y="87"/>
                </a:lnTo>
                <a:lnTo>
                  <a:pt x="0" y="91"/>
                </a:lnTo>
                <a:lnTo>
                  <a:pt x="2" y="98"/>
                </a:lnTo>
                <a:lnTo>
                  <a:pt x="5" y="103"/>
                </a:lnTo>
                <a:lnTo>
                  <a:pt x="9" y="107"/>
                </a:lnTo>
                <a:lnTo>
                  <a:pt x="16" y="112"/>
                </a:lnTo>
                <a:lnTo>
                  <a:pt x="16" y="112"/>
                </a:lnTo>
                <a:lnTo>
                  <a:pt x="21" y="115"/>
                </a:lnTo>
                <a:lnTo>
                  <a:pt x="28" y="117"/>
                </a:lnTo>
                <a:lnTo>
                  <a:pt x="41" y="118"/>
                </a:lnTo>
                <a:lnTo>
                  <a:pt x="54" y="117"/>
                </a:lnTo>
                <a:lnTo>
                  <a:pt x="68" y="115"/>
                </a:lnTo>
                <a:lnTo>
                  <a:pt x="80" y="112"/>
                </a:lnTo>
                <a:lnTo>
                  <a:pt x="89" y="108"/>
                </a:lnTo>
                <a:lnTo>
                  <a:pt x="98" y="104"/>
                </a:lnTo>
                <a:lnTo>
                  <a:pt x="98" y="104"/>
                </a:lnTo>
                <a:close/>
                <a:moveTo>
                  <a:pt x="35" y="160"/>
                </a:moveTo>
                <a:lnTo>
                  <a:pt x="35" y="160"/>
                </a:lnTo>
                <a:lnTo>
                  <a:pt x="34" y="168"/>
                </a:lnTo>
                <a:lnTo>
                  <a:pt x="33" y="174"/>
                </a:lnTo>
                <a:lnTo>
                  <a:pt x="34" y="181"/>
                </a:lnTo>
                <a:lnTo>
                  <a:pt x="38" y="186"/>
                </a:lnTo>
                <a:lnTo>
                  <a:pt x="41" y="189"/>
                </a:lnTo>
                <a:lnTo>
                  <a:pt x="44" y="190"/>
                </a:lnTo>
                <a:lnTo>
                  <a:pt x="48" y="191"/>
                </a:lnTo>
                <a:lnTo>
                  <a:pt x="55" y="193"/>
                </a:lnTo>
                <a:lnTo>
                  <a:pt x="61" y="193"/>
                </a:lnTo>
                <a:lnTo>
                  <a:pt x="70" y="191"/>
                </a:lnTo>
                <a:lnTo>
                  <a:pt x="70" y="191"/>
                </a:lnTo>
                <a:lnTo>
                  <a:pt x="76" y="196"/>
                </a:lnTo>
                <a:lnTo>
                  <a:pt x="82" y="200"/>
                </a:lnTo>
                <a:lnTo>
                  <a:pt x="87" y="204"/>
                </a:lnTo>
                <a:lnTo>
                  <a:pt x="93" y="206"/>
                </a:lnTo>
                <a:lnTo>
                  <a:pt x="96" y="206"/>
                </a:lnTo>
                <a:lnTo>
                  <a:pt x="100" y="206"/>
                </a:lnTo>
                <a:lnTo>
                  <a:pt x="104" y="204"/>
                </a:lnTo>
                <a:lnTo>
                  <a:pt x="108" y="203"/>
                </a:lnTo>
                <a:lnTo>
                  <a:pt x="113" y="198"/>
                </a:lnTo>
                <a:lnTo>
                  <a:pt x="117" y="191"/>
                </a:lnTo>
                <a:lnTo>
                  <a:pt x="120" y="185"/>
                </a:lnTo>
                <a:lnTo>
                  <a:pt x="120" y="180"/>
                </a:lnTo>
                <a:lnTo>
                  <a:pt x="120" y="180"/>
                </a:lnTo>
                <a:lnTo>
                  <a:pt x="120" y="170"/>
                </a:lnTo>
                <a:lnTo>
                  <a:pt x="119" y="160"/>
                </a:lnTo>
                <a:lnTo>
                  <a:pt x="116" y="150"/>
                </a:lnTo>
                <a:lnTo>
                  <a:pt x="112" y="138"/>
                </a:lnTo>
                <a:lnTo>
                  <a:pt x="104" y="120"/>
                </a:lnTo>
                <a:lnTo>
                  <a:pt x="102" y="113"/>
                </a:lnTo>
                <a:lnTo>
                  <a:pt x="102" y="113"/>
                </a:lnTo>
                <a:lnTo>
                  <a:pt x="93" y="116"/>
                </a:lnTo>
                <a:lnTo>
                  <a:pt x="83" y="120"/>
                </a:lnTo>
                <a:lnTo>
                  <a:pt x="72" y="125"/>
                </a:lnTo>
                <a:lnTo>
                  <a:pt x="61" y="131"/>
                </a:lnTo>
                <a:lnTo>
                  <a:pt x="51" y="139"/>
                </a:lnTo>
                <a:lnTo>
                  <a:pt x="42" y="150"/>
                </a:lnTo>
                <a:lnTo>
                  <a:pt x="38" y="155"/>
                </a:lnTo>
                <a:lnTo>
                  <a:pt x="35" y="160"/>
                </a:lnTo>
                <a:lnTo>
                  <a:pt x="35" y="160"/>
                </a:lnTo>
                <a:close/>
                <a:moveTo>
                  <a:pt x="107" y="107"/>
                </a:moveTo>
                <a:lnTo>
                  <a:pt x="107" y="107"/>
                </a:lnTo>
                <a:lnTo>
                  <a:pt x="111" y="113"/>
                </a:lnTo>
                <a:lnTo>
                  <a:pt x="119" y="131"/>
                </a:lnTo>
                <a:lnTo>
                  <a:pt x="130" y="151"/>
                </a:lnTo>
                <a:lnTo>
                  <a:pt x="137" y="159"/>
                </a:lnTo>
                <a:lnTo>
                  <a:pt x="142" y="165"/>
                </a:lnTo>
                <a:lnTo>
                  <a:pt x="142" y="165"/>
                </a:lnTo>
                <a:lnTo>
                  <a:pt x="146" y="169"/>
                </a:lnTo>
                <a:lnTo>
                  <a:pt x="152" y="172"/>
                </a:lnTo>
                <a:lnTo>
                  <a:pt x="159" y="174"/>
                </a:lnTo>
                <a:lnTo>
                  <a:pt x="167" y="174"/>
                </a:lnTo>
                <a:lnTo>
                  <a:pt x="171" y="174"/>
                </a:lnTo>
                <a:lnTo>
                  <a:pt x="173" y="173"/>
                </a:lnTo>
                <a:lnTo>
                  <a:pt x="177" y="170"/>
                </a:lnTo>
                <a:lnTo>
                  <a:pt x="180" y="167"/>
                </a:lnTo>
                <a:lnTo>
                  <a:pt x="184" y="163"/>
                </a:lnTo>
                <a:lnTo>
                  <a:pt x="185" y="156"/>
                </a:lnTo>
                <a:lnTo>
                  <a:pt x="186" y="150"/>
                </a:lnTo>
                <a:lnTo>
                  <a:pt x="187" y="141"/>
                </a:lnTo>
                <a:lnTo>
                  <a:pt x="187" y="141"/>
                </a:lnTo>
                <a:lnTo>
                  <a:pt x="195" y="137"/>
                </a:lnTo>
                <a:lnTo>
                  <a:pt x="200" y="131"/>
                </a:lnTo>
                <a:lnTo>
                  <a:pt x="204" y="128"/>
                </a:lnTo>
                <a:lnTo>
                  <a:pt x="207" y="124"/>
                </a:lnTo>
                <a:lnTo>
                  <a:pt x="208" y="120"/>
                </a:lnTo>
                <a:lnTo>
                  <a:pt x="210" y="116"/>
                </a:lnTo>
                <a:lnTo>
                  <a:pt x="208" y="109"/>
                </a:lnTo>
                <a:lnTo>
                  <a:pt x="204" y="104"/>
                </a:lnTo>
                <a:lnTo>
                  <a:pt x="200" y="100"/>
                </a:lnTo>
                <a:lnTo>
                  <a:pt x="194" y="96"/>
                </a:lnTo>
                <a:lnTo>
                  <a:pt x="194" y="96"/>
                </a:lnTo>
                <a:lnTo>
                  <a:pt x="187" y="92"/>
                </a:lnTo>
                <a:lnTo>
                  <a:pt x="181" y="91"/>
                </a:lnTo>
                <a:lnTo>
                  <a:pt x="174" y="90"/>
                </a:lnTo>
                <a:lnTo>
                  <a:pt x="168" y="90"/>
                </a:lnTo>
                <a:lnTo>
                  <a:pt x="154" y="91"/>
                </a:lnTo>
                <a:lnTo>
                  <a:pt x="139" y="94"/>
                </a:lnTo>
                <a:lnTo>
                  <a:pt x="126" y="98"/>
                </a:lnTo>
                <a:lnTo>
                  <a:pt x="116" y="102"/>
                </a:lnTo>
                <a:lnTo>
                  <a:pt x="107" y="107"/>
                </a:lnTo>
                <a:lnTo>
                  <a:pt x="107" y="107"/>
                </a:lnTo>
                <a:close/>
                <a:moveTo>
                  <a:pt x="137" y="174"/>
                </a:moveTo>
                <a:lnTo>
                  <a:pt x="130" y="180"/>
                </a:lnTo>
                <a:lnTo>
                  <a:pt x="130" y="180"/>
                </a:lnTo>
                <a:lnTo>
                  <a:pt x="133" y="189"/>
                </a:lnTo>
                <a:lnTo>
                  <a:pt x="137" y="198"/>
                </a:lnTo>
                <a:lnTo>
                  <a:pt x="145" y="209"/>
                </a:lnTo>
                <a:lnTo>
                  <a:pt x="158" y="222"/>
                </a:lnTo>
                <a:lnTo>
                  <a:pt x="165" y="228"/>
                </a:lnTo>
                <a:lnTo>
                  <a:pt x="174" y="234"/>
                </a:lnTo>
                <a:lnTo>
                  <a:pt x="185" y="241"/>
                </a:lnTo>
                <a:lnTo>
                  <a:pt x="197" y="247"/>
                </a:lnTo>
                <a:lnTo>
                  <a:pt x="211" y="252"/>
                </a:lnTo>
                <a:lnTo>
                  <a:pt x="226" y="257"/>
                </a:lnTo>
                <a:lnTo>
                  <a:pt x="226" y="257"/>
                </a:lnTo>
                <a:lnTo>
                  <a:pt x="230" y="234"/>
                </a:lnTo>
                <a:lnTo>
                  <a:pt x="230" y="234"/>
                </a:lnTo>
                <a:lnTo>
                  <a:pt x="219" y="233"/>
                </a:lnTo>
                <a:lnTo>
                  <a:pt x="207" y="231"/>
                </a:lnTo>
                <a:lnTo>
                  <a:pt x="197" y="229"/>
                </a:lnTo>
                <a:lnTo>
                  <a:pt x="187" y="225"/>
                </a:lnTo>
                <a:lnTo>
                  <a:pt x="180" y="220"/>
                </a:lnTo>
                <a:lnTo>
                  <a:pt x="172" y="216"/>
                </a:lnTo>
                <a:lnTo>
                  <a:pt x="159" y="204"/>
                </a:lnTo>
                <a:lnTo>
                  <a:pt x="148" y="194"/>
                </a:lnTo>
                <a:lnTo>
                  <a:pt x="142" y="185"/>
                </a:lnTo>
                <a:lnTo>
                  <a:pt x="137" y="174"/>
                </a:lnTo>
                <a:lnTo>
                  <a:pt x="137" y="174"/>
                </a:ln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2" name="Freeform 364"/>
          <p:cNvSpPr>
            <a:spLocks noEditPoints="1"/>
          </p:cNvSpPr>
          <p:nvPr/>
        </p:nvSpPr>
        <p:spPr bwMode="auto">
          <a:xfrm>
            <a:off x="7157479" y="1127160"/>
            <a:ext cx="844022" cy="877781"/>
          </a:xfrm>
          <a:custGeom>
            <a:avLst/>
            <a:gdLst>
              <a:gd name="T0" fmla="*/ 247 w 251"/>
              <a:gd name="T1" fmla="*/ 173 h 258"/>
              <a:gd name="T2" fmla="*/ 212 w 251"/>
              <a:gd name="T3" fmla="*/ 218 h 258"/>
              <a:gd name="T4" fmla="*/ 157 w 251"/>
              <a:gd name="T5" fmla="*/ 238 h 258"/>
              <a:gd name="T6" fmla="*/ 101 w 251"/>
              <a:gd name="T7" fmla="*/ 252 h 258"/>
              <a:gd name="T8" fmla="*/ 47 w 251"/>
              <a:gd name="T9" fmla="*/ 232 h 258"/>
              <a:gd name="T10" fmla="*/ 13 w 251"/>
              <a:gd name="T11" fmla="*/ 186 h 258"/>
              <a:gd name="T12" fmla="*/ 10 w 251"/>
              <a:gd name="T13" fmla="*/ 127 h 258"/>
              <a:gd name="T14" fmla="*/ 14 w 251"/>
              <a:gd name="T15" fmla="*/ 70 h 258"/>
              <a:gd name="T16" fmla="*/ 49 w 251"/>
              <a:gd name="T17" fmla="*/ 23 h 258"/>
              <a:gd name="T18" fmla="*/ 114 w 251"/>
              <a:gd name="T19" fmla="*/ 1 h 258"/>
              <a:gd name="T20" fmla="*/ 151 w 251"/>
              <a:gd name="T21" fmla="*/ 9 h 258"/>
              <a:gd name="T22" fmla="*/ 183 w 251"/>
              <a:gd name="T23" fmla="*/ 18 h 258"/>
              <a:gd name="T24" fmla="*/ 217 w 251"/>
              <a:gd name="T25" fmla="*/ 44 h 258"/>
              <a:gd name="T26" fmla="*/ 249 w 251"/>
              <a:gd name="T27" fmla="*/ 92 h 258"/>
              <a:gd name="T28" fmla="*/ 233 w 251"/>
              <a:gd name="T29" fmla="*/ 97 h 258"/>
              <a:gd name="T30" fmla="*/ 200 w 251"/>
              <a:gd name="T31" fmla="*/ 47 h 258"/>
              <a:gd name="T32" fmla="*/ 156 w 251"/>
              <a:gd name="T33" fmla="*/ 37 h 258"/>
              <a:gd name="T34" fmla="*/ 106 w 251"/>
              <a:gd name="T35" fmla="*/ 22 h 258"/>
              <a:gd name="T36" fmla="*/ 58 w 251"/>
              <a:gd name="T37" fmla="*/ 37 h 258"/>
              <a:gd name="T38" fmla="*/ 22 w 251"/>
              <a:gd name="T39" fmla="*/ 84 h 258"/>
              <a:gd name="T40" fmla="*/ 21 w 251"/>
              <a:gd name="T41" fmla="*/ 135 h 258"/>
              <a:gd name="T42" fmla="*/ 44 w 251"/>
              <a:gd name="T43" fmla="*/ 186 h 258"/>
              <a:gd name="T44" fmla="*/ 74 w 251"/>
              <a:gd name="T45" fmla="*/ 226 h 258"/>
              <a:gd name="T46" fmla="*/ 122 w 251"/>
              <a:gd name="T47" fmla="*/ 242 h 258"/>
              <a:gd name="T48" fmla="*/ 181 w 251"/>
              <a:gd name="T49" fmla="*/ 226 h 258"/>
              <a:gd name="T50" fmla="*/ 212 w 251"/>
              <a:gd name="T51" fmla="*/ 187 h 258"/>
              <a:gd name="T52" fmla="*/ 223 w 251"/>
              <a:gd name="T53" fmla="*/ 131 h 258"/>
              <a:gd name="T54" fmla="*/ 218 w 251"/>
              <a:gd name="T55" fmla="*/ 162 h 258"/>
              <a:gd name="T56" fmla="*/ 187 w 251"/>
              <a:gd name="T57" fmla="*/ 205 h 258"/>
              <a:gd name="T58" fmla="*/ 145 w 251"/>
              <a:gd name="T59" fmla="*/ 219 h 258"/>
              <a:gd name="T60" fmla="*/ 96 w 251"/>
              <a:gd name="T61" fmla="*/ 212 h 258"/>
              <a:gd name="T62" fmla="*/ 54 w 251"/>
              <a:gd name="T63" fmla="*/ 195 h 258"/>
              <a:gd name="T64" fmla="*/ 30 w 251"/>
              <a:gd name="T65" fmla="*/ 158 h 258"/>
              <a:gd name="T66" fmla="*/ 28 w 251"/>
              <a:gd name="T67" fmla="*/ 105 h 258"/>
              <a:gd name="T68" fmla="*/ 54 w 251"/>
              <a:gd name="T69" fmla="*/ 69 h 258"/>
              <a:gd name="T70" fmla="*/ 97 w 251"/>
              <a:gd name="T71" fmla="*/ 45 h 258"/>
              <a:gd name="T72" fmla="*/ 142 w 251"/>
              <a:gd name="T73" fmla="*/ 35 h 258"/>
              <a:gd name="T74" fmla="*/ 186 w 251"/>
              <a:gd name="T75" fmla="*/ 50 h 258"/>
              <a:gd name="T76" fmla="*/ 217 w 251"/>
              <a:gd name="T77" fmla="*/ 93 h 258"/>
              <a:gd name="T78" fmla="*/ 217 w 251"/>
              <a:gd name="T79" fmla="*/ 138 h 258"/>
              <a:gd name="T80" fmla="*/ 131 w 251"/>
              <a:gd name="T81" fmla="*/ 184 h 258"/>
              <a:gd name="T82" fmla="*/ 131 w 251"/>
              <a:gd name="T83" fmla="*/ 117 h 258"/>
              <a:gd name="T84" fmla="*/ 131 w 251"/>
              <a:gd name="T85" fmla="*/ 151 h 258"/>
              <a:gd name="T86" fmla="*/ 83 w 251"/>
              <a:gd name="T87" fmla="*/ 175 h 258"/>
              <a:gd name="T88" fmla="*/ 92 w 251"/>
              <a:gd name="T89" fmla="*/ 109 h 258"/>
              <a:gd name="T90" fmla="*/ 90 w 251"/>
              <a:gd name="T91" fmla="*/ 126 h 258"/>
              <a:gd name="T92" fmla="*/ 66 w 251"/>
              <a:gd name="T93" fmla="*/ 126 h 258"/>
              <a:gd name="T94" fmla="*/ 73 w 251"/>
              <a:gd name="T95" fmla="*/ 151 h 258"/>
              <a:gd name="T96" fmla="*/ 97 w 251"/>
              <a:gd name="T97" fmla="*/ 151 h 258"/>
              <a:gd name="T98" fmla="*/ 100 w 251"/>
              <a:gd name="T99" fmla="*/ 66 h 258"/>
              <a:gd name="T100" fmla="*/ 182 w 251"/>
              <a:gd name="T101" fmla="*/ 109 h 258"/>
              <a:gd name="T102" fmla="*/ 140 w 251"/>
              <a:gd name="T103" fmla="*/ 117 h 258"/>
              <a:gd name="T104" fmla="*/ 165 w 251"/>
              <a:gd name="T105" fmla="*/ 151 h 258"/>
              <a:gd name="T106" fmla="*/ 161 w 251"/>
              <a:gd name="T107" fmla="*/ 170 h 258"/>
              <a:gd name="T108" fmla="*/ 194 w 251"/>
              <a:gd name="T109" fmla="*/ 151 h 258"/>
              <a:gd name="T110" fmla="*/ 199 w 251"/>
              <a:gd name="T111" fmla="*/ 140 h 258"/>
              <a:gd name="T112" fmla="*/ 187 w 251"/>
              <a:gd name="T113" fmla="*/ 144 h 258"/>
              <a:gd name="T114" fmla="*/ 187 w 251"/>
              <a:gd name="T115" fmla="*/ 121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251" h="258">
                <a:moveTo>
                  <a:pt x="239" y="132"/>
                </a:moveTo>
                <a:lnTo>
                  <a:pt x="239" y="132"/>
                </a:lnTo>
                <a:lnTo>
                  <a:pt x="244" y="140"/>
                </a:lnTo>
                <a:lnTo>
                  <a:pt x="248" y="151"/>
                </a:lnTo>
                <a:lnTo>
                  <a:pt x="249" y="161"/>
                </a:lnTo>
                <a:lnTo>
                  <a:pt x="248" y="166"/>
                </a:lnTo>
                <a:lnTo>
                  <a:pt x="247" y="173"/>
                </a:lnTo>
                <a:lnTo>
                  <a:pt x="247" y="173"/>
                </a:lnTo>
                <a:lnTo>
                  <a:pt x="244" y="177"/>
                </a:lnTo>
                <a:lnTo>
                  <a:pt x="242" y="182"/>
                </a:lnTo>
                <a:lnTo>
                  <a:pt x="234" y="190"/>
                </a:lnTo>
                <a:lnTo>
                  <a:pt x="225" y="195"/>
                </a:lnTo>
                <a:lnTo>
                  <a:pt x="216" y="199"/>
                </a:lnTo>
                <a:lnTo>
                  <a:pt x="216" y="199"/>
                </a:lnTo>
                <a:lnTo>
                  <a:pt x="214" y="209"/>
                </a:lnTo>
                <a:lnTo>
                  <a:pt x="212" y="218"/>
                </a:lnTo>
                <a:lnTo>
                  <a:pt x="207" y="227"/>
                </a:lnTo>
                <a:lnTo>
                  <a:pt x="199" y="235"/>
                </a:lnTo>
                <a:lnTo>
                  <a:pt x="199" y="235"/>
                </a:lnTo>
                <a:lnTo>
                  <a:pt x="188" y="240"/>
                </a:lnTo>
                <a:lnTo>
                  <a:pt x="178" y="242"/>
                </a:lnTo>
                <a:lnTo>
                  <a:pt x="168" y="242"/>
                </a:lnTo>
                <a:lnTo>
                  <a:pt x="157" y="238"/>
                </a:lnTo>
                <a:lnTo>
                  <a:pt x="157" y="238"/>
                </a:lnTo>
                <a:lnTo>
                  <a:pt x="151" y="247"/>
                </a:lnTo>
                <a:lnTo>
                  <a:pt x="143" y="253"/>
                </a:lnTo>
                <a:lnTo>
                  <a:pt x="132" y="257"/>
                </a:lnTo>
                <a:lnTo>
                  <a:pt x="122" y="258"/>
                </a:lnTo>
                <a:lnTo>
                  <a:pt x="122" y="258"/>
                </a:lnTo>
                <a:lnTo>
                  <a:pt x="117" y="257"/>
                </a:lnTo>
                <a:lnTo>
                  <a:pt x="112" y="256"/>
                </a:lnTo>
                <a:lnTo>
                  <a:pt x="101" y="252"/>
                </a:lnTo>
                <a:lnTo>
                  <a:pt x="93" y="245"/>
                </a:lnTo>
                <a:lnTo>
                  <a:pt x="87" y="236"/>
                </a:lnTo>
                <a:lnTo>
                  <a:pt x="87" y="236"/>
                </a:lnTo>
                <a:lnTo>
                  <a:pt x="78" y="240"/>
                </a:lnTo>
                <a:lnTo>
                  <a:pt x="67" y="240"/>
                </a:lnTo>
                <a:lnTo>
                  <a:pt x="57" y="238"/>
                </a:lnTo>
                <a:lnTo>
                  <a:pt x="52" y="235"/>
                </a:lnTo>
                <a:lnTo>
                  <a:pt x="47" y="232"/>
                </a:lnTo>
                <a:lnTo>
                  <a:pt x="47" y="232"/>
                </a:lnTo>
                <a:lnTo>
                  <a:pt x="39" y="225"/>
                </a:lnTo>
                <a:lnTo>
                  <a:pt x="34" y="216"/>
                </a:lnTo>
                <a:lnTo>
                  <a:pt x="31" y="205"/>
                </a:lnTo>
                <a:lnTo>
                  <a:pt x="31" y="195"/>
                </a:lnTo>
                <a:lnTo>
                  <a:pt x="31" y="195"/>
                </a:lnTo>
                <a:lnTo>
                  <a:pt x="22" y="191"/>
                </a:lnTo>
                <a:lnTo>
                  <a:pt x="13" y="186"/>
                </a:lnTo>
                <a:lnTo>
                  <a:pt x="6" y="178"/>
                </a:lnTo>
                <a:lnTo>
                  <a:pt x="4" y="173"/>
                </a:lnTo>
                <a:lnTo>
                  <a:pt x="1" y="167"/>
                </a:lnTo>
                <a:lnTo>
                  <a:pt x="1" y="167"/>
                </a:lnTo>
                <a:lnTo>
                  <a:pt x="0" y="156"/>
                </a:lnTo>
                <a:lnTo>
                  <a:pt x="0" y="145"/>
                </a:lnTo>
                <a:lnTo>
                  <a:pt x="4" y="136"/>
                </a:lnTo>
                <a:lnTo>
                  <a:pt x="10" y="127"/>
                </a:lnTo>
                <a:lnTo>
                  <a:pt x="10" y="127"/>
                </a:lnTo>
                <a:lnTo>
                  <a:pt x="5" y="119"/>
                </a:lnTo>
                <a:lnTo>
                  <a:pt x="1" y="109"/>
                </a:lnTo>
                <a:lnTo>
                  <a:pt x="0" y="99"/>
                </a:lnTo>
                <a:lnTo>
                  <a:pt x="2" y="88"/>
                </a:lnTo>
                <a:lnTo>
                  <a:pt x="2" y="88"/>
                </a:lnTo>
                <a:lnTo>
                  <a:pt x="6" y="78"/>
                </a:lnTo>
                <a:lnTo>
                  <a:pt x="14" y="70"/>
                </a:lnTo>
                <a:lnTo>
                  <a:pt x="23" y="65"/>
                </a:lnTo>
                <a:lnTo>
                  <a:pt x="32" y="61"/>
                </a:lnTo>
                <a:lnTo>
                  <a:pt x="32" y="61"/>
                </a:lnTo>
                <a:lnTo>
                  <a:pt x="32" y="50"/>
                </a:lnTo>
                <a:lnTo>
                  <a:pt x="36" y="40"/>
                </a:lnTo>
                <a:lnTo>
                  <a:pt x="41" y="31"/>
                </a:lnTo>
                <a:lnTo>
                  <a:pt x="49" y="23"/>
                </a:lnTo>
                <a:lnTo>
                  <a:pt x="49" y="23"/>
                </a:lnTo>
                <a:lnTo>
                  <a:pt x="58" y="18"/>
                </a:lnTo>
                <a:lnTo>
                  <a:pt x="69" y="17"/>
                </a:lnTo>
                <a:lnTo>
                  <a:pt x="79" y="17"/>
                </a:lnTo>
                <a:lnTo>
                  <a:pt x="90" y="21"/>
                </a:lnTo>
                <a:lnTo>
                  <a:pt x="90" y="21"/>
                </a:lnTo>
                <a:lnTo>
                  <a:pt x="96" y="11"/>
                </a:lnTo>
                <a:lnTo>
                  <a:pt x="104" y="5"/>
                </a:lnTo>
                <a:lnTo>
                  <a:pt x="114" y="1"/>
                </a:lnTo>
                <a:lnTo>
                  <a:pt x="119" y="0"/>
                </a:lnTo>
                <a:lnTo>
                  <a:pt x="125" y="0"/>
                </a:lnTo>
                <a:lnTo>
                  <a:pt x="125" y="0"/>
                </a:lnTo>
                <a:lnTo>
                  <a:pt x="131" y="0"/>
                </a:lnTo>
                <a:lnTo>
                  <a:pt x="136" y="1"/>
                </a:lnTo>
                <a:lnTo>
                  <a:pt x="142" y="4"/>
                </a:lnTo>
                <a:lnTo>
                  <a:pt x="147" y="6"/>
                </a:lnTo>
                <a:lnTo>
                  <a:pt x="151" y="9"/>
                </a:lnTo>
                <a:lnTo>
                  <a:pt x="155" y="13"/>
                </a:lnTo>
                <a:lnTo>
                  <a:pt x="158" y="18"/>
                </a:lnTo>
                <a:lnTo>
                  <a:pt x="161" y="23"/>
                </a:lnTo>
                <a:lnTo>
                  <a:pt x="161" y="23"/>
                </a:lnTo>
                <a:lnTo>
                  <a:pt x="166" y="21"/>
                </a:lnTo>
                <a:lnTo>
                  <a:pt x="171" y="19"/>
                </a:lnTo>
                <a:lnTo>
                  <a:pt x="178" y="18"/>
                </a:lnTo>
                <a:lnTo>
                  <a:pt x="183" y="18"/>
                </a:lnTo>
                <a:lnTo>
                  <a:pt x="188" y="19"/>
                </a:lnTo>
                <a:lnTo>
                  <a:pt x="194" y="21"/>
                </a:lnTo>
                <a:lnTo>
                  <a:pt x="200" y="23"/>
                </a:lnTo>
                <a:lnTo>
                  <a:pt x="204" y="27"/>
                </a:lnTo>
                <a:lnTo>
                  <a:pt x="204" y="27"/>
                </a:lnTo>
                <a:lnTo>
                  <a:pt x="209" y="31"/>
                </a:lnTo>
                <a:lnTo>
                  <a:pt x="212" y="35"/>
                </a:lnTo>
                <a:lnTo>
                  <a:pt x="217" y="44"/>
                </a:lnTo>
                <a:lnTo>
                  <a:pt x="220" y="54"/>
                </a:lnTo>
                <a:lnTo>
                  <a:pt x="220" y="65"/>
                </a:lnTo>
                <a:lnTo>
                  <a:pt x="220" y="65"/>
                </a:lnTo>
                <a:lnTo>
                  <a:pt x="229" y="69"/>
                </a:lnTo>
                <a:lnTo>
                  <a:pt x="238" y="74"/>
                </a:lnTo>
                <a:lnTo>
                  <a:pt x="244" y="83"/>
                </a:lnTo>
                <a:lnTo>
                  <a:pt x="249" y="92"/>
                </a:lnTo>
                <a:lnTo>
                  <a:pt x="249" y="92"/>
                </a:lnTo>
                <a:lnTo>
                  <a:pt x="251" y="99"/>
                </a:lnTo>
                <a:lnTo>
                  <a:pt x="251" y="104"/>
                </a:lnTo>
                <a:lnTo>
                  <a:pt x="249" y="114"/>
                </a:lnTo>
                <a:lnTo>
                  <a:pt x="246" y="123"/>
                </a:lnTo>
                <a:lnTo>
                  <a:pt x="239" y="132"/>
                </a:lnTo>
                <a:lnTo>
                  <a:pt x="239" y="132"/>
                </a:lnTo>
                <a:close/>
                <a:moveTo>
                  <a:pt x="233" y="97"/>
                </a:moveTo>
                <a:lnTo>
                  <a:pt x="233" y="97"/>
                </a:lnTo>
                <a:lnTo>
                  <a:pt x="229" y="88"/>
                </a:lnTo>
                <a:lnTo>
                  <a:pt x="223" y="82"/>
                </a:lnTo>
                <a:lnTo>
                  <a:pt x="216" y="76"/>
                </a:lnTo>
                <a:lnTo>
                  <a:pt x="207" y="73"/>
                </a:lnTo>
                <a:lnTo>
                  <a:pt x="207" y="73"/>
                </a:lnTo>
                <a:lnTo>
                  <a:pt x="207" y="63"/>
                </a:lnTo>
                <a:lnTo>
                  <a:pt x="205" y="56"/>
                </a:lnTo>
                <a:lnTo>
                  <a:pt x="200" y="47"/>
                </a:lnTo>
                <a:lnTo>
                  <a:pt x="194" y="40"/>
                </a:lnTo>
                <a:lnTo>
                  <a:pt x="194" y="40"/>
                </a:lnTo>
                <a:lnTo>
                  <a:pt x="190" y="37"/>
                </a:lnTo>
                <a:lnTo>
                  <a:pt x="184" y="35"/>
                </a:lnTo>
                <a:lnTo>
                  <a:pt x="175" y="32"/>
                </a:lnTo>
                <a:lnTo>
                  <a:pt x="166" y="34"/>
                </a:lnTo>
                <a:lnTo>
                  <a:pt x="156" y="37"/>
                </a:lnTo>
                <a:lnTo>
                  <a:pt x="156" y="37"/>
                </a:lnTo>
                <a:lnTo>
                  <a:pt x="151" y="28"/>
                </a:lnTo>
                <a:lnTo>
                  <a:pt x="144" y="22"/>
                </a:lnTo>
                <a:lnTo>
                  <a:pt x="135" y="18"/>
                </a:lnTo>
                <a:lnTo>
                  <a:pt x="130" y="17"/>
                </a:lnTo>
                <a:lnTo>
                  <a:pt x="125" y="17"/>
                </a:lnTo>
                <a:lnTo>
                  <a:pt x="125" y="17"/>
                </a:lnTo>
                <a:lnTo>
                  <a:pt x="116" y="18"/>
                </a:lnTo>
                <a:lnTo>
                  <a:pt x="106" y="22"/>
                </a:lnTo>
                <a:lnTo>
                  <a:pt x="100" y="27"/>
                </a:lnTo>
                <a:lnTo>
                  <a:pt x="95" y="35"/>
                </a:lnTo>
                <a:lnTo>
                  <a:pt x="95" y="35"/>
                </a:lnTo>
                <a:lnTo>
                  <a:pt x="86" y="31"/>
                </a:lnTo>
                <a:lnTo>
                  <a:pt x="77" y="31"/>
                </a:lnTo>
                <a:lnTo>
                  <a:pt x="67" y="34"/>
                </a:lnTo>
                <a:lnTo>
                  <a:pt x="58" y="37"/>
                </a:lnTo>
                <a:lnTo>
                  <a:pt x="58" y="37"/>
                </a:lnTo>
                <a:lnTo>
                  <a:pt x="52" y="44"/>
                </a:lnTo>
                <a:lnTo>
                  <a:pt x="48" y="52"/>
                </a:lnTo>
                <a:lnTo>
                  <a:pt x="45" y="61"/>
                </a:lnTo>
                <a:lnTo>
                  <a:pt x="45" y="70"/>
                </a:lnTo>
                <a:lnTo>
                  <a:pt x="45" y="70"/>
                </a:lnTo>
                <a:lnTo>
                  <a:pt x="36" y="73"/>
                </a:lnTo>
                <a:lnTo>
                  <a:pt x="28" y="78"/>
                </a:lnTo>
                <a:lnTo>
                  <a:pt x="22" y="84"/>
                </a:lnTo>
                <a:lnTo>
                  <a:pt x="18" y="93"/>
                </a:lnTo>
                <a:lnTo>
                  <a:pt x="18" y="93"/>
                </a:lnTo>
                <a:lnTo>
                  <a:pt x="17" y="102"/>
                </a:lnTo>
                <a:lnTo>
                  <a:pt x="17" y="112"/>
                </a:lnTo>
                <a:lnTo>
                  <a:pt x="21" y="121"/>
                </a:lnTo>
                <a:lnTo>
                  <a:pt x="26" y="127"/>
                </a:lnTo>
                <a:lnTo>
                  <a:pt x="26" y="127"/>
                </a:lnTo>
                <a:lnTo>
                  <a:pt x="21" y="135"/>
                </a:lnTo>
                <a:lnTo>
                  <a:pt x="17" y="144"/>
                </a:lnTo>
                <a:lnTo>
                  <a:pt x="15" y="153"/>
                </a:lnTo>
                <a:lnTo>
                  <a:pt x="17" y="162"/>
                </a:lnTo>
                <a:lnTo>
                  <a:pt x="17" y="162"/>
                </a:lnTo>
                <a:lnTo>
                  <a:pt x="22" y="171"/>
                </a:lnTo>
                <a:lnTo>
                  <a:pt x="27" y="178"/>
                </a:lnTo>
                <a:lnTo>
                  <a:pt x="35" y="183"/>
                </a:lnTo>
                <a:lnTo>
                  <a:pt x="44" y="186"/>
                </a:lnTo>
                <a:lnTo>
                  <a:pt x="44" y="186"/>
                </a:lnTo>
                <a:lnTo>
                  <a:pt x="44" y="195"/>
                </a:lnTo>
                <a:lnTo>
                  <a:pt x="45" y="204"/>
                </a:lnTo>
                <a:lnTo>
                  <a:pt x="51" y="212"/>
                </a:lnTo>
                <a:lnTo>
                  <a:pt x="57" y="218"/>
                </a:lnTo>
                <a:lnTo>
                  <a:pt x="57" y="218"/>
                </a:lnTo>
                <a:lnTo>
                  <a:pt x="66" y="223"/>
                </a:lnTo>
                <a:lnTo>
                  <a:pt x="74" y="226"/>
                </a:lnTo>
                <a:lnTo>
                  <a:pt x="83" y="225"/>
                </a:lnTo>
                <a:lnTo>
                  <a:pt x="92" y="222"/>
                </a:lnTo>
                <a:lnTo>
                  <a:pt x="92" y="222"/>
                </a:lnTo>
                <a:lnTo>
                  <a:pt x="97" y="230"/>
                </a:lnTo>
                <a:lnTo>
                  <a:pt x="105" y="236"/>
                </a:lnTo>
                <a:lnTo>
                  <a:pt x="113" y="240"/>
                </a:lnTo>
                <a:lnTo>
                  <a:pt x="122" y="242"/>
                </a:lnTo>
                <a:lnTo>
                  <a:pt x="122" y="242"/>
                </a:lnTo>
                <a:lnTo>
                  <a:pt x="132" y="240"/>
                </a:lnTo>
                <a:lnTo>
                  <a:pt x="140" y="236"/>
                </a:lnTo>
                <a:lnTo>
                  <a:pt x="148" y="231"/>
                </a:lnTo>
                <a:lnTo>
                  <a:pt x="153" y="223"/>
                </a:lnTo>
                <a:lnTo>
                  <a:pt x="153" y="223"/>
                </a:lnTo>
                <a:lnTo>
                  <a:pt x="162" y="227"/>
                </a:lnTo>
                <a:lnTo>
                  <a:pt x="171" y="227"/>
                </a:lnTo>
                <a:lnTo>
                  <a:pt x="181" y="226"/>
                </a:lnTo>
                <a:lnTo>
                  <a:pt x="188" y="221"/>
                </a:lnTo>
                <a:lnTo>
                  <a:pt x="188" y="221"/>
                </a:lnTo>
                <a:lnTo>
                  <a:pt x="196" y="214"/>
                </a:lnTo>
                <a:lnTo>
                  <a:pt x="200" y="206"/>
                </a:lnTo>
                <a:lnTo>
                  <a:pt x="203" y="199"/>
                </a:lnTo>
                <a:lnTo>
                  <a:pt x="204" y="190"/>
                </a:lnTo>
                <a:lnTo>
                  <a:pt x="204" y="190"/>
                </a:lnTo>
                <a:lnTo>
                  <a:pt x="212" y="187"/>
                </a:lnTo>
                <a:lnTo>
                  <a:pt x="220" y="182"/>
                </a:lnTo>
                <a:lnTo>
                  <a:pt x="226" y="175"/>
                </a:lnTo>
                <a:lnTo>
                  <a:pt x="231" y="166"/>
                </a:lnTo>
                <a:lnTo>
                  <a:pt x="231" y="166"/>
                </a:lnTo>
                <a:lnTo>
                  <a:pt x="233" y="157"/>
                </a:lnTo>
                <a:lnTo>
                  <a:pt x="233" y="148"/>
                </a:lnTo>
                <a:lnTo>
                  <a:pt x="229" y="139"/>
                </a:lnTo>
                <a:lnTo>
                  <a:pt x="223" y="131"/>
                </a:lnTo>
                <a:lnTo>
                  <a:pt x="223" y="131"/>
                </a:lnTo>
                <a:lnTo>
                  <a:pt x="230" y="125"/>
                </a:lnTo>
                <a:lnTo>
                  <a:pt x="233" y="115"/>
                </a:lnTo>
                <a:lnTo>
                  <a:pt x="234" y="106"/>
                </a:lnTo>
                <a:lnTo>
                  <a:pt x="233" y="97"/>
                </a:lnTo>
                <a:lnTo>
                  <a:pt x="233" y="97"/>
                </a:lnTo>
                <a:close/>
                <a:moveTo>
                  <a:pt x="218" y="162"/>
                </a:moveTo>
                <a:lnTo>
                  <a:pt x="218" y="162"/>
                </a:lnTo>
                <a:lnTo>
                  <a:pt x="214" y="170"/>
                </a:lnTo>
                <a:lnTo>
                  <a:pt x="209" y="175"/>
                </a:lnTo>
                <a:lnTo>
                  <a:pt x="203" y="179"/>
                </a:lnTo>
                <a:lnTo>
                  <a:pt x="195" y="182"/>
                </a:lnTo>
                <a:lnTo>
                  <a:pt x="195" y="182"/>
                </a:lnTo>
                <a:lnTo>
                  <a:pt x="194" y="190"/>
                </a:lnTo>
                <a:lnTo>
                  <a:pt x="192" y="197"/>
                </a:lnTo>
                <a:lnTo>
                  <a:pt x="187" y="205"/>
                </a:lnTo>
                <a:lnTo>
                  <a:pt x="182" y="210"/>
                </a:lnTo>
                <a:lnTo>
                  <a:pt x="182" y="210"/>
                </a:lnTo>
                <a:lnTo>
                  <a:pt x="174" y="214"/>
                </a:lnTo>
                <a:lnTo>
                  <a:pt x="166" y="216"/>
                </a:lnTo>
                <a:lnTo>
                  <a:pt x="157" y="216"/>
                </a:lnTo>
                <a:lnTo>
                  <a:pt x="151" y="213"/>
                </a:lnTo>
                <a:lnTo>
                  <a:pt x="151" y="213"/>
                </a:lnTo>
                <a:lnTo>
                  <a:pt x="145" y="219"/>
                </a:lnTo>
                <a:lnTo>
                  <a:pt x="139" y="223"/>
                </a:lnTo>
                <a:lnTo>
                  <a:pt x="131" y="227"/>
                </a:lnTo>
                <a:lnTo>
                  <a:pt x="123" y="229"/>
                </a:lnTo>
                <a:lnTo>
                  <a:pt x="123" y="229"/>
                </a:lnTo>
                <a:lnTo>
                  <a:pt x="114" y="227"/>
                </a:lnTo>
                <a:lnTo>
                  <a:pt x="106" y="223"/>
                </a:lnTo>
                <a:lnTo>
                  <a:pt x="101" y="218"/>
                </a:lnTo>
                <a:lnTo>
                  <a:pt x="96" y="212"/>
                </a:lnTo>
                <a:lnTo>
                  <a:pt x="96" y="212"/>
                </a:lnTo>
                <a:lnTo>
                  <a:pt x="88" y="214"/>
                </a:lnTo>
                <a:lnTo>
                  <a:pt x="80" y="214"/>
                </a:lnTo>
                <a:lnTo>
                  <a:pt x="73" y="212"/>
                </a:lnTo>
                <a:lnTo>
                  <a:pt x="65" y="208"/>
                </a:lnTo>
                <a:lnTo>
                  <a:pt x="65" y="208"/>
                </a:lnTo>
                <a:lnTo>
                  <a:pt x="60" y="203"/>
                </a:lnTo>
                <a:lnTo>
                  <a:pt x="54" y="195"/>
                </a:lnTo>
                <a:lnTo>
                  <a:pt x="53" y="187"/>
                </a:lnTo>
                <a:lnTo>
                  <a:pt x="53" y="179"/>
                </a:lnTo>
                <a:lnTo>
                  <a:pt x="53" y="179"/>
                </a:lnTo>
                <a:lnTo>
                  <a:pt x="45" y="177"/>
                </a:lnTo>
                <a:lnTo>
                  <a:pt x="39" y="173"/>
                </a:lnTo>
                <a:lnTo>
                  <a:pt x="34" y="166"/>
                </a:lnTo>
                <a:lnTo>
                  <a:pt x="30" y="158"/>
                </a:lnTo>
                <a:lnTo>
                  <a:pt x="30" y="158"/>
                </a:lnTo>
                <a:lnTo>
                  <a:pt x="28" y="151"/>
                </a:lnTo>
                <a:lnTo>
                  <a:pt x="30" y="141"/>
                </a:lnTo>
                <a:lnTo>
                  <a:pt x="32" y="135"/>
                </a:lnTo>
                <a:lnTo>
                  <a:pt x="38" y="128"/>
                </a:lnTo>
                <a:lnTo>
                  <a:pt x="38" y="128"/>
                </a:lnTo>
                <a:lnTo>
                  <a:pt x="32" y="121"/>
                </a:lnTo>
                <a:lnTo>
                  <a:pt x="30" y="114"/>
                </a:lnTo>
                <a:lnTo>
                  <a:pt x="28" y="105"/>
                </a:lnTo>
                <a:lnTo>
                  <a:pt x="31" y="97"/>
                </a:lnTo>
                <a:lnTo>
                  <a:pt x="31" y="97"/>
                </a:lnTo>
                <a:lnTo>
                  <a:pt x="34" y="89"/>
                </a:lnTo>
                <a:lnTo>
                  <a:pt x="40" y="84"/>
                </a:lnTo>
                <a:lnTo>
                  <a:pt x="47" y="79"/>
                </a:lnTo>
                <a:lnTo>
                  <a:pt x="54" y="76"/>
                </a:lnTo>
                <a:lnTo>
                  <a:pt x="54" y="76"/>
                </a:lnTo>
                <a:lnTo>
                  <a:pt x="54" y="69"/>
                </a:lnTo>
                <a:lnTo>
                  <a:pt x="56" y="61"/>
                </a:lnTo>
                <a:lnTo>
                  <a:pt x="61" y="54"/>
                </a:lnTo>
                <a:lnTo>
                  <a:pt x="66" y="48"/>
                </a:lnTo>
                <a:lnTo>
                  <a:pt x="66" y="48"/>
                </a:lnTo>
                <a:lnTo>
                  <a:pt x="74" y="44"/>
                </a:lnTo>
                <a:lnTo>
                  <a:pt x="82" y="43"/>
                </a:lnTo>
                <a:lnTo>
                  <a:pt x="90" y="43"/>
                </a:lnTo>
                <a:lnTo>
                  <a:pt x="97" y="45"/>
                </a:lnTo>
                <a:lnTo>
                  <a:pt x="97" y="45"/>
                </a:lnTo>
                <a:lnTo>
                  <a:pt x="103" y="39"/>
                </a:lnTo>
                <a:lnTo>
                  <a:pt x="109" y="34"/>
                </a:lnTo>
                <a:lnTo>
                  <a:pt x="117" y="31"/>
                </a:lnTo>
                <a:lnTo>
                  <a:pt x="125" y="30"/>
                </a:lnTo>
                <a:lnTo>
                  <a:pt x="125" y="30"/>
                </a:lnTo>
                <a:lnTo>
                  <a:pt x="134" y="31"/>
                </a:lnTo>
                <a:lnTo>
                  <a:pt x="142" y="35"/>
                </a:lnTo>
                <a:lnTo>
                  <a:pt x="148" y="40"/>
                </a:lnTo>
                <a:lnTo>
                  <a:pt x="153" y="48"/>
                </a:lnTo>
                <a:lnTo>
                  <a:pt x="153" y="48"/>
                </a:lnTo>
                <a:lnTo>
                  <a:pt x="161" y="44"/>
                </a:lnTo>
                <a:lnTo>
                  <a:pt x="170" y="44"/>
                </a:lnTo>
                <a:lnTo>
                  <a:pt x="178" y="47"/>
                </a:lnTo>
                <a:lnTo>
                  <a:pt x="186" y="50"/>
                </a:lnTo>
                <a:lnTo>
                  <a:pt x="186" y="50"/>
                </a:lnTo>
                <a:lnTo>
                  <a:pt x="192" y="57"/>
                </a:lnTo>
                <a:lnTo>
                  <a:pt x="196" y="63"/>
                </a:lnTo>
                <a:lnTo>
                  <a:pt x="197" y="71"/>
                </a:lnTo>
                <a:lnTo>
                  <a:pt x="197" y="79"/>
                </a:lnTo>
                <a:lnTo>
                  <a:pt x="197" y="79"/>
                </a:lnTo>
                <a:lnTo>
                  <a:pt x="205" y="83"/>
                </a:lnTo>
                <a:lnTo>
                  <a:pt x="212" y="87"/>
                </a:lnTo>
                <a:lnTo>
                  <a:pt x="217" y="93"/>
                </a:lnTo>
                <a:lnTo>
                  <a:pt x="220" y="101"/>
                </a:lnTo>
                <a:lnTo>
                  <a:pt x="220" y="101"/>
                </a:lnTo>
                <a:lnTo>
                  <a:pt x="221" y="109"/>
                </a:lnTo>
                <a:lnTo>
                  <a:pt x="221" y="118"/>
                </a:lnTo>
                <a:lnTo>
                  <a:pt x="217" y="125"/>
                </a:lnTo>
                <a:lnTo>
                  <a:pt x="212" y="131"/>
                </a:lnTo>
                <a:lnTo>
                  <a:pt x="212" y="131"/>
                </a:lnTo>
                <a:lnTo>
                  <a:pt x="217" y="138"/>
                </a:lnTo>
                <a:lnTo>
                  <a:pt x="220" y="145"/>
                </a:lnTo>
                <a:lnTo>
                  <a:pt x="220" y="153"/>
                </a:lnTo>
                <a:lnTo>
                  <a:pt x="218" y="162"/>
                </a:lnTo>
                <a:lnTo>
                  <a:pt x="218" y="162"/>
                </a:lnTo>
                <a:close/>
                <a:moveTo>
                  <a:pt x="114" y="195"/>
                </a:moveTo>
                <a:lnTo>
                  <a:pt x="123" y="191"/>
                </a:lnTo>
                <a:lnTo>
                  <a:pt x="132" y="195"/>
                </a:lnTo>
                <a:lnTo>
                  <a:pt x="131" y="184"/>
                </a:lnTo>
                <a:lnTo>
                  <a:pt x="138" y="178"/>
                </a:lnTo>
                <a:lnTo>
                  <a:pt x="129" y="175"/>
                </a:lnTo>
                <a:lnTo>
                  <a:pt x="123" y="167"/>
                </a:lnTo>
                <a:lnTo>
                  <a:pt x="118" y="175"/>
                </a:lnTo>
                <a:lnTo>
                  <a:pt x="109" y="178"/>
                </a:lnTo>
                <a:lnTo>
                  <a:pt x="116" y="184"/>
                </a:lnTo>
                <a:lnTo>
                  <a:pt x="114" y="195"/>
                </a:lnTo>
                <a:close/>
                <a:moveTo>
                  <a:pt x="131" y="117"/>
                </a:moveTo>
                <a:lnTo>
                  <a:pt x="131" y="109"/>
                </a:lnTo>
                <a:lnTo>
                  <a:pt x="112" y="109"/>
                </a:lnTo>
                <a:lnTo>
                  <a:pt x="112" y="117"/>
                </a:lnTo>
                <a:lnTo>
                  <a:pt x="116" y="117"/>
                </a:lnTo>
                <a:lnTo>
                  <a:pt x="116" y="143"/>
                </a:lnTo>
                <a:lnTo>
                  <a:pt x="112" y="143"/>
                </a:lnTo>
                <a:lnTo>
                  <a:pt x="112" y="151"/>
                </a:lnTo>
                <a:lnTo>
                  <a:pt x="131" y="151"/>
                </a:lnTo>
                <a:lnTo>
                  <a:pt x="131" y="143"/>
                </a:lnTo>
                <a:lnTo>
                  <a:pt x="129" y="143"/>
                </a:lnTo>
                <a:lnTo>
                  <a:pt x="129" y="117"/>
                </a:lnTo>
                <a:lnTo>
                  <a:pt x="131" y="117"/>
                </a:lnTo>
                <a:close/>
                <a:moveTo>
                  <a:pt x="71" y="183"/>
                </a:moveTo>
                <a:lnTo>
                  <a:pt x="78" y="179"/>
                </a:lnTo>
                <a:lnTo>
                  <a:pt x="84" y="183"/>
                </a:lnTo>
                <a:lnTo>
                  <a:pt x="83" y="175"/>
                </a:lnTo>
                <a:lnTo>
                  <a:pt x="88" y="170"/>
                </a:lnTo>
                <a:lnTo>
                  <a:pt x="82" y="169"/>
                </a:lnTo>
                <a:lnTo>
                  <a:pt x="78" y="162"/>
                </a:lnTo>
                <a:lnTo>
                  <a:pt x="74" y="169"/>
                </a:lnTo>
                <a:lnTo>
                  <a:pt x="67" y="170"/>
                </a:lnTo>
                <a:lnTo>
                  <a:pt x="71" y="175"/>
                </a:lnTo>
                <a:lnTo>
                  <a:pt x="71" y="183"/>
                </a:lnTo>
                <a:close/>
                <a:moveTo>
                  <a:pt x="92" y="109"/>
                </a:moveTo>
                <a:lnTo>
                  <a:pt x="92" y="117"/>
                </a:lnTo>
                <a:lnTo>
                  <a:pt x="96" y="117"/>
                </a:lnTo>
                <a:lnTo>
                  <a:pt x="93" y="126"/>
                </a:lnTo>
                <a:lnTo>
                  <a:pt x="93" y="126"/>
                </a:lnTo>
                <a:lnTo>
                  <a:pt x="92" y="138"/>
                </a:lnTo>
                <a:lnTo>
                  <a:pt x="92" y="138"/>
                </a:lnTo>
                <a:lnTo>
                  <a:pt x="92" y="138"/>
                </a:lnTo>
                <a:lnTo>
                  <a:pt x="90" y="126"/>
                </a:lnTo>
                <a:lnTo>
                  <a:pt x="86" y="109"/>
                </a:lnTo>
                <a:lnTo>
                  <a:pt x="74" y="109"/>
                </a:lnTo>
                <a:lnTo>
                  <a:pt x="71" y="122"/>
                </a:lnTo>
                <a:lnTo>
                  <a:pt x="71" y="122"/>
                </a:lnTo>
                <a:lnTo>
                  <a:pt x="67" y="138"/>
                </a:lnTo>
                <a:lnTo>
                  <a:pt x="67" y="138"/>
                </a:lnTo>
                <a:lnTo>
                  <a:pt x="67" y="138"/>
                </a:lnTo>
                <a:lnTo>
                  <a:pt x="66" y="126"/>
                </a:lnTo>
                <a:lnTo>
                  <a:pt x="64" y="117"/>
                </a:lnTo>
                <a:lnTo>
                  <a:pt x="67" y="117"/>
                </a:lnTo>
                <a:lnTo>
                  <a:pt x="67" y="109"/>
                </a:lnTo>
                <a:lnTo>
                  <a:pt x="48" y="109"/>
                </a:lnTo>
                <a:lnTo>
                  <a:pt x="48" y="117"/>
                </a:lnTo>
                <a:lnTo>
                  <a:pt x="52" y="117"/>
                </a:lnTo>
                <a:lnTo>
                  <a:pt x="60" y="151"/>
                </a:lnTo>
                <a:lnTo>
                  <a:pt x="73" y="151"/>
                </a:lnTo>
                <a:lnTo>
                  <a:pt x="77" y="136"/>
                </a:lnTo>
                <a:lnTo>
                  <a:pt x="77" y="136"/>
                </a:lnTo>
                <a:lnTo>
                  <a:pt x="78" y="130"/>
                </a:lnTo>
                <a:lnTo>
                  <a:pt x="78" y="130"/>
                </a:lnTo>
                <a:lnTo>
                  <a:pt x="78" y="130"/>
                </a:lnTo>
                <a:lnTo>
                  <a:pt x="79" y="136"/>
                </a:lnTo>
                <a:lnTo>
                  <a:pt x="83" y="151"/>
                </a:lnTo>
                <a:lnTo>
                  <a:pt x="97" y="151"/>
                </a:lnTo>
                <a:lnTo>
                  <a:pt x="106" y="117"/>
                </a:lnTo>
                <a:lnTo>
                  <a:pt x="109" y="117"/>
                </a:lnTo>
                <a:lnTo>
                  <a:pt x="109" y="109"/>
                </a:lnTo>
                <a:lnTo>
                  <a:pt x="92" y="109"/>
                </a:lnTo>
                <a:close/>
                <a:moveTo>
                  <a:pt x="131" y="63"/>
                </a:moveTo>
                <a:lnTo>
                  <a:pt x="123" y="49"/>
                </a:lnTo>
                <a:lnTo>
                  <a:pt x="116" y="63"/>
                </a:lnTo>
                <a:lnTo>
                  <a:pt x="100" y="66"/>
                </a:lnTo>
                <a:lnTo>
                  <a:pt x="110" y="78"/>
                </a:lnTo>
                <a:lnTo>
                  <a:pt x="109" y="93"/>
                </a:lnTo>
                <a:lnTo>
                  <a:pt x="123" y="87"/>
                </a:lnTo>
                <a:lnTo>
                  <a:pt x="138" y="93"/>
                </a:lnTo>
                <a:lnTo>
                  <a:pt x="135" y="78"/>
                </a:lnTo>
                <a:lnTo>
                  <a:pt x="147" y="66"/>
                </a:lnTo>
                <a:lnTo>
                  <a:pt x="131" y="63"/>
                </a:lnTo>
                <a:close/>
                <a:moveTo>
                  <a:pt x="182" y="109"/>
                </a:moveTo>
                <a:lnTo>
                  <a:pt x="164" y="109"/>
                </a:lnTo>
                <a:lnTo>
                  <a:pt x="164" y="117"/>
                </a:lnTo>
                <a:lnTo>
                  <a:pt x="168" y="117"/>
                </a:lnTo>
                <a:lnTo>
                  <a:pt x="168" y="131"/>
                </a:lnTo>
                <a:lnTo>
                  <a:pt x="153" y="109"/>
                </a:lnTo>
                <a:lnTo>
                  <a:pt x="136" y="109"/>
                </a:lnTo>
                <a:lnTo>
                  <a:pt x="136" y="117"/>
                </a:lnTo>
                <a:lnTo>
                  <a:pt x="140" y="117"/>
                </a:lnTo>
                <a:lnTo>
                  <a:pt x="140" y="143"/>
                </a:lnTo>
                <a:lnTo>
                  <a:pt x="136" y="143"/>
                </a:lnTo>
                <a:lnTo>
                  <a:pt x="136" y="151"/>
                </a:lnTo>
                <a:lnTo>
                  <a:pt x="155" y="151"/>
                </a:lnTo>
                <a:lnTo>
                  <a:pt x="155" y="143"/>
                </a:lnTo>
                <a:lnTo>
                  <a:pt x="149" y="143"/>
                </a:lnTo>
                <a:lnTo>
                  <a:pt x="149" y="128"/>
                </a:lnTo>
                <a:lnTo>
                  <a:pt x="165" y="151"/>
                </a:lnTo>
                <a:lnTo>
                  <a:pt x="178" y="151"/>
                </a:lnTo>
                <a:lnTo>
                  <a:pt x="178" y="117"/>
                </a:lnTo>
                <a:lnTo>
                  <a:pt x="182" y="117"/>
                </a:lnTo>
                <a:lnTo>
                  <a:pt x="182" y="109"/>
                </a:lnTo>
                <a:close/>
                <a:moveTo>
                  <a:pt x="175" y="169"/>
                </a:moveTo>
                <a:lnTo>
                  <a:pt x="171" y="162"/>
                </a:lnTo>
                <a:lnTo>
                  <a:pt x="168" y="169"/>
                </a:lnTo>
                <a:lnTo>
                  <a:pt x="161" y="170"/>
                </a:lnTo>
                <a:lnTo>
                  <a:pt x="165" y="175"/>
                </a:lnTo>
                <a:lnTo>
                  <a:pt x="165" y="183"/>
                </a:lnTo>
                <a:lnTo>
                  <a:pt x="171" y="179"/>
                </a:lnTo>
                <a:lnTo>
                  <a:pt x="178" y="183"/>
                </a:lnTo>
                <a:lnTo>
                  <a:pt x="177" y="175"/>
                </a:lnTo>
                <a:lnTo>
                  <a:pt x="182" y="170"/>
                </a:lnTo>
                <a:lnTo>
                  <a:pt x="175" y="169"/>
                </a:lnTo>
                <a:close/>
                <a:moveTo>
                  <a:pt x="194" y="151"/>
                </a:moveTo>
                <a:lnTo>
                  <a:pt x="194" y="151"/>
                </a:lnTo>
                <a:lnTo>
                  <a:pt x="196" y="151"/>
                </a:lnTo>
                <a:lnTo>
                  <a:pt x="199" y="149"/>
                </a:lnTo>
                <a:lnTo>
                  <a:pt x="200" y="147"/>
                </a:lnTo>
                <a:lnTo>
                  <a:pt x="200" y="144"/>
                </a:lnTo>
                <a:lnTo>
                  <a:pt x="200" y="144"/>
                </a:lnTo>
                <a:lnTo>
                  <a:pt x="200" y="143"/>
                </a:lnTo>
                <a:lnTo>
                  <a:pt x="199" y="140"/>
                </a:lnTo>
                <a:lnTo>
                  <a:pt x="196" y="139"/>
                </a:lnTo>
                <a:lnTo>
                  <a:pt x="194" y="139"/>
                </a:lnTo>
                <a:lnTo>
                  <a:pt x="194" y="139"/>
                </a:lnTo>
                <a:lnTo>
                  <a:pt x="191" y="139"/>
                </a:lnTo>
                <a:lnTo>
                  <a:pt x="188" y="140"/>
                </a:lnTo>
                <a:lnTo>
                  <a:pt x="187" y="143"/>
                </a:lnTo>
                <a:lnTo>
                  <a:pt x="187" y="144"/>
                </a:lnTo>
                <a:lnTo>
                  <a:pt x="187" y="144"/>
                </a:lnTo>
                <a:lnTo>
                  <a:pt x="187" y="147"/>
                </a:lnTo>
                <a:lnTo>
                  <a:pt x="188" y="149"/>
                </a:lnTo>
                <a:lnTo>
                  <a:pt x="191" y="151"/>
                </a:lnTo>
                <a:lnTo>
                  <a:pt x="194" y="151"/>
                </a:lnTo>
                <a:lnTo>
                  <a:pt x="194" y="151"/>
                </a:lnTo>
                <a:close/>
                <a:moveTo>
                  <a:pt x="201" y="109"/>
                </a:moveTo>
                <a:lnTo>
                  <a:pt x="187" y="109"/>
                </a:lnTo>
                <a:lnTo>
                  <a:pt x="187" y="121"/>
                </a:lnTo>
                <a:lnTo>
                  <a:pt x="190" y="135"/>
                </a:lnTo>
                <a:lnTo>
                  <a:pt x="197" y="135"/>
                </a:lnTo>
                <a:lnTo>
                  <a:pt x="201" y="121"/>
                </a:lnTo>
                <a:lnTo>
                  <a:pt x="201" y="109"/>
                </a:ln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3" name="Freeform 309"/>
          <p:cNvSpPr>
            <a:spLocks noEditPoints="1"/>
          </p:cNvSpPr>
          <p:nvPr/>
        </p:nvSpPr>
        <p:spPr bwMode="auto">
          <a:xfrm>
            <a:off x="7687936" y="3396832"/>
            <a:ext cx="844327" cy="857622"/>
          </a:xfrm>
          <a:custGeom>
            <a:avLst/>
            <a:gdLst>
              <a:gd name="T0" fmla="*/ 221 w 255"/>
              <a:gd name="T1" fmla="*/ 215 h 257"/>
              <a:gd name="T2" fmla="*/ 218 w 255"/>
              <a:gd name="T3" fmla="*/ 226 h 257"/>
              <a:gd name="T4" fmla="*/ 205 w 255"/>
              <a:gd name="T5" fmla="*/ 237 h 257"/>
              <a:gd name="T6" fmla="*/ 190 w 255"/>
              <a:gd name="T7" fmla="*/ 241 h 257"/>
              <a:gd name="T8" fmla="*/ 174 w 255"/>
              <a:gd name="T9" fmla="*/ 143 h 257"/>
              <a:gd name="T10" fmla="*/ 165 w 255"/>
              <a:gd name="T11" fmla="*/ 128 h 257"/>
              <a:gd name="T12" fmla="*/ 101 w 255"/>
              <a:gd name="T13" fmla="*/ 127 h 257"/>
              <a:gd name="T14" fmla="*/ 87 w 255"/>
              <a:gd name="T15" fmla="*/ 137 h 257"/>
              <a:gd name="T16" fmla="*/ 70 w 255"/>
              <a:gd name="T17" fmla="*/ 241 h 257"/>
              <a:gd name="T18" fmla="*/ 58 w 255"/>
              <a:gd name="T19" fmla="*/ 240 h 257"/>
              <a:gd name="T20" fmla="*/ 45 w 255"/>
              <a:gd name="T21" fmla="*/ 231 h 257"/>
              <a:gd name="T22" fmla="*/ 39 w 255"/>
              <a:gd name="T23" fmla="*/ 215 h 257"/>
              <a:gd name="T24" fmla="*/ 39 w 255"/>
              <a:gd name="T25" fmla="*/ 122 h 257"/>
              <a:gd name="T26" fmla="*/ 28 w 255"/>
              <a:gd name="T27" fmla="*/ 127 h 257"/>
              <a:gd name="T28" fmla="*/ 23 w 255"/>
              <a:gd name="T29" fmla="*/ 148 h 257"/>
              <a:gd name="T30" fmla="*/ 23 w 255"/>
              <a:gd name="T31" fmla="*/ 236 h 257"/>
              <a:gd name="T32" fmla="*/ 31 w 255"/>
              <a:gd name="T33" fmla="*/ 249 h 257"/>
              <a:gd name="T34" fmla="*/ 44 w 255"/>
              <a:gd name="T35" fmla="*/ 257 h 257"/>
              <a:gd name="T36" fmla="*/ 158 w 255"/>
              <a:gd name="T37" fmla="*/ 257 h 257"/>
              <a:gd name="T38" fmla="*/ 216 w 255"/>
              <a:gd name="T39" fmla="*/ 257 h 257"/>
              <a:gd name="T40" fmla="*/ 229 w 255"/>
              <a:gd name="T41" fmla="*/ 249 h 257"/>
              <a:gd name="T42" fmla="*/ 235 w 255"/>
              <a:gd name="T43" fmla="*/ 236 h 257"/>
              <a:gd name="T44" fmla="*/ 236 w 255"/>
              <a:gd name="T45" fmla="*/ 148 h 257"/>
              <a:gd name="T46" fmla="*/ 230 w 255"/>
              <a:gd name="T47" fmla="*/ 127 h 257"/>
              <a:gd name="T48" fmla="*/ 220 w 255"/>
              <a:gd name="T49" fmla="*/ 122 h 257"/>
              <a:gd name="T50" fmla="*/ 122 w 255"/>
              <a:gd name="T51" fmla="*/ 168 h 257"/>
              <a:gd name="T52" fmla="*/ 129 w 255"/>
              <a:gd name="T53" fmla="*/ 158 h 257"/>
              <a:gd name="T54" fmla="*/ 138 w 255"/>
              <a:gd name="T55" fmla="*/ 158 h 257"/>
              <a:gd name="T56" fmla="*/ 144 w 255"/>
              <a:gd name="T57" fmla="*/ 168 h 257"/>
              <a:gd name="T58" fmla="*/ 140 w 255"/>
              <a:gd name="T59" fmla="*/ 176 h 257"/>
              <a:gd name="T60" fmla="*/ 132 w 255"/>
              <a:gd name="T61" fmla="*/ 179 h 257"/>
              <a:gd name="T62" fmla="*/ 123 w 255"/>
              <a:gd name="T63" fmla="*/ 172 h 257"/>
              <a:gd name="T64" fmla="*/ 158 w 255"/>
              <a:gd name="T65" fmla="*/ 205 h 257"/>
              <a:gd name="T66" fmla="*/ 158 w 255"/>
              <a:gd name="T67" fmla="*/ 194 h 257"/>
              <a:gd name="T68" fmla="*/ 233 w 255"/>
              <a:gd name="T69" fmla="*/ 81 h 257"/>
              <a:gd name="T70" fmla="*/ 2 w 255"/>
              <a:gd name="T71" fmla="*/ 96 h 257"/>
              <a:gd name="T72" fmla="*/ 0 w 255"/>
              <a:gd name="T73" fmla="*/ 107 h 257"/>
              <a:gd name="T74" fmla="*/ 5 w 255"/>
              <a:gd name="T75" fmla="*/ 115 h 257"/>
              <a:gd name="T76" fmla="*/ 18 w 255"/>
              <a:gd name="T77" fmla="*/ 115 h 257"/>
              <a:gd name="T78" fmla="*/ 34 w 255"/>
              <a:gd name="T79" fmla="*/ 107 h 257"/>
              <a:gd name="T80" fmla="*/ 39 w 255"/>
              <a:gd name="T81" fmla="*/ 115 h 257"/>
              <a:gd name="T82" fmla="*/ 53 w 255"/>
              <a:gd name="T83" fmla="*/ 115 h 257"/>
              <a:gd name="T84" fmla="*/ 69 w 255"/>
              <a:gd name="T85" fmla="*/ 107 h 257"/>
              <a:gd name="T86" fmla="*/ 74 w 255"/>
              <a:gd name="T87" fmla="*/ 115 h 257"/>
              <a:gd name="T88" fmla="*/ 87 w 255"/>
              <a:gd name="T89" fmla="*/ 115 h 257"/>
              <a:gd name="T90" fmla="*/ 103 w 255"/>
              <a:gd name="T91" fmla="*/ 107 h 257"/>
              <a:gd name="T92" fmla="*/ 108 w 255"/>
              <a:gd name="T93" fmla="*/ 115 h 257"/>
              <a:gd name="T94" fmla="*/ 122 w 255"/>
              <a:gd name="T95" fmla="*/ 115 h 257"/>
              <a:gd name="T96" fmla="*/ 132 w 255"/>
              <a:gd name="T97" fmla="*/ 115 h 257"/>
              <a:gd name="T98" fmla="*/ 147 w 255"/>
              <a:gd name="T99" fmla="*/ 115 h 257"/>
              <a:gd name="T100" fmla="*/ 152 w 255"/>
              <a:gd name="T101" fmla="*/ 107 h 257"/>
              <a:gd name="T102" fmla="*/ 168 w 255"/>
              <a:gd name="T103" fmla="*/ 115 h 257"/>
              <a:gd name="T104" fmla="*/ 181 w 255"/>
              <a:gd name="T105" fmla="*/ 115 h 257"/>
              <a:gd name="T106" fmla="*/ 186 w 255"/>
              <a:gd name="T107" fmla="*/ 107 h 257"/>
              <a:gd name="T108" fmla="*/ 201 w 255"/>
              <a:gd name="T109" fmla="*/ 115 h 257"/>
              <a:gd name="T110" fmla="*/ 216 w 255"/>
              <a:gd name="T111" fmla="*/ 115 h 257"/>
              <a:gd name="T112" fmla="*/ 221 w 255"/>
              <a:gd name="T113" fmla="*/ 107 h 257"/>
              <a:gd name="T114" fmla="*/ 236 w 255"/>
              <a:gd name="T115" fmla="*/ 115 h 257"/>
              <a:gd name="T116" fmla="*/ 249 w 255"/>
              <a:gd name="T117" fmla="*/ 115 h 257"/>
              <a:gd name="T118" fmla="*/ 255 w 255"/>
              <a:gd name="T119" fmla="*/ 107 h 257"/>
              <a:gd name="T120" fmla="*/ 249 w 255"/>
              <a:gd name="T121" fmla="*/ 94 h 2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255" h="257">
                <a:moveTo>
                  <a:pt x="220" y="122"/>
                </a:moveTo>
                <a:lnTo>
                  <a:pt x="220" y="122"/>
                </a:lnTo>
                <a:lnTo>
                  <a:pt x="221" y="215"/>
                </a:lnTo>
                <a:lnTo>
                  <a:pt x="221" y="215"/>
                </a:lnTo>
                <a:lnTo>
                  <a:pt x="220" y="220"/>
                </a:lnTo>
                <a:lnTo>
                  <a:pt x="218" y="226"/>
                </a:lnTo>
                <a:lnTo>
                  <a:pt x="214" y="231"/>
                </a:lnTo>
                <a:lnTo>
                  <a:pt x="210" y="233"/>
                </a:lnTo>
                <a:lnTo>
                  <a:pt x="205" y="237"/>
                </a:lnTo>
                <a:lnTo>
                  <a:pt x="200" y="240"/>
                </a:lnTo>
                <a:lnTo>
                  <a:pt x="195" y="241"/>
                </a:lnTo>
                <a:lnTo>
                  <a:pt x="190" y="241"/>
                </a:lnTo>
                <a:lnTo>
                  <a:pt x="174" y="241"/>
                </a:lnTo>
                <a:lnTo>
                  <a:pt x="174" y="143"/>
                </a:lnTo>
                <a:lnTo>
                  <a:pt x="174" y="143"/>
                </a:lnTo>
                <a:lnTo>
                  <a:pt x="173" y="137"/>
                </a:lnTo>
                <a:lnTo>
                  <a:pt x="169" y="132"/>
                </a:lnTo>
                <a:lnTo>
                  <a:pt x="165" y="128"/>
                </a:lnTo>
                <a:lnTo>
                  <a:pt x="158" y="127"/>
                </a:lnTo>
                <a:lnTo>
                  <a:pt x="101" y="127"/>
                </a:lnTo>
                <a:lnTo>
                  <a:pt x="101" y="127"/>
                </a:lnTo>
                <a:lnTo>
                  <a:pt x="95" y="128"/>
                </a:lnTo>
                <a:lnTo>
                  <a:pt x="90" y="132"/>
                </a:lnTo>
                <a:lnTo>
                  <a:pt x="87" y="137"/>
                </a:lnTo>
                <a:lnTo>
                  <a:pt x="86" y="143"/>
                </a:lnTo>
                <a:lnTo>
                  <a:pt x="86" y="241"/>
                </a:lnTo>
                <a:lnTo>
                  <a:pt x="70" y="241"/>
                </a:lnTo>
                <a:lnTo>
                  <a:pt x="70" y="241"/>
                </a:lnTo>
                <a:lnTo>
                  <a:pt x="65" y="241"/>
                </a:lnTo>
                <a:lnTo>
                  <a:pt x="58" y="240"/>
                </a:lnTo>
                <a:lnTo>
                  <a:pt x="53" y="237"/>
                </a:lnTo>
                <a:lnTo>
                  <a:pt x="49" y="233"/>
                </a:lnTo>
                <a:lnTo>
                  <a:pt x="45" y="231"/>
                </a:lnTo>
                <a:lnTo>
                  <a:pt x="41" y="226"/>
                </a:lnTo>
                <a:lnTo>
                  <a:pt x="39" y="220"/>
                </a:lnTo>
                <a:lnTo>
                  <a:pt x="39" y="215"/>
                </a:lnTo>
                <a:lnTo>
                  <a:pt x="39" y="215"/>
                </a:lnTo>
                <a:lnTo>
                  <a:pt x="39" y="122"/>
                </a:lnTo>
                <a:lnTo>
                  <a:pt x="39" y="122"/>
                </a:lnTo>
                <a:lnTo>
                  <a:pt x="35" y="123"/>
                </a:lnTo>
                <a:lnTo>
                  <a:pt x="31" y="124"/>
                </a:lnTo>
                <a:lnTo>
                  <a:pt x="28" y="127"/>
                </a:lnTo>
                <a:lnTo>
                  <a:pt x="27" y="131"/>
                </a:lnTo>
                <a:lnTo>
                  <a:pt x="23" y="139"/>
                </a:lnTo>
                <a:lnTo>
                  <a:pt x="23" y="148"/>
                </a:lnTo>
                <a:lnTo>
                  <a:pt x="23" y="231"/>
                </a:lnTo>
                <a:lnTo>
                  <a:pt x="23" y="231"/>
                </a:lnTo>
                <a:lnTo>
                  <a:pt x="23" y="236"/>
                </a:lnTo>
                <a:lnTo>
                  <a:pt x="25" y="241"/>
                </a:lnTo>
                <a:lnTo>
                  <a:pt x="27" y="246"/>
                </a:lnTo>
                <a:lnTo>
                  <a:pt x="31" y="249"/>
                </a:lnTo>
                <a:lnTo>
                  <a:pt x="35" y="253"/>
                </a:lnTo>
                <a:lnTo>
                  <a:pt x="39" y="256"/>
                </a:lnTo>
                <a:lnTo>
                  <a:pt x="44" y="257"/>
                </a:lnTo>
                <a:lnTo>
                  <a:pt x="49" y="257"/>
                </a:lnTo>
                <a:lnTo>
                  <a:pt x="101" y="257"/>
                </a:lnTo>
                <a:lnTo>
                  <a:pt x="158" y="257"/>
                </a:lnTo>
                <a:lnTo>
                  <a:pt x="210" y="257"/>
                </a:lnTo>
                <a:lnTo>
                  <a:pt x="210" y="257"/>
                </a:lnTo>
                <a:lnTo>
                  <a:pt x="216" y="257"/>
                </a:lnTo>
                <a:lnTo>
                  <a:pt x="221" y="256"/>
                </a:lnTo>
                <a:lnTo>
                  <a:pt x="225" y="253"/>
                </a:lnTo>
                <a:lnTo>
                  <a:pt x="229" y="249"/>
                </a:lnTo>
                <a:lnTo>
                  <a:pt x="231" y="246"/>
                </a:lnTo>
                <a:lnTo>
                  <a:pt x="234" y="241"/>
                </a:lnTo>
                <a:lnTo>
                  <a:pt x="235" y="236"/>
                </a:lnTo>
                <a:lnTo>
                  <a:pt x="236" y="231"/>
                </a:lnTo>
                <a:lnTo>
                  <a:pt x="236" y="148"/>
                </a:lnTo>
                <a:lnTo>
                  <a:pt x="236" y="148"/>
                </a:lnTo>
                <a:lnTo>
                  <a:pt x="235" y="139"/>
                </a:lnTo>
                <a:lnTo>
                  <a:pt x="233" y="131"/>
                </a:lnTo>
                <a:lnTo>
                  <a:pt x="230" y="127"/>
                </a:lnTo>
                <a:lnTo>
                  <a:pt x="227" y="124"/>
                </a:lnTo>
                <a:lnTo>
                  <a:pt x="225" y="123"/>
                </a:lnTo>
                <a:lnTo>
                  <a:pt x="220" y="122"/>
                </a:lnTo>
                <a:lnTo>
                  <a:pt x="220" y="122"/>
                </a:lnTo>
                <a:close/>
                <a:moveTo>
                  <a:pt x="122" y="168"/>
                </a:moveTo>
                <a:lnTo>
                  <a:pt x="122" y="168"/>
                </a:lnTo>
                <a:lnTo>
                  <a:pt x="123" y="165"/>
                </a:lnTo>
                <a:lnTo>
                  <a:pt x="125" y="161"/>
                </a:lnTo>
                <a:lnTo>
                  <a:pt x="129" y="158"/>
                </a:lnTo>
                <a:lnTo>
                  <a:pt x="132" y="157"/>
                </a:lnTo>
                <a:lnTo>
                  <a:pt x="132" y="157"/>
                </a:lnTo>
                <a:lnTo>
                  <a:pt x="138" y="158"/>
                </a:lnTo>
                <a:lnTo>
                  <a:pt x="140" y="161"/>
                </a:lnTo>
                <a:lnTo>
                  <a:pt x="143" y="165"/>
                </a:lnTo>
                <a:lnTo>
                  <a:pt x="144" y="168"/>
                </a:lnTo>
                <a:lnTo>
                  <a:pt x="144" y="168"/>
                </a:lnTo>
                <a:lnTo>
                  <a:pt x="143" y="172"/>
                </a:lnTo>
                <a:lnTo>
                  <a:pt x="140" y="176"/>
                </a:lnTo>
                <a:lnTo>
                  <a:pt x="138" y="179"/>
                </a:lnTo>
                <a:lnTo>
                  <a:pt x="132" y="179"/>
                </a:lnTo>
                <a:lnTo>
                  <a:pt x="132" y="179"/>
                </a:lnTo>
                <a:lnTo>
                  <a:pt x="129" y="179"/>
                </a:lnTo>
                <a:lnTo>
                  <a:pt x="125" y="176"/>
                </a:lnTo>
                <a:lnTo>
                  <a:pt x="123" y="172"/>
                </a:lnTo>
                <a:lnTo>
                  <a:pt x="122" y="168"/>
                </a:lnTo>
                <a:lnTo>
                  <a:pt x="122" y="168"/>
                </a:lnTo>
                <a:close/>
                <a:moveTo>
                  <a:pt x="158" y="205"/>
                </a:moveTo>
                <a:lnTo>
                  <a:pt x="132" y="205"/>
                </a:lnTo>
                <a:lnTo>
                  <a:pt x="132" y="194"/>
                </a:lnTo>
                <a:lnTo>
                  <a:pt x="158" y="194"/>
                </a:lnTo>
                <a:lnTo>
                  <a:pt x="158" y="205"/>
                </a:lnTo>
                <a:close/>
                <a:moveTo>
                  <a:pt x="249" y="94"/>
                </a:moveTo>
                <a:lnTo>
                  <a:pt x="233" y="81"/>
                </a:lnTo>
                <a:lnTo>
                  <a:pt x="129" y="0"/>
                </a:lnTo>
                <a:lnTo>
                  <a:pt x="2" y="96"/>
                </a:lnTo>
                <a:lnTo>
                  <a:pt x="2" y="96"/>
                </a:lnTo>
                <a:lnTo>
                  <a:pt x="1" y="100"/>
                </a:lnTo>
                <a:lnTo>
                  <a:pt x="0" y="104"/>
                </a:lnTo>
                <a:lnTo>
                  <a:pt x="0" y="107"/>
                </a:lnTo>
                <a:lnTo>
                  <a:pt x="1" y="111"/>
                </a:lnTo>
                <a:lnTo>
                  <a:pt x="1" y="111"/>
                </a:lnTo>
                <a:lnTo>
                  <a:pt x="5" y="115"/>
                </a:lnTo>
                <a:lnTo>
                  <a:pt x="9" y="117"/>
                </a:lnTo>
                <a:lnTo>
                  <a:pt x="14" y="117"/>
                </a:lnTo>
                <a:lnTo>
                  <a:pt x="18" y="115"/>
                </a:lnTo>
                <a:lnTo>
                  <a:pt x="34" y="104"/>
                </a:lnTo>
                <a:lnTo>
                  <a:pt x="34" y="104"/>
                </a:lnTo>
                <a:lnTo>
                  <a:pt x="34" y="107"/>
                </a:lnTo>
                <a:lnTo>
                  <a:pt x="36" y="111"/>
                </a:lnTo>
                <a:lnTo>
                  <a:pt x="36" y="111"/>
                </a:lnTo>
                <a:lnTo>
                  <a:pt x="39" y="115"/>
                </a:lnTo>
                <a:lnTo>
                  <a:pt x="44" y="117"/>
                </a:lnTo>
                <a:lnTo>
                  <a:pt x="48" y="117"/>
                </a:lnTo>
                <a:lnTo>
                  <a:pt x="53" y="115"/>
                </a:lnTo>
                <a:lnTo>
                  <a:pt x="69" y="104"/>
                </a:lnTo>
                <a:lnTo>
                  <a:pt x="69" y="104"/>
                </a:lnTo>
                <a:lnTo>
                  <a:pt x="69" y="107"/>
                </a:lnTo>
                <a:lnTo>
                  <a:pt x="70" y="111"/>
                </a:lnTo>
                <a:lnTo>
                  <a:pt x="70" y="111"/>
                </a:lnTo>
                <a:lnTo>
                  <a:pt x="74" y="115"/>
                </a:lnTo>
                <a:lnTo>
                  <a:pt x="78" y="117"/>
                </a:lnTo>
                <a:lnTo>
                  <a:pt x="83" y="117"/>
                </a:lnTo>
                <a:lnTo>
                  <a:pt x="87" y="115"/>
                </a:lnTo>
                <a:lnTo>
                  <a:pt x="103" y="104"/>
                </a:lnTo>
                <a:lnTo>
                  <a:pt x="103" y="104"/>
                </a:lnTo>
                <a:lnTo>
                  <a:pt x="103" y="107"/>
                </a:lnTo>
                <a:lnTo>
                  <a:pt x="105" y="111"/>
                </a:lnTo>
                <a:lnTo>
                  <a:pt x="105" y="111"/>
                </a:lnTo>
                <a:lnTo>
                  <a:pt x="108" y="115"/>
                </a:lnTo>
                <a:lnTo>
                  <a:pt x="113" y="117"/>
                </a:lnTo>
                <a:lnTo>
                  <a:pt x="117" y="117"/>
                </a:lnTo>
                <a:lnTo>
                  <a:pt x="122" y="115"/>
                </a:lnTo>
                <a:lnTo>
                  <a:pt x="127" y="111"/>
                </a:lnTo>
                <a:lnTo>
                  <a:pt x="132" y="115"/>
                </a:lnTo>
                <a:lnTo>
                  <a:pt x="132" y="115"/>
                </a:lnTo>
                <a:lnTo>
                  <a:pt x="138" y="117"/>
                </a:lnTo>
                <a:lnTo>
                  <a:pt x="142" y="117"/>
                </a:lnTo>
                <a:lnTo>
                  <a:pt x="147" y="115"/>
                </a:lnTo>
                <a:lnTo>
                  <a:pt x="149" y="111"/>
                </a:lnTo>
                <a:lnTo>
                  <a:pt x="149" y="111"/>
                </a:lnTo>
                <a:lnTo>
                  <a:pt x="152" y="107"/>
                </a:lnTo>
                <a:lnTo>
                  <a:pt x="152" y="104"/>
                </a:lnTo>
                <a:lnTo>
                  <a:pt x="168" y="115"/>
                </a:lnTo>
                <a:lnTo>
                  <a:pt x="168" y="115"/>
                </a:lnTo>
                <a:lnTo>
                  <a:pt x="171" y="117"/>
                </a:lnTo>
                <a:lnTo>
                  <a:pt x="177" y="117"/>
                </a:lnTo>
                <a:lnTo>
                  <a:pt x="181" y="115"/>
                </a:lnTo>
                <a:lnTo>
                  <a:pt x="184" y="111"/>
                </a:lnTo>
                <a:lnTo>
                  <a:pt x="184" y="111"/>
                </a:lnTo>
                <a:lnTo>
                  <a:pt x="186" y="107"/>
                </a:lnTo>
                <a:lnTo>
                  <a:pt x="186" y="104"/>
                </a:lnTo>
                <a:lnTo>
                  <a:pt x="201" y="115"/>
                </a:lnTo>
                <a:lnTo>
                  <a:pt x="201" y="115"/>
                </a:lnTo>
                <a:lnTo>
                  <a:pt x="207" y="117"/>
                </a:lnTo>
                <a:lnTo>
                  <a:pt x="210" y="117"/>
                </a:lnTo>
                <a:lnTo>
                  <a:pt x="216" y="115"/>
                </a:lnTo>
                <a:lnTo>
                  <a:pt x="218" y="111"/>
                </a:lnTo>
                <a:lnTo>
                  <a:pt x="218" y="111"/>
                </a:lnTo>
                <a:lnTo>
                  <a:pt x="221" y="107"/>
                </a:lnTo>
                <a:lnTo>
                  <a:pt x="221" y="104"/>
                </a:lnTo>
                <a:lnTo>
                  <a:pt x="236" y="115"/>
                </a:lnTo>
                <a:lnTo>
                  <a:pt x="236" y="115"/>
                </a:lnTo>
                <a:lnTo>
                  <a:pt x="240" y="117"/>
                </a:lnTo>
                <a:lnTo>
                  <a:pt x="246" y="117"/>
                </a:lnTo>
                <a:lnTo>
                  <a:pt x="249" y="115"/>
                </a:lnTo>
                <a:lnTo>
                  <a:pt x="253" y="111"/>
                </a:lnTo>
                <a:lnTo>
                  <a:pt x="253" y="111"/>
                </a:lnTo>
                <a:lnTo>
                  <a:pt x="255" y="107"/>
                </a:lnTo>
                <a:lnTo>
                  <a:pt x="255" y="102"/>
                </a:lnTo>
                <a:lnTo>
                  <a:pt x="253" y="98"/>
                </a:lnTo>
                <a:lnTo>
                  <a:pt x="249" y="94"/>
                </a:lnTo>
                <a:lnTo>
                  <a:pt x="249" y="94"/>
                </a:ln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4" name="Freeform 328"/>
          <p:cNvSpPr>
            <a:spLocks noEditPoints="1"/>
          </p:cNvSpPr>
          <p:nvPr/>
        </p:nvSpPr>
        <p:spPr bwMode="auto">
          <a:xfrm>
            <a:off x="5604401" y="4993619"/>
            <a:ext cx="777841" cy="857622"/>
          </a:xfrm>
          <a:custGeom>
            <a:avLst/>
            <a:gdLst>
              <a:gd name="T0" fmla="*/ 218 w 234"/>
              <a:gd name="T1" fmla="*/ 30 h 259"/>
              <a:gd name="T2" fmla="*/ 225 w 234"/>
              <a:gd name="T3" fmla="*/ 11 h 259"/>
              <a:gd name="T4" fmla="*/ 234 w 234"/>
              <a:gd name="T5" fmla="*/ 24 h 259"/>
              <a:gd name="T6" fmla="*/ 21 w 234"/>
              <a:gd name="T7" fmla="*/ 11 h 259"/>
              <a:gd name="T8" fmla="*/ 93 w 234"/>
              <a:gd name="T9" fmla="*/ 0 h 259"/>
              <a:gd name="T10" fmla="*/ 140 w 234"/>
              <a:gd name="T11" fmla="*/ 11 h 259"/>
              <a:gd name="T12" fmla="*/ 213 w 234"/>
              <a:gd name="T13" fmla="*/ 30 h 259"/>
              <a:gd name="T14" fmla="*/ 21 w 234"/>
              <a:gd name="T15" fmla="*/ 11 h 259"/>
              <a:gd name="T16" fmla="*/ 0 w 234"/>
              <a:gd name="T17" fmla="*/ 16 h 259"/>
              <a:gd name="T18" fmla="*/ 15 w 234"/>
              <a:gd name="T19" fmla="*/ 11 h 259"/>
              <a:gd name="T20" fmla="*/ 8 w 234"/>
              <a:gd name="T21" fmla="*/ 30 h 259"/>
              <a:gd name="T22" fmla="*/ 208 w 234"/>
              <a:gd name="T23" fmla="*/ 41 h 259"/>
              <a:gd name="T24" fmla="*/ 26 w 234"/>
              <a:gd name="T25" fmla="*/ 187 h 259"/>
              <a:gd name="T26" fmla="*/ 208 w 234"/>
              <a:gd name="T27" fmla="*/ 41 h 259"/>
              <a:gd name="T28" fmla="*/ 171 w 234"/>
              <a:gd name="T29" fmla="*/ 161 h 259"/>
              <a:gd name="T30" fmla="*/ 135 w 234"/>
              <a:gd name="T31" fmla="*/ 151 h 259"/>
              <a:gd name="T32" fmla="*/ 135 w 234"/>
              <a:gd name="T33" fmla="*/ 141 h 259"/>
              <a:gd name="T34" fmla="*/ 192 w 234"/>
              <a:gd name="T35" fmla="*/ 129 h 259"/>
              <a:gd name="T36" fmla="*/ 135 w 234"/>
              <a:gd name="T37" fmla="*/ 141 h 259"/>
              <a:gd name="T38" fmla="*/ 192 w 234"/>
              <a:gd name="T39" fmla="*/ 113 h 259"/>
              <a:gd name="T40" fmla="*/ 135 w 234"/>
              <a:gd name="T41" fmla="*/ 104 h 259"/>
              <a:gd name="T42" fmla="*/ 79 w 234"/>
              <a:gd name="T43" fmla="*/ 171 h 259"/>
              <a:gd name="T44" fmla="*/ 87 w 234"/>
              <a:gd name="T45" fmla="*/ 169 h 259"/>
              <a:gd name="T46" fmla="*/ 99 w 234"/>
              <a:gd name="T47" fmla="*/ 165 h 259"/>
              <a:gd name="T48" fmla="*/ 109 w 234"/>
              <a:gd name="T49" fmla="*/ 158 h 259"/>
              <a:gd name="T50" fmla="*/ 114 w 234"/>
              <a:gd name="T51" fmla="*/ 146 h 259"/>
              <a:gd name="T52" fmla="*/ 73 w 234"/>
              <a:gd name="T53" fmla="*/ 139 h 259"/>
              <a:gd name="T54" fmla="*/ 73 w 234"/>
              <a:gd name="T55" fmla="*/ 98 h 259"/>
              <a:gd name="T56" fmla="*/ 61 w 234"/>
              <a:gd name="T57" fmla="*/ 102 h 259"/>
              <a:gd name="T58" fmla="*/ 52 w 234"/>
              <a:gd name="T59" fmla="*/ 109 h 259"/>
              <a:gd name="T60" fmla="*/ 45 w 234"/>
              <a:gd name="T61" fmla="*/ 120 h 259"/>
              <a:gd name="T62" fmla="*/ 43 w 234"/>
              <a:gd name="T63" fmla="*/ 133 h 259"/>
              <a:gd name="T64" fmla="*/ 44 w 234"/>
              <a:gd name="T65" fmla="*/ 141 h 259"/>
              <a:gd name="T66" fmla="*/ 49 w 234"/>
              <a:gd name="T67" fmla="*/ 154 h 259"/>
              <a:gd name="T68" fmla="*/ 60 w 234"/>
              <a:gd name="T69" fmla="*/ 164 h 259"/>
              <a:gd name="T70" fmla="*/ 73 w 234"/>
              <a:gd name="T71" fmla="*/ 169 h 259"/>
              <a:gd name="T72" fmla="*/ 79 w 234"/>
              <a:gd name="T73" fmla="*/ 171 h 259"/>
              <a:gd name="T74" fmla="*/ 125 w 234"/>
              <a:gd name="T75" fmla="*/ 129 h 259"/>
              <a:gd name="T76" fmla="*/ 122 w 234"/>
              <a:gd name="T77" fmla="*/ 116 h 259"/>
              <a:gd name="T78" fmla="*/ 114 w 234"/>
              <a:gd name="T79" fmla="*/ 102 h 259"/>
              <a:gd name="T80" fmla="*/ 101 w 234"/>
              <a:gd name="T81" fmla="*/ 93 h 259"/>
              <a:gd name="T82" fmla="*/ 89 w 234"/>
              <a:gd name="T83" fmla="*/ 89 h 259"/>
              <a:gd name="T84" fmla="*/ 83 w 234"/>
              <a:gd name="T85" fmla="*/ 129 h 259"/>
              <a:gd name="T86" fmla="*/ 41 w 234"/>
              <a:gd name="T87" fmla="*/ 73 h 259"/>
              <a:gd name="T88" fmla="*/ 125 w 234"/>
              <a:gd name="T89" fmla="*/ 56 h 259"/>
              <a:gd name="T90" fmla="*/ 41 w 234"/>
              <a:gd name="T91" fmla="*/ 73 h 259"/>
              <a:gd name="T92" fmla="*/ 15 w 234"/>
              <a:gd name="T93" fmla="*/ 212 h 259"/>
              <a:gd name="T94" fmla="*/ 223 w 234"/>
              <a:gd name="T95" fmla="*/ 197 h 259"/>
              <a:gd name="T96" fmla="*/ 100 w 234"/>
              <a:gd name="T97" fmla="*/ 219 h 259"/>
              <a:gd name="T98" fmla="*/ 52 w 234"/>
              <a:gd name="T99" fmla="*/ 259 h 259"/>
              <a:gd name="T100" fmla="*/ 100 w 234"/>
              <a:gd name="T101" fmla="*/ 219 h 259"/>
              <a:gd name="T102" fmla="*/ 157 w 234"/>
              <a:gd name="T103" fmla="*/ 259 h 259"/>
              <a:gd name="T104" fmla="*/ 157 w 234"/>
              <a:gd name="T105" fmla="*/ 219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234" h="259">
                <a:moveTo>
                  <a:pt x="225" y="30"/>
                </a:moveTo>
                <a:lnTo>
                  <a:pt x="218" y="30"/>
                </a:lnTo>
                <a:lnTo>
                  <a:pt x="218" y="11"/>
                </a:lnTo>
                <a:lnTo>
                  <a:pt x="225" y="11"/>
                </a:lnTo>
                <a:lnTo>
                  <a:pt x="234" y="16"/>
                </a:lnTo>
                <a:lnTo>
                  <a:pt x="234" y="24"/>
                </a:lnTo>
                <a:lnTo>
                  <a:pt x="225" y="30"/>
                </a:lnTo>
                <a:close/>
                <a:moveTo>
                  <a:pt x="21" y="11"/>
                </a:moveTo>
                <a:lnTo>
                  <a:pt x="93" y="11"/>
                </a:lnTo>
                <a:lnTo>
                  <a:pt x="93" y="0"/>
                </a:lnTo>
                <a:lnTo>
                  <a:pt x="140" y="0"/>
                </a:lnTo>
                <a:lnTo>
                  <a:pt x="140" y="11"/>
                </a:lnTo>
                <a:lnTo>
                  <a:pt x="213" y="11"/>
                </a:lnTo>
                <a:lnTo>
                  <a:pt x="213" y="30"/>
                </a:lnTo>
                <a:lnTo>
                  <a:pt x="21" y="30"/>
                </a:lnTo>
                <a:lnTo>
                  <a:pt x="21" y="11"/>
                </a:lnTo>
                <a:close/>
                <a:moveTo>
                  <a:pt x="0" y="24"/>
                </a:moveTo>
                <a:lnTo>
                  <a:pt x="0" y="16"/>
                </a:lnTo>
                <a:lnTo>
                  <a:pt x="8" y="11"/>
                </a:lnTo>
                <a:lnTo>
                  <a:pt x="15" y="11"/>
                </a:lnTo>
                <a:lnTo>
                  <a:pt x="15" y="30"/>
                </a:lnTo>
                <a:lnTo>
                  <a:pt x="8" y="30"/>
                </a:lnTo>
                <a:lnTo>
                  <a:pt x="0" y="24"/>
                </a:lnTo>
                <a:close/>
                <a:moveTo>
                  <a:pt x="208" y="41"/>
                </a:moveTo>
                <a:lnTo>
                  <a:pt x="208" y="187"/>
                </a:lnTo>
                <a:lnTo>
                  <a:pt x="26" y="187"/>
                </a:lnTo>
                <a:lnTo>
                  <a:pt x="26" y="41"/>
                </a:lnTo>
                <a:lnTo>
                  <a:pt x="208" y="41"/>
                </a:lnTo>
                <a:close/>
                <a:moveTo>
                  <a:pt x="135" y="161"/>
                </a:moveTo>
                <a:lnTo>
                  <a:pt x="171" y="161"/>
                </a:lnTo>
                <a:lnTo>
                  <a:pt x="171" y="151"/>
                </a:lnTo>
                <a:lnTo>
                  <a:pt x="135" y="151"/>
                </a:lnTo>
                <a:lnTo>
                  <a:pt x="135" y="161"/>
                </a:lnTo>
                <a:close/>
                <a:moveTo>
                  <a:pt x="135" y="141"/>
                </a:moveTo>
                <a:lnTo>
                  <a:pt x="192" y="141"/>
                </a:lnTo>
                <a:lnTo>
                  <a:pt x="192" y="129"/>
                </a:lnTo>
                <a:lnTo>
                  <a:pt x="135" y="129"/>
                </a:lnTo>
                <a:lnTo>
                  <a:pt x="135" y="141"/>
                </a:lnTo>
                <a:close/>
                <a:moveTo>
                  <a:pt x="135" y="113"/>
                </a:moveTo>
                <a:lnTo>
                  <a:pt x="192" y="113"/>
                </a:lnTo>
                <a:lnTo>
                  <a:pt x="192" y="104"/>
                </a:lnTo>
                <a:lnTo>
                  <a:pt x="135" y="104"/>
                </a:lnTo>
                <a:lnTo>
                  <a:pt x="135" y="113"/>
                </a:lnTo>
                <a:close/>
                <a:moveTo>
                  <a:pt x="79" y="171"/>
                </a:moveTo>
                <a:lnTo>
                  <a:pt x="79" y="171"/>
                </a:lnTo>
                <a:lnTo>
                  <a:pt x="87" y="169"/>
                </a:lnTo>
                <a:lnTo>
                  <a:pt x="93" y="168"/>
                </a:lnTo>
                <a:lnTo>
                  <a:pt x="99" y="165"/>
                </a:lnTo>
                <a:lnTo>
                  <a:pt x="104" y="161"/>
                </a:lnTo>
                <a:lnTo>
                  <a:pt x="109" y="158"/>
                </a:lnTo>
                <a:lnTo>
                  <a:pt x="112" y="152"/>
                </a:lnTo>
                <a:lnTo>
                  <a:pt x="114" y="146"/>
                </a:lnTo>
                <a:lnTo>
                  <a:pt x="115" y="139"/>
                </a:lnTo>
                <a:lnTo>
                  <a:pt x="73" y="139"/>
                </a:lnTo>
                <a:lnTo>
                  <a:pt x="73" y="98"/>
                </a:lnTo>
                <a:lnTo>
                  <a:pt x="73" y="98"/>
                </a:lnTo>
                <a:lnTo>
                  <a:pt x="66" y="99"/>
                </a:lnTo>
                <a:lnTo>
                  <a:pt x="61" y="102"/>
                </a:lnTo>
                <a:lnTo>
                  <a:pt x="56" y="104"/>
                </a:lnTo>
                <a:lnTo>
                  <a:pt x="52" y="109"/>
                </a:lnTo>
                <a:lnTo>
                  <a:pt x="48" y="115"/>
                </a:lnTo>
                <a:lnTo>
                  <a:pt x="45" y="120"/>
                </a:lnTo>
                <a:lnTo>
                  <a:pt x="44" y="126"/>
                </a:lnTo>
                <a:lnTo>
                  <a:pt x="43" y="133"/>
                </a:lnTo>
                <a:lnTo>
                  <a:pt x="43" y="133"/>
                </a:lnTo>
                <a:lnTo>
                  <a:pt x="44" y="141"/>
                </a:lnTo>
                <a:lnTo>
                  <a:pt x="47" y="147"/>
                </a:lnTo>
                <a:lnTo>
                  <a:pt x="49" y="154"/>
                </a:lnTo>
                <a:lnTo>
                  <a:pt x="54" y="159"/>
                </a:lnTo>
                <a:lnTo>
                  <a:pt x="60" y="164"/>
                </a:lnTo>
                <a:lnTo>
                  <a:pt x="66" y="167"/>
                </a:lnTo>
                <a:lnTo>
                  <a:pt x="73" y="169"/>
                </a:lnTo>
                <a:lnTo>
                  <a:pt x="79" y="171"/>
                </a:lnTo>
                <a:lnTo>
                  <a:pt x="79" y="171"/>
                </a:lnTo>
                <a:close/>
                <a:moveTo>
                  <a:pt x="125" y="129"/>
                </a:moveTo>
                <a:lnTo>
                  <a:pt x="125" y="129"/>
                </a:lnTo>
                <a:lnTo>
                  <a:pt x="123" y="122"/>
                </a:lnTo>
                <a:lnTo>
                  <a:pt x="122" y="116"/>
                </a:lnTo>
                <a:lnTo>
                  <a:pt x="119" y="109"/>
                </a:lnTo>
                <a:lnTo>
                  <a:pt x="114" y="102"/>
                </a:lnTo>
                <a:lnTo>
                  <a:pt x="106" y="95"/>
                </a:lnTo>
                <a:lnTo>
                  <a:pt x="101" y="93"/>
                </a:lnTo>
                <a:lnTo>
                  <a:pt x="96" y="90"/>
                </a:lnTo>
                <a:lnTo>
                  <a:pt x="89" y="89"/>
                </a:lnTo>
                <a:lnTo>
                  <a:pt x="83" y="89"/>
                </a:lnTo>
                <a:lnTo>
                  <a:pt x="83" y="129"/>
                </a:lnTo>
                <a:lnTo>
                  <a:pt x="125" y="129"/>
                </a:lnTo>
                <a:close/>
                <a:moveTo>
                  <a:pt x="41" y="73"/>
                </a:moveTo>
                <a:lnTo>
                  <a:pt x="125" y="73"/>
                </a:lnTo>
                <a:lnTo>
                  <a:pt x="125" y="56"/>
                </a:lnTo>
                <a:lnTo>
                  <a:pt x="41" y="56"/>
                </a:lnTo>
                <a:lnTo>
                  <a:pt x="41" y="73"/>
                </a:lnTo>
                <a:close/>
                <a:moveTo>
                  <a:pt x="223" y="212"/>
                </a:moveTo>
                <a:lnTo>
                  <a:pt x="15" y="212"/>
                </a:lnTo>
                <a:lnTo>
                  <a:pt x="15" y="197"/>
                </a:lnTo>
                <a:lnTo>
                  <a:pt x="223" y="197"/>
                </a:lnTo>
                <a:lnTo>
                  <a:pt x="223" y="212"/>
                </a:lnTo>
                <a:close/>
                <a:moveTo>
                  <a:pt x="100" y="219"/>
                </a:moveTo>
                <a:lnTo>
                  <a:pt x="75" y="259"/>
                </a:lnTo>
                <a:lnTo>
                  <a:pt x="52" y="259"/>
                </a:lnTo>
                <a:lnTo>
                  <a:pt x="75" y="219"/>
                </a:lnTo>
                <a:lnTo>
                  <a:pt x="100" y="219"/>
                </a:lnTo>
                <a:close/>
                <a:moveTo>
                  <a:pt x="180" y="259"/>
                </a:moveTo>
                <a:lnTo>
                  <a:pt x="157" y="259"/>
                </a:lnTo>
                <a:lnTo>
                  <a:pt x="132" y="219"/>
                </a:lnTo>
                <a:lnTo>
                  <a:pt x="157" y="219"/>
                </a:lnTo>
                <a:lnTo>
                  <a:pt x="180" y="259"/>
                </a:ln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25" name="矩形 24"/>
          <p:cNvSpPr/>
          <p:nvPr/>
        </p:nvSpPr>
        <p:spPr>
          <a:xfrm>
            <a:off x="471697" y="624601"/>
            <a:ext cx="3070370" cy="954107"/>
          </a:xfrm>
          <a:prstGeom prst="rect">
            <a:avLst/>
          </a:prstGeom>
        </p:spPr>
        <p:txBody>
          <a:bodyPr wrap="square">
            <a:spAutoFit/>
          </a:bodyPr>
          <a:lstStyle/>
          <a:p>
            <a:r>
              <a:rPr lang="zh-CN" altLang="en-US" sz="2800" dirty="0" smtClean="0">
                <a:solidFill>
                  <a:schemeClr val="accent2">
                    <a:lumMod val="75000"/>
                  </a:schemeClr>
                </a:solidFill>
                <a:latin typeface="Simsun" panose="02010600030101010101" pitchFamily="2" charset="-122"/>
                <a:ea typeface="Simsun" panose="02010600030101010101" pitchFamily="2" charset="-122"/>
              </a:rPr>
              <a:t>领导者</a:t>
            </a:r>
            <a:r>
              <a:rPr lang="zh-CN" altLang="en-US" sz="2800" smtClean="0">
                <a:solidFill>
                  <a:schemeClr val="accent2">
                    <a:lumMod val="75000"/>
                  </a:schemeClr>
                </a:solidFill>
                <a:latin typeface="Simsun" panose="02010600030101010101" pitchFamily="2" charset="-122"/>
                <a:ea typeface="Simsun" panose="02010600030101010101" pitchFamily="2" charset="-122"/>
              </a:rPr>
              <a:t>向大家说明背景，阐明问题</a:t>
            </a:r>
            <a:r>
              <a:rPr lang="en-US" altLang="zh-CN" sz="2800" i="0" dirty="0" smtClean="0">
                <a:solidFill>
                  <a:schemeClr val="accent2">
                    <a:lumMod val="75000"/>
                  </a:schemeClr>
                </a:solidFill>
                <a:effectLst/>
                <a:latin typeface="Simsun" panose="02010600030101010101" pitchFamily="2" charset="-122"/>
                <a:ea typeface="Simsun" panose="02010600030101010101" pitchFamily="2" charset="-122"/>
              </a:rPr>
              <a:t> </a:t>
            </a:r>
            <a:endParaRPr lang="zh-CN" altLang="en-US" sz="2800" dirty="0">
              <a:solidFill>
                <a:schemeClr val="accent2">
                  <a:lumMod val="75000"/>
                </a:schemeClr>
              </a:solidFill>
            </a:endParaRPr>
          </a:p>
        </p:txBody>
      </p:sp>
      <p:sp>
        <p:nvSpPr>
          <p:cNvPr id="26" name="矩形 25"/>
          <p:cNvSpPr/>
          <p:nvPr/>
        </p:nvSpPr>
        <p:spPr>
          <a:xfrm>
            <a:off x="3955387" y="5930751"/>
            <a:ext cx="4236845" cy="523220"/>
          </a:xfrm>
          <a:prstGeom prst="rect">
            <a:avLst/>
          </a:prstGeom>
        </p:spPr>
        <p:txBody>
          <a:bodyPr wrap="square">
            <a:spAutoFit/>
          </a:bodyPr>
          <a:lstStyle/>
          <a:p>
            <a:r>
              <a:rPr lang="zh-CN" altLang="en-US" sz="2800" i="0" dirty="0" smtClean="0">
                <a:solidFill>
                  <a:schemeClr val="accent2">
                    <a:lumMod val="75000"/>
                  </a:schemeClr>
                </a:solidFill>
                <a:effectLst/>
                <a:latin typeface="Simsun" panose="02010600030101010101" pitchFamily="2" charset="-122"/>
                <a:ea typeface="Simsun" panose="02010600030101010101" pitchFamily="2" charset="-122"/>
              </a:rPr>
              <a:t>总结观点，形成最佳方案</a:t>
            </a:r>
            <a:r>
              <a:rPr lang="en-US" altLang="zh-CN" sz="2800" i="0" dirty="0" smtClean="0">
                <a:solidFill>
                  <a:schemeClr val="accent2">
                    <a:lumMod val="75000"/>
                  </a:schemeClr>
                </a:solidFill>
                <a:effectLst/>
                <a:latin typeface="Simsun" panose="02010600030101010101" pitchFamily="2" charset="-122"/>
                <a:ea typeface="Simsun" panose="02010600030101010101" pitchFamily="2" charset="-122"/>
              </a:rPr>
              <a:t> </a:t>
            </a:r>
            <a:endParaRPr lang="zh-CN" altLang="en-US" sz="2800" dirty="0">
              <a:solidFill>
                <a:schemeClr val="accent2">
                  <a:lumMod val="75000"/>
                </a:schemeClr>
              </a:solidFill>
            </a:endParaRPr>
          </a:p>
        </p:txBody>
      </p:sp>
      <p:sp>
        <p:nvSpPr>
          <p:cNvPr id="28" name="矩形 27"/>
          <p:cNvSpPr/>
          <p:nvPr/>
        </p:nvSpPr>
        <p:spPr>
          <a:xfrm>
            <a:off x="371841" y="3396832"/>
            <a:ext cx="3070370" cy="1384995"/>
          </a:xfrm>
          <a:prstGeom prst="rect">
            <a:avLst/>
          </a:prstGeom>
        </p:spPr>
        <p:txBody>
          <a:bodyPr wrap="square">
            <a:spAutoFit/>
          </a:bodyPr>
          <a:lstStyle/>
          <a:p>
            <a:r>
              <a:rPr lang="zh-CN" altLang="en-US" sz="2800" dirty="0">
                <a:solidFill>
                  <a:schemeClr val="accent2">
                    <a:lumMod val="75000"/>
                  </a:schemeClr>
                </a:solidFill>
                <a:latin typeface="Simsun" panose="02010600030101010101" pitchFamily="2" charset="-122"/>
                <a:ea typeface="Simsun" panose="02010600030101010101" pitchFamily="2" charset="-122"/>
              </a:rPr>
              <a:t>接纳所有新的，原创性的</a:t>
            </a:r>
            <a:r>
              <a:rPr lang="zh-CN" altLang="en-US" sz="2800" dirty="0" smtClean="0">
                <a:solidFill>
                  <a:schemeClr val="accent2">
                    <a:lumMod val="75000"/>
                  </a:schemeClr>
                </a:solidFill>
                <a:latin typeface="Simsun" panose="02010600030101010101" pitchFamily="2" charset="-122"/>
                <a:ea typeface="Simsun" panose="02010600030101010101" pitchFamily="2" charset="-122"/>
              </a:rPr>
              <a:t>想法，记录而不评价优劣</a:t>
            </a:r>
            <a:endParaRPr lang="zh-CN" altLang="en-US" sz="2800" dirty="0">
              <a:solidFill>
                <a:schemeClr val="accent2">
                  <a:lumMod val="75000"/>
                </a:schemeClr>
              </a:solidFill>
            </a:endParaRPr>
          </a:p>
        </p:txBody>
      </p:sp>
      <p:sp>
        <p:nvSpPr>
          <p:cNvPr id="29" name="矩形 28"/>
          <p:cNvSpPr/>
          <p:nvPr/>
        </p:nvSpPr>
        <p:spPr>
          <a:xfrm>
            <a:off x="8807389" y="2917702"/>
            <a:ext cx="3006518" cy="954107"/>
          </a:xfrm>
          <a:prstGeom prst="rect">
            <a:avLst/>
          </a:prstGeom>
        </p:spPr>
        <p:txBody>
          <a:bodyPr wrap="square">
            <a:spAutoFit/>
          </a:bodyPr>
          <a:lstStyle/>
          <a:p>
            <a:r>
              <a:rPr lang="zh-CN" altLang="en-US" sz="2800" i="0" dirty="0" smtClean="0">
                <a:solidFill>
                  <a:schemeClr val="accent2">
                    <a:lumMod val="75000"/>
                  </a:schemeClr>
                </a:solidFill>
                <a:effectLst/>
                <a:latin typeface="Simsun" panose="02010600030101010101" pitchFamily="2" charset="-122"/>
                <a:ea typeface="Simsun" panose="02010600030101010101" pitchFamily="2" charset="-122"/>
              </a:rPr>
              <a:t>轮流发言，不强迫发表意见</a:t>
            </a:r>
            <a:r>
              <a:rPr lang="en-US" altLang="zh-CN" sz="2800" i="0" dirty="0" smtClean="0">
                <a:solidFill>
                  <a:schemeClr val="accent2">
                    <a:lumMod val="75000"/>
                  </a:schemeClr>
                </a:solidFill>
                <a:effectLst/>
                <a:latin typeface="Simsun" panose="02010600030101010101" pitchFamily="2" charset="-122"/>
                <a:ea typeface="Simsun" panose="02010600030101010101" pitchFamily="2" charset="-122"/>
              </a:rPr>
              <a:t> </a:t>
            </a:r>
            <a:endParaRPr lang="zh-CN" altLang="en-US" sz="2800" dirty="0">
              <a:solidFill>
                <a:schemeClr val="accent2">
                  <a:lumMod val="75000"/>
                </a:schemeClr>
              </a:solidFill>
            </a:endParaRPr>
          </a:p>
        </p:txBody>
      </p:sp>
      <p:sp>
        <p:nvSpPr>
          <p:cNvPr id="30" name="矩形 29"/>
          <p:cNvSpPr/>
          <p:nvPr/>
        </p:nvSpPr>
        <p:spPr>
          <a:xfrm>
            <a:off x="8596984" y="728940"/>
            <a:ext cx="3006518" cy="954107"/>
          </a:xfrm>
          <a:prstGeom prst="rect">
            <a:avLst/>
          </a:prstGeom>
        </p:spPr>
        <p:txBody>
          <a:bodyPr wrap="square">
            <a:spAutoFit/>
          </a:bodyPr>
          <a:lstStyle/>
          <a:p>
            <a:r>
              <a:rPr lang="zh-CN" altLang="en-US" sz="2800" i="0" dirty="0" smtClean="0">
                <a:solidFill>
                  <a:schemeClr val="accent2">
                    <a:lumMod val="75000"/>
                  </a:schemeClr>
                </a:solidFill>
                <a:effectLst/>
                <a:latin typeface="Simsun" panose="02010600030101010101" pitchFamily="2" charset="-122"/>
                <a:ea typeface="Simsun" panose="02010600030101010101" pitchFamily="2" charset="-122"/>
              </a:rPr>
              <a:t>选择合适的环境，去除干扰</a:t>
            </a:r>
            <a:r>
              <a:rPr lang="en-US" altLang="zh-CN" sz="2800" i="0" dirty="0" smtClean="0">
                <a:solidFill>
                  <a:schemeClr val="accent2">
                    <a:lumMod val="75000"/>
                  </a:schemeClr>
                </a:solidFill>
                <a:effectLst/>
                <a:latin typeface="Simsun" panose="02010600030101010101" pitchFamily="2" charset="-122"/>
                <a:ea typeface="Simsun" panose="02010600030101010101" pitchFamily="2" charset="-122"/>
              </a:rPr>
              <a:t> </a:t>
            </a:r>
            <a:endParaRPr lang="zh-CN" altLang="en-US" sz="2800" dirty="0">
              <a:solidFill>
                <a:schemeClr val="accent2">
                  <a:lumMod val="75000"/>
                </a:schemeClr>
              </a:solidFill>
            </a:endParaRPr>
          </a:p>
        </p:txBody>
      </p:sp>
    </p:spTree>
    <p:extLst>
      <p:ext uri="{BB962C8B-B14F-4D97-AF65-F5344CB8AC3E}">
        <p14:creationId xmlns:p14="http://schemas.microsoft.com/office/powerpoint/2010/main" val="1733706549"/>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582104" y="0"/>
            <a:ext cx="3057247" cy="1634328"/>
            <a:chOff x="4582104" y="0"/>
            <a:chExt cx="3057247" cy="1634328"/>
          </a:xfrm>
        </p:grpSpPr>
        <p:sp>
          <p:nvSpPr>
            <p:cNvPr id="3" name="矩形 2"/>
            <p:cNvSpPr/>
            <p:nvPr/>
          </p:nvSpPr>
          <p:spPr>
            <a:xfrm>
              <a:off x="4582104" y="1111108"/>
              <a:ext cx="3057247" cy="523220"/>
            </a:xfrm>
            <a:prstGeom prst="rect">
              <a:avLst/>
            </a:prstGeom>
          </p:spPr>
          <p:txBody>
            <a:bodyPr wrap="none">
              <a:spAutoFit/>
            </a:bodyPr>
            <a:lstStyle/>
            <a:p>
              <a:r>
                <a:rPr lang="zh-CN" altLang="en-US" sz="2800" b="1" i="0" smtClean="0">
                  <a:solidFill>
                    <a:schemeClr val="accent2">
                      <a:lumMod val="75000"/>
                    </a:schemeClr>
                  </a:solidFill>
                  <a:effectLst/>
                  <a:latin typeface="Simsun" panose="02010600030101010101" pitchFamily="2" charset="-122"/>
                  <a:ea typeface="Simsun" panose="02010600030101010101" pitchFamily="2" charset="-122"/>
                </a:rPr>
                <a:t>一种需求分析步骤</a:t>
              </a:r>
              <a:endParaRPr lang="zh-CN" altLang="en-US" sz="2800" b="1" dirty="0"/>
            </a:p>
          </p:txBody>
        </p:sp>
        <p:cxnSp>
          <p:nvCxnSpPr>
            <p:cNvPr id="4" name="直接连接符 3"/>
            <p:cNvCxnSpPr>
              <a:stCxn id="5" idx="4"/>
              <a:endCxn id="6" idx="4"/>
            </p:cNvCxnSpPr>
            <p:nvPr/>
          </p:nvCxnSpPr>
          <p:spPr>
            <a:xfrm>
              <a:off x="6110728" y="133446"/>
              <a:ext cx="12193" cy="91789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6056198" y="91789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4"/>
          <p:cNvGrpSpPr/>
          <p:nvPr/>
        </p:nvGrpSpPr>
        <p:grpSpPr>
          <a:xfrm>
            <a:off x="4384766" y="2029888"/>
            <a:ext cx="2806414" cy="3441016"/>
            <a:chOff x="3947756" y="2711060"/>
            <a:chExt cx="2806414" cy="3441016"/>
          </a:xfrm>
        </p:grpSpPr>
        <p:grpSp>
          <p:nvGrpSpPr>
            <p:cNvPr id="23" name="组合 22"/>
            <p:cNvGrpSpPr/>
            <p:nvPr/>
          </p:nvGrpSpPr>
          <p:grpSpPr>
            <a:xfrm>
              <a:off x="3947756" y="3304916"/>
              <a:ext cx="2762411" cy="1182625"/>
              <a:chOff x="3176812" y="2273198"/>
              <a:chExt cx="2641825" cy="2726239"/>
            </a:xfrm>
            <a:solidFill>
              <a:srgbClr val="C55A11"/>
            </a:solidFill>
            <a:scene3d>
              <a:camera prst="orthographicFront">
                <a:rot lat="17099985" lon="0" rev="0"/>
              </a:camera>
              <a:lightRig rig="threePt" dir="t"/>
            </a:scene3d>
          </p:grpSpPr>
          <p:sp>
            <p:nvSpPr>
              <p:cNvPr id="24" name="椭圆 23"/>
              <p:cNvSpPr/>
              <p:nvPr/>
            </p:nvSpPr>
            <p:spPr>
              <a:xfrm>
                <a:off x="3176812" y="2273198"/>
                <a:ext cx="2641825" cy="2726239"/>
              </a:xfrm>
              <a:prstGeom prst="ellipse">
                <a:avLst/>
              </a:prstGeom>
              <a:grpFill/>
              <a:ln>
                <a:noFill/>
              </a:ln>
              <a:effectLst>
                <a:outerShdw blurRad="127000" dist="254000" dir="7200000" sx="99000" sy="99000" algn="tr" rotWithShape="0">
                  <a:prstClr val="black">
                    <a:alpha val="31000"/>
                  </a:prstClr>
                </a:outerShdw>
              </a:effectLst>
              <a:sp3d>
                <a:bevelT w="323850" h="336550"/>
                <a:bevelB w="11430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5" name="椭圆 24"/>
              <p:cNvSpPr/>
              <p:nvPr/>
            </p:nvSpPr>
            <p:spPr>
              <a:xfrm>
                <a:off x="3268970" y="2368298"/>
                <a:ext cx="2457512" cy="2536037"/>
              </a:xfrm>
              <a:prstGeom prst="ellipse">
                <a:avLst/>
              </a:prstGeom>
              <a:grpFill/>
              <a:ln>
                <a:noFill/>
              </a:ln>
              <a:sp3d>
                <a:bevelT w="323850" h="336550"/>
                <a:bevelB w="11430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26" name="组合 25"/>
            <p:cNvGrpSpPr/>
            <p:nvPr/>
          </p:nvGrpSpPr>
          <p:grpSpPr>
            <a:xfrm>
              <a:off x="4256199" y="2711060"/>
              <a:ext cx="2145523" cy="918527"/>
              <a:chOff x="3176812" y="2273198"/>
              <a:chExt cx="2641825" cy="2726239"/>
            </a:xfrm>
            <a:solidFill>
              <a:schemeClr val="bg1"/>
            </a:solidFill>
            <a:scene3d>
              <a:camera prst="orthographicFront">
                <a:rot lat="17099985" lon="0" rev="0"/>
              </a:camera>
              <a:lightRig rig="threePt" dir="t"/>
            </a:scene3d>
          </p:grpSpPr>
          <p:sp>
            <p:nvSpPr>
              <p:cNvPr id="27" name="椭圆 26"/>
              <p:cNvSpPr/>
              <p:nvPr/>
            </p:nvSpPr>
            <p:spPr>
              <a:xfrm>
                <a:off x="3176812" y="2273198"/>
                <a:ext cx="2641825" cy="2726239"/>
              </a:xfrm>
              <a:prstGeom prst="ellipse">
                <a:avLst/>
              </a:prstGeom>
              <a:grpFill/>
              <a:ln>
                <a:noFill/>
              </a:ln>
              <a:effectLst>
                <a:outerShdw blurRad="127000" dist="254000" dir="7200000" sx="99000" sy="99000" algn="tr" rotWithShape="0">
                  <a:prstClr val="black">
                    <a:alpha val="31000"/>
                  </a:prstClr>
                </a:outerShdw>
              </a:effectLst>
              <a:sp3d>
                <a:bevelT w="323850" h="336550"/>
                <a:bevelB w="11430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28" name="椭圆 27"/>
              <p:cNvSpPr/>
              <p:nvPr/>
            </p:nvSpPr>
            <p:spPr>
              <a:xfrm>
                <a:off x="3268970" y="2368298"/>
                <a:ext cx="2457512" cy="2536037"/>
              </a:xfrm>
              <a:prstGeom prst="ellipse">
                <a:avLst/>
              </a:prstGeom>
              <a:grpFill/>
              <a:ln>
                <a:noFill/>
              </a:ln>
              <a:sp3d>
                <a:bevelT w="323850" h="336550"/>
                <a:bevelB w="11430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29" name="组合 28"/>
            <p:cNvGrpSpPr/>
            <p:nvPr/>
          </p:nvGrpSpPr>
          <p:grpSpPr>
            <a:xfrm>
              <a:off x="4300204" y="4152751"/>
              <a:ext cx="2145523" cy="918527"/>
              <a:chOff x="3176812" y="2273198"/>
              <a:chExt cx="2641825" cy="2726239"/>
            </a:xfrm>
            <a:solidFill>
              <a:schemeClr val="bg1"/>
            </a:solidFill>
            <a:scene3d>
              <a:camera prst="orthographicFront">
                <a:rot lat="17099985" lon="0" rev="0"/>
              </a:camera>
              <a:lightRig rig="threePt" dir="t"/>
            </a:scene3d>
          </p:grpSpPr>
          <p:sp>
            <p:nvSpPr>
              <p:cNvPr id="30" name="椭圆 29"/>
              <p:cNvSpPr/>
              <p:nvPr/>
            </p:nvSpPr>
            <p:spPr>
              <a:xfrm>
                <a:off x="3176812" y="2273198"/>
                <a:ext cx="2641825" cy="2726239"/>
              </a:xfrm>
              <a:prstGeom prst="ellipse">
                <a:avLst/>
              </a:prstGeom>
              <a:grpFill/>
              <a:ln>
                <a:noFill/>
              </a:ln>
              <a:effectLst>
                <a:outerShdw blurRad="127000" dist="254000" dir="7200000" sx="99000" sy="99000" algn="tr" rotWithShape="0">
                  <a:prstClr val="black">
                    <a:alpha val="31000"/>
                  </a:prstClr>
                </a:outerShdw>
              </a:effectLst>
              <a:sp3d>
                <a:bevelT w="323850" h="336550"/>
                <a:bevelB w="11430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1" name="椭圆 30"/>
              <p:cNvSpPr/>
              <p:nvPr/>
            </p:nvSpPr>
            <p:spPr>
              <a:xfrm>
                <a:off x="3268970" y="2368298"/>
                <a:ext cx="2457512" cy="2536037"/>
              </a:xfrm>
              <a:prstGeom prst="ellipse">
                <a:avLst/>
              </a:prstGeom>
              <a:grpFill/>
              <a:ln>
                <a:noFill/>
              </a:ln>
              <a:sp3d>
                <a:bevelT w="323850" h="336550"/>
                <a:bevelB w="11430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nvGrpSpPr>
            <p:cNvPr id="32" name="组合 31"/>
            <p:cNvGrpSpPr/>
            <p:nvPr/>
          </p:nvGrpSpPr>
          <p:grpSpPr>
            <a:xfrm>
              <a:off x="3991759" y="4969451"/>
              <a:ext cx="2762411" cy="1182625"/>
              <a:chOff x="3176812" y="2273198"/>
              <a:chExt cx="2641825" cy="2726239"/>
            </a:xfrm>
            <a:solidFill>
              <a:srgbClr val="C55A11"/>
            </a:solidFill>
            <a:scene3d>
              <a:camera prst="orthographicFront">
                <a:rot lat="17099985" lon="0" rev="0"/>
              </a:camera>
              <a:lightRig rig="threePt" dir="t"/>
            </a:scene3d>
          </p:grpSpPr>
          <p:sp>
            <p:nvSpPr>
              <p:cNvPr id="33" name="椭圆 32"/>
              <p:cNvSpPr/>
              <p:nvPr/>
            </p:nvSpPr>
            <p:spPr>
              <a:xfrm>
                <a:off x="3176812" y="2273198"/>
                <a:ext cx="2641825" cy="2726239"/>
              </a:xfrm>
              <a:prstGeom prst="ellipse">
                <a:avLst/>
              </a:prstGeom>
              <a:grpFill/>
              <a:ln>
                <a:noFill/>
              </a:ln>
              <a:effectLst>
                <a:outerShdw blurRad="127000" dist="254000" dir="7200000" sx="99000" sy="99000" algn="tr" rotWithShape="0">
                  <a:prstClr val="black">
                    <a:alpha val="31000"/>
                  </a:prstClr>
                </a:outerShdw>
              </a:effectLst>
              <a:sp3d>
                <a:bevelT w="323850" h="336550"/>
                <a:bevelB w="11430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34" name="椭圆 33"/>
              <p:cNvSpPr/>
              <p:nvPr/>
            </p:nvSpPr>
            <p:spPr>
              <a:xfrm>
                <a:off x="3268970" y="2368298"/>
                <a:ext cx="2457512" cy="2536037"/>
              </a:xfrm>
              <a:prstGeom prst="ellipse">
                <a:avLst/>
              </a:prstGeom>
              <a:grpFill/>
              <a:ln>
                <a:noFill/>
              </a:ln>
              <a:sp3d>
                <a:bevelT w="323850" h="336550"/>
                <a:bevelB w="114300" h="0"/>
              </a:sp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grpSp>
      <p:cxnSp>
        <p:nvCxnSpPr>
          <p:cNvPr id="36" name="直接连接符 35"/>
          <p:cNvCxnSpPr/>
          <p:nvPr/>
        </p:nvCxnSpPr>
        <p:spPr>
          <a:xfrm>
            <a:off x="3208604" y="2828544"/>
            <a:ext cx="1559450" cy="0"/>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3" name="直接连接符 42"/>
          <p:cNvCxnSpPr/>
          <p:nvPr/>
        </p:nvCxnSpPr>
        <p:spPr>
          <a:xfrm flipV="1">
            <a:off x="7222022" y="3500495"/>
            <a:ext cx="716673" cy="3127"/>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43"/>
          <p:cNvCxnSpPr/>
          <p:nvPr/>
        </p:nvCxnSpPr>
        <p:spPr>
          <a:xfrm flipV="1">
            <a:off x="2213682" y="4284371"/>
            <a:ext cx="2448690" cy="1"/>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flipV="1">
            <a:off x="7191180" y="5168291"/>
            <a:ext cx="2448690" cy="1"/>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6" name="Freeform 96"/>
          <p:cNvSpPr>
            <a:spLocks noEditPoints="1"/>
          </p:cNvSpPr>
          <p:nvPr/>
        </p:nvSpPr>
        <p:spPr bwMode="auto">
          <a:xfrm>
            <a:off x="9337447" y="4273289"/>
            <a:ext cx="887286" cy="880463"/>
          </a:xfrm>
          <a:custGeom>
            <a:avLst/>
            <a:gdLst>
              <a:gd name="T0" fmla="*/ 225 w 258"/>
              <a:gd name="T1" fmla="*/ 129 h 259"/>
              <a:gd name="T2" fmla="*/ 223 w 258"/>
              <a:gd name="T3" fmla="*/ 122 h 259"/>
              <a:gd name="T4" fmla="*/ 251 w 258"/>
              <a:gd name="T5" fmla="*/ 122 h 259"/>
              <a:gd name="T6" fmla="*/ 251 w 258"/>
              <a:gd name="T7" fmla="*/ 135 h 259"/>
              <a:gd name="T8" fmla="*/ 214 w 258"/>
              <a:gd name="T9" fmla="*/ 87 h 259"/>
              <a:gd name="T10" fmla="*/ 212 w 258"/>
              <a:gd name="T11" fmla="*/ 70 h 259"/>
              <a:gd name="T12" fmla="*/ 239 w 258"/>
              <a:gd name="T13" fmla="*/ 65 h 259"/>
              <a:gd name="T14" fmla="*/ 227 w 258"/>
              <a:gd name="T15" fmla="*/ 83 h 259"/>
              <a:gd name="T16" fmla="*/ 231 w 258"/>
              <a:gd name="T17" fmla="*/ 145 h 259"/>
              <a:gd name="T18" fmla="*/ 239 w 258"/>
              <a:gd name="T19" fmla="*/ 165 h 259"/>
              <a:gd name="T20" fmla="*/ 253 w 258"/>
              <a:gd name="T21" fmla="*/ 170 h 259"/>
              <a:gd name="T22" fmla="*/ 247 w 258"/>
              <a:gd name="T23" fmla="*/ 201 h 259"/>
              <a:gd name="T24" fmla="*/ 110 w 258"/>
              <a:gd name="T25" fmla="*/ 201 h 259"/>
              <a:gd name="T26" fmla="*/ 91 w 258"/>
              <a:gd name="T27" fmla="*/ 181 h 259"/>
              <a:gd name="T28" fmla="*/ 97 w 258"/>
              <a:gd name="T29" fmla="*/ 157 h 259"/>
              <a:gd name="T30" fmla="*/ 114 w 258"/>
              <a:gd name="T31" fmla="*/ 148 h 259"/>
              <a:gd name="T32" fmla="*/ 127 w 258"/>
              <a:gd name="T33" fmla="*/ 135 h 259"/>
              <a:gd name="T34" fmla="*/ 143 w 258"/>
              <a:gd name="T35" fmla="*/ 110 h 259"/>
              <a:gd name="T36" fmla="*/ 179 w 258"/>
              <a:gd name="T37" fmla="*/ 101 h 259"/>
              <a:gd name="T38" fmla="*/ 209 w 258"/>
              <a:gd name="T39" fmla="*/ 130 h 259"/>
              <a:gd name="T40" fmla="*/ 121 w 258"/>
              <a:gd name="T41" fmla="*/ 125 h 259"/>
              <a:gd name="T42" fmla="*/ 97 w 258"/>
              <a:gd name="T43" fmla="*/ 142 h 259"/>
              <a:gd name="T44" fmla="*/ 80 w 258"/>
              <a:gd name="T45" fmla="*/ 149 h 259"/>
              <a:gd name="T46" fmla="*/ 66 w 258"/>
              <a:gd name="T47" fmla="*/ 174 h 259"/>
              <a:gd name="T48" fmla="*/ 53 w 258"/>
              <a:gd name="T49" fmla="*/ 121 h 259"/>
              <a:gd name="T50" fmla="*/ 100 w 258"/>
              <a:gd name="T51" fmla="*/ 57 h 259"/>
              <a:gd name="T52" fmla="*/ 152 w 258"/>
              <a:gd name="T53" fmla="*/ 53 h 259"/>
              <a:gd name="T54" fmla="*/ 197 w 258"/>
              <a:gd name="T55" fmla="*/ 88 h 259"/>
              <a:gd name="T56" fmla="*/ 170 w 258"/>
              <a:gd name="T57" fmla="*/ 80 h 259"/>
              <a:gd name="T58" fmla="*/ 124 w 258"/>
              <a:gd name="T59" fmla="*/ 108 h 259"/>
              <a:gd name="T60" fmla="*/ 170 w 258"/>
              <a:gd name="T61" fmla="*/ 48 h 259"/>
              <a:gd name="T62" fmla="*/ 183 w 258"/>
              <a:gd name="T63" fmla="*/ 18 h 259"/>
              <a:gd name="T64" fmla="*/ 195 w 258"/>
              <a:gd name="T65" fmla="*/ 32 h 259"/>
              <a:gd name="T66" fmla="*/ 173 w 258"/>
              <a:gd name="T67" fmla="*/ 51 h 259"/>
              <a:gd name="T68" fmla="*/ 119 w 258"/>
              <a:gd name="T69" fmla="*/ 27 h 259"/>
              <a:gd name="T70" fmla="*/ 128 w 258"/>
              <a:gd name="T71" fmla="*/ 0 h 259"/>
              <a:gd name="T72" fmla="*/ 139 w 258"/>
              <a:gd name="T73" fmla="*/ 19 h 259"/>
              <a:gd name="T74" fmla="*/ 83 w 258"/>
              <a:gd name="T75" fmla="*/ 51 h 259"/>
              <a:gd name="T76" fmla="*/ 65 w 258"/>
              <a:gd name="T77" fmla="*/ 39 h 259"/>
              <a:gd name="T78" fmla="*/ 69 w 258"/>
              <a:gd name="T79" fmla="*/ 17 h 259"/>
              <a:gd name="T80" fmla="*/ 87 w 258"/>
              <a:gd name="T81" fmla="*/ 43 h 259"/>
              <a:gd name="T82" fmla="*/ 32 w 258"/>
              <a:gd name="T83" fmla="*/ 195 h 259"/>
              <a:gd name="T84" fmla="*/ 18 w 258"/>
              <a:gd name="T85" fmla="*/ 184 h 259"/>
              <a:gd name="T86" fmla="*/ 46 w 258"/>
              <a:gd name="T87" fmla="*/ 171 h 259"/>
              <a:gd name="T88" fmla="*/ 39 w 258"/>
              <a:gd name="T89" fmla="*/ 192 h 259"/>
              <a:gd name="T90" fmla="*/ 17 w 258"/>
              <a:gd name="T91" fmla="*/ 69 h 259"/>
              <a:gd name="T92" fmla="*/ 39 w 258"/>
              <a:gd name="T93" fmla="*/ 65 h 259"/>
              <a:gd name="T94" fmla="*/ 50 w 258"/>
              <a:gd name="T95" fmla="*/ 83 h 259"/>
              <a:gd name="T96" fmla="*/ 39 w 258"/>
              <a:gd name="T97" fmla="*/ 129 h 259"/>
              <a:gd name="T98" fmla="*/ 19 w 258"/>
              <a:gd name="T99" fmla="*/ 139 h 259"/>
              <a:gd name="T100" fmla="*/ 1 w 258"/>
              <a:gd name="T101" fmla="*/ 125 h 259"/>
              <a:gd name="T102" fmla="*/ 32 w 258"/>
              <a:gd name="T103" fmla="*/ 122 h 259"/>
              <a:gd name="T104" fmla="*/ 126 w 258"/>
              <a:gd name="T105" fmla="*/ 223 h 259"/>
              <a:gd name="T106" fmla="*/ 111 w 258"/>
              <a:gd name="T107" fmla="*/ 247 h 259"/>
              <a:gd name="T108" fmla="*/ 102 w 258"/>
              <a:gd name="T109" fmla="*/ 229 h 259"/>
              <a:gd name="T110" fmla="*/ 182 w 258"/>
              <a:gd name="T111" fmla="*/ 222 h 259"/>
              <a:gd name="T112" fmla="*/ 175 w 258"/>
              <a:gd name="T113" fmla="*/ 256 h 259"/>
              <a:gd name="T114" fmla="*/ 156 w 258"/>
              <a:gd name="T115" fmla="*/ 249 h 259"/>
              <a:gd name="T116" fmla="*/ 182 w 258"/>
              <a:gd name="T117" fmla="*/ 222 h 259"/>
              <a:gd name="T118" fmla="*/ 234 w 258"/>
              <a:gd name="T119" fmla="*/ 240 h 259"/>
              <a:gd name="T120" fmla="*/ 217 w 258"/>
              <a:gd name="T121" fmla="*/ 246 h 259"/>
              <a:gd name="T122" fmla="*/ 217 w 258"/>
              <a:gd name="T123" fmla="*/ 222 h 2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8" h="259">
                <a:moveTo>
                  <a:pt x="247" y="138"/>
                </a:moveTo>
                <a:lnTo>
                  <a:pt x="247" y="138"/>
                </a:lnTo>
                <a:lnTo>
                  <a:pt x="243" y="134"/>
                </a:lnTo>
                <a:lnTo>
                  <a:pt x="238" y="131"/>
                </a:lnTo>
                <a:lnTo>
                  <a:pt x="231" y="129"/>
                </a:lnTo>
                <a:lnTo>
                  <a:pt x="225" y="129"/>
                </a:lnTo>
                <a:lnTo>
                  <a:pt x="225" y="129"/>
                </a:lnTo>
                <a:lnTo>
                  <a:pt x="221" y="129"/>
                </a:lnTo>
                <a:lnTo>
                  <a:pt x="221" y="129"/>
                </a:lnTo>
                <a:lnTo>
                  <a:pt x="221" y="125"/>
                </a:lnTo>
                <a:lnTo>
                  <a:pt x="221" y="125"/>
                </a:lnTo>
                <a:lnTo>
                  <a:pt x="223" y="122"/>
                </a:lnTo>
                <a:lnTo>
                  <a:pt x="227" y="121"/>
                </a:lnTo>
                <a:lnTo>
                  <a:pt x="232" y="119"/>
                </a:lnTo>
                <a:lnTo>
                  <a:pt x="238" y="118"/>
                </a:lnTo>
                <a:lnTo>
                  <a:pt x="238" y="118"/>
                </a:lnTo>
                <a:lnTo>
                  <a:pt x="245" y="119"/>
                </a:lnTo>
                <a:lnTo>
                  <a:pt x="251" y="122"/>
                </a:lnTo>
                <a:lnTo>
                  <a:pt x="256" y="125"/>
                </a:lnTo>
                <a:lnTo>
                  <a:pt x="257" y="129"/>
                </a:lnTo>
                <a:lnTo>
                  <a:pt x="257" y="129"/>
                </a:lnTo>
                <a:lnTo>
                  <a:pt x="256" y="131"/>
                </a:lnTo>
                <a:lnTo>
                  <a:pt x="254" y="134"/>
                </a:lnTo>
                <a:lnTo>
                  <a:pt x="251" y="135"/>
                </a:lnTo>
                <a:lnTo>
                  <a:pt x="247" y="138"/>
                </a:lnTo>
                <a:lnTo>
                  <a:pt x="247" y="138"/>
                </a:lnTo>
                <a:close/>
                <a:moveTo>
                  <a:pt x="227" y="83"/>
                </a:moveTo>
                <a:lnTo>
                  <a:pt x="227" y="83"/>
                </a:lnTo>
                <a:lnTo>
                  <a:pt x="221" y="86"/>
                </a:lnTo>
                <a:lnTo>
                  <a:pt x="214" y="87"/>
                </a:lnTo>
                <a:lnTo>
                  <a:pt x="209" y="86"/>
                </a:lnTo>
                <a:lnTo>
                  <a:pt x="206" y="83"/>
                </a:lnTo>
                <a:lnTo>
                  <a:pt x="206" y="83"/>
                </a:lnTo>
                <a:lnTo>
                  <a:pt x="205" y="79"/>
                </a:lnTo>
                <a:lnTo>
                  <a:pt x="208" y="75"/>
                </a:lnTo>
                <a:lnTo>
                  <a:pt x="212" y="70"/>
                </a:lnTo>
                <a:lnTo>
                  <a:pt x="218" y="65"/>
                </a:lnTo>
                <a:lnTo>
                  <a:pt x="218" y="65"/>
                </a:lnTo>
                <a:lnTo>
                  <a:pt x="225" y="62"/>
                </a:lnTo>
                <a:lnTo>
                  <a:pt x="231" y="61"/>
                </a:lnTo>
                <a:lnTo>
                  <a:pt x="236" y="62"/>
                </a:lnTo>
                <a:lnTo>
                  <a:pt x="239" y="65"/>
                </a:lnTo>
                <a:lnTo>
                  <a:pt x="239" y="65"/>
                </a:lnTo>
                <a:lnTo>
                  <a:pt x="240" y="69"/>
                </a:lnTo>
                <a:lnTo>
                  <a:pt x="238" y="74"/>
                </a:lnTo>
                <a:lnTo>
                  <a:pt x="234" y="78"/>
                </a:lnTo>
                <a:lnTo>
                  <a:pt x="227" y="83"/>
                </a:lnTo>
                <a:lnTo>
                  <a:pt x="227" y="83"/>
                </a:lnTo>
                <a:close/>
                <a:moveTo>
                  <a:pt x="213" y="138"/>
                </a:moveTo>
                <a:lnTo>
                  <a:pt x="213" y="138"/>
                </a:lnTo>
                <a:lnTo>
                  <a:pt x="218" y="138"/>
                </a:lnTo>
                <a:lnTo>
                  <a:pt x="223" y="140"/>
                </a:lnTo>
                <a:lnTo>
                  <a:pt x="227" y="142"/>
                </a:lnTo>
                <a:lnTo>
                  <a:pt x="231" y="145"/>
                </a:lnTo>
                <a:lnTo>
                  <a:pt x="235" y="149"/>
                </a:lnTo>
                <a:lnTo>
                  <a:pt x="238" y="153"/>
                </a:lnTo>
                <a:lnTo>
                  <a:pt x="239" y="158"/>
                </a:lnTo>
                <a:lnTo>
                  <a:pt x="239" y="164"/>
                </a:lnTo>
                <a:lnTo>
                  <a:pt x="239" y="164"/>
                </a:lnTo>
                <a:lnTo>
                  <a:pt x="239" y="165"/>
                </a:lnTo>
                <a:lnTo>
                  <a:pt x="239" y="165"/>
                </a:lnTo>
                <a:lnTo>
                  <a:pt x="240" y="165"/>
                </a:lnTo>
                <a:lnTo>
                  <a:pt x="240" y="165"/>
                </a:lnTo>
                <a:lnTo>
                  <a:pt x="244" y="165"/>
                </a:lnTo>
                <a:lnTo>
                  <a:pt x="247" y="166"/>
                </a:lnTo>
                <a:lnTo>
                  <a:pt x="253" y="170"/>
                </a:lnTo>
                <a:lnTo>
                  <a:pt x="257" y="177"/>
                </a:lnTo>
                <a:lnTo>
                  <a:pt x="258" y="183"/>
                </a:lnTo>
                <a:lnTo>
                  <a:pt x="258" y="183"/>
                </a:lnTo>
                <a:lnTo>
                  <a:pt x="257" y="191"/>
                </a:lnTo>
                <a:lnTo>
                  <a:pt x="253" y="196"/>
                </a:lnTo>
                <a:lnTo>
                  <a:pt x="247" y="201"/>
                </a:lnTo>
                <a:lnTo>
                  <a:pt x="244" y="201"/>
                </a:lnTo>
                <a:lnTo>
                  <a:pt x="240" y="203"/>
                </a:lnTo>
                <a:lnTo>
                  <a:pt x="240" y="203"/>
                </a:lnTo>
                <a:lnTo>
                  <a:pt x="115" y="203"/>
                </a:lnTo>
                <a:lnTo>
                  <a:pt x="115" y="203"/>
                </a:lnTo>
                <a:lnTo>
                  <a:pt x="110" y="201"/>
                </a:lnTo>
                <a:lnTo>
                  <a:pt x="106" y="200"/>
                </a:lnTo>
                <a:lnTo>
                  <a:pt x="101" y="197"/>
                </a:lnTo>
                <a:lnTo>
                  <a:pt x="97" y="194"/>
                </a:lnTo>
                <a:lnTo>
                  <a:pt x="95" y="190"/>
                </a:lnTo>
                <a:lnTo>
                  <a:pt x="92" y="184"/>
                </a:lnTo>
                <a:lnTo>
                  <a:pt x="91" y="181"/>
                </a:lnTo>
                <a:lnTo>
                  <a:pt x="89" y="174"/>
                </a:lnTo>
                <a:lnTo>
                  <a:pt x="89" y="174"/>
                </a:lnTo>
                <a:lnTo>
                  <a:pt x="91" y="170"/>
                </a:lnTo>
                <a:lnTo>
                  <a:pt x="92" y="165"/>
                </a:lnTo>
                <a:lnTo>
                  <a:pt x="95" y="161"/>
                </a:lnTo>
                <a:lnTo>
                  <a:pt x="97" y="157"/>
                </a:lnTo>
                <a:lnTo>
                  <a:pt x="101" y="153"/>
                </a:lnTo>
                <a:lnTo>
                  <a:pt x="105" y="152"/>
                </a:lnTo>
                <a:lnTo>
                  <a:pt x="109" y="149"/>
                </a:lnTo>
                <a:lnTo>
                  <a:pt x="114" y="149"/>
                </a:lnTo>
                <a:lnTo>
                  <a:pt x="114" y="149"/>
                </a:lnTo>
                <a:lnTo>
                  <a:pt x="114" y="148"/>
                </a:lnTo>
                <a:lnTo>
                  <a:pt x="114" y="148"/>
                </a:lnTo>
                <a:lnTo>
                  <a:pt x="115" y="143"/>
                </a:lnTo>
                <a:lnTo>
                  <a:pt x="117" y="140"/>
                </a:lnTo>
                <a:lnTo>
                  <a:pt x="119" y="138"/>
                </a:lnTo>
                <a:lnTo>
                  <a:pt x="122" y="136"/>
                </a:lnTo>
                <a:lnTo>
                  <a:pt x="127" y="135"/>
                </a:lnTo>
                <a:lnTo>
                  <a:pt x="132" y="135"/>
                </a:lnTo>
                <a:lnTo>
                  <a:pt x="132" y="135"/>
                </a:lnTo>
                <a:lnTo>
                  <a:pt x="134" y="127"/>
                </a:lnTo>
                <a:lnTo>
                  <a:pt x="136" y="121"/>
                </a:lnTo>
                <a:lnTo>
                  <a:pt x="139" y="116"/>
                </a:lnTo>
                <a:lnTo>
                  <a:pt x="143" y="110"/>
                </a:lnTo>
                <a:lnTo>
                  <a:pt x="148" y="106"/>
                </a:lnTo>
                <a:lnTo>
                  <a:pt x="154" y="103"/>
                </a:lnTo>
                <a:lnTo>
                  <a:pt x="162" y="101"/>
                </a:lnTo>
                <a:lnTo>
                  <a:pt x="171" y="100"/>
                </a:lnTo>
                <a:lnTo>
                  <a:pt x="171" y="100"/>
                </a:lnTo>
                <a:lnTo>
                  <a:pt x="179" y="101"/>
                </a:lnTo>
                <a:lnTo>
                  <a:pt x="186" y="103"/>
                </a:lnTo>
                <a:lnTo>
                  <a:pt x="192" y="106"/>
                </a:lnTo>
                <a:lnTo>
                  <a:pt x="199" y="112"/>
                </a:lnTo>
                <a:lnTo>
                  <a:pt x="202" y="117"/>
                </a:lnTo>
                <a:lnTo>
                  <a:pt x="206" y="123"/>
                </a:lnTo>
                <a:lnTo>
                  <a:pt x="209" y="130"/>
                </a:lnTo>
                <a:lnTo>
                  <a:pt x="210" y="138"/>
                </a:lnTo>
                <a:lnTo>
                  <a:pt x="210" y="138"/>
                </a:lnTo>
                <a:lnTo>
                  <a:pt x="213" y="138"/>
                </a:lnTo>
                <a:lnTo>
                  <a:pt x="213" y="138"/>
                </a:lnTo>
                <a:close/>
                <a:moveTo>
                  <a:pt x="121" y="125"/>
                </a:moveTo>
                <a:lnTo>
                  <a:pt x="121" y="125"/>
                </a:lnTo>
                <a:lnTo>
                  <a:pt x="114" y="126"/>
                </a:lnTo>
                <a:lnTo>
                  <a:pt x="106" y="127"/>
                </a:lnTo>
                <a:lnTo>
                  <a:pt x="104" y="129"/>
                </a:lnTo>
                <a:lnTo>
                  <a:pt x="100" y="131"/>
                </a:lnTo>
                <a:lnTo>
                  <a:pt x="98" y="136"/>
                </a:lnTo>
                <a:lnTo>
                  <a:pt x="97" y="142"/>
                </a:lnTo>
                <a:lnTo>
                  <a:pt x="97" y="142"/>
                </a:lnTo>
                <a:lnTo>
                  <a:pt x="97" y="143"/>
                </a:lnTo>
                <a:lnTo>
                  <a:pt x="97" y="143"/>
                </a:lnTo>
                <a:lnTo>
                  <a:pt x="91" y="144"/>
                </a:lnTo>
                <a:lnTo>
                  <a:pt x="85" y="145"/>
                </a:lnTo>
                <a:lnTo>
                  <a:pt x="80" y="149"/>
                </a:lnTo>
                <a:lnTo>
                  <a:pt x="75" y="153"/>
                </a:lnTo>
                <a:lnTo>
                  <a:pt x="71" y="157"/>
                </a:lnTo>
                <a:lnTo>
                  <a:pt x="69" y="162"/>
                </a:lnTo>
                <a:lnTo>
                  <a:pt x="67" y="168"/>
                </a:lnTo>
                <a:lnTo>
                  <a:pt x="66" y="174"/>
                </a:lnTo>
                <a:lnTo>
                  <a:pt x="66" y="174"/>
                </a:lnTo>
                <a:lnTo>
                  <a:pt x="59" y="164"/>
                </a:lnTo>
                <a:lnTo>
                  <a:pt x="56" y="153"/>
                </a:lnTo>
                <a:lnTo>
                  <a:pt x="53" y="142"/>
                </a:lnTo>
                <a:lnTo>
                  <a:pt x="52" y="130"/>
                </a:lnTo>
                <a:lnTo>
                  <a:pt x="52" y="130"/>
                </a:lnTo>
                <a:lnTo>
                  <a:pt x="53" y="121"/>
                </a:lnTo>
                <a:lnTo>
                  <a:pt x="54" y="113"/>
                </a:lnTo>
                <a:lnTo>
                  <a:pt x="58" y="99"/>
                </a:lnTo>
                <a:lnTo>
                  <a:pt x="66" y="86"/>
                </a:lnTo>
                <a:lnTo>
                  <a:pt x="75" y="74"/>
                </a:lnTo>
                <a:lnTo>
                  <a:pt x="87" y="64"/>
                </a:lnTo>
                <a:lnTo>
                  <a:pt x="100" y="57"/>
                </a:lnTo>
                <a:lnTo>
                  <a:pt x="115" y="52"/>
                </a:lnTo>
                <a:lnTo>
                  <a:pt x="123" y="51"/>
                </a:lnTo>
                <a:lnTo>
                  <a:pt x="131" y="51"/>
                </a:lnTo>
                <a:lnTo>
                  <a:pt x="131" y="51"/>
                </a:lnTo>
                <a:lnTo>
                  <a:pt x="141" y="52"/>
                </a:lnTo>
                <a:lnTo>
                  <a:pt x="152" y="53"/>
                </a:lnTo>
                <a:lnTo>
                  <a:pt x="161" y="57"/>
                </a:lnTo>
                <a:lnTo>
                  <a:pt x="170" y="61"/>
                </a:lnTo>
                <a:lnTo>
                  <a:pt x="178" y="66"/>
                </a:lnTo>
                <a:lnTo>
                  <a:pt x="186" y="73"/>
                </a:lnTo>
                <a:lnTo>
                  <a:pt x="192" y="80"/>
                </a:lnTo>
                <a:lnTo>
                  <a:pt x="197" y="88"/>
                </a:lnTo>
                <a:lnTo>
                  <a:pt x="197" y="88"/>
                </a:lnTo>
                <a:lnTo>
                  <a:pt x="192" y="84"/>
                </a:lnTo>
                <a:lnTo>
                  <a:pt x="186" y="82"/>
                </a:lnTo>
                <a:lnTo>
                  <a:pt x="178" y="80"/>
                </a:lnTo>
                <a:lnTo>
                  <a:pt x="170" y="80"/>
                </a:lnTo>
                <a:lnTo>
                  <a:pt x="170" y="80"/>
                </a:lnTo>
                <a:lnTo>
                  <a:pt x="158" y="80"/>
                </a:lnTo>
                <a:lnTo>
                  <a:pt x="148" y="83"/>
                </a:lnTo>
                <a:lnTo>
                  <a:pt x="140" y="87"/>
                </a:lnTo>
                <a:lnTo>
                  <a:pt x="134" y="93"/>
                </a:lnTo>
                <a:lnTo>
                  <a:pt x="128" y="100"/>
                </a:lnTo>
                <a:lnTo>
                  <a:pt x="124" y="108"/>
                </a:lnTo>
                <a:lnTo>
                  <a:pt x="122" y="116"/>
                </a:lnTo>
                <a:lnTo>
                  <a:pt x="121" y="125"/>
                </a:lnTo>
                <a:lnTo>
                  <a:pt x="121" y="125"/>
                </a:lnTo>
                <a:close/>
                <a:moveTo>
                  <a:pt x="173" y="51"/>
                </a:moveTo>
                <a:lnTo>
                  <a:pt x="173" y="51"/>
                </a:lnTo>
                <a:lnTo>
                  <a:pt x="170" y="48"/>
                </a:lnTo>
                <a:lnTo>
                  <a:pt x="170" y="43"/>
                </a:lnTo>
                <a:lnTo>
                  <a:pt x="171" y="36"/>
                </a:lnTo>
                <a:lnTo>
                  <a:pt x="174" y="28"/>
                </a:lnTo>
                <a:lnTo>
                  <a:pt x="174" y="28"/>
                </a:lnTo>
                <a:lnTo>
                  <a:pt x="179" y="23"/>
                </a:lnTo>
                <a:lnTo>
                  <a:pt x="183" y="18"/>
                </a:lnTo>
                <a:lnTo>
                  <a:pt x="188" y="17"/>
                </a:lnTo>
                <a:lnTo>
                  <a:pt x="192" y="17"/>
                </a:lnTo>
                <a:lnTo>
                  <a:pt x="192" y="17"/>
                </a:lnTo>
                <a:lnTo>
                  <a:pt x="195" y="21"/>
                </a:lnTo>
                <a:lnTo>
                  <a:pt x="196" y="26"/>
                </a:lnTo>
                <a:lnTo>
                  <a:pt x="195" y="32"/>
                </a:lnTo>
                <a:lnTo>
                  <a:pt x="192" y="39"/>
                </a:lnTo>
                <a:lnTo>
                  <a:pt x="192" y="39"/>
                </a:lnTo>
                <a:lnTo>
                  <a:pt x="187" y="45"/>
                </a:lnTo>
                <a:lnTo>
                  <a:pt x="182" y="49"/>
                </a:lnTo>
                <a:lnTo>
                  <a:pt x="178" y="52"/>
                </a:lnTo>
                <a:lnTo>
                  <a:pt x="173" y="51"/>
                </a:lnTo>
                <a:lnTo>
                  <a:pt x="173" y="51"/>
                </a:lnTo>
                <a:close/>
                <a:moveTo>
                  <a:pt x="128" y="39"/>
                </a:moveTo>
                <a:lnTo>
                  <a:pt x="128" y="39"/>
                </a:lnTo>
                <a:lnTo>
                  <a:pt x="124" y="38"/>
                </a:lnTo>
                <a:lnTo>
                  <a:pt x="121" y="34"/>
                </a:lnTo>
                <a:lnTo>
                  <a:pt x="119" y="27"/>
                </a:lnTo>
                <a:lnTo>
                  <a:pt x="118" y="19"/>
                </a:lnTo>
                <a:lnTo>
                  <a:pt x="118" y="19"/>
                </a:lnTo>
                <a:lnTo>
                  <a:pt x="119" y="12"/>
                </a:lnTo>
                <a:lnTo>
                  <a:pt x="121" y="6"/>
                </a:lnTo>
                <a:lnTo>
                  <a:pt x="124" y="1"/>
                </a:lnTo>
                <a:lnTo>
                  <a:pt x="128" y="0"/>
                </a:lnTo>
                <a:lnTo>
                  <a:pt x="128" y="0"/>
                </a:lnTo>
                <a:lnTo>
                  <a:pt x="132" y="1"/>
                </a:lnTo>
                <a:lnTo>
                  <a:pt x="135" y="6"/>
                </a:lnTo>
                <a:lnTo>
                  <a:pt x="137" y="12"/>
                </a:lnTo>
                <a:lnTo>
                  <a:pt x="139" y="19"/>
                </a:lnTo>
                <a:lnTo>
                  <a:pt x="139" y="19"/>
                </a:lnTo>
                <a:lnTo>
                  <a:pt x="137" y="27"/>
                </a:lnTo>
                <a:lnTo>
                  <a:pt x="135" y="34"/>
                </a:lnTo>
                <a:lnTo>
                  <a:pt x="132" y="38"/>
                </a:lnTo>
                <a:lnTo>
                  <a:pt x="128" y="39"/>
                </a:lnTo>
                <a:lnTo>
                  <a:pt x="128" y="39"/>
                </a:lnTo>
                <a:close/>
                <a:moveTo>
                  <a:pt x="83" y="51"/>
                </a:moveTo>
                <a:lnTo>
                  <a:pt x="83" y="51"/>
                </a:lnTo>
                <a:lnTo>
                  <a:pt x="79" y="52"/>
                </a:lnTo>
                <a:lnTo>
                  <a:pt x="74" y="49"/>
                </a:lnTo>
                <a:lnTo>
                  <a:pt x="70" y="45"/>
                </a:lnTo>
                <a:lnTo>
                  <a:pt x="65" y="39"/>
                </a:lnTo>
                <a:lnTo>
                  <a:pt x="65" y="39"/>
                </a:lnTo>
                <a:lnTo>
                  <a:pt x="62" y="32"/>
                </a:lnTo>
                <a:lnTo>
                  <a:pt x="61" y="26"/>
                </a:lnTo>
                <a:lnTo>
                  <a:pt x="61" y="21"/>
                </a:lnTo>
                <a:lnTo>
                  <a:pt x="63" y="17"/>
                </a:lnTo>
                <a:lnTo>
                  <a:pt x="63" y="17"/>
                </a:lnTo>
                <a:lnTo>
                  <a:pt x="69" y="17"/>
                </a:lnTo>
                <a:lnTo>
                  <a:pt x="72" y="18"/>
                </a:lnTo>
                <a:lnTo>
                  <a:pt x="78" y="23"/>
                </a:lnTo>
                <a:lnTo>
                  <a:pt x="83" y="28"/>
                </a:lnTo>
                <a:lnTo>
                  <a:pt x="83" y="28"/>
                </a:lnTo>
                <a:lnTo>
                  <a:pt x="85" y="36"/>
                </a:lnTo>
                <a:lnTo>
                  <a:pt x="87" y="43"/>
                </a:lnTo>
                <a:lnTo>
                  <a:pt x="85" y="48"/>
                </a:lnTo>
                <a:lnTo>
                  <a:pt x="83" y="51"/>
                </a:lnTo>
                <a:lnTo>
                  <a:pt x="83" y="51"/>
                </a:lnTo>
                <a:close/>
                <a:moveTo>
                  <a:pt x="39" y="192"/>
                </a:moveTo>
                <a:lnTo>
                  <a:pt x="39" y="192"/>
                </a:lnTo>
                <a:lnTo>
                  <a:pt x="32" y="195"/>
                </a:lnTo>
                <a:lnTo>
                  <a:pt x="26" y="196"/>
                </a:lnTo>
                <a:lnTo>
                  <a:pt x="20" y="195"/>
                </a:lnTo>
                <a:lnTo>
                  <a:pt x="17" y="192"/>
                </a:lnTo>
                <a:lnTo>
                  <a:pt x="17" y="192"/>
                </a:lnTo>
                <a:lnTo>
                  <a:pt x="17" y="188"/>
                </a:lnTo>
                <a:lnTo>
                  <a:pt x="18" y="184"/>
                </a:lnTo>
                <a:lnTo>
                  <a:pt x="23" y="179"/>
                </a:lnTo>
                <a:lnTo>
                  <a:pt x="28" y="174"/>
                </a:lnTo>
                <a:lnTo>
                  <a:pt x="28" y="174"/>
                </a:lnTo>
                <a:lnTo>
                  <a:pt x="36" y="171"/>
                </a:lnTo>
                <a:lnTo>
                  <a:pt x="41" y="170"/>
                </a:lnTo>
                <a:lnTo>
                  <a:pt x="46" y="171"/>
                </a:lnTo>
                <a:lnTo>
                  <a:pt x="50" y="174"/>
                </a:lnTo>
                <a:lnTo>
                  <a:pt x="50" y="174"/>
                </a:lnTo>
                <a:lnTo>
                  <a:pt x="50" y="178"/>
                </a:lnTo>
                <a:lnTo>
                  <a:pt x="49" y="183"/>
                </a:lnTo>
                <a:lnTo>
                  <a:pt x="45" y="187"/>
                </a:lnTo>
                <a:lnTo>
                  <a:pt x="39" y="192"/>
                </a:lnTo>
                <a:lnTo>
                  <a:pt x="39" y="192"/>
                </a:lnTo>
                <a:close/>
                <a:moveTo>
                  <a:pt x="28" y="83"/>
                </a:moveTo>
                <a:lnTo>
                  <a:pt x="28" y="83"/>
                </a:lnTo>
                <a:lnTo>
                  <a:pt x="23" y="78"/>
                </a:lnTo>
                <a:lnTo>
                  <a:pt x="18" y="74"/>
                </a:lnTo>
                <a:lnTo>
                  <a:pt x="17" y="69"/>
                </a:lnTo>
                <a:lnTo>
                  <a:pt x="17" y="65"/>
                </a:lnTo>
                <a:lnTo>
                  <a:pt x="17" y="65"/>
                </a:lnTo>
                <a:lnTo>
                  <a:pt x="20" y="62"/>
                </a:lnTo>
                <a:lnTo>
                  <a:pt x="26" y="61"/>
                </a:lnTo>
                <a:lnTo>
                  <a:pt x="32" y="62"/>
                </a:lnTo>
                <a:lnTo>
                  <a:pt x="39" y="65"/>
                </a:lnTo>
                <a:lnTo>
                  <a:pt x="39" y="65"/>
                </a:lnTo>
                <a:lnTo>
                  <a:pt x="45" y="70"/>
                </a:lnTo>
                <a:lnTo>
                  <a:pt x="49" y="75"/>
                </a:lnTo>
                <a:lnTo>
                  <a:pt x="50" y="79"/>
                </a:lnTo>
                <a:lnTo>
                  <a:pt x="50" y="83"/>
                </a:lnTo>
                <a:lnTo>
                  <a:pt x="50" y="83"/>
                </a:lnTo>
                <a:lnTo>
                  <a:pt x="46" y="86"/>
                </a:lnTo>
                <a:lnTo>
                  <a:pt x="41" y="87"/>
                </a:lnTo>
                <a:lnTo>
                  <a:pt x="36" y="86"/>
                </a:lnTo>
                <a:lnTo>
                  <a:pt x="28" y="83"/>
                </a:lnTo>
                <a:lnTo>
                  <a:pt x="28" y="83"/>
                </a:lnTo>
                <a:close/>
                <a:moveTo>
                  <a:pt x="39" y="129"/>
                </a:moveTo>
                <a:lnTo>
                  <a:pt x="39" y="129"/>
                </a:lnTo>
                <a:lnTo>
                  <a:pt x="37" y="132"/>
                </a:lnTo>
                <a:lnTo>
                  <a:pt x="32" y="136"/>
                </a:lnTo>
                <a:lnTo>
                  <a:pt x="27" y="138"/>
                </a:lnTo>
                <a:lnTo>
                  <a:pt x="19" y="139"/>
                </a:lnTo>
                <a:lnTo>
                  <a:pt x="19" y="139"/>
                </a:lnTo>
                <a:lnTo>
                  <a:pt x="11" y="138"/>
                </a:lnTo>
                <a:lnTo>
                  <a:pt x="5" y="136"/>
                </a:lnTo>
                <a:lnTo>
                  <a:pt x="1" y="132"/>
                </a:lnTo>
                <a:lnTo>
                  <a:pt x="0" y="129"/>
                </a:lnTo>
                <a:lnTo>
                  <a:pt x="0" y="129"/>
                </a:lnTo>
                <a:lnTo>
                  <a:pt x="1" y="125"/>
                </a:lnTo>
                <a:lnTo>
                  <a:pt x="5" y="122"/>
                </a:lnTo>
                <a:lnTo>
                  <a:pt x="11" y="119"/>
                </a:lnTo>
                <a:lnTo>
                  <a:pt x="19" y="118"/>
                </a:lnTo>
                <a:lnTo>
                  <a:pt x="19" y="118"/>
                </a:lnTo>
                <a:lnTo>
                  <a:pt x="27" y="119"/>
                </a:lnTo>
                <a:lnTo>
                  <a:pt x="32" y="122"/>
                </a:lnTo>
                <a:lnTo>
                  <a:pt x="37" y="125"/>
                </a:lnTo>
                <a:lnTo>
                  <a:pt x="39" y="129"/>
                </a:lnTo>
                <a:lnTo>
                  <a:pt x="39" y="129"/>
                </a:lnTo>
                <a:close/>
                <a:moveTo>
                  <a:pt x="127" y="210"/>
                </a:moveTo>
                <a:lnTo>
                  <a:pt x="127" y="210"/>
                </a:lnTo>
                <a:lnTo>
                  <a:pt x="126" y="223"/>
                </a:lnTo>
                <a:lnTo>
                  <a:pt x="126" y="234"/>
                </a:lnTo>
                <a:lnTo>
                  <a:pt x="123" y="240"/>
                </a:lnTo>
                <a:lnTo>
                  <a:pt x="123" y="240"/>
                </a:lnTo>
                <a:lnTo>
                  <a:pt x="121" y="244"/>
                </a:lnTo>
                <a:lnTo>
                  <a:pt x="115" y="247"/>
                </a:lnTo>
                <a:lnTo>
                  <a:pt x="111" y="247"/>
                </a:lnTo>
                <a:lnTo>
                  <a:pt x="106" y="246"/>
                </a:lnTo>
                <a:lnTo>
                  <a:pt x="106" y="246"/>
                </a:lnTo>
                <a:lnTo>
                  <a:pt x="102" y="242"/>
                </a:lnTo>
                <a:lnTo>
                  <a:pt x="101" y="238"/>
                </a:lnTo>
                <a:lnTo>
                  <a:pt x="100" y="233"/>
                </a:lnTo>
                <a:lnTo>
                  <a:pt x="102" y="229"/>
                </a:lnTo>
                <a:lnTo>
                  <a:pt x="102" y="229"/>
                </a:lnTo>
                <a:lnTo>
                  <a:pt x="108" y="222"/>
                </a:lnTo>
                <a:lnTo>
                  <a:pt x="115" y="217"/>
                </a:lnTo>
                <a:lnTo>
                  <a:pt x="127" y="210"/>
                </a:lnTo>
                <a:lnTo>
                  <a:pt x="127" y="210"/>
                </a:lnTo>
                <a:close/>
                <a:moveTo>
                  <a:pt x="182" y="222"/>
                </a:moveTo>
                <a:lnTo>
                  <a:pt x="182" y="222"/>
                </a:lnTo>
                <a:lnTo>
                  <a:pt x="182" y="235"/>
                </a:lnTo>
                <a:lnTo>
                  <a:pt x="180" y="244"/>
                </a:lnTo>
                <a:lnTo>
                  <a:pt x="178" y="252"/>
                </a:lnTo>
                <a:lnTo>
                  <a:pt x="178" y="252"/>
                </a:lnTo>
                <a:lnTo>
                  <a:pt x="175" y="256"/>
                </a:lnTo>
                <a:lnTo>
                  <a:pt x="171" y="257"/>
                </a:lnTo>
                <a:lnTo>
                  <a:pt x="166" y="259"/>
                </a:lnTo>
                <a:lnTo>
                  <a:pt x="161" y="256"/>
                </a:lnTo>
                <a:lnTo>
                  <a:pt x="161" y="256"/>
                </a:lnTo>
                <a:lnTo>
                  <a:pt x="157" y="253"/>
                </a:lnTo>
                <a:lnTo>
                  <a:pt x="156" y="249"/>
                </a:lnTo>
                <a:lnTo>
                  <a:pt x="156" y="244"/>
                </a:lnTo>
                <a:lnTo>
                  <a:pt x="157" y="239"/>
                </a:lnTo>
                <a:lnTo>
                  <a:pt x="157" y="239"/>
                </a:lnTo>
                <a:lnTo>
                  <a:pt x="162" y="234"/>
                </a:lnTo>
                <a:lnTo>
                  <a:pt x="170" y="229"/>
                </a:lnTo>
                <a:lnTo>
                  <a:pt x="182" y="222"/>
                </a:lnTo>
                <a:lnTo>
                  <a:pt x="182" y="222"/>
                </a:lnTo>
                <a:close/>
                <a:moveTo>
                  <a:pt x="236" y="210"/>
                </a:moveTo>
                <a:lnTo>
                  <a:pt x="236" y="210"/>
                </a:lnTo>
                <a:lnTo>
                  <a:pt x="236" y="223"/>
                </a:lnTo>
                <a:lnTo>
                  <a:pt x="235" y="234"/>
                </a:lnTo>
                <a:lnTo>
                  <a:pt x="234" y="240"/>
                </a:lnTo>
                <a:lnTo>
                  <a:pt x="234" y="240"/>
                </a:lnTo>
                <a:lnTo>
                  <a:pt x="230" y="244"/>
                </a:lnTo>
                <a:lnTo>
                  <a:pt x="226" y="247"/>
                </a:lnTo>
                <a:lnTo>
                  <a:pt x="221" y="247"/>
                </a:lnTo>
                <a:lnTo>
                  <a:pt x="217" y="246"/>
                </a:lnTo>
                <a:lnTo>
                  <a:pt x="217" y="246"/>
                </a:lnTo>
                <a:lnTo>
                  <a:pt x="213" y="242"/>
                </a:lnTo>
                <a:lnTo>
                  <a:pt x="210" y="238"/>
                </a:lnTo>
                <a:lnTo>
                  <a:pt x="210" y="233"/>
                </a:lnTo>
                <a:lnTo>
                  <a:pt x="212" y="229"/>
                </a:lnTo>
                <a:lnTo>
                  <a:pt x="212" y="229"/>
                </a:lnTo>
                <a:lnTo>
                  <a:pt x="217" y="222"/>
                </a:lnTo>
                <a:lnTo>
                  <a:pt x="226" y="217"/>
                </a:lnTo>
                <a:lnTo>
                  <a:pt x="236" y="210"/>
                </a:lnTo>
                <a:lnTo>
                  <a:pt x="236" y="210"/>
                </a:ln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8" name="Freeform 106"/>
          <p:cNvSpPr>
            <a:spLocks/>
          </p:cNvSpPr>
          <p:nvPr/>
        </p:nvSpPr>
        <p:spPr bwMode="auto">
          <a:xfrm>
            <a:off x="9206463" y="1789107"/>
            <a:ext cx="866814" cy="853162"/>
          </a:xfrm>
          <a:custGeom>
            <a:avLst/>
            <a:gdLst>
              <a:gd name="T0" fmla="*/ 228 w 255"/>
              <a:gd name="T1" fmla="*/ 154 h 251"/>
              <a:gd name="T2" fmla="*/ 177 w 255"/>
              <a:gd name="T3" fmla="*/ 130 h 251"/>
              <a:gd name="T4" fmla="*/ 173 w 255"/>
              <a:gd name="T5" fmla="*/ 76 h 251"/>
              <a:gd name="T6" fmla="*/ 82 w 255"/>
              <a:gd name="T7" fmla="*/ 154 h 251"/>
              <a:gd name="T8" fmla="*/ 98 w 255"/>
              <a:gd name="T9" fmla="*/ 251 h 251"/>
              <a:gd name="T10" fmla="*/ 75 w 255"/>
              <a:gd name="T11" fmla="*/ 193 h 251"/>
              <a:gd name="T12" fmla="*/ 82 w 255"/>
              <a:gd name="T13" fmla="*/ 154 h 251"/>
              <a:gd name="T14" fmla="*/ 39 w 255"/>
              <a:gd name="T15" fmla="*/ 154 h 251"/>
              <a:gd name="T16" fmla="*/ 24 w 255"/>
              <a:gd name="T17" fmla="*/ 151 h 251"/>
              <a:gd name="T18" fmla="*/ 12 w 255"/>
              <a:gd name="T19" fmla="*/ 142 h 251"/>
              <a:gd name="T20" fmla="*/ 3 w 255"/>
              <a:gd name="T21" fmla="*/ 129 h 251"/>
              <a:gd name="T22" fmla="*/ 0 w 255"/>
              <a:gd name="T23" fmla="*/ 114 h 251"/>
              <a:gd name="T24" fmla="*/ 2 w 255"/>
              <a:gd name="T25" fmla="*/ 106 h 251"/>
              <a:gd name="T26" fmla="*/ 7 w 255"/>
              <a:gd name="T27" fmla="*/ 93 h 251"/>
              <a:gd name="T28" fmla="*/ 16 w 255"/>
              <a:gd name="T29" fmla="*/ 82 h 251"/>
              <a:gd name="T30" fmla="*/ 29 w 255"/>
              <a:gd name="T31" fmla="*/ 76 h 251"/>
              <a:gd name="T32" fmla="*/ 37 w 255"/>
              <a:gd name="T33" fmla="*/ 75 h 251"/>
              <a:gd name="T34" fmla="*/ 37 w 255"/>
              <a:gd name="T35" fmla="*/ 73 h 251"/>
              <a:gd name="T36" fmla="*/ 41 w 255"/>
              <a:gd name="T37" fmla="*/ 62 h 251"/>
              <a:gd name="T38" fmla="*/ 49 w 255"/>
              <a:gd name="T39" fmla="*/ 55 h 251"/>
              <a:gd name="T40" fmla="*/ 65 w 255"/>
              <a:gd name="T41" fmla="*/ 54 h 251"/>
              <a:gd name="T42" fmla="*/ 67 w 255"/>
              <a:gd name="T43" fmla="*/ 42 h 251"/>
              <a:gd name="T44" fmla="*/ 75 w 255"/>
              <a:gd name="T45" fmla="*/ 24 h 251"/>
              <a:gd name="T46" fmla="*/ 88 w 255"/>
              <a:gd name="T47" fmla="*/ 10 h 251"/>
              <a:gd name="T48" fmla="*/ 110 w 255"/>
              <a:gd name="T49" fmla="*/ 2 h 251"/>
              <a:gd name="T50" fmla="*/ 124 w 255"/>
              <a:gd name="T51" fmla="*/ 0 h 251"/>
              <a:gd name="T52" fmla="*/ 146 w 255"/>
              <a:gd name="T53" fmla="*/ 4 h 251"/>
              <a:gd name="T54" fmla="*/ 164 w 255"/>
              <a:gd name="T55" fmla="*/ 17 h 251"/>
              <a:gd name="T56" fmla="*/ 177 w 255"/>
              <a:gd name="T57" fmla="*/ 36 h 251"/>
              <a:gd name="T58" fmla="*/ 182 w 255"/>
              <a:gd name="T59" fmla="*/ 58 h 251"/>
              <a:gd name="T60" fmla="*/ 188 w 255"/>
              <a:gd name="T61" fmla="*/ 58 h 251"/>
              <a:gd name="T62" fmla="*/ 195 w 255"/>
              <a:gd name="T63" fmla="*/ 58 h 251"/>
              <a:gd name="T64" fmla="*/ 210 w 255"/>
              <a:gd name="T65" fmla="*/ 64 h 251"/>
              <a:gd name="T66" fmla="*/ 220 w 255"/>
              <a:gd name="T67" fmla="*/ 75 h 251"/>
              <a:gd name="T68" fmla="*/ 227 w 255"/>
              <a:gd name="T69" fmla="*/ 89 h 251"/>
              <a:gd name="T70" fmla="*/ 227 w 255"/>
              <a:gd name="T71" fmla="*/ 97 h 251"/>
              <a:gd name="T72" fmla="*/ 227 w 255"/>
              <a:gd name="T73" fmla="*/ 99 h 251"/>
              <a:gd name="T74" fmla="*/ 228 w 255"/>
              <a:gd name="T75" fmla="*/ 99 h 251"/>
              <a:gd name="T76" fmla="*/ 238 w 255"/>
              <a:gd name="T77" fmla="*/ 101 h 251"/>
              <a:gd name="T78" fmla="*/ 247 w 255"/>
              <a:gd name="T79" fmla="*/ 107 h 251"/>
              <a:gd name="T80" fmla="*/ 253 w 255"/>
              <a:gd name="T81" fmla="*/ 115 h 251"/>
              <a:gd name="T82" fmla="*/ 255 w 255"/>
              <a:gd name="T83" fmla="*/ 125 h 251"/>
              <a:gd name="T84" fmla="*/ 255 w 255"/>
              <a:gd name="T85" fmla="*/ 132 h 251"/>
              <a:gd name="T86" fmla="*/ 251 w 255"/>
              <a:gd name="T87" fmla="*/ 141 h 251"/>
              <a:gd name="T88" fmla="*/ 244 w 255"/>
              <a:gd name="T89" fmla="*/ 149 h 251"/>
              <a:gd name="T90" fmla="*/ 233 w 255"/>
              <a:gd name="T91" fmla="*/ 154 h 251"/>
              <a:gd name="T92" fmla="*/ 228 w 255"/>
              <a:gd name="T93" fmla="*/ 154 h 2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55" h="251">
                <a:moveTo>
                  <a:pt x="228" y="154"/>
                </a:moveTo>
                <a:lnTo>
                  <a:pt x="228" y="154"/>
                </a:lnTo>
                <a:lnTo>
                  <a:pt x="162" y="154"/>
                </a:lnTo>
                <a:lnTo>
                  <a:pt x="177" y="130"/>
                </a:lnTo>
                <a:lnTo>
                  <a:pt x="129" y="145"/>
                </a:lnTo>
                <a:lnTo>
                  <a:pt x="173" y="76"/>
                </a:lnTo>
                <a:lnTo>
                  <a:pt x="98" y="76"/>
                </a:lnTo>
                <a:lnTo>
                  <a:pt x="82" y="154"/>
                </a:lnTo>
                <a:lnTo>
                  <a:pt x="162" y="154"/>
                </a:lnTo>
                <a:lnTo>
                  <a:pt x="98" y="251"/>
                </a:lnTo>
                <a:lnTo>
                  <a:pt x="108" y="177"/>
                </a:lnTo>
                <a:lnTo>
                  <a:pt x="75" y="193"/>
                </a:lnTo>
                <a:lnTo>
                  <a:pt x="82" y="154"/>
                </a:lnTo>
                <a:lnTo>
                  <a:pt x="82" y="154"/>
                </a:lnTo>
                <a:lnTo>
                  <a:pt x="39" y="154"/>
                </a:lnTo>
                <a:lnTo>
                  <a:pt x="39" y="154"/>
                </a:lnTo>
                <a:lnTo>
                  <a:pt x="32" y="153"/>
                </a:lnTo>
                <a:lnTo>
                  <a:pt x="24" y="151"/>
                </a:lnTo>
                <a:lnTo>
                  <a:pt x="17" y="147"/>
                </a:lnTo>
                <a:lnTo>
                  <a:pt x="12" y="142"/>
                </a:lnTo>
                <a:lnTo>
                  <a:pt x="7" y="136"/>
                </a:lnTo>
                <a:lnTo>
                  <a:pt x="3" y="129"/>
                </a:lnTo>
                <a:lnTo>
                  <a:pt x="2" y="121"/>
                </a:lnTo>
                <a:lnTo>
                  <a:pt x="0" y="114"/>
                </a:lnTo>
                <a:lnTo>
                  <a:pt x="0" y="114"/>
                </a:lnTo>
                <a:lnTo>
                  <a:pt x="2" y="106"/>
                </a:lnTo>
                <a:lnTo>
                  <a:pt x="3" y="99"/>
                </a:lnTo>
                <a:lnTo>
                  <a:pt x="7" y="93"/>
                </a:lnTo>
                <a:lnTo>
                  <a:pt x="11" y="86"/>
                </a:lnTo>
                <a:lnTo>
                  <a:pt x="16" y="82"/>
                </a:lnTo>
                <a:lnTo>
                  <a:pt x="23" y="78"/>
                </a:lnTo>
                <a:lnTo>
                  <a:pt x="29" y="76"/>
                </a:lnTo>
                <a:lnTo>
                  <a:pt x="37" y="75"/>
                </a:lnTo>
                <a:lnTo>
                  <a:pt x="37" y="75"/>
                </a:lnTo>
                <a:lnTo>
                  <a:pt x="37" y="73"/>
                </a:lnTo>
                <a:lnTo>
                  <a:pt x="37" y="73"/>
                </a:lnTo>
                <a:lnTo>
                  <a:pt x="38" y="65"/>
                </a:lnTo>
                <a:lnTo>
                  <a:pt x="41" y="62"/>
                </a:lnTo>
                <a:lnTo>
                  <a:pt x="45" y="58"/>
                </a:lnTo>
                <a:lnTo>
                  <a:pt x="49" y="55"/>
                </a:lnTo>
                <a:lnTo>
                  <a:pt x="58" y="54"/>
                </a:lnTo>
                <a:lnTo>
                  <a:pt x="65" y="54"/>
                </a:lnTo>
                <a:lnTo>
                  <a:pt x="65" y="54"/>
                </a:lnTo>
                <a:lnTo>
                  <a:pt x="67" y="42"/>
                </a:lnTo>
                <a:lnTo>
                  <a:pt x="69" y="33"/>
                </a:lnTo>
                <a:lnTo>
                  <a:pt x="75" y="24"/>
                </a:lnTo>
                <a:lnTo>
                  <a:pt x="80" y="16"/>
                </a:lnTo>
                <a:lnTo>
                  <a:pt x="88" y="10"/>
                </a:lnTo>
                <a:lnTo>
                  <a:pt x="98" y="4"/>
                </a:lnTo>
                <a:lnTo>
                  <a:pt x="110" y="2"/>
                </a:lnTo>
                <a:lnTo>
                  <a:pt x="124" y="0"/>
                </a:lnTo>
                <a:lnTo>
                  <a:pt x="124" y="0"/>
                </a:lnTo>
                <a:lnTo>
                  <a:pt x="136" y="2"/>
                </a:lnTo>
                <a:lnTo>
                  <a:pt x="146" y="4"/>
                </a:lnTo>
                <a:lnTo>
                  <a:pt x="156" y="10"/>
                </a:lnTo>
                <a:lnTo>
                  <a:pt x="164" y="17"/>
                </a:lnTo>
                <a:lnTo>
                  <a:pt x="172" y="25"/>
                </a:lnTo>
                <a:lnTo>
                  <a:pt x="177" y="36"/>
                </a:lnTo>
                <a:lnTo>
                  <a:pt x="181" y="46"/>
                </a:lnTo>
                <a:lnTo>
                  <a:pt x="182" y="58"/>
                </a:lnTo>
                <a:lnTo>
                  <a:pt x="182" y="58"/>
                </a:lnTo>
                <a:lnTo>
                  <a:pt x="188" y="58"/>
                </a:lnTo>
                <a:lnTo>
                  <a:pt x="188" y="58"/>
                </a:lnTo>
                <a:lnTo>
                  <a:pt x="195" y="58"/>
                </a:lnTo>
                <a:lnTo>
                  <a:pt x="203" y="60"/>
                </a:lnTo>
                <a:lnTo>
                  <a:pt x="210" y="64"/>
                </a:lnTo>
                <a:lnTo>
                  <a:pt x="215" y="69"/>
                </a:lnTo>
                <a:lnTo>
                  <a:pt x="220" y="75"/>
                </a:lnTo>
                <a:lnTo>
                  <a:pt x="224" y="81"/>
                </a:lnTo>
                <a:lnTo>
                  <a:pt x="227" y="89"/>
                </a:lnTo>
                <a:lnTo>
                  <a:pt x="227" y="97"/>
                </a:lnTo>
                <a:lnTo>
                  <a:pt x="227" y="97"/>
                </a:lnTo>
                <a:lnTo>
                  <a:pt x="227" y="99"/>
                </a:lnTo>
                <a:lnTo>
                  <a:pt x="227" y="99"/>
                </a:lnTo>
                <a:lnTo>
                  <a:pt x="228" y="99"/>
                </a:lnTo>
                <a:lnTo>
                  <a:pt x="228" y="99"/>
                </a:lnTo>
                <a:lnTo>
                  <a:pt x="233" y="99"/>
                </a:lnTo>
                <a:lnTo>
                  <a:pt x="238" y="101"/>
                </a:lnTo>
                <a:lnTo>
                  <a:pt x="244" y="103"/>
                </a:lnTo>
                <a:lnTo>
                  <a:pt x="247" y="107"/>
                </a:lnTo>
                <a:lnTo>
                  <a:pt x="251" y="111"/>
                </a:lnTo>
                <a:lnTo>
                  <a:pt x="253" y="115"/>
                </a:lnTo>
                <a:lnTo>
                  <a:pt x="255" y="120"/>
                </a:lnTo>
                <a:lnTo>
                  <a:pt x="255" y="125"/>
                </a:lnTo>
                <a:lnTo>
                  <a:pt x="255" y="125"/>
                </a:lnTo>
                <a:lnTo>
                  <a:pt x="255" y="132"/>
                </a:lnTo>
                <a:lnTo>
                  <a:pt x="253" y="137"/>
                </a:lnTo>
                <a:lnTo>
                  <a:pt x="251" y="141"/>
                </a:lnTo>
                <a:lnTo>
                  <a:pt x="247" y="146"/>
                </a:lnTo>
                <a:lnTo>
                  <a:pt x="244" y="149"/>
                </a:lnTo>
                <a:lnTo>
                  <a:pt x="238" y="151"/>
                </a:lnTo>
                <a:lnTo>
                  <a:pt x="233" y="154"/>
                </a:lnTo>
                <a:lnTo>
                  <a:pt x="228" y="154"/>
                </a:lnTo>
                <a:lnTo>
                  <a:pt x="228" y="154"/>
                </a:ln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9" name="Freeform 107"/>
          <p:cNvSpPr>
            <a:spLocks noEditPoints="1"/>
          </p:cNvSpPr>
          <p:nvPr/>
        </p:nvSpPr>
        <p:spPr bwMode="auto">
          <a:xfrm>
            <a:off x="1564358" y="1051336"/>
            <a:ext cx="873637" cy="873637"/>
          </a:xfrm>
          <a:custGeom>
            <a:avLst/>
            <a:gdLst>
              <a:gd name="T0" fmla="*/ 32 w 257"/>
              <a:gd name="T1" fmla="*/ 152 h 256"/>
              <a:gd name="T2" fmla="*/ 3 w 257"/>
              <a:gd name="T3" fmla="*/ 128 h 256"/>
              <a:gd name="T4" fmla="*/ 3 w 257"/>
              <a:gd name="T5" fmla="*/ 98 h 256"/>
              <a:gd name="T6" fmla="*/ 30 w 257"/>
              <a:gd name="T7" fmla="*/ 75 h 256"/>
              <a:gd name="T8" fmla="*/ 38 w 257"/>
              <a:gd name="T9" fmla="*/ 65 h 256"/>
              <a:gd name="T10" fmla="*/ 65 w 257"/>
              <a:gd name="T11" fmla="*/ 53 h 256"/>
              <a:gd name="T12" fmla="*/ 80 w 257"/>
              <a:gd name="T13" fmla="*/ 15 h 256"/>
              <a:gd name="T14" fmla="*/ 124 w 257"/>
              <a:gd name="T15" fmla="*/ 0 h 256"/>
              <a:gd name="T16" fmla="*/ 172 w 257"/>
              <a:gd name="T17" fmla="*/ 24 h 256"/>
              <a:gd name="T18" fmla="*/ 188 w 257"/>
              <a:gd name="T19" fmla="*/ 57 h 256"/>
              <a:gd name="T20" fmla="*/ 215 w 257"/>
              <a:gd name="T21" fmla="*/ 68 h 256"/>
              <a:gd name="T22" fmla="*/ 227 w 257"/>
              <a:gd name="T23" fmla="*/ 96 h 256"/>
              <a:gd name="T24" fmla="*/ 233 w 257"/>
              <a:gd name="T25" fmla="*/ 98 h 256"/>
              <a:gd name="T26" fmla="*/ 253 w 257"/>
              <a:gd name="T27" fmla="*/ 114 h 256"/>
              <a:gd name="T28" fmla="*/ 253 w 257"/>
              <a:gd name="T29" fmla="*/ 136 h 256"/>
              <a:gd name="T30" fmla="*/ 233 w 257"/>
              <a:gd name="T31" fmla="*/ 153 h 256"/>
              <a:gd name="T32" fmla="*/ 36 w 257"/>
              <a:gd name="T33" fmla="*/ 182 h 256"/>
              <a:gd name="T34" fmla="*/ 26 w 257"/>
              <a:gd name="T35" fmla="*/ 204 h 256"/>
              <a:gd name="T36" fmla="*/ 12 w 257"/>
              <a:gd name="T37" fmla="*/ 196 h 256"/>
              <a:gd name="T38" fmla="*/ 25 w 257"/>
              <a:gd name="T39" fmla="*/ 176 h 256"/>
              <a:gd name="T40" fmla="*/ 63 w 257"/>
              <a:gd name="T41" fmla="*/ 234 h 256"/>
              <a:gd name="T42" fmla="*/ 54 w 257"/>
              <a:gd name="T43" fmla="*/ 256 h 256"/>
              <a:gd name="T44" fmla="*/ 39 w 257"/>
              <a:gd name="T45" fmla="*/ 248 h 256"/>
              <a:gd name="T46" fmla="*/ 52 w 257"/>
              <a:gd name="T47" fmla="*/ 228 h 256"/>
              <a:gd name="T48" fmla="*/ 97 w 257"/>
              <a:gd name="T49" fmla="*/ 182 h 256"/>
              <a:gd name="T50" fmla="*/ 86 w 257"/>
              <a:gd name="T51" fmla="*/ 204 h 256"/>
              <a:gd name="T52" fmla="*/ 72 w 257"/>
              <a:gd name="T53" fmla="*/ 196 h 256"/>
              <a:gd name="T54" fmla="*/ 86 w 257"/>
              <a:gd name="T55" fmla="*/ 176 h 256"/>
              <a:gd name="T56" fmla="*/ 116 w 257"/>
              <a:gd name="T57" fmla="*/ 214 h 256"/>
              <a:gd name="T58" fmla="*/ 120 w 257"/>
              <a:gd name="T59" fmla="*/ 211 h 256"/>
              <a:gd name="T60" fmla="*/ 119 w 257"/>
              <a:gd name="T61" fmla="*/ 193 h 256"/>
              <a:gd name="T62" fmla="*/ 137 w 257"/>
              <a:gd name="T63" fmla="*/ 191 h 256"/>
              <a:gd name="T64" fmla="*/ 140 w 257"/>
              <a:gd name="T65" fmla="*/ 185 h 256"/>
              <a:gd name="T66" fmla="*/ 156 w 257"/>
              <a:gd name="T67" fmla="*/ 182 h 256"/>
              <a:gd name="T68" fmla="*/ 155 w 257"/>
              <a:gd name="T69" fmla="*/ 198 h 256"/>
              <a:gd name="T70" fmla="*/ 173 w 257"/>
              <a:gd name="T71" fmla="*/ 196 h 256"/>
              <a:gd name="T72" fmla="*/ 175 w 257"/>
              <a:gd name="T73" fmla="*/ 210 h 256"/>
              <a:gd name="T74" fmla="*/ 155 w 257"/>
              <a:gd name="T75" fmla="*/ 218 h 256"/>
              <a:gd name="T76" fmla="*/ 172 w 257"/>
              <a:gd name="T77" fmla="*/ 231 h 256"/>
              <a:gd name="T78" fmla="*/ 167 w 257"/>
              <a:gd name="T79" fmla="*/ 244 h 256"/>
              <a:gd name="T80" fmla="*/ 149 w 257"/>
              <a:gd name="T81" fmla="*/ 236 h 256"/>
              <a:gd name="T82" fmla="*/ 146 w 257"/>
              <a:gd name="T83" fmla="*/ 252 h 256"/>
              <a:gd name="T84" fmla="*/ 130 w 257"/>
              <a:gd name="T85" fmla="*/ 243 h 256"/>
              <a:gd name="T86" fmla="*/ 130 w 257"/>
              <a:gd name="T87" fmla="*/ 239 h 256"/>
              <a:gd name="T88" fmla="*/ 114 w 257"/>
              <a:gd name="T89" fmla="*/ 230 h 256"/>
              <a:gd name="T90" fmla="*/ 206 w 257"/>
              <a:gd name="T91" fmla="*/ 180 h 256"/>
              <a:gd name="T92" fmla="*/ 208 w 257"/>
              <a:gd name="T93" fmla="*/ 179 h 256"/>
              <a:gd name="T94" fmla="*/ 211 w 257"/>
              <a:gd name="T95" fmla="*/ 165 h 256"/>
              <a:gd name="T96" fmla="*/ 225 w 257"/>
              <a:gd name="T97" fmla="*/ 166 h 256"/>
              <a:gd name="T98" fmla="*/ 227 w 257"/>
              <a:gd name="T99" fmla="*/ 163 h 256"/>
              <a:gd name="T100" fmla="*/ 241 w 257"/>
              <a:gd name="T101" fmla="*/ 163 h 256"/>
              <a:gd name="T102" fmla="*/ 236 w 257"/>
              <a:gd name="T103" fmla="*/ 175 h 256"/>
              <a:gd name="T104" fmla="*/ 250 w 257"/>
              <a:gd name="T105" fmla="*/ 176 h 256"/>
              <a:gd name="T106" fmla="*/ 249 w 257"/>
              <a:gd name="T107" fmla="*/ 187 h 256"/>
              <a:gd name="T108" fmla="*/ 233 w 257"/>
              <a:gd name="T109" fmla="*/ 189 h 256"/>
              <a:gd name="T110" fmla="*/ 244 w 257"/>
              <a:gd name="T111" fmla="*/ 201 h 256"/>
              <a:gd name="T112" fmla="*/ 237 w 257"/>
              <a:gd name="T113" fmla="*/ 210 h 256"/>
              <a:gd name="T114" fmla="*/ 225 w 257"/>
              <a:gd name="T115" fmla="*/ 201 h 256"/>
              <a:gd name="T116" fmla="*/ 221 w 257"/>
              <a:gd name="T117" fmla="*/ 213 h 256"/>
              <a:gd name="T118" fmla="*/ 211 w 257"/>
              <a:gd name="T119" fmla="*/ 204 h 256"/>
              <a:gd name="T120" fmla="*/ 211 w 257"/>
              <a:gd name="T121" fmla="*/ 200 h 256"/>
              <a:gd name="T122" fmla="*/ 201 w 257"/>
              <a:gd name="T123" fmla="*/ 192 h 2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57" h="256">
                <a:moveTo>
                  <a:pt x="228" y="153"/>
                </a:moveTo>
                <a:lnTo>
                  <a:pt x="228" y="153"/>
                </a:lnTo>
                <a:lnTo>
                  <a:pt x="39" y="153"/>
                </a:lnTo>
                <a:lnTo>
                  <a:pt x="39" y="153"/>
                </a:lnTo>
                <a:lnTo>
                  <a:pt x="32" y="152"/>
                </a:lnTo>
                <a:lnTo>
                  <a:pt x="24" y="150"/>
                </a:lnTo>
                <a:lnTo>
                  <a:pt x="17" y="146"/>
                </a:lnTo>
                <a:lnTo>
                  <a:pt x="12" y="141"/>
                </a:lnTo>
                <a:lnTo>
                  <a:pt x="7" y="135"/>
                </a:lnTo>
                <a:lnTo>
                  <a:pt x="3" y="128"/>
                </a:lnTo>
                <a:lnTo>
                  <a:pt x="2" y="120"/>
                </a:lnTo>
                <a:lnTo>
                  <a:pt x="0" y="113"/>
                </a:lnTo>
                <a:lnTo>
                  <a:pt x="0" y="113"/>
                </a:lnTo>
                <a:lnTo>
                  <a:pt x="2" y="105"/>
                </a:lnTo>
                <a:lnTo>
                  <a:pt x="3" y="98"/>
                </a:lnTo>
                <a:lnTo>
                  <a:pt x="7" y="92"/>
                </a:lnTo>
                <a:lnTo>
                  <a:pt x="11" y="85"/>
                </a:lnTo>
                <a:lnTo>
                  <a:pt x="16" y="81"/>
                </a:lnTo>
                <a:lnTo>
                  <a:pt x="23" y="78"/>
                </a:lnTo>
                <a:lnTo>
                  <a:pt x="30" y="75"/>
                </a:lnTo>
                <a:lnTo>
                  <a:pt x="37" y="74"/>
                </a:lnTo>
                <a:lnTo>
                  <a:pt x="37" y="74"/>
                </a:lnTo>
                <a:lnTo>
                  <a:pt x="37" y="72"/>
                </a:lnTo>
                <a:lnTo>
                  <a:pt x="37" y="72"/>
                </a:lnTo>
                <a:lnTo>
                  <a:pt x="38" y="65"/>
                </a:lnTo>
                <a:lnTo>
                  <a:pt x="41" y="61"/>
                </a:lnTo>
                <a:lnTo>
                  <a:pt x="45" y="57"/>
                </a:lnTo>
                <a:lnTo>
                  <a:pt x="49" y="54"/>
                </a:lnTo>
                <a:lnTo>
                  <a:pt x="58" y="53"/>
                </a:lnTo>
                <a:lnTo>
                  <a:pt x="65" y="53"/>
                </a:lnTo>
                <a:lnTo>
                  <a:pt x="65" y="53"/>
                </a:lnTo>
                <a:lnTo>
                  <a:pt x="67" y="41"/>
                </a:lnTo>
                <a:lnTo>
                  <a:pt x="69" y="32"/>
                </a:lnTo>
                <a:lnTo>
                  <a:pt x="75" y="23"/>
                </a:lnTo>
                <a:lnTo>
                  <a:pt x="80" y="15"/>
                </a:lnTo>
                <a:lnTo>
                  <a:pt x="88" y="9"/>
                </a:lnTo>
                <a:lnTo>
                  <a:pt x="98" y="3"/>
                </a:lnTo>
                <a:lnTo>
                  <a:pt x="110" y="1"/>
                </a:lnTo>
                <a:lnTo>
                  <a:pt x="124" y="0"/>
                </a:lnTo>
                <a:lnTo>
                  <a:pt x="124" y="0"/>
                </a:lnTo>
                <a:lnTo>
                  <a:pt x="136" y="1"/>
                </a:lnTo>
                <a:lnTo>
                  <a:pt x="146" y="3"/>
                </a:lnTo>
                <a:lnTo>
                  <a:pt x="156" y="9"/>
                </a:lnTo>
                <a:lnTo>
                  <a:pt x="164" y="16"/>
                </a:lnTo>
                <a:lnTo>
                  <a:pt x="172" y="24"/>
                </a:lnTo>
                <a:lnTo>
                  <a:pt x="177" y="35"/>
                </a:lnTo>
                <a:lnTo>
                  <a:pt x="181" y="45"/>
                </a:lnTo>
                <a:lnTo>
                  <a:pt x="182" y="57"/>
                </a:lnTo>
                <a:lnTo>
                  <a:pt x="182" y="57"/>
                </a:lnTo>
                <a:lnTo>
                  <a:pt x="188" y="57"/>
                </a:lnTo>
                <a:lnTo>
                  <a:pt x="188" y="57"/>
                </a:lnTo>
                <a:lnTo>
                  <a:pt x="195" y="57"/>
                </a:lnTo>
                <a:lnTo>
                  <a:pt x="203" y="59"/>
                </a:lnTo>
                <a:lnTo>
                  <a:pt x="210" y="63"/>
                </a:lnTo>
                <a:lnTo>
                  <a:pt x="215" y="68"/>
                </a:lnTo>
                <a:lnTo>
                  <a:pt x="220" y="74"/>
                </a:lnTo>
                <a:lnTo>
                  <a:pt x="224" y="80"/>
                </a:lnTo>
                <a:lnTo>
                  <a:pt x="227" y="88"/>
                </a:lnTo>
                <a:lnTo>
                  <a:pt x="227" y="96"/>
                </a:lnTo>
                <a:lnTo>
                  <a:pt x="227" y="96"/>
                </a:lnTo>
                <a:lnTo>
                  <a:pt x="227" y="98"/>
                </a:lnTo>
                <a:lnTo>
                  <a:pt x="227" y="98"/>
                </a:lnTo>
                <a:lnTo>
                  <a:pt x="228" y="97"/>
                </a:lnTo>
                <a:lnTo>
                  <a:pt x="228" y="97"/>
                </a:lnTo>
                <a:lnTo>
                  <a:pt x="233" y="98"/>
                </a:lnTo>
                <a:lnTo>
                  <a:pt x="238" y="100"/>
                </a:lnTo>
                <a:lnTo>
                  <a:pt x="244" y="102"/>
                </a:lnTo>
                <a:lnTo>
                  <a:pt x="247" y="106"/>
                </a:lnTo>
                <a:lnTo>
                  <a:pt x="251" y="110"/>
                </a:lnTo>
                <a:lnTo>
                  <a:pt x="253" y="114"/>
                </a:lnTo>
                <a:lnTo>
                  <a:pt x="255" y="119"/>
                </a:lnTo>
                <a:lnTo>
                  <a:pt x="255" y="124"/>
                </a:lnTo>
                <a:lnTo>
                  <a:pt x="255" y="124"/>
                </a:lnTo>
                <a:lnTo>
                  <a:pt x="255" y="131"/>
                </a:lnTo>
                <a:lnTo>
                  <a:pt x="253" y="136"/>
                </a:lnTo>
                <a:lnTo>
                  <a:pt x="251" y="140"/>
                </a:lnTo>
                <a:lnTo>
                  <a:pt x="247" y="144"/>
                </a:lnTo>
                <a:lnTo>
                  <a:pt x="244" y="148"/>
                </a:lnTo>
                <a:lnTo>
                  <a:pt x="238" y="150"/>
                </a:lnTo>
                <a:lnTo>
                  <a:pt x="233" y="153"/>
                </a:lnTo>
                <a:lnTo>
                  <a:pt x="228" y="153"/>
                </a:lnTo>
                <a:lnTo>
                  <a:pt x="228" y="153"/>
                </a:lnTo>
                <a:close/>
                <a:moveTo>
                  <a:pt x="36" y="170"/>
                </a:moveTo>
                <a:lnTo>
                  <a:pt x="36" y="170"/>
                </a:lnTo>
                <a:lnTo>
                  <a:pt x="36" y="182"/>
                </a:lnTo>
                <a:lnTo>
                  <a:pt x="34" y="192"/>
                </a:lnTo>
                <a:lnTo>
                  <a:pt x="33" y="198"/>
                </a:lnTo>
                <a:lnTo>
                  <a:pt x="33" y="198"/>
                </a:lnTo>
                <a:lnTo>
                  <a:pt x="30" y="201"/>
                </a:lnTo>
                <a:lnTo>
                  <a:pt x="26" y="204"/>
                </a:lnTo>
                <a:lnTo>
                  <a:pt x="21" y="204"/>
                </a:lnTo>
                <a:lnTo>
                  <a:pt x="17" y="202"/>
                </a:lnTo>
                <a:lnTo>
                  <a:pt x="17" y="202"/>
                </a:lnTo>
                <a:lnTo>
                  <a:pt x="13" y="200"/>
                </a:lnTo>
                <a:lnTo>
                  <a:pt x="12" y="196"/>
                </a:lnTo>
                <a:lnTo>
                  <a:pt x="12" y="191"/>
                </a:lnTo>
                <a:lnTo>
                  <a:pt x="13" y="187"/>
                </a:lnTo>
                <a:lnTo>
                  <a:pt x="13" y="187"/>
                </a:lnTo>
                <a:lnTo>
                  <a:pt x="17" y="182"/>
                </a:lnTo>
                <a:lnTo>
                  <a:pt x="25" y="176"/>
                </a:lnTo>
                <a:lnTo>
                  <a:pt x="36" y="170"/>
                </a:lnTo>
                <a:lnTo>
                  <a:pt x="36" y="170"/>
                </a:lnTo>
                <a:close/>
                <a:moveTo>
                  <a:pt x="63" y="222"/>
                </a:moveTo>
                <a:lnTo>
                  <a:pt x="63" y="222"/>
                </a:lnTo>
                <a:lnTo>
                  <a:pt x="63" y="234"/>
                </a:lnTo>
                <a:lnTo>
                  <a:pt x="62" y="244"/>
                </a:lnTo>
                <a:lnTo>
                  <a:pt x="60" y="250"/>
                </a:lnTo>
                <a:lnTo>
                  <a:pt x="60" y="250"/>
                </a:lnTo>
                <a:lnTo>
                  <a:pt x="58" y="253"/>
                </a:lnTo>
                <a:lnTo>
                  <a:pt x="54" y="256"/>
                </a:lnTo>
                <a:lnTo>
                  <a:pt x="49" y="256"/>
                </a:lnTo>
                <a:lnTo>
                  <a:pt x="45" y="254"/>
                </a:lnTo>
                <a:lnTo>
                  <a:pt x="45" y="254"/>
                </a:lnTo>
                <a:lnTo>
                  <a:pt x="41" y="252"/>
                </a:lnTo>
                <a:lnTo>
                  <a:pt x="39" y="248"/>
                </a:lnTo>
                <a:lnTo>
                  <a:pt x="39" y="243"/>
                </a:lnTo>
                <a:lnTo>
                  <a:pt x="41" y="239"/>
                </a:lnTo>
                <a:lnTo>
                  <a:pt x="41" y="239"/>
                </a:lnTo>
                <a:lnTo>
                  <a:pt x="45" y="234"/>
                </a:lnTo>
                <a:lnTo>
                  <a:pt x="52" y="228"/>
                </a:lnTo>
                <a:lnTo>
                  <a:pt x="63" y="222"/>
                </a:lnTo>
                <a:lnTo>
                  <a:pt x="63" y="222"/>
                </a:lnTo>
                <a:close/>
                <a:moveTo>
                  <a:pt x="97" y="170"/>
                </a:moveTo>
                <a:lnTo>
                  <a:pt x="97" y="170"/>
                </a:lnTo>
                <a:lnTo>
                  <a:pt x="97" y="182"/>
                </a:lnTo>
                <a:lnTo>
                  <a:pt x="95" y="192"/>
                </a:lnTo>
                <a:lnTo>
                  <a:pt x="94" y="198"/>
                </a:lnTo>
                <a:lnTo>
                  <a:pt x="94" y="198"/>
                </a:lnTo>
                <a:lnTo>
                  <a:pt x="90" y="201"/>
                </a:lnTo>
                <a:lnTo>
                  <a:pt x="86" y="204"/>
                </a:lnTo>
                <a:lnTo>
                  <a:pt x="82" y="204"/>
                </a:lnTo>
                <a:lnTo>
                  <a:pt x="78" y="202"/>
                </a:lnTo>
                <a:lnTo>
                  <a:pt x="78" y="202"/>
                </a:lnTo>
                <a:lnTo>
                  <a:pt x="75" y="200"/>
                </a:lnTo>
                <a:lnTo>
                  <a:pt x="72" y="196"/>
                </a:lnTo>
                <a:lnTo>
                  <a:pt x="72" y="191"/>
                </a:lnTo>
                <a:lnTo>
                  <a:pt x="73" y="187"/>
                </a:lnTo>
                <a:lnTo>
                  <a:pt x="73" y="187"/>
                </a:lnTo>
                <a:lnTo>
                  <a:pt x="78" y="182"/>
                </a:lnTo>
                <a:lnTo>
                  <a:pt x="86" y="176"/>
                </a:lnTo>
                <a:lnTo>
                  <a:pt x="97" y="170"/>
                </a:lnTo>
                <a:lnTo>
                  <a:pt x="97" y="170"/>
                </a:lnTo>
                <a:close/>
                <a:moveTo>
                  <a:pt x="121" y="223"/>
                </a:moveTo>
                <a:lnTo>
                  <a:pt x="116" y="218"/>
                </a:lnTo>
                <a:lnTo>
                  <a:pt x="116" y="214"/>
                </a:lnTo>
                <a:lnTo>
                  <a:pt x="120" y="213"/>
                </a:lnTo>
                <a:lnTo>
                  <a:pt x="129" y="221"/>
                </a:lnTo>
                <a:lnTo>
                  <a:pt x="142" y="215"/>
                </a:lnTo>
                <a:lnTo>
                  <a:pt x="132" y="208"/>
                </a:lnTo>
                <a:lnTo>
                  <a:pt x="120" y="211"/>
                </a:lnTo>
                <a:lnTo>
                  <a:pt x="117" y="209"/>
                </a:lnTo>
                <a:lnTo>
                  <a:pt x="117" y="205"/>
                </a:lnTo>
                <a:lnTo>
                  <a:pt x="125" y="202"/>
                </a:lnTo>
                <a:lnTo>
                  <a:pt x="117" y="197"/>
                </a:lnTo>
                <a:lnTo>
                  <a:pt x="119" y="193"/>
                </a:lnTo>
                <a:lnTo>
                  <a:pt x="123" y="192"/>
                </a:lnTo>
                <a:lnTo>
                  <a:pt x="129" y="197"/>
                </a:lnTo>
                <a:lnTo>
                  <a:pt x="130" y="189"/>
                </a:lnTo>
                <a:lnTo>
                  <a:pt x="134" y="188"/>
                </a:lnTo>
                <a:lnTo>
                  <a:pt x="137" y="191"/>
                </a:lnTo>
                <a:lnTo>
                  <a:pt x="136" y="202"/>
                </a:lnTo>
                <a:lnTo>
                  <a:pt x="146" y="210"/>
                </a:lnTo>
                <a:lnTo>
                  <a:pt x="147" y="197"/>
                </a:lnTo>
                <a:lnTo>
                  <a:pt x="138" y="189"/>
                </a:lnTo>
                <a:lnTo>
                  <a:pt x="140" y="185"/>
                </a:lnTo>
                <a:lnTo>
                  <a:pt x="143" y="184"/>
                </a:lnTo>
                <a:lnTo>
                  <a:pt x="149" y="189"/>
                </a:lnTo>
                <a:lnTo>
                  <a:pt x="150" y="180"/>
                </a:lnTo>
                <a:lnTo>
                  <a:pt x="154" y="179"/>
                </a:lnTo>
                <a:lnTo>
                  <a:pt x="156" y="182"/>
                </a:lnTo>
                <a:lnTo>
                  <a:pt x="155" y="191"/>
                </a:lnTo>
                <a:lnTo>
                  <a:pt x="163" y="187"/>
                </a:lnTo>
                <a:lnTo>
                  <a:pt x="166" y="189"/>
                </a:lnTo>
                <a:lnTo>
                  <a:pt x="166" y="193"/>
                </a:lnTo>
                <a:lnTo>
                  <a:pt x="155" y="198"/>
                </a:lnTo>
                <a:lnTo>
                  <a:pt x="153" y="211"/>
                </a:lnTo>
                <a:lnTo>
                  <a:pt x="164" y="206"/>
                </a:lnTo>
                <a:lnTo>
                  <a:pt x="167" y="195"/>
                </a:lnTo>
                <a:lnTo>
                  <a:pt x="171" y="193"/>
                </a:lnTo>
                <a:lnTo>
                  <a:pt x="173" y="196"/>
                </a:lnTo>
                <a:lnTo>
                  <a:pt x="172" y="204"/>
                </a:lnTo>
                <a:lnTo>
                  <a:pt x="180" y="200"/>
                </a:lnTo>
                <a:lnTo>
                  <a:pt x="184" y="202"/>
                </a:lnTo>
                <a:lnTo>
                  <a:pt x="182" y="206"/>
                </a:lnTo>
                <a:lnTo>
                  <a:pt x="175" y="210"/>
                </a:lnTo>
                <a:lnTo>
                  <a:pt x="181" y="214"/>
                </a:lnTo>
                <a:lnTo>
                  <a:pt x="180" y="218"/>
                </a:lnTo>
                <a:lnTo>
                  <a:pt x="176" y="219"/>
                </a:lnTo>
                <a:lnTo>
                  <a:pt x="167" y="213"/>
                </a:lnTo>
                <a:lnTo>
                  <a:pt x="155" y="218"/>
                </a:lnTo>
                <a:lnTo>
                  <a:pt x="166" y="226"/>
                </a:lnTo>
                <a:lnTo>
                  <a:pt x="176" y="221"/>
                </a:lnTo>
                <a:lnTo>
                  <a:pt x="180" y="223"/>
                </a:lnTo>
                <a:lnTo>
                  <a:pt x="179" y="227"/>
                </a:lnTo>
                <a:lnTo>
                  <a:pt x="172" y="231"/>
                </a:lnTo>
                <a:lnTo>
                  <a:pt x="179" y="236"/>
                </a:lnTo>
                <a:lnTo>
                  <a:pt x="179" y="240"/>
                </a:lnTo>
                <a:lnTo>
                  <a:pt x="175" y="241"/>
                </a:lnTo>
                <a:lnTo>
                  <a:pt x="167" y="236"/>
                </a:lnTo>
                <a:lnTo>
                  <a:pt x="167" y="244"/>
                </a:lnTo>
                <a:lnTo>
                  <a:pt x="163" y="245"/>
                </a:lnTo>
                <a:lnTo>
                  <a:pt x="159" y="243"/>
                </a:lnTo>
                <a:lnTo>
                  <a:pt x="162" y="231"/>
                </a:lnTo>
                <a:lnTo>
                  <a:pt x="151" y="223"/>
                </a:lnTo>
                <a:lnTo>
                  <a:pt x="149" y="236"/>
                </a:lnTo>
                <a:lnTo>
                  <a:pt x="158" y="243"/>
                </a:lnTo>
                <a:lnTo>
                  <a:pt x="158" y="247"/>
                </a:lnTo>
                <a:lnTo>
                  <a:pt x="154" y="248"/>
                </a:lnTo>
                <a:lnTo>
                  <a:pt x="147" y="244"/>
                </a:lnTo>
                <a:lnTo>
                  <a:pt x="146" y="252"/>
                </a:lnTo>
                <a:lnTo>
                  <a:pt x="143" y="254"/>
                </a:lnTo>
                <a:lnTo>
                  <a:pt x="140" y="252"/>
                </a:lnTo>
                <a:lnTo>
                  <a:pt x="141" y="243"/>
                </a:lnTo>
                <a:lnTo>
                  <a:pt x="134" y="245"/>
                </a:lnTo>
                <a:lnTo>
                  <a:pt x="130" y="243"/>
                </a:lnTo>
                <a:lnTo>
                  <a:pt x="132" y="239"/>
                </a:lnTo>
                <a:lnTo>
                  <a:pt x="142" y="235"/>
                </a:lnTo>
                <a:lnTo>
                  <a:pt x="143" y="222"/>
                </a:lnTo>
                <a:lnTo>
                  <a:pt x="132" y="227"/>
                </a:lnTo>
                <a:lnTo>
                  <a:pt x="130" y="239"/>
                </a:lnTo>
                <a:lnTo>
                  <a:pt x="127" y="240"/>
                </a:lnTo>
                <a:lnTo>
                  <a:pt x="124" y="237"/>
                </a:lnTo>
                <a:lnTo>
                  <a:pt x="124" y="230"/>
                </a:lnTo>
                <a:lnTo>
                  <a:pt x="116" y="232"/>
                </a:lnTo>
                <a:lnTo>
                  <a:pt x="114" y="230"/>
                </a:lnTo>
                <a:lnTo>
                  <a:pt x="114" y="226"/>
                </a:lnTo>
                <a:lnTo>
                  <a:pt x="121" y="223"/>
                </a:lnTo>
                <a:close/>
                <a:moveTo>
                  <a:pt x="208" y="188"/>
                </a:moveTo>
                <a:lnTo>
                  <a:pt x="205" y="183"/>
                </a:lnTo>
                <a:lnTo>
                  <a:pt x="206" y="180"/>
                </a:lnTo>
                <a:lnTo>
                  <a:pt x="208" y="180"/>
                </a:lnTo>
                <a:lnTo>
                  <a:pt x="214" y="187"/>
                </a:lnTo>
                <a:lnTo>
                  <a:pt x="224" y="185"/>
                </a:lnTo>
                <a:lnTo>
                  <a:pt x="218" y="178"/>
                </a:lnTo>
                <a:lnTo>
                  <a:pt x="208" y="179"/>
                </a:lnTo>
                <a:lnTo>
                  <a:pt x="207" y="176"/>
                </a:lnTo>
                <a:lnTo>
                  <a:pt x="208" y="174"/>
                </a:lnTo>
                <a:lnTo>
                  <a:pt x="214" y="172"/>
                </a:lnTo>
                <a:lnTo>
                  <a:pt x="210" y="167"/>
                </a:lnTo>
                <a:lnTo>
                  <a:pt x="211" y="165"/>
                </a:lnTo>
                <a:lnTo>
                  <a:pt x="214" y="165"/>
                </a:lnTo>
                <a:lnTo>
                  <a:pt x="218" y="170"/>
                </a:lnTo>
                <a:lnTo>
                  <a:pt x="220" y="165"/>
                </a:lnTo>
                <a:lnTo>
                  <a:pt x="223" y="163"/>
                </a:lnTo>
                <a:lnTo>
                  <a:pt x="225" y="166"/>
                </a:lnTo>
                <a:lnTo>
                  <a:pt x="221" y="174"/>
                </a:lnTo>
                <a:lnTo>
                  <a:pt x="228" y="182"/>
                </a:lnTo>
                <a:lnTo>
                  <a:pt x="232" y="172"/>
                </a:lnTo>
                <a:lnTo>
                  <a:pt x="225" y="166"/>
                </a:lnTo>
                <a:lnTo>
                  <a:pt x="227" y="163"/>
                </a:lnTo>
                <a:lnTo>
                  <a:pt x="229" y="162"/>
                </a:lnTo>
                <a:lnTo>
                  <a:pt x="233" y="167"/>
                </a:lnTo>
                <a:lnTo>
                  <a:pt x="236" y="161"/>
                </a:lnTo>
                <a:lnTo>
                  <a:pt x="238" y="161"/>
                </a:lnTo>
                <a:lnTo>
                  <a:pt x="241" y="163"/>
                </a:lnTo>
                <a:lnTo>
                  <a:pt x="238" y="169"/>
                </a:lnTo>
                <a:lnTo>
                  <a:pt x="244" y="169"/>
                </a:lnTo>
                <a:lnTo>
                  <a:pt x="246" y="170"/>
                </a:lnTo>
                <a:lnTo>
                  <a:pt x="245" y="174"/>
                </a:lnTo>
                <a:lnTo>
                  <a:pt x="236" y="175"/>
                </a:lnTo>
                <a:lnTo>
                  <a:pt x="233" y="184"/>
                </a:lnTo>
                <a:lnTo>
                  <a:pt x="242" y="183"/>
                </a:lnTo>
                <a:lnTo>
                  <a:pt x="245" y="174"/>
                </a:lnTo>
                <a:lnTo>
                  <a:pt x="249" y="174"/>
                </a:lnTo>
                <a:lnTo>
                  <a:pt x="250" y="176"/>
                </a:lnTo>
                <a:lnTo>
                  <a:pt x="249" y="182"/>
                </a:lnTo>
                <a:lnTo>
                  <a:pt x="255" y="180"/>
                </a:lnTo>
                <a:lnTo>
                  <a:pt x="257" y="183"/>
                </a:lnTo>
                <a:lnTo>
                  <a:pt x="255" y="185"/>
                </a:lnTo>
                <a:lnTo>
                  <a:pt x="249" y="187"/>
                </a:lnTo>
                <a:lnTo>
                  <a:pt x="253" y="191"/>
                </a:lnTo>
                <a:lnTo>
                  <a:pt x="251" y="193"/>
                </a:lnTo>
                <a:lnTo>
                  <a:pt x="249" y="195"/>
                </a:lnTo>
                <a:lnTo>
                  <a:pt x="244" y="188"/>
                </a:lnTo>
                <a:lnTo>
                  <a:pt x="233" y="189"/>
                </a:lnTo>
                <a:lnTo>
                  <a:pt x="240" y="197"/>
                </a:lnTo>
                <a:lnTo>
                  <a:pt x="249" y="196"/>
                </a:lnTo>
                <a:lnTo>
                  <a:pt x="250" y="197"/>
                </a:lnTo>
                <a:lnTo>
                  <a:pt x="249" y="201"/>
                </a:lnTo>
                <a:lnTo>
                  <a:pt x="244" y="201"/>
                </a:lnTo>
                <a:lnTo>
                  <a:pt x="247" y="206"/>
                </a:lnTo>
                <a:lnTo>
                  <a:pt x="246" y="209"/>
                </a:lnTo>
                <a:lnTo>
                  <a:pt x="244" y="210"/>
                </a:lnTo>
                <a:lnTo>
                  <a:pt x="240" y="205"/>
                </a:lnTo>
                <a:lnTo>
                  <a:pt x="237" y="210"/>
                </a:lnTo>
                <a:lnTo>
                  <a:pt x="234" y="210"/>
                </a:lnTo>
                <a:lnTo>
                  <a:pt x="232" y="208"/>
                </a:lnTo>
                <a:lnTo>
                  <a:pt x="236" y="200"/>
                </a:lnTo>
                <a:lnTo>
                  <a:pt x="229" y="192"/>
                </a:lnTo>
                <a:lnTo>
                  <a:pt x="225" y="201"/>
                </a:lnTo>
                <a:lnTo>
                  <a:pt x="232" y="209"/>
                </a:lnTo>
                <a:lnTo>
                  <a:pt x="231" y="211"/>
                </a:lnTo>
                <a:lnTo>
                  <a:pt x="227" y="211"/>
                </a:lnTo>
                <a:lnTo>
                  <a:pt x="224" y="208"/>
                </a:lnTo>
                <a:lnTo>
                  <a:pt x="221" y="213"/>
                </a:lnTo>
                <a:lnTo>
                  <a:pt x="219" y="214"/>
                </a:lnTo>
                <a:lnTo>
                  <a:pt x="216" y="211"/>
                </a:lnTo>
                <a:lnTo>
                  <a:pt x="219" y="205"/>
                </a:lnTo>
                <a:lnTo>
                  <a:pt x="214" y="206"/>
                </a:lnTo>
                <a:lnTo>
                  <a:pt x="211" y="204"/>
                </a:lnTo>
                <a:lnTo>
                  <a:pt x="212" y="201"/>
                </a:lnTo>
                <a:lnTo>
                  <a:pt x="221" y="200"/>
                </a:lnTo>
                <a:lnTo>
                  <a:pt x="224" y="191"/>
                </a:lnTo>
                <a:lnTo>
                  <a:pt x="215" y="192"/>
                </a:lnTo>
                <a:lnTo>
                  <a:pt x="211" y="200"/>
                </a:lnTo>
                <a:lnTo>
                  <a:pt x="208" y="201"/>
                </a:lnTo>
                <a:lnTo>
                  <a:pt x="207" y="198"/>
                </a:lnTo>
                <a:lnTo>
                  <a:pt x="208" y="193"/>
                </a:lnTo>
                <a:lnTo>
                  <a:pt x="202" y="193"/>
                </a:lnTo>
                <a:lnTo>
                  <a:pt x="201" y="192"/>
                </a:lnTo>
                <a:lnTo>
                  <a:pt x="202" y="189"/>
                </a:lnTo>
                <a:lnTo>
                  <a:pt x="208" y="188"/>
                </a:ln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0" name="Freeform 108"/>
          <p:cNvSpPr>
            <a:spLocks noEditPoints="1"/>
          </p:cNvSpPr>
          <p:nvPr/>
        </p:nvSpPr>
        <p:spPr bwMode="auto">
          <a:xfrm>
            <a:off x="2001177" y="3448122"/>
            <a:ext cx="873637" cy="866811"/>
          </a:xfrm>
          <a:custGeom>
            <a:avLst/>
            <a:gdLst>
              <a:gd name="T0" fmla="*/ 25 w 256"/>
              <a:gd name="T1" fmla="*/ 151 h 255"/>
              <a:gd name="T2" fmla="*/ 0 w 256"/>
              <a:gd name="T3" fmla="*/ 113 h 255"/>
              <a:gd name="T4" fmla="*/ 17 w 256"/>
              <a:gd name="T5" fmla="*/ 82 h 255"/>
              <a:gd name="T6" fmla="*/ 38 w 256"/>
              <a:gd name="T7" fmla="*/ 73 h 255"/>
              <a:gd name="T8" fmla="*/ 65 w 256"/>
              <a:gd name="T9" fmla="*/ 54 h 255"/>
              <a:gd name="T10" fmla="*/ 88 w 256"/>
              <a:gd name="T11" fmla="*/ 9 h 255"/>
              <a:gd name="T12" fmla="*/ 147 w 256"/>
              <a:gd name="T13" fmla="*/ 5 h 255"/>
              <a:gd name="T14" fmla="*/ 183 w 256"/>
              <a:gd name="T15" fmla="*/ 57 h 255"/>
              <a:gd name="T16" fmla="*/ 209 w 256"/>
              <a:gd name="T17" fmla="*/ 64 h 255"/>
              <a:gd name="T18" fmla="*/ 227 w 256"/>
              <a:gd name="T19" fmla="*/ 96 h 255"/>
              <a:gd name="T20" fmla="*/ 239 w 256"/>
              <a:gd name="T21" fmla="*/ 100 h 255"/>
              <a:gd name="T22" fmla="*/ 256 w 256"/>
              <a:gd name="T23" fmla="*/ 126 h 255"/>
              <a:gd name="T24" fmla="*/ 243 w 256"/>
              <a:gd name="T25" fmla="*/ 150 h 255"/>
              <a:gd name="T26" fmla="*/ 12 w 256"/>
              <a:gd name="T27" fmla="*/ 186 h 255"/>
              <a:gd name="T28" fmla="*/ 17 w 256"/>
              <a:gd name="T29" fmla="*/ 181 h 255"/>
              <a:gd name="T30" fmla="*/ 23 w 256"/>
              <a:gd name="T31" fmla="*/ 165 h 255"/>
              <a:gd name="T32" fmla="*/ 38 w 256"/>
              <a:gd name="T33" fmla="*/ 186 h 255"/>
              <a:gd name="T34" fmla="*/ 48 w 256"/>
              <a:gd name="T35" fmla="*/ 161 h 255"/>
              <a:gd name="T36" fmla="*/ 58 w 256"/>
              <a:gd name="T37" fmla="*/ 176 h 255"/>
              <a:gd name="T38" fmla="*/ 65 w 256"/>
              <a:gd name="T39" fmla="*/ 180 h 255"/>
              <a:gd name="T40" fmla="*/ 66 w 256"/>
              <a:gd name="T41" fmla="*/ 197 h 255"/>
              <a:gd name="T42" fmla="*/ 61 w 256"/>
              <a:gd name="T43" fmla="*/ 202 h 255"/>
              <a:gd name="T44" fmla="*/ 54 w 256"/>
              <a:gd name="T45" fmla="*/ 219 h 255"/>
              <a:gd name="T46" fmla="*/ 39 w 256"/>
              <a:gd name="T47" fmla="*/ 198 h 255"/>
              <a:gd name="T48" fmla="*/ 30 w 256"/>
              <a:gd name="T49" fmla="*/ 221 h 255"/>
              <a:gd name="T50" fmla="*/ 19 w 256"/>
              <a:gd name="T51" fmla="*/ 207 h 255"/>
              <a:gd name="T52" fmla="*/ 13 w 256"/>
              <a:gd name="T53" fmla="*/ 203 h 255"/>
              <a:gd name="T54" fmla="*/ 101 w 256"/>
              <a:gd name="T55" fmla="*/ 224 h 255"/>
              <a:gd name="T56" fmla="*/ 110 w 256"/>
              <a:gd name="T57" fmla="*/ 208 h 255"/>
              <a:gd name="T58" fmla="*/ 97 w 256"/>
              <a:gd name="T59" fmla="*/ 194 h 255"/>
              <a:gd name="T60" fmla="*/ 114 w 256"/>
              <a:gd name="T61" fmla="*/ 203 h 255"/>
              <a:gd name="T62" fmla="*/ 127 w 256"/>
              <a:gd name="T63" fmla="*/ 190 h 255"/>
              <a:gd name="T64" fmla="*/ 145 w 256"/>
              <a:gd name="T65" fmla="*/ 191 h 255"/>
              <a:gd name="T66" fmla="*/ 149 w 256"/>
              <a:gd name="T67" fmla="*/ 194 h 255"/>
              <a:gd name="T68" fmla="*/ 153 w 256"/>
              <a:gd name="T69" fmla="*/ 211 h 255"/>
              <a:gd name="T70" fmla="*/ 144 w 256"/>
              <a:gd name="T71" fmla="*/ 226 h 255"/>
              <a:gd name="T72" fmla="*/ 157 w 256"/>
              <a:gd name="T73" fmla="*/ 241 h 255"/>
              <a:gd name="T74" fmla="*/ 140 w 256"/>
              <a:gd name="T75" fmla="*/ 232 h 255"/>
              <a:gd name="T76" fmla="*/ 127 w 256"/>
              <a:gd name="T77" fmla="*/ 245 h 255"/>
              <a:gd name="T78" fmla="*/ 109 w 256"/>
              <a:gd name="T79" fmla="*/ 245 h 255"/>
              <a:gd name="T80" fmla="*/ 105 w 256"/>
              <a:gd name="T81" fmla="*/ 241 h 255"/>
              <a:gd name="T82" fmla="*/ 101 w 256"/>
              <a:gd name="T83" fmla="*/ 224 h 255"/>
              <a:gd name="T84" fmla="*/ 203 w 256"/>
              <a:gd name="T85" fmla="*/ 186 h 255"/>
              <a:gd name="T86" fmla="*/ 188 w 256"/>
              <a:gd name="T87" fmla="*/ 169 h 255"/>
              <a:gd name="T88" fmla="*/ 204 w 256"/>
              <a:gd name="T89" fmla="*/ 167 h 255"/>
              <a:gd name="T90" fmla="*/ 209 w 256"/>
              <a:gd name="T91" fmla="*/ 164 h 255"/>
              <a:gd name="T92" fmla="*/ 223 w 256"/>
              <a:gd name="T93" fmla="*/ 169 h 255"/>
              <a:gd name="T94" fmla="*/ 225 w 256"/>
              <a:gd name="T95" fmla="*/ 176 h 255"/>
              <a:gd name="T96" fmla="*/ 234 w 256"/>
              <a:gd name="T97" fmla="*/ 186 h 255"/>
              <a:gd name="T98" fmla="*/ 212 w 256"/>
              <a:gd name="T99" fmla="*/ 190 h 255"/>
              <a:gd name="T100" fmla="*/ 226 w 256"/>
              <a:gd name="T101" fmla="*/ 208 h 255"/>
              <a:gd name="T102" fmla="*/ 212 w 256"/>
              <a:gd name="T103" fmla="*/ 210 h 255"/>
              <a:gd name="T104" fmla="*/ 207 w 256"/>
              <a:gd name="T105" fmla="*/ 212 h 255"/>
              <a:gd name="T106" fmla="*/ 192 w 256"/>
              <a:gd name="T107" fmla="*/ 207 h 255"/>
              <a:gd name="T108" fmla="*/ 191 w 256"/>
              <a:gd name="T109" fmla="*/ 202 h 255"/>
              <a:gd name="T110" fmla="*/ 181 w 256"/>
              <a:gd name="T111" fmla="*/ 190 h 2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56" h="255">
                <a:moveTo>
                  <a:pt x="229" y="154"/>
                </a:moveTo>
                <a:lnTo>
                  <a:pt x="229" y="154"/>
                </a:lnTo>
                <a:lnTo>
                  <a:pt x="40" y="154"/>
                </a:lnTo>
                <a:lnTo>
                  <a:pt x="40" y="154"/>
                </a:lnTo>
                <a:lnTo>
                  <a:pt x="32" y="154"/>
                </a:lnTo>
                <a:lnTo>
                  <a:pt x="25" y="151"/>
                </a:lnTo>
                <a:lnTo>
                  <a:pt x="18" y="147"/>
                </a:lnTo>
                <a:lnTo>
                  <a:pt x="12" y="142"/>
                </a:lnTo>
                <a:lnTo>
                  <a:pt x="8" y="135"/>
                </a:lnTo>
                <a:lnTo>
                  <a:pt x="4" y="129"/>
                </a:lnTo>
                <a:lnTo>
                  <a:pt x="1" y="121"/>
                </a:lnTo>
                <a:lnTo>
                  <a:pt x="0" y="113"/>
                </a:lnTo>
                <a:lnTo>
                  <a:pt x="0" y="113"/>
                </a:lnTo>
                <a:lnTo>
                  <a:pt x="1" y="106"/>
                </a:lnTo>
                <a:lnTo>
                  <a:pt x="4" y="99"/>
                </a:lnTo>
                <a:lnTo>
                  <a:pt x="6" y="93"/>
                </a:lnTo>
                <a:lnTo>
                  <a:pt x="12" y="87"/>
                </a:lnTo>
                <a:lnTo>
                  <a:pt x="17" y="82"/>
                </a:lnTo>
                <a:lnTo>
                  <a:pt x="23" y="78"/>
                </a:lnTo>
                <a:lnTo>
                  <a:pt x="30" y="76"/>
                </a:lnTo>
                <a:lnTo>
                  <a:pt x="38" y="74"/>
                </a:lnTo>
                <a:lnTo>
                  <a:pt x="38" y="74"/>
                </a:lnTo>
                <a:lnTo>
                  <a:pt x="38" y="73"/>
                </a:lnTo>
                <a:lnTo>
                  <a:pt x="38" y="73"/>
                </a:lnTo>
                <a:lnTo>
                  <a:pt x="39" y="67"/>
                </a:lnTo>
                <a:lnTo>
                  <a:pt x="41" y="61"/>
                </a:lnTo>
                <a:lnTo>
                  <a:pt x="44" y="57"/>
                </a:lnTo>
                <a:lnTo>
                  <a:pt x="48" y="56"/>
                </a:lnTo>
                <a:lnTo>
                  <a:pt x="57" y="55"/>
                </a:lnTo>
                <a:lnTo>
                  <a:pt x="65" y="54"/>
                </a:lnTo>
                <a:lnTo>
                  <a:pt x="65" y="54"/>
                </a:lnTo>
                <a:lnTo>
                  <a:pt x="67" y="43"/>
                </a:lnTo>
                <a:lnTo>
                  <a:pt x="70" y="33"/>
                </a:lnTo>
                <a:lnTo>
                  <a:pt x="74" y="24"/>
                </a:lnTo>
                <a:lnTo>
                  <a:pt x="80" y="16"/>
                </a:lnTo>
                <a:lnTo>
                  <a:pt x="88" y="9"/>
                </a:lnTo>
                <a:lnTo>
                  <a:pt x="97" y="4"/>
                </a:lnTo>
                <a:lnTo>
                  <a:pt x="109" y="2"/>
                </a:lnTo>
                <a:lnTo>
                  <a:pt x="123" y="0"/>
                </a:lnTo>
                <a:lnTo>
                  <a:pt x="123" y="0"/>
                </a:lnTo>
                <a:lnTo>
                  <a:pt x="135" y="2"/>
                </a:lnTo>
                <a:lnTo>
                  <a:pt x="147" y="5"/>
                </a:lnTo>
                <a:lnTo>
                  <a:pt x="156" y="11"/>
                </a:lnTo>
                <a:lnTo>
                  <a:pt x="165" y="17"/>
                </a:lnTo>
                <a:lnTo>
                  <a:pt x="171" y="26"/>
                </a:lnTo>
                <a:lnTo>
                  <a:pt x="178" y="35"/>
                </a:lnTo>
                <a:lnTo>
                  <a:pt x="182" y="46"/>
                </a:lnTo>
                <a:lnTo>
                  <a:pt x="183" y="57"/>
                </a:lnTo>
                <a:lnTo>
                  <a:pt x="183" y="57"/>
                </a:lnTo>
                <a:lnTo>
                  <a:pt x="188" y="57"/>
                </a:lnTo>
                <a:lnTo>
                  <a:pt x="188" y="57"/>
                </a:lnTo>
                <a:lnTo>
                  <a:pt x="196" y="59"/>
                </a:lnTo>
                <a:lnTo>
                  <a:pt x="203" y="60"/>
                </a:lnTo>
                <a:lnTo>
                  <a:pt x="209" y="64"/>
                </a:lnTo>
                <a:lnTo>
                  <a:pt x="216" y="69"/>
                </a:lnTo>
                <a:lnTo>
                  <a:pt x="221" y="74"/>
                </a:lnTo>
                <a:lnTo>
                  <a:pt x="223" y="81"/>
                </a:lnTo>
                <a:lnTo>
                  <a:pt x="226" y="89"/>
                </a:lnTo>
                <a:lnTo>
                  <a:pt x="227" y="96"/>
                </a:lnTo>
                <a:lnTo>
                  <a:pt x="227" y="96"/>
                </a:lnTo>
                <a:lnTo>
                  <a:pt x="227" y="99"/>
                </a:lnTo>
                <a:lnTo>
                  <a:pt x="227" y="99"/>
                </a:lnTo>
                <a:lnTo>
                  <a:pt x="229" y="99"/>
                </a:lnTo>
                <a:lnTo>
                  <a:pt x="229" y="99"/>
                </a:lnTo>
                <a:lnTo>
                  <a:pt x="234" y="99"/>
                </a:lnTo>
                <a:lnTo>
                  <a:pt x="239" y="100"/>
                </a:lnTo>
                <a:lnTo>
                  <a:pt x="243" y="103"/>
                </a:lnTo>
                <a:lnTo>
                  <a:pt x="248" y="107"/>
                </a:lnTo>
                <a:lnTo>
                  <a:pt x="251" y="111"/>
                </a:lnTo>
                <a:lnTo>
                  <a:pt x="253" y="116"/>
                </a:lnTo>
                <a:lnTo>
                  <a:pt x="255" y="120"/>
                </a:lnTo>
                <a:lnTo>
                  <a:pt x="256" y="126"/>
                </a:lnTo>
                <a:lnTo>
                  <a:pt x="256" y="126"/>
                </a:lnTo>
                <a:lnTo>
                  <a:pt x="255" y="132"/>
                </a:lnTo>
                <a:lnTo>
                  <a:pt x="253" y="137"/>
                </a:lnTo>
                <a:lnTo>
                  <a:pt x="251" y="142"/>
                </a:lnTo>
                <a:lnTo>
                  <a:pt x="248" y="146"/>
                </a:lnTo>
                <a:lnTo>
                  <a:pt x="243" y="150"/>
                </a:lnTo>
                <a:lnTo>
                  <a:pt x="239" y="152"/>
                </a:lnTo>
                <a:lnTo>
                  <a:pt x="234" y="154"/>
                </a:lnTo>
                <a:lnTo>
                  <a:pt x="229" y="154"/>
                </a:lnTo>
                <a:lnTo>
                  <a:pt x="229" y="154"/>
                </a:lnTo>
                <a:close/>
                <a:moveTo>
                  <a:pt x="15" y="191"/>
                </a:moveTo>
                <a:lnTo>
                  <a:pt x="12" y="186"/>
                </a:lnTo>
                <a:lnTo>
                  <a:pt x="13" y="182"/>
                </a:lnTo>
                <a:lnTo>
                  <a:pt x="15" y="182"/>
                </a:lnTo>
                <a:lnTo>
                  <a:pt x="22" y="190"/>
                </a:lnTo>
                <a:lnTo>
                  <a:pt x="34" y="189"/>
                </a:lnTo>
                <a:lnTo>
                  <a:pt x="27" y="180"/>
                </a:lnTo>
                <a:lnTo>
                  <a:pt x="17" y="181"/>
                </a:lnTo>
                <a:lnTo>
                  <a:pt x="14" y="178"/>
                </a:lnTo>
                <a:lnTo>
                  <a:pt x="15" y="176"/>
                </a:lnTo>
                <a:lnTo>
                  <a:pt x="22" y="174"/>
                </a:lnTo>
                <a:lnTo>
                  <a:pt x="18" y="168"/>
                </a:lnTo>
                <a:lnTo>
                  <a:pt x="19" y="165"/>
                </a:lnTo>
                <a:lnTo>
                  <a:pt x="23" y="165"/>
                </a:lnTo>
                <a:lnTo>
                  <a:pt x="27" y="171"/>
                </a:lnTo>
                <a:lnTo>
                  <a:pt x="30" y="165"/>
                </a:lnTo>
                <a:lnTo>
                  <a:pt x="34" y="164"/>
                </a:lnTo>
                <a:lnTo>
                  <a:pt x="35" y="167"/>
                </a:lnTo>
                <a:lnTo>
                  <a:pt x="31" y="177"/>
                </a:lnTo>
                <a:lnTo>
                  <a:pt x="38" y="186"/>
                </a:lnTo>
                <a:lnTo>
                  <a:pt x="43" y="176"/>
                </a:lnTo>
                <a:lnTo>
                  <a:pt x="36" y="167"/>
                </a:lnTo>
                <a:lnTo>
                  <a:pt x="38" y="164"/>
                </a:lnTo>
                <a:lnTo>
                  <a:pt x="41" y="164"/>
                </a:lnTo>
                <a:lnTo>
                  <a:pt x="45" y="169"/>
                </a:lnTo>
                <a:lnTo>
                  <a:pt x="48" y="161"/>
                </a:lnTo>
                <a:lnTo>
                  <a:pt x="52" y="161"/>
                </a:lnTo>
                <a:lnTo>
                  <a:pt x="54" y="164"/>
                </a:lnTo>
                <a:lnTo>
                  <a:pt x="51" y="171"/>
                </a:lnTo>
                <a:lnTo>
                  <a:pt x="57" y="171"/>
                </a:lnTo>
                <a:lnTo>
                  <a:pt x="60" y="173"/>
                </a:lnTo>
                <a:lnTo>
                  <a:pt x="58" y="176"/>
                </a:lnTo>
                <a:lnTo>
                  <a:pt x="48" y="177"/>
                </a:lnTo>
                <a:lnTo>
                  <a:pt x="44" y="187"/>
                </a:lnTo>
                <a:lnTo>
                  <a:pt x="54" y="186"/>
                </a:lnTo>
                <a:lnTo>
                  <a:pt x="58" y="177"/>
                </a:lnTo>
                <a:lnTo>
                  <a:pt x="62" y="177"/>
                </a:lnTo>
                <a:lnTo>
                  <a:pt x="65" y="180"/>
                </a:lnTo>
                <a:lnTo>
                  <a:pt x="62" y="186"/>
                </a:lnTo>
                <a:lnTo>
                  <a:pt x="69" y="185"/>
                </a:lnTo>
                <a:lnTo>
                  <a:pt x="71" y="187"/>
                </a:lnTo>
                <a:lnTo>
                  <a:pt x="70" y="191"/>
                </a:lnTo>
                <a:lnTo>
                  <a:pt x="62" y="191"/>
                </a:lnTo>
                <a:lnTo>
                  <a:pt x="66" y="197"/>
                </a:lnTo>
                <a:lnTo>
                  <a:pt x="65" y="200"/>
                </a:lnTo>
                <a:lnTo>
                  <a:pt x="61" y="200"/>
                </a:lnTo>
                <a:lnTo>
                  <a:pt x="56" y="193"/>
                </a:lnTo>
                <a:lnTo>
                  <a:pt x="44" y="194"/>
                </a:lnTo>
                <a:lnTo>
                  <a:pt x="51" y="203"/>
                </a:lnTo>
                <a:lnTo>
                  <a:pt x="61" y="202"/>
                </a:lnTo>
                <a:lnTo>
                  <a:pt x="64" y="204"/>
                </a:lnTo>
                <a:lnTo>
                  <a:pt x="62" y="208"/>
                </a:lnTo>
                <a:lnTo>
                  <a:pt x="56" y="208"/>
                </a:lnTo>
                <a:lnTo>
                  <a:pt x="60" y="215"/>
                </a:lnTo>
                <a:lnTo>
                  <a:pt x="58" y="217"/>
                </a:lnTo>
                <a:lnTo>
                  <a:pt x="54" y="219"/>
                </a:lnTo>
                <a:lnTo>
                  <a:pt x="51" y="212"/>
                </a:lnTo>
                <a:lnTo>
                  <a:pt x="48" y="219"/>
                </a:lnTo>
                <a:lnTo>
                  <a:pt x="44" y="219"/>
                </a:lnTo>
                <a:lnTo>
                  <a:pt x="43" y="216"/>
                </a:lnTo>
                <a:lnTo>
                  <a:pt x="47" y="207"/>
                </a:lnTo>
                <a:lnTo>
                  <a:pt x="39" y="198"/>
                </a:lnTo>
                <a:lnTo>
                  <a:pt x="35" y="208"/>
                </a:lnTo>
                <a:lnTo>
                  <a:pt x="41" y="216"/>
                </a:lnTo>
                <a:lnTo>
                  <a:pt x="40" y="219"/>
                </a:lnTo>
                <a:lnTo>
                  <a:pt x="36" y="220"/>
                </a:lnTo>
                <a:lnTo>
                  <a:pt x="32" y="215"/>
                </a:lnTo>
                <a:lnTo>
                  <a:pt x="30" y="221"/>
                </a:lnTo>
                <a:lnTo>
                  <a:pt x="26" y="221"/>
                </a:lnTo>
                <a:lnTo>
                  <a:pt x="23" y="219"/>
                </a:lnTo>
                <a:lnTo>
                  <a:pt x="27" y="212"/>
                </a:lnTo>
                <a:lnTo>
                  <a:pt x="21" y="212"/>
                </a:lnTo>
                <a:lnTo>
                  <a:pt x="18" y="210"/>
                </a:lnTo>
                <a:lnTo>
                  <a:pt x="19" y="207"/>
                </a:lnTo>
                <a:lnTo>
                  <a:pt x="30" y="206"/>
                </a:lnTo>
                <a:lnTo>
                  <a:pt x="34" y="195"/>
                </a:lnTo>
                <a:lnTo>
                  <a:pt x="23" y="197"/>
                </a:lnTo>
                <a:lnTo>
                  <a:pt x="19" y="206"/>
                </a:lnTo>
                <a:lnTo>
                  <a:pt x="15" y="206"/>
                </a:lnTo>
                <a:lnTo>
                  <a:pt x="13" y="203"/>
                </a:lnTo>
                <a:lnTo>
                  <a:pt x="15" y="197"/>
                </a:lnTo>
                <a:lnTo>
                  <a:pt x="8" y="198"/>
                </a:lnTo>
                <a:lnTo>
                  <a:pt x="6" y="195"/>
                </a:lnTo>
                <a:lnTo>
                  <a:pt x="8" y="193"/>
                </a:lnTo>
                <a:lnTo>
                  <a:pt x="15" y="191"/>
                </a:lnTo>
                <a:close/>
                <a:moveTo>
                  <a:pt x="101" y="224"/>
                </a:moveTo>
                <a:lnTo>
                  <a:pt x="95" y="220"/>
                </a:lnTo>
                <a:lnTo>
                  <a:pt x="95" y="216"/>
                </a:lnTo>
                <a:lnTo>
                  <a:pt x="99" y="213"/>
                </a:lnTo>
                <a:lnTo>
                  <a:pt x="108" y="221"/>
                </a:lnTo>
                <a:lnTo>
                  <a:pt x="121" y="216"/>
                </a:lnTo>
                <a:lnTo>
                  <a:pt x="110" y="208"/>
                </a:lnTo>
                <a:lnTo>
                  <a:pt x="99" y="212"/>
                </a:lnTo>
                <a:lnTo>
                  <a:pt x="96" y="210"/>
                </a:lnTo>
                <a:lnTo>
                  <a:pt x="96" y="206"/>
                </a:lnTo>
                <a:lnTo>
                  <a:pt x="104" y="203"/>
                </a:lnTo>
                <a:lnTo>
                  <a:pt x="97" y="198"/>
                </a:lnTo>
                <a:lnTo>
                  <a:pt x="97" y="194"/>
                </a:lnTo>
                <a:lnTo>
                  <a:pt x="101" y="193"/>
                </a:lnTo>
                <a:lnTo>
                  <a:pt x="108" y="198"/>
                </a:lnTo>
                <a:lnTo>
                  <a:pt x="109" y="190"/>
                </a:lnTo>
                <a:lnTo>
                  <a:pt x="113" y="189"/>
                </a:lnTo>
                <a:lnTo>
                  <a:pt x="116" y="191"/>
                </a:lnTo>
                <a:lnTo>
                  <a:pt x="114" y="203"/>
                </a:lnTo>
                <a:lnTo>
                  <a:pt x="125" y="211"/>
                </a:lnTo>
                <a:lnTo>
                  <a:pt x="126" y="198"/>
                </a:lnTo>
                <a:lnTo>
                  <a:pt x="117" y="191"/>
                </a:lnTo>
                <a:lnTo>
                  <a:pt x="118" y="187"/>
                </a:lnTo>
                <a:lnTo>
                  <a:pt x="122" y="185"/>
                </a:lnTo>
                <a:lnTo>
                  <a:pt x="127" y="190"/>
                </a:lnTo>
                <a:lnTo>
                  <a:pt x="129" y="181"/>
                </a:lnTo>
                <a:lnTo>
                  <a:pt x="132" y="180"/>
                </a:lnTo>
                <a:lnTo>
                  <a:pt x="136" y="182"/>
                </a:lnTo>
                <a:lnTo>
                  <a:pt x="135" y="191"/>
                </a:lnTo>
                <a:lnTo>
                  <a:pt x="142" y="189"/>
                </a:lnTo>
                <a:lnTo>
                  <a:pt x="145" y="191"/>
                </a:lnTo>
                <a:lnTo>
                  <a:pt x="144" y="195"/>
                </a:lnTo>
                <a:lnTo>
                  <a:pt x="134" y="199"/>
                </a:lnTo>
                <a:lnTo>
                  <a:pt x="131" y="212"/>
                </a:lnTo>
                <a:lnTo>
                  <a:pt x="144" y="207"/>
                </a:lnTo>
                <a:lnTo>
                  <a:pt x="145" y="195"/>
                </a:lnTo>
                <a:lnTo>
                  <a:pt x="149" y="194"/>
                </a:lnTo>
                <a:lnTo>
                  <a:pt x="152" y="197"/>
                </a:lnTo>
                <a:lnTo>
                  <a:pt x="151" y="204"/>
                </a:lnTo>
                <a:lnTo>
                  <a:pt x="160" y="200"/>
                </a:lnTo>
                <a:lnTo>
                  <a:pt x="162" y="203"/>
                </a:lnTo>
                <a:lnTo>
                  <a:pt x="162" y="207"/>
                </a:lnTo>
                <a:lnTo>
                  <a:pt x="153" y="211"/>
                </a:lnTo>
                <a:lnTo>
                  <a:pt x="160" y="216"/>
                </a:lnTo>
                <a:lnTo>
                  <a:pt x="158" y="220"/>
                </a:lnTo>
                <a:lnTo>
                  <a:pt x="156" y="221"/>
                </a:lnTo>
                <a:lnTo>
                  <a:pt x="147" y="213"/>
                </a:lnTo>
                <a:lnTo>
                  <a:pt x="134" y="219"/>
                </a:lnTo>
                <a:lnTo>
                  <a:pt x="144" y="226"/>
                </a:lnTo>
                <a:lnTo>
                  <a:pt x="155" y="223"/>
                </a:lnTo>
                <a:lnTo>
                  <a:pt x="158" y="225"/>
                </a:lnTo>
                <a:lnTo>
                  <a:pt x="157" y="229"/>
                </a:lnTo>
                <a:lnTo>
                  <a:pt x="151" y="232"/>
                </a:lnTo>
                <a:lnTo>
                  <a:pt x="157" y="237"/>
                </a:lnTo>
                <a:lnTo>
                  <a:pt x="157" y="241"/>
                </a:lnTo>
                <a:lnTo>
                  <a:pt x="153" y="242"/>
                </a:lnTo>
                <a:lnTo>
                  <a:pt x="147" y="237"/>
                </a:lnTo>
                <a:lnTo>
                  <a:pt x="145" y="245"/>
                </a:lnTo>
                <a:lnTo>
                  <a:pt x="142" y="246"/>
                </a:lnTo>
                <a:lnTo>
                  <a:pt x="138" y="243"/>
                </a:lnTo>
                <a:lnTo>
                  <a:pt x="140" y="232"/>
                </a:lnTo>
                <a:lnTo>
                  <a:pt x="130" y="224"/>
                </a:lnTo>
                <a:lnTo>
                  <a:pt x="127" y="237"/>
                </a:lnTo>
                <a:lnTo>
                  <a:pt x="136" y="245"/>
                </a:lnTo>
                <a:lnTo>
                  <a:pt x="136" y="249"/>
                </a:lnTo>
                <a:lnTo>
                  <a:pt x="132" y="250"/>
                </a:lnTo>
                <a:lnTo>
                  <a:pt x="127" y="245"/>
                </a:lnTo>
                <a:lnTo>
                  <a:pt x="126" y="254"/>
                </a:lnTo>
                <a:lnTo>
                  <a:pt x="122" y="255"/>
                </a:lnTo>
                <a:lnTo>
                  <a:pt x="118" y="252"/>
                </a:lnTo>
                <a:lnTo>
                  <a:pt x="119" y="243"/>
                </a:lnTo>
                <a:lnTo>
                  <a:pt x="113" y="246"/>
                </a:lnTo>
                <a:lnTo>
                  <a:pt x="109" y="245"/>
                </a:lnTo>
                <a:lnTo>
                  <a:pt x="110" y="241"/>
                </a:lnTo>
                <a:lnTo>
                  <a:pt x="121" y="236"/>
                </a:lnTo>
                <a:lnTo>
                  <a:pt x="123" y="223"/>
                </a:lnTo>
                <a:lnTo>
                  <a:pt x="110" y="228"/>
                </a:lnTo>
                <a:lnTo>
                  <a:pt x="109" y="239"/>
                </a:lnTo>
                <a:lnTo>
                  <a:pt x="105" y="241"/>
                </a:lnTo>
                <a:lnTo>
                  <a:pt x="103" y="238"/>
                </a:lnTo>
                <a:lnTo>
                  <a:pt x="104" y="230"/>
                </a:lnTo>
                <a:lnTo>
                  <a:pt x="95" y="234"/>
                </a:lnTo>
                <a:lnTo>
                  <a:pt x="92" y="232"/>
                </a:lnTo>
                <a:lnTo>
                  <a:pt x="92" y="228"/>
                </a:lnTo>
                <a:lnTo>
                  <a:pt x="101" y="224"/>
                </a:lnTo>
                <a:close/>
                <a:moveTo>
                  <a:pt x="187" y="189"/>
                </a:moveTo>
                <a:lnTo>
                  <a:pt x="183" y="185"/>
                </a:lnTo>
                <a:lnTo>
                  <a:pt x="184" y="181"/>
                </a:lnTo>
                <a:lnTo>
                  <a:pt x="187" y="181"/>
                </a:lnTo>
                <a:lnTo>
                  <a:pt x="192" y="187"/>
                </a:lnTo>
                <a:lnTo>
                  <a:pt x="203" y="186"/>
                </a:lnTo>
                <a:lnTo>
                  <a:pt x="196" y="178"/>
                </a:lnTo>
                <a:lnTo>
                  <a:pt x="187" y="180"/>
                </a:lnTo>
                <a:lnTo>
                  <a:pt x="186" y="178"/>
                </a:lnTo>
                <a:lnTo>
                  <a:pt x="187" y="174"/>
                </a:lnTo>
                <a:lnTo>
                  <a:pt x="192" y="174"/>
                </a:lnTo>
                <a:lnTo>
                  <a:pt x="188" y="169"/>
                </a:lnTo>
                <a:lnTo>
                  <a:pt x="190" y="167"/>
                </a:lnTo>
                <a:lnTo>
                  <a:pt x="192" y="165"/>
                </a:lnTo>
                <a:lnTo>
                  <a:pt x="196" y="171"/>
                </a:lnTo>
                <a:lnTo>
                  <a:pt x="199" y="165"/>
                </a:lnTo>
                <a:lnTo>
                  <a:pt x="201" y="165"/>
                </a:lnTo>
                <a:lnTo>
                  <a:pt x="204" y="167"/>
                </a:lnTo>
                <a:lnTo>
                  <a:pt x="200" y="176"/>
                </a:lnTo>
                <a:lnTo>
                  <a:pt x="207" y="184"/>
                </a:lnTo>
                <a:lnTo>
                  <a:pt x="210" y="174"/>
                </a:lnTo>
                <a:lnTo>
                  <a:pt x="204" y="167"/>
                </a:lnTo>
                <a:lnTo>
                  <a:pt x="205" y="164"/>
                </a:lnTo>
                <a:lnTo>
                  <a:pt x="209" y="164"/>
                </a:lnTo>
                <a:lnTo>
                  <a:pt x="212" y="168"/>
                </a:lnTo>
                <a:lnTo>
                  <a:pt x="214" y="163"/>
                </a:lnTo>
                <a:lnTo>
                  <a:pt x="218" y="161"/>
                </a:lnTo>
                <a:lnTo>
                  <a:pt x="220" y="164"/>
                </a:lnTo>
                <a:lnTo>
                  <a:pt x="217" y="171"/>
                </a:lnTo>
                <a:lnTo>
                  <a:pt x="223" y="169"/>
                </a:lnTo>
                <a:lnTo>
                  <a:pt x="225" y="172"/>
                </a:lnTo>
                <a:lnTo>
                  <a:pt x="223" y="174"/>
                </a:lnTo>
                <a:lnTo>
                  <a:pt x="214" y="176"/>
                </a:lnTo>
                <a:lnTo>
                  <a:pt x="212" y="185"/>
                </a:lnTo>
                <a:lnTo>
                  <a:pt x="221" y="184"/>
                </a:lnTo>
                <a:lnTo>
                  <a:pt x="225" y="176"/>
                </a:lnTo>
                <a:lnTo>
                  <a:pt x="227" y="174"/>
                </a:lnTo>
                <a:lnTo>
                  <a:pt x="229" y="177"/>
                </a:lnTo>
                <a:lnTo>
                  <a:pt x="227" y="182"/>
                </a:lnTo>
                <a:lnTo>
                  <a:pt x="234" y="181"/>
                </a:lnTo>
                <a:lnTo>
                  <a:pt x="235" y="184"/>
                </a:lnTo>
                <a:lnTo>
                  <a:pt x="234" y="186"/>
                </a:lnTo>
                <a:lnTo>
                  <a:pt x="227" y="187"/>
                </a:lnTo>
                <a:lnTo>
                  <a:pt x="231" y="193"/>
                </a:lnTo>
                <a:lnTo>
                  <a:pt x="230" y="195"/>
                </a:lnTo>
                <a:lnTo>
                  <a:pt x="227" y="195"/>
                </a:lnTo>
                <a:lnTo>
                  <a:pt x="222" y="189"/>
                </a:lnTo>
                <a:lnTo>
                  <a:pt x="212" y="190"/>
                </a:lnTo>
                <a:lnTo>
                  <a:pt x="218" y="198"/>
                </a:lnTo>
                <a:lnTo>
                  <a:pt x="227" y="197"/>
                </a:lnTo>
                <a:lnTo>
                  <a:pt x="229" y="199"/>
                </a:lnTo>
                <a:lnTo>
                  <a:pt x="227" y="202"/>
                </a:lnTo>
                <a:lnTo>
                  <a:pt x="222" y="203"/>
                </a:lnTo>
                <a:lnTo>
                  <a:pt x="226" y="208"/>
                </a:lnTo>
                <a:lnTo>
                  <a:pt x="225" y="211"/>
                </a:lnTo>
                <a:lnTo>
                  <a:pt x="222" y="211"/>
                </a:lnTo>
                <a:lnTo>
                  <a:pt x="218" y="206"/>
                </a:lnTo>
                <a:lnTo>
                  <a:pt x="216" y="211"/>
                </a:lnTo>
                <a:lnTo>
                  <a:pt x="213" y="212"/>
                </a:lnTo>
                <a:lnTo>
                  <a:pt x="212" y="210"/>
                </a:lnTo>
                <a:lnTo>
                  <a:pt x="214" y="200"/>
                </a:lnTo>
                <a:lnTo>
                  <a:pt x="208" y="194"/>
                </a:lnTo>
                <a:lnTo>
                  <a:pt x="205" y="203"/>
                </a:lnTo>
                <a:lnTo>
                  <a:pt x="210" y="210"/>
                </a:lnTo>
                <a:lnTo>
                  <a:pt x="209" y="212"/>
                </a:lnTo>
                <a:lnTo>
                  <a:pt x="207" y="212"/>
                </a:lnTo>
                <a:lnTo>
                  <a:pt x="203" y="208"/>
                </a:lnTo>
                <a:lnTo>
                  <a:pt x="200" y="215"/>
                </a:lnTo>
                <a:lnTo>
                  <a:pt x="197" y="215"/>
                </a:lnTo>
                <a:lnTo>
                  <a:pt x="195" y="212"/>
                </a:lnTo>
                <a:lnTo>
                  <a:pt x="197" y="207"/>
                </a:lnTo>
                <a:lnTo>
                  <a:pt x="192" y="207"/>
                </a:lnTo>
                <a:lnTo>
                  <a:pt x="190" y="204"/>
                </a:lnTo>
                <a:lnTo>
                  <a:pt x="191" y="202"/>
                </a:lnTo>
                <a:lnTo>
                  <a:pt x="200" y="200"/>
                </a:lnTo>
                <a:lnTo>
                  <a:pt x="204" y="191"/>
                </a:lnTo>
                <a:lnTo>
                  <a:pt x="194" y="193"/>
                </a:lnTo>
                <a:lnTo>
                  <a:pt x="191" y="202"/>
                </a:lnTo>
                <a:lnTo>
                  <a:pt x="187" y="202"/>
                </a:lnTo>
                <a:lnTo>
                  <a:pt x="186" y="199"/>
                </a:lnTo>
                <a:lnTo>
                  <a:pt x="187" y="194"/>
                </a:lnTo>
                <a:lnTo>
                  <a:pt x="181" y="195"/>
                </a:lnTo>
                <a:lnTo>
                  <a:pt x="179" y="193"/>
                </a:lnTo>
                <a:lnTo>
                  <a:pt x="181" y="190"/>
                </a:lnTo>
                <a:lnTo>
                  <a:pt x="187" y="189"/>
                </a:ln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cxnSp>
        <p:nvCxnSpPr>
          <p:cNvPr id="53" name="直接连接符 52"/>
          <p:cNvCxnSpPr/>
          <p:nvPr/>
        </p:nvCxnSpPr>
        <p:spPr>
          <a:xfrm>
            <a:off x="3208604" y="2029888"/>
            <a:ext cx="0" cy="849777"/>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5" name="直接连接符 54"/>
          <p:cNvCxnSpPr/>
          <p:nvPr/>
        </p:nvCxnSpPr>
        <p:spPr>
          <a:xfrm>
            <a:off x="1658270" y="2023792"/>
            <a:ext cx="1559450" cy="0"/>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938695" y="2653843"/>
            <a:ext cx="0" cy="849777"/>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7938695" y="2664998"/>
            <a:ext cx="1559450" cy="0"/>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grpSp>
        <p:nvGrpSpPr>
          <p:cNvPr id="70" name="组合 69"/>
          <p:cNvGrpSpPr/>
          <p:nvPr/>
        </p:nvGrpSpPr>
        <p:grpSpPr>
          <a:xfrm>
            <a:off x="5519850" y="1753990"/>
            <a:ext cx="492239" cy="742955"/>
            <a:chOff x="10670083" y="1672531"/>
            <a:chExt cx="935037" cy="1411288"/>
          </a:xfrm>
          <a:solidFill>
            <a:srgbClr val="C55A11"/>
          </a:solidFill>
        </p:grpSpPr>
        <p:sp>
          <p:nvSpPr>
            <p:cNvPr id="64" name="Oval 222845"/>
            <p:cNvSpPr>
              <a:spLocks noChangeArrowheads="1"/>
            </p:cNvSpPr>
            <p:nvPr/>
          </p:nvSpPr>
          <p:spPr bwMode="auto">
            <a:xfrm>
              <a:off x="11313020" y="2164656"/>
              <a:ext cx="122238" cy="1206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5" name="Oval 222846"/>
            <p:cNvSpPr>
              <a:spLocks noChangeArrowheads="1"/>
            </p:cNvSpPr>
            <p:nvPr/>
          </p:nvSpPr>
          <p:spPr bwMode="auto">
            <a:xfrm>
              <a:off x="10879633" y="2164656"/>
              <a:ext cx="120650" cy="12065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6" name="Freeform 222847"/>
            <p:cNvSpPr>
              <a:spLocks/>
            </p:cNvSpPr>
            <p:nvPr/>
          </p:nvSpPr>
          <p:spPr bwMode="auto">
            <a:xfrm>
              <a:off x="10817720" y="1786831"/>
              <a:ext cx="101600" cy="200025"/>
            </a:xfrm>
            <a:custGeom>
              <a:avLst/>
              <a:gdLst>
                <a:gd name="T0" fmla="*/ 64 w 64"/>
                <a:gd name="T1" fmla="*/ 119 h 126"/>
                <a:gd name="T2" fmla="*/ 18 w 64"/>
                <a:gd name="T3" fmla="*/ 0 h 126"/>
                <a:gd name="T4" fmla="*/ 0 w 64"/>
                <a:gd name="T5" fmla="*/ 7 h 126"/>
                <a:gd name="T6" fmla="*/ 47 w 64"/>
                <a:gd name="T7" fmla="*/ 126 h 126"/>
                <a:gd name="T8" fmla="*/ 64 w 64"/>
                <a:gd name="T9" fmla="*/ 119 h 126"/>
              </a:gdLst>
              <a:ahLst/>
              <a:cxnLst>
                <a:cxn ang="0">
                  <a:pos x="T0" y="T1"/>
                </a:cxn>
                <a:cxn ang="0">
                  <a:pos x="T2" y="T3"/>
                </a:cxn>
                <a:cxn ang="0">
                  <a:pos x="T4" y="T5"/>
                </a:cxn>
                <a:cxn ang="0">
                  <a:pos x="T6" y="T7"/>
                </a:cxn>
                <a:cxn ang="0">
                  <a:pos x="T8" y="T9"/>
                </a:cxn>
              </a:cxnLst>
              <a:rect l="0" t="0" r="r" b="b"/>
              <a:pathLst>
                <a:path w="64" h="126">
                  <a:moveTo>
                    <a:pt x="64" y="119"/>
                  </a:moveTo>
                  <a:lnTo>
                    <a:pt x="18" y="0"/>
                  </a:lnTo>
                  <a:lnTo>
                    <a:pt x="0" y="7"/>
                  </a:lnTo>
                  <a:lnTo>
                    <a:pt x="47" y="126"/>
                  </a:lnTo>
                  <a:lnTo>
                    <a:pt x="64" y="11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7" name="Freeform 222848"/>
            <p:cNvSpPr>
              <a:spLocks/>
            </p:cNvSpPr>
            <p:nvPr/>
          </p:nvSpPr>
          <p:spPr bwMode="auto">
            <a:xfrm>
              <a:off x="10670083" y="1905893"/>
              <a:ext cx="184150" cy="133350"/>
            </a:xfrm>
            <a:custGeom>
              <a:avLst/>
              <a:gdLst>
                <a:gd name="T0" fmla="*/ 116 w 116"/>
                <a:gd name="T1" fmla="*/ 70 h 84"/>
                <a:gd name="T2" fmla="*/ 10 w 116"/>
                <a:gd name="T3" fmla="*/ 0 h 84"/>
                <a:gd name="T4" fmla="*/ 0 w 116"/>
                <a:gd name="T5" fmla="*/ 15 h 84"/>
                <a:gd name="T6" fmla="*/ 106 w 116"/>
                <a:gd name="T7" fmla="*/ 84 h 84"/>
                <a:gd name="T8" fmla="*/ 116 w 116"/>
                <a:gd name="T9" fmla="*/ 70 h 84"/>
              </a:gdLst>
              <a:ahLst/>
              <a:cxnLst>
                <a:cxn ang="0">
                  <a:pos x="T0" y="T1"/>
                </a:cxn>
                <a:cxn ang="0">
                  <a:pos x="T2" y="T3"/>
                </a:cxn>
                <a:cxn ang="0">
                  <a:pos x="T4" y="T5"/>
                </a:cxn>
                <a:cxn ang="0">
                  <a:pos x="T6" y="T7"/>
                </a:cxn>
                <a:cxn ang="0">
                  <a:pos x="T8" y="T9"/>
                </a:cxn>
              </a:cxnLst>
              <a:rect l="0" t="0" r="r" b="b"/>
              <a:pathLst>
                <a:path w="116" h="84">
                  <a:moveTo>
                    <a:pt x="116" y="70"/>
                  </a:moveTo>
                  <a:lnTo>
                    <a:pt x="10" y="0"/>
                  </a:lnTo>
                  <a:lnTo>
                    <a:pt x="0" y="15"/>
                  </a:lnTo>
                  <a:lnTo>
                    <a:pt x="106" y="84"/>
                  </a:lnTo>
                  <a:lnTo>
                    <a:pt x="116" y="7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8" name="Freeform 222850"/>
            <p:cNvSpPr>
              <a:spLocks/>
            </p:cNvSpPr>
            <p:nvPr/>
          </p:nvSpPr>
          <p:spPr bwMode="auto">
            <a:xfrm>
              <a:off x="10674845" y="2080518"/>
              <a:ext cx="495300" cy="1003300"/>
            </a:xfrm>
            <a:custGeom>
              <a:avLst/>
              <a:gdLst>
                <a:gd name="T0" fmla="*/ 143 w 215"/>
                <a:gd name="T1" fmla="*/ 100 h 435"/>
                <a:gd name="T2" fmla="*/ 119 w 215"/>
                <a:gd name="T3" fmla="*/ 99 h 435"/>
                <a:gd name="T4" fmla="*/ 101 w 215"/>
                <a:gd name="T5" fmla="*/ 99 h 435"/>
                <a:gd name="T6" fmla="*/ 83 w 215"/>
                <a:gd name="T7" fmla="*/ 98 h 435"/>
                <a:gd name="T8" fmla="*/ 19 w 215"/>
                <a:gd name="T9" fmla="*/ 0 h 435"/>
                <a:gd name="T10" fmla="*/ 0 w 215"/>
                <a:gd name="T11" fmla="*/ 12 h 435"/>
                <a:gd name="T12" fmla="*/ 65 w 215"/>
                <a:gd name="T13" fmla="*/ 134 h 435"/>
                <a:gd name="T14" fmla="*/ 65 w 215"/>
                <a:gd name="T15" fmla="*/ 435 h 435"/>
                <a:gd name="T16" fmla="*/ 92 w 215"/>
                <a:gd name="T17" fmla="*/ 435 h 435"/>
                <a:gd name="T18" fmla="*/ 112 w 215"/>
                <a:gd name="T19" fmla="*/ 296 h 435"/>
                <a:gd name="T20" fmla="*/ 130 w 215"/>
                <a:gd name="T21" fmla="*/ 435 h 435"/>
                <a:gd name="T22" fmla="*/ 158 w 215"/>
                <a:gd name="T23" fmla="*/ 435 h 435"/>
                <a:gd name="T24" fmla="*/ 159 w 215"/>
                <a:gd name="T25" fmla="*/ 148 h 435"/>
                <a:gd name="T26" fmla="*/ 194 w 215"/>
                <a:gd name="T27" fmla="*/ 243 h 435"/>
                <a:gd name="T28" fmla="*/ 215 w 215"/>
                <a:gd name="T29" fmla="*/ 236 h 435"/>
                <a:gd name="T30" fmla="*/ 185 w 215"/>
                <a:gd name="T31" fmla="*/ 134 h 435"/>
                <a:gd name="T32" fmla="*/ 143 w 215"/>
                <a:gd name="T33" fmla="*/ 100 h 4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15" h="435">
                  <a:moveTo>
                    <a:pt x="143" y="100"/>
                  </a:moveTo>
                  <a:cubicBezTo>
                    <a:pt x="138" y="99"/>
                    <a:pt x="125" y="99"/>
                    <a:pt x="119" y="99"/>
                  </a:cubicBezTo>
                  <a:cubicBezTo>
                    <a:pt x="101" y="99"/>
                    <a:pt x="101" y="99"/>
                    <a:pt x="101" y="99"/>
                  </a:cubicBezTo>
                  <a:cubicBezTo>
                    <a:pt x="83" y="98"/>
                    <a:pt x="83" y="98"/>
                    <a:pt x="83" y="98"/>
                  </a:cubicBezTo>
                  <a:cubicBezTo>
                    <a:pt x="19" y="0"/>
                    <a:pt x="19" y="0"/>
                    <a:pt x="19" y="0"/>
                  </a:cubicBezTo>
                  <a:cubicBezTo>
                    <a:pt x="0" y="12"/>
                    <a:pt x="0" y="12"/>
                    <a:pt x="0" y="12"/>
                  </a:cubicBezTo>
                  <a:cubicBezTo>
                    <a:pt x="65" y="134"/>
                    <a:pt x="65" y="134"/>
                    <a:pt x="65" y="134"/>
                  </a:cubicBezTo>
                  <a:cubicBezTo>
                    <a:pt x="65" y="435"/>
                    <a:pt x="65" y="435"/>
                    <a:pt x="65" y="435"/>
                  </a:cubicBezTo>
                  <a:cubicBezTo>
                    <a:pt x="92" y="435"/>
                    <a:pt x="92" y="435"/>
                    <a:pt x="92" y="435"/>
                  </a:cubicBezTo>
                  <a:cubicBezTo>
                    <a:pt x="112" y="296"/>
                    <a:pt x="112" y="296"/>
                    <a:pt x="112" y="296"/>
                  </a:cubicBezTo>
                  <a:cubicBezTo>
                    <a:pt x="130" y="435"/>
                    <a:pt x="130" y="435"/>
                    <a:pt x="130" y="435"/>
                  </a:cubicBezTo>
                  <a:cubicBezTo>
                    <a:pt x="158" y="435"/>
                    <a:pt x="158" y="435"/>
                    <a:pt x="158" y="435"/>
                  </a:cubicBezTo>
                  <a:cubicBezTo>
                    <a:pt x="159" y="148"/>
                    <a:pt x="159" y="148"/>
                    <a:pt x="159" y="148"/>
                  </a:cubicBezTo>
                  <a:cubicBezTo>
                    <a:pt x="194" y="243"/>
                    <a:pt x="194" y="243"/>
                    <a:pt x="194" y="243"/>
                  </a:cubicBezTo>
                  <a:cubicBezTo>
                    <a:pt x="215" y="236"/>
                    <a:pt x="215" y="236"/>
                    <a:pt x="215" y="236"/>
                  </a:cubicBezTo>
                  <a:cubicBezTo>
                    <a:pt x="185" y="134"/>
                    <a:pt x="185" y="134"/>
                    <a:pt x="185" y="134"/>
                  </a:cubicBezTo>
                  <a:cubicBezTo>
                    <a:pt x="172" y="97"/>
                    <a:pt x="143" y="100"/>
                    <a:pt x="143" y="1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9" name="Freeform 222853"/>
            <p:cNvSpPr>
              <a:spLocks noEditPoints="1"/>
            </p:cNvSpPr>
            <p:nvPr/>
          </p:nvSpPr>
          <p:spPr bwMode="auto">
            <a:xfrm>
              <a:off x="10992345" y="1672531"/>
              <a:ext cx="612775" cy="1411288"/>
            </a:xfrm>
            <a:custGeom>
              <a:avLst/>
              <a:gdLst>
                <a:gd name="T0" fmla="*/ 193 w 266"/>
                <a:gd name="T1" fmla="*/ 277 h 612"/>
                <a:gd name="T2" fmla="*/ 169 w 266"/>
                <a:gd name="T3" fmla="*/ 276 h 612"/>
                <a:gd name="T4" fmla="*/ 152 w 266"/>
                <a:gd name="T5" fmla="*/ 276 h 612"/>
                <a:gd name="T6" fmla="*/ 140 w 266"/>
                <a:gd name="T7" fmla="*/ 275 h 612"/>
                <a:gd name="T8" fmla="*/ 104 w 266"/>
                <a:gd name="T9" fmla="*/ 176 h 612"/>
                <a:gd name="T10" fmla="*/ 104 w 266"/>
                <a:gd name="T11" fmla="*/ 118 h 612"/>
                <a:gd name="T12" fmla="*/ 179 w 266"/>
                <a:gd name="T13" fmla="*/ 118 h 612"/>
                <a:gd name="T14" fmla="*/ 179 w 266"/>
                <a:gd name="T15" fmla="*/ 0 h 612"/>
                <a:gd name="T16" fmla="*/ 0 w 266"/>
                <a:gd name="T17" fmla="*/ 0 h 612"/>
                <a:gd name="T18" fmla="*/ 0 w 266"/>
                <a:gd name="T19" fmla="*/ 118 h 612"/>
                <a:gd name="T20" fmla="*/ 75 w 266"/>
                <a:gd name="T21" fmla="*/ 118 h 612"/>
                <a:gd name="T22" fmla="*/ 75 w 266"/>
                <a:gd name="T23" fmla="*/ 177 h 612"/>
                <a:gd name="T24" fmla="*/ 115 w 266"/>
                <a:gd name="T25" fmla="*/ 311 h 612"/>
                <a:gd name="T26" fmla="*/ 115 w 266"/>
                <a:gd name="T27" fmla="*/ 612 h 612"/>
                <a:gd name="T28" fmla="*/ 142 w 266"/>
                <a:gd name="T29" fmla="*/ 612 h 612"/>
                <a:gd name="T30" fmla="*/ 163 w 266"/>
                <a:gd name="T31" fmla="*/ 473 h 612"/>
                <a:gd name="T32" fmla="*/ 181 w 266"/>
                <a:gd name="T33" fmla="*/ 612 h 612"/>
                <a:gd name="T34" fmla="*/ 208 w 266"/>
                <a:gd name="T35" fmla="*/ 612 h 612"/>
                <a:gd name="T36" fmla="*/ 209 w 266"/>
                <a:gd name="T37" fmla="*/ 325 h 612"/>
                <a:gd name="T38" fmla="*/ 244 w 266"/>
                <a:gd name="T39" fmla="*/ 420 h 612"/>
                <a:gd name="T40" fmla="*/ 266 w 266"/>
                <a:gd name="T41" fmla="*/ 413 h 612"/>
                <a:gd name="T42" fmla="*/ 236 w 266"/>
                <a:gd name="T43" fmla="*/ 311 h 612"/>
                <a:gd name="T44" fmla="*/ 193 w 266"/>
                <a:gd name="T45" fmla="*/ 277 h 612"/>
                <a:gd name="T46" fmla="*/ 94 w 266"/>
                <a:gd name="T47" fmla="*/ 166 h 612"/>
                <a:gd name="T48" fmla="*/ 85 w 266"/>
                <a:gd name="T49" fmla="*/ 166 h 612"/>
                <a:gd name="T50" fmla="*/ 85 w 266"/>
                <a:gd name="T51" fmla="*/ 108 h 612"/>
                <a:gd name="T52" fmla="*/ 11 w 266"/>
                <a:gd name="T53" fmla="*/ 108 h 612"/>
                <a:gd name="T54" fmla="*/ 11 w 266"/>
                <a:gd name="T55" fmla="*/ 11 h 612"/>
                <a:gd name="T56" fmla="*/ 168 w 266"/>
                <a:gd name="T57" fmla="*/ 11 h 612"/>
                <a:gd name="T58" fmla="*/ 168 w 266"/>
                <a:gd name="T59" fmla="*/ 108 h 612"/>
                <a:gd name="T60" fmla="*/ 94 w 266"/>
                <a:gd name="T61" fmla="*/ 108 h 612"/>
                <a:gd name="T62" fmla="*/ 94 w 266"/>
                <a:gd name="T63" fmla="*/ 166 h 6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266" h="612">
                  <a:moveTo>
                    <a:pt x="193" y="277"/>
                  </a:moveTo>
                  <a:cubicBezTo>
                    <a:pt x="188" y="276"/>
                    <a:pt x="176" y="276"/>
                    <a:pt x="169" y="276"/>
                  </a:cubicBezTo>
                  <a:cubicBezTo>
                    <a:pt x="152" y="276"/>
                    <a:pt x="152" y="276"/>
                    <a:pt x="152" y="276"/>
                  </a:cubicBezTo>
                  <a:cubicBezTo>
                    <a:pt x="140" y="275"/>
                    <a:pt x="140" y="275"/>
                    <a:pt x="140" y="275"/>
                  </a:cubicBezTo>
                  <a:cubicBezTo>
                    <a:pt x="104" y="176"/>
                    <a:pt x="104" y="176"/>
                    <a:pt x="104" y="176"/>
                  </a:cubicBezTo>
                  <a:cubicBezTo>
                    <a:pt x="104" y="118"/>
                    <a:pt x="104" y="118"/>
                    <a:pt x="104" y="118"/>
                  </a:cubicBezTo>
                  <a:cubicBezTo>
                    <a:pt x="179" y="118"/>
                    <a:pt x="179" y="118"/>
                    <a:pt x="179" y="118"/>
                  </a:cubicBezTo>
                  <a:cubicBezTo>
                    <a:pt x="179" y="0"/>
                    <a:pt x="179" y="0"/>
                    <a:pt x="179" y="0"/>
                  </a:cubicBezTo>
                  <a:cubicBezTo>
                    <a:pt x="0" y="0"/>
                    <a:pt x="0" y="0"/>
                    <a:pt x="0" y="0"/>
                  </a:cubicBezTo>
                  <a:cubicBezTo>
                    <a:pt x="0" y="118"/>
                    <a:pt x="0" y="118"/>
                    <a:pt x="0" y="118"/>
                  </a:cubicBezTo>
                  <a:cubicBezTo>
                    <a:pt x="75" y="118"/>
                    <a:pt x="75" y="118"/>
                    <a:pt x="75" y="118"/>
                  </a:cubicBezTo>
                  <a:cubicBezTo>
                    <a:pt x="75" y="177"/>
                    <a:pt x="75" y="177"/>
                    <a:pt x="75" y="177"/>
                  </a:cubicBezTo>
                  <a:cubicBezTo>
                    <a:pt x="115" y="311"/>
                    <a:pt x="115" y="311"/>
                    <a:pt x="115" y="311"/>
                  </a:cubicBezTo>
                  <a:cubicBezTo>
                    <a:pt x="115" y="612"/>
                    <a:pt x="115" y="612"/>
                    <a:pt x="115" y="612"/>
                  </a:cubicBezTo>
                  <a:cubicBezTo>
                    <a:pt x="142" y="612"/>
                    <a:pt x="142" y="612"/>
                    <a:pt x="142" y="612"/>
                  </a:cubicBezTo>
                  <a:cubicBezTo>
                    <a:pt x="163" y="473"/>
                    <a:pt x="163" y="473"/>
                    <a:pt x="163" y="473"/>
                  </a:cubicBezTo>
                  <a:cubicBezTo>
                    <a:pt x="181" y="612"/>
                    <a:pt x="181" y="612"/>
                    <a:pt x="181" y="612"/>
                  </a:cubicBezTo>
                  <a:cubicBezTo>
                    <a:pt x="208" y="612"/>
                    <a:pt x="208" y="612"/>
                    <a:pt x="208" y="612"/>
                  </a:cubicBezTo>
                  <a:cubicBezTo>
                    <a:pt x="209" y="325"/>
                    <a:pt x="209" y="325"/>
                    <a:pt x="209" y="325"/>
                  </a:cubicBezTo>
                  <a:cubicBezTo>
                    <a:pt x="244" y="420"/>
                    <a:pt x="244" y="420"/>
                    <a:pt x="244" y="420"/>
                  </a:cubicBezTo>
                  <a:cubicBezTo>
                    <a:pt x="266" y="413"/>
                    <a:pt x="266" y="413"/>
                    <a:pt x="266" y="413"/>
                  </a:cubicBezTo>
                  <a:cubicBezTo>
                    <a:pt x="236" y="311"/>
                    <a:pt x="236" y="311"/>
                    <a:pt x="236" y="311"/>
                  </a:cubicBezTo>
                  <a:cubicBezTo>
                    <a:pt x="223" y="274"/>
                    <a:pt x="193" y="277"/>
                    <a:pt x="193" y="277"/>
                  </a:cubicBezTo>
                  <a:close/>
                  <a:moveTo>
                    <a:pt x="94" y="166"/>
                  </a:moveTo>
                  <a:cubicBezTo>
                    <a:pt x="94" y="166"/>
                    <a:pt x="89" y="166"/>
                    <a:pt x="85" y="166"/>
                  </a:cubicBezTo>
                  <a:cubicBezTo>
                    <a:pt x="85" y="108"/>
                    <a:pt x="85" y="108"/>
                    <a:pt x="85" y="108"/>
                  </a:cubicBezTo>
                  <a:cubicBezTo>
                    <a:pt x="11" y="108"/>
                    <a:pt x="11" y="108"/>
                    <a:pt x="11" y="108"/>
                  </a:cubicBezTo>
                  <a:cubicBezTo>
                    <a:pt x="11" y="11"/>
                    <a:pt x="11" y="11"/>
                    <a:pt x="11" y="11"/>
                  </a:cubicBezTo>
                  <a:cubicBezTo>
                    <a:pt x="168" y="11"/>
                    <a:pt x="168" y="11"/>
                    <a:pt x="168" y="11"/>
                  </a:cubicBezTo>
                  <a:cubicBezTo>
                    <a:pt x="168" y="108"/>
                    <a:pt x="168" y="108"/>
                    <a:pt x="168" y="108"/>
                  </a:cubicBezTo>
                  <a:cubicBezTo>
                    <a:pt x="94" y="108"/>
                    <a:pt x="94" y="108"/>
                    <a:pt x="94" y="108"/>
                  </a:cubicBezTo>
                  <a:lnTo>
                    <a:pt x="94" y="16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71" name="矩形 70"/>
          <p:cNvSpPr/>
          <p:nvPr/>
        </p:nvSpPr>
        <p:spPr>
          <a:xfrm>
            <a:off x="1190392" y="1990940"/>
            <a:ext cx="2056814" cy="707886"/>
          </a:xfrm>
          <a:prstGeom prst="rect">
            <a:avLst/>
          </a:prstGeom>
        </p:spPr>
        <p:txBody>
          <a:bodyPr wrap="square">
            <a:spAutoFit/>
          </a:bodyPr>
          <a:lstStyle/>
          <a:p>
            <a:r>
              <a:rPr lang="zh-CN" altLang="en-US" sz="2000" dirty="0" smtClean="0">
                <a:solidFill>
                  <a:schemeClr val="accent2">
                    <a:lumMod val="75000"/>
                  </a:schemeClr>
                </a:solidFill>
                <a:latin typeface="Simsun" panose="02010600030101010101" pitchFamily="2" charset="-122"/>
                <a:ea typeface="Simsun" panose="02010600030101010101" pitchFamily="2" charset="-122"/>
              </a:rPr>
              <a:t>分析人员与用户</a:t>
            </a:r>
            <a:r>
              <a:rPr lang="zh-CN" altLang="en-US" sz="2000" smtClean="0">
                <a:solidFill>
                  <a:schemeClr val="accent2">
                    <a:lumMod val="75000"/>
                  </a:schemeClr>
                </a:solidFill>
                <a:latin typeface="Simsun" panose="02010600030101010101" pitchFamily="2" charset="-122"/>
                <a:ea typeface="Simsun" panose="02010600030101010101" pitchFamily="2" charset="-122"/>
              </a:rPr>
              <a:t>访谈式沟通开会</a:t>
            </a:r>
            <a:endParaRPr lang="zh-CN" altLang="en-US" sz="2000" dirty="0">
              <a:solidFill>
                <a:schemeClr val="accent2">
                  <a:lumMod val="75000"/>
                </a:schemeClr>
              </a:solidFill>
            </a:endParaRPr>
          </a:p>
        </p:txBody>
      </p:sp>
      <p:sp>
        <p:nvSpPr>
          <p:cNvPr id="72" name="矩形 71"/>
          <p:cNvSpPr/>
          <p:nvPr/>
        </p:nvSpPr>
        <p:spPr>
          <a:xfrm>
            <a:off x="8014437" y="2707224"/>
            <a:ext cx="3070370" cy="707886"/>
          </a:xfrm>
          <a:prstGeom prst="rect">
            <a:avLst/>
          </a:prstGeom>
        </p:spPr>
        <p:txBody>
          <a:bodyPr wrap="square">
            <a:spAutoFit/>
          </a:bodyPr>
          <a:lstStyle/>
          <a:p>
            <a:r>
              <a:rPr lang="zh-CN" altLang="en-US" sz="2000" i="0" dirty="0" smtClean="0">
                <a:solidFill>
                  <a:schemeClr val="accent2">
                    <a:lumMod val="75000"/>
                  </a:schemeClr>
                </a:solidFill>
                <a:effectLst/>
                <a:latin typeface="Simsun" panose="02010600030101010101" pitchFamily="2" charset="-122"/>
                <a:ea typeface="Simsun" panose="02010600030101010101" pitchFamily="2" charset="-122"/>
              </a:rPr>
              <a:t>开发简易模型演示，修正模型和需求</a:t>
            </a:r>
            <a:r>
              <a:rPr lang="en-US" altLang="zh-CN" sz="2000" i="0" dirty="0" smtClean="0">
                <a:solidFill>
                  <a:schemeClr val="accent2">
                    <a:lumMod val="75000"/>
                  </a:schemeClr>
                </a:solidFill>
                <a:effectLst/>
                <a:latin typeface="Simsun" panose="02010600030101010101" pitchFamily="2" charset="-122"/>
                <a:ea typeface="Simsun" panose="02010600030101010101" pitchFamily="2" charset="-122"/>
              </a:rPr>
              <a:t> </a:t>
            </a:r>
            <a:endParaRPr lang="zh-CN" altLang="en-US" sz="2000" dirty="0">
              <a:solidFill>
                <a:schemeClr val="accent2">
                  <a:lumMod val="75000"/>
                </a:schemeClr>
              </a:solidFill>
            </a:endParaRPr>
          </a:p>
        </p:txBody>
      </p:sp>
      <p:sp>
        <p:nvSpPr>
          <p:cNvPr id="73" name="矩形 72"/>
          <p:cNvSpPr/>
          <p:nvPr/>
        </p:nvSpPr>
        <p:spPr>
          <a:xfrm>
            <a:off x="7639350" y="5159679"/>
            <a:ext cx="2622199" cy="707886"/>
          </a:xfrm>
          <a:prstGeom prst="rect">
            <a:avLst/>
          </a:prstGeom>
        </p:spPr>
        <p:txBody>
          <a:bodyPr wrap="square">
            <a:spAutoFit/>
          </a:bodyPr>
          <a:lstStyle/>
          <a:p>
            <a:r>
              <a:rPr lang="zh-CN" altLang="en-US" sz="2000" dirty="0" smtClean="0">
                <a:solidFill>
                  <a:schemeClr val="accent2">
                    <a:lumMod val="75000"/>
                  </a:schemeClr>
                </a:solidFill>
              </a:rPr>
              <a:t>确认文档</a:t>
            </a:r>
            <a:r>
              <a:rPr lang="zh-CN" altLang="en-US" sz="2000" smtClean="0">
                <a:solidFill>
                  <a:schemeClr val="accent2">
                    <a:lumMod val="75000"/>
                  </a:schemeClr>
                </a:solidFill>
              </a:rPr>
              <a:t>，形成需求分析报告</a:t>
            </a:r>
            <a:endParaRPr lang="zh-CN" altLang="en-US" sz="2000" dirty="0">
              <a:solidFill>
                <a:schemeClr val="accent2">
                  <a:lumMod val="75000"/>
                </a:schemeClr>
              </a:solidFill>
            </a:endParaRPr>
          </a:p>
        </p:txBody>
      </p:sp>
      <p:sp>
        <p:nvSpPr>
          <p:cNvPr id="74" name="矩形 73"/>
          <p:cNvSpPr/>
          <p:nvPr/>
        </p:nvSpPr>
        <p:spPr>
          <a:xfrm>
            <a:off x="1523059" y="4390106"/>
            <a:ext cx="3070370" cy="400110"/>
          </a:xfrm>
          <a:prstGeom prst="rect">
            <a:avLst/>
          </a:prstGeom>
        </p:spPr>
        <p:txBody>
          <a:bodyPr wrap="square">
            <a:spAutoFit/>
          </a:bodyPr>
          <a:lstStyle/>
          <a:p>
            <a:r>
              <a:rPr lang="zh-CN" altLang="en-US" sz="2000" i="0" dirty="0" smtClean="0">
                <a:solidFill>
                  <a:schemeClr val="accent2">
                    <a:lumMod val="75000"/>
                  </a:schemeClr>
                </a:solidFill>
                <a:effectLst/>
                <a:latin typeface="Simsun" panose="02010600030101010101" pitchFamily="2" charset="-122"/>
                <a:ea typeface="Simsun" panose="02010600030101010101" pitchFamily="2" charset="-122"/>
              </a:rPr>
              <a:t>逐步细化</a:t>
            </a:r>
            <a:endParaRPr lang="zh-CN" altLang="en-US" sz="2000" dirty="0">
              <a:solidFill>
                <a:schemeClr val="accent2">
                  <a:lumMod val="75000"/>
                </a:schemeClr>
              </a:solidFill>
            </a:endParaRPr>
          </a:p>
        </p:txBody>
      </p:sp>
    </p:spTree>
    <p:extLst>
      <p:ext uri="{BB962C8B-B14F-4D97-AF65-F5344CB8AC3E}">
        <p14:creationId xmlns:p14="http://schemas.microsoft.com/office/powerpoint/2010/main" val="3974676067"/>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 name="组合 2"/>
          <p:cNvGrpSpPr/>
          <p:nvPr/>
        </p:nvGrpSpPr>
        <p:grpSpPr>
          <a:xfrm>
            <a:off x="1709115" y="2654992"/>
            <a:ext cx="1665500" cy="1665501"/>
            <a:chOff x="3176812" y="2273198"/>
            <a:chExt cx="2641825" cy="2726239"/>
          </a:xfrm>
        </p:grpSpPr>
        <p:sp>
          <p:nvSpPr>
            <p:cNvPr id="5" name="椭圆 4"/>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sp>
          <p:nvSpPr>
            <p:cNvPr id="6" name="椭圆 5"/>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grpSp>
      <p:grpSp>
        <p:nvGrpSpPr>
          <p:cNvPr id="8" name="组合 7"/>
          <p:cNvGrpSpPr/>
          <p:nvPr/>
        </p:nvGrpSpPr>
        <p:grpSpPr>
          <a:xfrm>
            <a:off x="8275815" y="2654992"/>
            <a:ext cx="1665500" cy="1665501"/>
            <a:chOff x="3176812" y="2273198"/>
            <a:chExt cx="2641825" cy="2726239"/>
          </a:xfrm>
        </p:grpSpPr>
        <p:sp>
          <p:nvSpPr>
            <p:cNvPr id="10" name="椭圆 9"/>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sp>
          <p:nvSpPr>
            <p:cNvPr id="11" name="椭圆 10"/>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grpSp>
      <p:sp>
        <p:nvSpPr>
          <p:cNvPr id="12" name="右箭头 11"/>
          <p:cNvSpPr/>
          <p:nvPr/>
        </p:nvSpPr>
        <p:spPr>
          <a:xfrm>
            <a:off x="5213041" y="2830098"/>
            <a:ext cx="1343251" cy="512064"/>
          </a:xfrm>
          <a:prstGeom prst="rightArrow">
            <a:avLst/>
          </a:prstGeom>
          <a:solidFill>
            <a:srgbClr val="C55A11"/>
          </a:solidFill>
          <a:ln>
            <a:solidFill>
              <a:srgbClr val="C55A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右箭头 13"/>
          <p:cNvSpPr/>
          <p:nvPr/>
        </p:nvSpPr>
        <p:spPr>
          <a:xfrm rot="10800000">
            <a:off x="5129933" y="3579520"/>
            <a:ext cx="1343251" cy="512064"/>
          </a:xfrm>
          <a:prstGeom prst="rightArrow">
            <a:avLst/>
          </a:prstGeom>
          <a:solidFill>
            <a:srgbClr val="C55A11"/>
          </a:solidFill>
          <a:ln>
            <a:solidFill>
              <a:srgbClr val="C55A1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任意多边形 19"/>
          <p:cNvSpPr/>
          <p:nvPr/>
        </p:nvSpPr>
        <p:spPr>
          <a:xfrm>
            <a:off x="1432941" y="2613770"/>
            <a:ext cx="8703919" cy="1836310"/>
          </a:xfrm>
          <a:custGeom>
            <a:avLst/>
            <a:gdLst>
              <a:gd name="connsiteX0" fmla="*/ 268866 w 2650116"/>
              <a:gd name="connsiteY0" fmla="*/ 0 h 675411"/>
              <a:gd name="connsiteX1" fmla="*/ 2336657 w 2650116"/>
              <a:gd name="connsiteY1" fmla="*/ 0 h 675411"/>
              <a:gd name="connsiteX2" fmla="*/ 2336657 w 2650116"/>
              <a:gd name="connsiteY2" fmla="*/ 3473 h 675411"/>
              <a:gd name="connsiteX3" fmla="*/ 2365665 w 2650116"/>
              <a:gd name="connsiteY3" fmla="*/ 1 h 675411"/>
              <a:gd name="connsiteX4" fmla="*/ 2650116 w 2650116"/>
              <a:gd name="connsiteY4" fmla="*/ 337706 h 675411"/>
              <a:gd name="connsiteX5" fmla="*/ 2365665 w 2650116"/>
              <a:gd name="connsiteY5" fmla="*/ 675411 h 675411"/>
              <a:gd name="connsiteX6" fmla="*/ 2336657 w 2650116"/>
              <a:gd name="connsiteY6" fmla="*/ 671940 h 675411"/>
              <a:gd name="connsiteX7" fmla="*/ 2336657 w 2650116"/>
              <a:gd name="connsiteY7" fmla="*/ 675409 h 675411"/>
              <a:gd name="connsiteX8" fmla="*/ 284468 w 2650116"/>
              <a:gd name="connsiteY8" fmla="*/ 675409 h 675411"/>
              <a:gd name="connsiteX9" fmla="*/ 284451 w 2650116"/>
              <a:gd name="connsiteY9" fmla="*/ 675411 h 675411"/>
              <a:gd name="connsiteX10" fmla="*/ 284434 w 2650116"/>
              <a:gd name="connsiteY10" fmla="*/ 675409 h 675411"/>
              <a:gd name="connsiteX11" fmla="*/ 268866 w 2650116"/>
              <a:gd name="connsiteY11" fmla="*/ 675409 h 675411"/>
              <a:gd name="connsiteX12" fmla="*/ 268866 w 2650116"/>
              <a:gd name="connsiteY12" fmla="*/ 673546 h 675411"/>
              <a:gd name="connsiteX13" fmla="*/ 227124 w 2650116"/>
              <a:gd name="connsiteY13" fmla="*/ 668550 h 675411"/>
              <a:gd name="connsiteX14" fmla="*/ 0 w 2650116"/>
              <a:gd name="connsiteY14" fmla="*/ 337706 h 675411"/>
              <a:gd name="connsiteX15" fmla="*/ 227124 w 2650116"/>
              <a:gd name="connsiteY15" fmla="*/ 6862 h 675411"/>
              <a:gd name="connsiteX16" fmla="*/ 268866 w 2650116"/>
              <a:gd name="connsiteY16" fmla="*/ 1866 h 6754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650116" h="675411">
                <a:moveTo>
                  <a:pt x="268866" y="0"/>
                </a:moveTo>
                <a:lnTo>
                  <a:pt x="2336657" y="0"/>
                </a:lnTo>
                <a:lnTo>
                  <a:pt x="2336657" y="3473"/>
                </a:lnTo>
                <a:lnTo>
                  <a:pt x="2365665" y="1"/>
                </a:lnTo>
                <a:cubicBezTo>
                  <a:pt x="2522763" y="1"/>
                  <a:pt x="2650116" y="151197"/>
                  <a:pt x="2650116" y="337706"/>
                </a:cubicBezTo>
                <a:cubicBezTo>
                  <a:pt x="2650116" y="524215"/>
                  <a:pt x="2522763" y="675411"/>
                  <a:pt x="2365665" y="675411"/>
                </a:cubicBezTo>
                <a:lnTo>
                  <a:pt x="2336657" y="671940"/>
                </a:lnTo>
                <a:lnTo>
                  <a:pt x="2336657" y="675409"/>
                </a:lnTo>
                <a:lnTo>
                  <a:pt x="284468" y="675409"/>
                </a:lnTo>
                <a:lnTo>
                  <a:pt x="284451" y="675411"/>
                </a:lnTo>
                <a:lnTo>
                  <a:pt x="284434" y="675409"/>
                </a:lnTo>
                <a:lnTo>
                  <a:pt x="268866" y="675409"/>
                </a:lnTo>
                <a:lnTo>
                  <a:pt x="268866" y="673546"/>
                </a:lnTo>
                <a:lnTo>
                  <a:pt x="227124" y="668550"/>
                </a:lnTo>
                <a:cubicBezTo>
                  <a:pt x="97505" y="637060"/>
                  <a:pt x="0" y="500902"/>
                  <a:pt x="0" y="337706"/>
                </a:cubicBezTo>
                <a:cubicBezTo>
                  <a:pt x="0" y="174511"/>
                  <a:pt x="97505" y="38352"/>
                  <a:pt x="227124" y="6862"/>
                </a:cubicBezTo>
                <a:lnTo>
                  <a:pt x="268866" y="1866"/>
                </a:lnTo>
                <a:close/>
              </a:path>
            </a:pathLst>
          </a:custGeom>
          <a:noFill/>
          <a:ln>
            <a:solidFill>
              <a:schemeClr val="tx1">
                <a:lumMod val="65000"/>
                <a:lumOff val="3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grpSp>
        <p:nvGrpSpPr>
          <p:cNvPr id="21" name="组合 20"/>
          <p:cNvGrpSpPr/>
          <p:nvPr/>
        </p:nvGrpSpPr>
        <p:grpSpPr>
          <a:xfrm>
            <a:off x="4514750" y="0"/>
            <a:ext cx="3416320" cy="1635218"/>
            <a:chOff x="4514750" y="0"/>
            <a:chExt cx="3416320" cy="1635218"/>
          </a:xfrm>
        </p:grpSpPr>
        <p:sp>
          <p:nvSpPr>
            <p:cNvPr id="22" name="矩形 21"/>
            <p:cNvSpPr/>
            <p:nvPr/>
          </p:nvSpPr>
          <p:spPr>
            <a:xfrm>
              <a:off x="4514750" y="1111998"/>
              <a:ext cx="3416320" cy="523220"/>
            </a:xfrm>
            <a:prstGeom prst="rect">
              <a:avLst/>
            </a:prstGeom>
          </p:spPr>
          <p:txBody>
            <a:bodyPr wrap="none">
              <a:spAutoFit/>
            </a:bodyPr>
            <a:lstStyle/>
            <a:p>
              <a:r>
                <a:rPr lang="zh-CN" altLang="en-US" sz="2800" b="1" i="0" dirty="0" smtClean="0">
                  <a:solidFill>
                    <a:schemeClr val="accent2">
                      <a:lumMod val="75000"/>
                    </a:schemeClr>
                  </a:solidFill>
                  <a:effectLst/>
                  <a:latin typeface="Simsun" panose="02010600030101010101" pitchFamily="2" charset="-122"/>
                  <a:ea typeface="Simsun" panose="02010600030101010101" pitchFamily="2" charset="-122"/>
                </a:rPr>
                <a:t>拉近距离，促进理解</a:t>
              </a:r>
              <a:endParaRPr lang="zh-CN" altLang="en-US" sz="2800" b="1" dirty="0"/>
            </a:p>
          </p:txBody>
        </p:sp>
        <p:cxnSp>
          <p:nvCxnSpPr>
            <p:cNvPr id="23" name="直接连接符 22"/>
            <p:cNvCxnSpPr>
              <a:stCxn id="24" idx="4"/>
              <a:endCxn id="25" idx="4"/>
            </p:cNvCxnSpPr>
            <p:nvPr/>
          </p:nvCxnSpPr>
          <p:spPr>
            <a:xfrm>
              <a:off x="6110728" y="133446"/>
              <a:ext cx="12193" cy="91789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椭圆 24"/>
            <p:cNvSpPr/>
            <p:nvPr/>
          </p:nvSpPr>
          <p:spPr>
            <a:xfrm>
              <a:off x="6056198" y="91789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6" name="文本框 25"/>
          <p:cNvSpPr txBox="1"/>
          <p:nvPr/>
        </p:nvSpPr>
        <p:spPr>
          <a:xfrm>
            <a:off x="3489044" y="3189318"/>
            <a:ext cx="1640889" cy="523220"/>
          </a:xfrm>
          <a:prstGeom prst="rect">
            <a:avLst/>
          </a:prstGeom>
          <a:noFill/>
        </p:spPr>
        <p:txBody>
          <a:bodyPr wrap="square" rtlCol="0">
            <a:spAutoFit/>
          </a:bodyPr>
          <a:lstStyle/>
          <a:p>
            <a:pPr algn="ctr"/>
            <a:r>
              <a:rPr lang="en-US" altLang="zh-CN" sz="2800" smtClean="0">
                <a:solidFill>
                  <a:schemeClr val="accent2">
                    <a:lumMod val="75000"/>
                  </a:schemeClr>
                </a:solidFill>
                <a:latin typeface="方正超粗黑_GBK" panose="03000509000000000000" pitchFamily="65" charset="-122"/>
                <a:ea typeface="方正超粗黑_GBK" panose="03000509000000000000" pitchFamily="65" charset="-122"/>
              </a:rPr>
              <a:t>developer</a:t>
            </a:r>
            <a:endParaRPr lang="zh-CN" altLang="en-US" sz="28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grpSp>
        <p:nvGrpSpPr>
          <p:cNvPr id="28" name="组合 27"/>
          <p:cNvGrpSpPr/>
          <p:nvPr/>
        </p:nvGrpSpPr>
        <p:grpSpPr>
          <a:xfrm>
            <a:off x="2147324" y="3158605"/>
            <a:ext cx="789082" cy="658273"/>
            <a:chOff x="2338387" y="1427163"/>
            <a:chExt cx="593725" cy="495301"/>
          </a:xfrm>
          <a:solidFill>
            <a:srgbClr val="C55A11"/>
          </a:solidFill>
        </p:grpSpPr>
        <p:sp>
          <p:nvSpPr>
            <p:cNvPr id="29" name="Freeform 583"/>
            <p:cNvSpPr>
              <a:spLocks/>
            </p:cNvSpPr>
            <p:nvPr/>
          </p:nvSpPr>
          <p:spPr bwMode="auto">
            <a:xfrm>
              <a:off x="2547937" y="1568451"/>
              <a:ext cx="15875" cy="9525"/>
            </a:xfrm>
            <a:custGeom>
              <a:avLst/>
              <a:gdLst>
                <a:gd name="T0" fmla="*/ 9 w 9"/>
                <a:gd name="T1" fmla="*/ 3 h 5"/>
                <a:gd name="T2" fmla="*/ 2 w 9"/>
                <a:gd name="T3" fmla="*/ 0 h 5"/>
                <a:gd name="T4" fmla="*/ 0 w 9"/>
                <a:gd name="T5" fmla="*/ 5 h 5"/>
                <a:gd name="T6" fmla="*/ 8 w 9"/>
                <a:gd name="T7" fmla="*/ 5 h 5"/>
                <a:gd name="T8" fmla="*/ 9 w 9"/>
                <a:gd name="T9" fmla="*/ 3 h 5"/>
              </a:gdLst>
              <a:ahLst/>
              <a:cxnLst>
                <a:cxn ang="0">
                  <a:pos x="T0" y="T1"/>
                </a:cxn>
                <a:cxn ang="0">
                  <a:pos x="T2" y="T3"/>
                </a:cxn>
                <a:cxn ang="0">
                  <a:pos x="T4" y="T5"/>
                </a:cxn>
                <a:cxn ang="0">
                  <a:pos x="T6" y="T7"/>
                </a:cxn>
                <a:cxn ang="0">
                  <a:pos x="T8" y="T9"/>
                </a:cxn>
              </a:cxnLst>
              <a:rect l="0" t="0" r="r" b="b"/>
              <a:pathLst>
                <a:path w="9" h="5">
                  <a:moveTo>
                    <a:pt x="9" y="3"/>
                  </a:moveTo>
                  <a:cubicBezTo>
                    <a:pt x="2" y="0"/>
                    <a:pt x="2" y="0"/>
                    <a:pt x="2" y="0"/>
                  </a:cubicBezTo>
                  <a:cubicBezTo>
                    <a:pt x="0" y="5"/>
                    <a:pt x="0" y="5"/>
                    <a:pt x="0" y="5"/>
                  </a:cubicBezTo>
                  <a:cubicBezTo>
                    <a:pt x="2" y="5"/>
                    <a:pt x="5" y="5"/>
                    <a:pt x="8" y="5"/>
                  </a:cubicBezTo>
                  <a:cubicBezTo>
                    <a:pt x="8" y="4"/>
                    <a:pt x="9" y="3"/>
                    <a:pt x="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0" name="Freeform 584"/>
            <p:cNvSpPr>
              <a:spLocks/>
            </p:cNvSpPr>
            <p:nvPr/>
          </p:nvSpPr>
          <p:spPr bwMode="auto">
            <a:xfrm>
              <a:off x="2630487" y="1571626"/>
              <a:ext cx="12700" cy="6350"/>
            </a:xfrm>
            <a:custGeom>
              <a:avLst/>
              <a:gdLst>
                <a:gd name="T0" fmla="*/ 7 w 7"/>
                <a:gd name="T1" fmla="*/ 0 h 3"/>
                <a:gd name="T2" fmla="*/ 0 w 7"/>
                <a:gd name="T3" fmla="*/ 0 h 3"/>
                <a:gd name="T4" fmla="*/ 0 w 7"/>
                <a:gd name="T5" fmla="*/ 3 h 3"/>
                <a:gd name="T6" fmla="*/ 7 w 7"/>
                <a:gd name="T7" fmla="*/ 3 h 3"/>
                <a:gd name="T8" fmla="*/ 7 w 7"/>
                <a:gd name="T9" fmla="*/ 0 h 3"/>
              </a:gdLst>
              <a:ahLst/>
              <a:cxnLst>
                <a:cxn ang="0">
                  <a:pos x="T0" y="T1"/>
                </a:cxn>
                <a:cxn ang="0">
                  <a:pos x="T2" y="T3"/>
                </a:cxn>
                <a:cxn ang="0">
                  <a:pos x="T4" y="T5"/>
                </a:cxn>
                <a:cxn ang="0">
                  <a:pos x="T6" y="T7"/>
                </a:cxn>
                <a:cxn ang="0">
                  <a:pos x="T8" y="T9"/>
                </a:cxn>
              </a:cxnLst>
              <a:rect l="0" t="0" r="r" b="b"/>
              <a:pathLst>
                <a:path w="7" h="3">
                  <a:moveTo>
                    <a:pt x="7" y="0"/>
                  </a:moveTo>
                  <a:cubicBezTo>
                    <a:pt x="0" y="0"/>
                    <a:pt x="0" y="0"/>
                    <a:pt x="0" y="0"/>
                  </a:cubicBezTo>
                  <a:cubicBezTo>
                    <a:pt x="0" y="0"/>
                    <a:pt x="0" y="1"/>
                    <a:pt x="0" y="3"/>
                  </a:cubicBezTo>
                  <a:cubicBezTo>
                    <a:pt x="2" y="3"/>
                    <a:pt x="5" y="3"/>
                    <a:pt x="7" y="3"/>
                  </a:cubicBezTo>
                  <a:lnTo>
                    <a:pt x="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1" name="Freeform 585"/>
            <p:cNvSpPr>
              <a:spLocks noEditPoints="1"/>
            </p:cNvSpPr>
            <p:nvPr/>
          </p:nvSpPr>
          <p:spPr bwMode="auto">
            <a:xfrm>
              <a:off x="2390775" y="1565276"/>
              <a:ext cx="490537" cy="357188"/>
            </a:xfrm>
            <a:custGeom>
              <a:avLst/>
              <a:gdLst>
                <a:gd name="T0" fmla="*/ 216 w 261"/>
                <a:gd name="T1" fmla="*/ 0 h 190"/>
                <a:gd name="T2" fmla="*/ 214 w 261"/>
                <a:gd name="T3" fmla="*/ 0 h 190"/>
                <a:gd name="T4" fmla="*/ 45 w 261"/>
                <a:gd name="T5" fmla="*/ 0 h 190"/>
                <a:gd name="T6" fmla="*/ 0 w 261"/>
                <a:gd name="T7" fmla="*/ 60 h 190"/>
                <a:gd name="T8" fmla="*/ 128 w 261"/>
                <a:gd name="T9" fmla="*/ 187 h 190"/>
                <a:gd name="T10" fmla="*/ 130 w 261"/>
                <a:gd name="T11" fmla="*/ 190 h 190"/>
                <a:gd name="T12" fmla="*/ 134 w 261"/>
                <a:gd name="T13" fmla="*/ 187 h 190"/>
                <a:gd name="T14" fmla="*/ 261 w 261"/>
                <a:gd name="T15" fmla="*/ 60 h 190"/>
                <a:gd name="T16" fmla="*/ 216 w 261"/>
                <a:gd name="T17" fmla="*/ 0 h 190"/>
                <a:gd name="T18" fmla="*/ 212 w 261"/>
                <a:gd name="T19" fmla="*/ 7 h 190"/>
                <a:gd name="T20" fmla="*/ 249 w 261"/>
                <a:gd name="T21" fmla="*/ 56 h 190"/>
                <a:gd name="T22" fmla="*/ 202 w 261"/>
                <a:gd name="T23" fmla="*/ 56 h 190"/>
                <a:gd name="T24" fmla="*/ 178 w 261"/>
                <a:gd name="T25" fmla="*/ 7 h 190"/>
                <a:gd name="T26" fmla="*/ 212 w 261"/>
                <a:gd name="T27" fmla="*/ 7 h 190"/>
                <a:gd name="T28" fmla="*/ 48 w 261"/>
                <a:gd name="T29" fmla="*/ 7 h 190"/>
                <a:gd name="T30" fmla="*/ 83 w 261"/>
                <a:gd name="T31" fmla="*/ 7 h 190"/>
                <a:gd name="T32" fmla="*/ 85 w 261"/>
                <a:gd name="T33" fmla="*/ 2 h 190"/>
                <a:gd name="T34" fmla="*/ 92 w 261"/>
                <a:gd name="T35" fmla="*/ 5 h 190"/>
                <a:gd name="T36" fmla="*/ 91 w 261"/>
                <a:gd name="T37" fmla="*/ 7 h 190"/>
                <a:gd name="T38" fmla="*/ 127 w 261"/>
                <a:gd name="T39" fmla="*/ 7 h 190"/>
                <a:gd name="T40" fmla="*/ 127 w 261"/>
                <a:gd name="T41" fmla="*/ 4 h 190"/>
                <a:gd name="T42" fmla="*/ 134 w 261"/>
                <a:gd name="T43" fmla="*/ 4 h 190"/>
                <a:gd name="T44" fmla="*/ 134 w 261"/>
                <a:gd name="T45" fmla="*/ 7 h 190"/>
                <a:gd name="T46" fmla="*/ 170 w 261"/>
                <a:gd name="T47" fmla="*/ 7 h 190"/>
                <a:gd name="T48" fmla="*/ 194 w 261"/>
                <a:gd name="T49" fmla="*/ 56 h 190"/>
                <a:gd name="T50" fmla="*/ 134 w 261"/>
                <a:gd name="T51" fmla="*/ 56 h 190"/>
                <a:gd name="T52" fmla="*/ 134 w 261"/>
                <a:gd name="T53" fmla="*/ 7 h 190"/>
                <a:gd name="T54" fmla="*/ 127 w 261"/>
                <a:gd name="T55" fmla="*/ 7 h 190"/>
                <a:gd name="T56" fmla="*/ 127 w 261"/>
                <a:gd name="T57" fmla="*/ 56 h 190"/>
                <a:gd name="T58" fmla="*/ 66 w 261"/>
                <a:gd name="T59" fmla="*/ 56 h 190"/>
                <a:gd name="T60" fmla="*/ 91 w 261"/>
                <a:gd name="T61" fmla="*/ 7 h 190"/>
                <a:gd name="T62" fmla="*/ 83 w 261"/>
                <a:gd name="T63" fmla="*/ 7 h 190"/>
                <a:gd name="T64" fmla="*/ 58 w 261"/>
                <a:gd name="T65" fmla="*/ 56 h 190"/>
                <a:gd name="T66" fmla="*/ 12 w 261"/>
                <a:gd name="T67" fmla="*/ 56 h 190"/>
                <a:gd name="T68" fmla="*/ 48 w 261"/>
                <a:gd name="T69" fmla="*/ 7 h 190"/>
                <a:gd name="T70" fmla="*/ 127 w 261"/>
                <a:gd name="T71" fmla="*/ 171 h 190"/>
                <a:gd name="T72" fmla="*/ 67 w 261"/>
                <a:gd name="T73" fmla="*/ 63 h 190"/>
                <a:gd name="T74" fmla="*/ 127 w 261"/>
                <a:gd name="T75" fmla="*/ 63 h 190"/>
                <a:gd name="T76" fmla="*/ 127 w 261"/>
                <a:gd name="T77" fmla="*/ 171 h 190"/>
                <a:gd name="T78" fmla="*/ 134 w 261"/>
                <a:gd name="T79" fmla="*/ 63 h 190"/>
                <a:gd name="T80" fmla="*/ 194 w 261"/>
                <a:gd name="T81" fmla="*/ 63 h 190"/>
                <a:gd name="T82" fmla="*/ 134 w 261"/>
                <a:gd name="T83" fmla="*/ 171 h 190"/>
                <a:gd name="T84" fmla="*/ 134 w 261"/>
                <a:gd name="T85" fmla="*/ 63 h 190"/>
                <a:gd name="T86" fmla="*/ 13 w 261"/>
                <a:gd name="T87" fmla="*/ 63 h 190"/>
                <a:gd name="T88" fmla="*/ 59 w 261"/>
                <a:gd name="T89" fmla="*/ 63 h 190"/>
                <a:gd name="T90" fmla="*/ 115 w 261"/>
                <a:gd name="T91" fmla="*/ 165 h 190"/>
                <a:gd name="T92" fmla="*/ 13 w 261"/>
                <a:gd name="T93" fmla="*/ 63 h 190"/>
                <a:gd name="T94" fmla="*/ 146 w 261"/>
                <a:gd name="T95" fmla="*/ 165 h 190"/>
                <a:gd name="T96" fmla="*/ 202 w 261"/>
                <a:gd name="T97" fmla="*/ 63 h 190"/>
                <a:gd name="T98" fmla="*/ 247 w 261"/>
                <a:gd name="T99" fmla="*/ 63 h 190"/>
                <a:gd name="T100" fmla="*/ 146 w 261"/>
                <a:gd name="T101" fmla="*/ 165 h 1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61" h="190">
                  <a:moveTo>
                    <a:pt x="216" y="0"/>
                  </a:moveTo>
                  <a:cubicBezTo>
                    <a:pt x="214" y="0"/>
                    <a:pt x="214" y="0"/>
                    <a:pt x="214" y="0"/>
                  </a:cubicBezTo>
                  <a:cubicBezTo>
                    <a:pt x="45" y="0"/>
                    <a:pt x="45" y="0"/>
                    <a:pt x="45" y="0"/>
                  </a:cubicBezTo>
                  <a:cubicBezTo>
                    <a:pt x="0" y="60"/>
                    <a:pt x="0" y="60"/>
                    <a:pt x="0" y="60"/>
                  </a:cubicBezTo>
                  <a:cubicBezTo>
                    <a:pt x="128" y="187"/>
                    <a:pt x="128" y="187"/>
                    <a:pt x="128" y="187"/>
                  </a:cubicBezTo>
                  <a:cubicBezTo>
                    <a:pt x="130" y="190"/>
                    <a:pt x="130" y="190"/>
                    <a:pt x="130" y="190"/>
                  </a:cubicBezTo>
                  <a:cubicBezTo>
                    <a:pt x="134" y="187"/>
                    <a:pt x="134" y="187"/>
                    <a:pt x="134" y="187"/>
                  </a:cubicBezTo>
                  <a:cubicBezTo>
                    <a:pt x="261" y="60"/>
                    <a:pt x="261" y="60"/>
                    <a:pt x="261" y="60"/>
                  </a:cubicBezTo>
                  <a:lnTo>
                    <a:pt x="216" y="0"/>
                  </a:lnTo>
                  <a:close/>
                  <a:moveTo>
                    <a:pt x="212" y="7"/>
                  </a:moveTo>
                  <a:cubicBezTo>
                    <a:pt x="214" y="10"/>
                    <a:pt x="240" y="45"/>
                    <a:pt x="249" y="56"/>
                  </a:cubicBezTo>
                  <a:cubicBezTo>
                    <a:pt x="202" y="56"/>
                    <a:pt x="202" y="56"/>
                    <a:pt x="202" y="56"/>
                  </a:cubicBezTo>
                  <a:cubicBezTo>
                    <a:pt x="178" y="7"/>
                    <a:pt x="178" y="7"/>
                    <a:pt x="178" y="7"/>
                  </a:cubicBezTo>
                  <a:cubicBezTo>
                    <a:pt x="197" y="7"/>
                    <a:pt x="211" y="7"/>
                    <a:pt x="212" y="7"/>
                  </a:cubicBezTo>
                  <a:close/>
                  <a:moveTo>
                    <a:pt x="48" y="7"/>
                  </a:moveTo>
                  <a:cubicBezTo>
                    <a:pt x="49" y="7"/>
                    <a:pt x="63" y="7"/>
                    <a:pt x="83" y="7"/>
                  </a:cubicBezTo>
                  <a:cubicBezTo>
                    <a:pt x="85" y="2"/>
                    <a:pt x="85" y="2"/>
                    <a:pt x="85" y="2"/>
                  </a:cubicBezTo>
                  <a:cubicBezTo>
                    <a:pt x="92" y="5"/>
                    <a:pt x="92" y="5"/>
                    <a:pt x="92" y="5"/>
                  </a:cubicBezTo>
                  <a:cubicBezTo>
                    <a:pt x="92" y="5"/>
                    <a:pt x="91" y="6"/>
                    <a:pt x="91" y="7"/>
                  </a:cubicBezTo>
                  <a:cubicBezTo>
                    <a:pt x="102" y="7"/>
                    <a:pt x="114" y="7"/>
                    <a:pt x="127" y="7"/>
                  </a:cubicBezTo>
                  <a:cubicBezTo>
                    <a:pt x="127" y="5"/>
                    <a:pt x="127" y="4"/>
                    <a:pt x="127" y="4"/>
                  </a:cubicBezTo>
                  <a:cubicBezTo>
                    <a:pt x="134" y="4"/>
                    <a:pt x="134" y="4"/>
                    <a:pt x="134" y="4"/>
                  </a:cubicBezTo>
                  <a:cubicBezTo>
                    <a:pt x="134" y="7"/>
                    <a:pt x="134" y="7"/>
                    <a:pt x="134" y="7"/>
                  </a:cubicBezTo>
                  <a:cubicBezTo>
                    <a:pt x="147" y="7"/>
                    <a:pt x="159" y="7"/>
                    <a:pt x="170" y="7"/>
                  </a:cubicBezTo>
                  <a:cubicBezTo>
                    <a:pt x="174" y="15"/>
                    <a:pt x="189" y="46"/>
                    <a:pt x="194" y="56"/>
                  </a:cubicBezTo>
                  <a:cubicBezTo>
                    <a:pt x="134" y="56"/>
                    <a:pt x="134" y="56"/>
                    <a:pt x="134" y="56"/>
                  </a:cubicBezTo>
                  <a:cubicBezTo>
                    <a:pt x="134" y="7"/>
                    <a:pt x="134" y="7"/>
                    <a:pt x="134" y="7"/>
                  </a:cubicBezTo>
                  <a:cubicBezTo>
                    <a:pt x="132" y="7"/>
                    <a:pt x="129" y="7"/>
                    <a:pt x="127" y="7"/>
                  </a:cubicBezTo>
                  <a:cubicBezTo>
                    <a:pt x="127" y="15"/>
                    <a:pt x="127" y="34"/>
                    <a:pt x="127" y="56"/>
                  </a:cubicBezTo>
                  <a:cubicBezTo>
                    <a:pt x="66" y="56"/>
                    <a:pt x="66" y="56"/>
                    <a:pt x="66" y="56"/>
                  </a:cubicBezTo>
                  <a:cubicBezTo>
                    <a:pt x="72" y="46"/>
                    <a:pt x="87" y="15"/>
                    <a:pt x="91" y="7"/>
                  </a:cubicBezTo>
                  <a:cubicBezTo>
                    <a:pt x="88" y="7"/>
                    <a:pt x="85" y="7"/>
                    <a:pt x="83" y="7"/>
                  </a:cubicBezTo>
                  <a:cubicBezTo>
                    <a:pt x="58" y="56"/>
                    <a:pt x="58" y="56"/>
                    <a:pt x="58" y="56"/>
                  </a:cubicBezTo>
                  <a:cubicBezTo>
                    <a:pt x="12" y="56"/>
                    <a:pt x="12" y="56"/>
                    <a:pt x="12" y="56"/>
                  </a:cubicBezTo>
                  <a:cubicBezTo>
                    <a:pt x="20" y="45"/>
                    <a:pt x="47" y="10"/>
                    <a:pt x="48" y="7"/>
                  </a:cubicBezTo>
                  <a:close/>
                  <a:moveTo>
                    <a:pt x="127" y="171"/>
                  </a:moveTo>
                  <a:cubicBezTo>
                    <a:pt x="117" y="154"/>
                    <a:pt x="76" y="81"/>
                    <a:pt x="67" y="63"/>
                  </a:cubicBezTo>
                  <a:cubicBezTo>
                    <a:pt x="127" y="63"/>
                    <a:pt x="127" y="63"/>
                    <a:pt x="127" y="63"/>
                  </a:cubicBezTo>
                  <a:cubicBezTo>
                    <a:pt x="127" y="106"/>
                    <a:pt x="127" y="158"/>
                    <a:pt x="127" y="171"/>
                  </a:cubicBezTo>
                  <a:close/>
                  <a:moveTo>
                    <a:pt x="134" y="63"/>
                  </a:moveTo>
                  <a:cubicBezTo>
                    <a:pt x="194" y="63"/>
                    <a:pt x="194" y="63"/>
                    <a:pt x="194" y="63"/>
                  </a:cubicBezTo>
                  <a:cubicBezTo>
                    <a:pt x="185" y="79"/>
                    <a:pt x="149" y="144"/>
                    <a:pt x="134" y="171"/>
                  </a:cubicBezTo>
                  <a:lnTo>
                    <a:pt x="134" y="63"/>
                  </a:lnTo>
                  <a:close/>
                  <a:moveTo>
                    <a:pt x="13" y="63"/>
                  </a:moveTo>
                  <a:cubicBezTo>
                    <a:pt x="59" y="63"/>
                    <a:pt x="59" y="63"/>
                    <a:pt x="59" y="63"/>
                  </a:cubicBezTo>
                  <a:cubicBezTo>
                    <a:pt x="115" y="165"/>
                    <a:pt x="115" y="165"/>
                    <a:pt x="115" y="165"/>
                  </a:cubicBezTo>
                  <a:cubicBezTo>
                    <a:pt x="87" y="137"/>
                    <a:pt x="29" y="79"/>
                    <a:pt x="13" y="63"/>
                  </a:cubicBezTo>
                  <a:close/>
                  <a:moveTo>
                    <a:pt x="146" y="165"/>
                  </a:moveTo>
                  <a:cubicBezTo>
                    <a:pt x="202" y="63"/>
                    <a:pt x="202" y="63"/>
                    <a:pt x="202" y="63"/>
                  </a:cubicBezTo>
                  <a:cubicBezTo>
                    <a:pt x="247" y="63"/>
                    <a:pt x="247" y="63"/>
                    <a:pt x="247" y="63"/>
                  </a:cubicBezTo>
                  <a:cubicBezTo>
                    <a:pt x="232" y="79"/>
                    <a:pt x="174" y="137"/>
                    <a:pt x="146"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2" name="Freeform 586"/>
            <p:cNvSpPr>
              <a:spLocks/>
            </p:cNvSpPr>
            <p:nvPr/>
          </p:nvSpPr>
          <p:spPr bwMode="auto">
            <a:xfrm>
              <a:off x="2338387" y="1519238"/>
              <a:ext cx="66675" cy="58738"/>
            </a:xfrm>
            <a:custGeom>
              <a:avLst/>
              <a:gdLst>
                <a:gd name="T0" fmla="*/ 42 w 42"/>
                <a:gd name="T1" fmla="*/ 30 h 37"/>
                <a:gd name="T2" fmla="*/ 6 w 42"/>
                <a:gd name="T3" fmla="*/ 0 h 37"/>
                <a:gd name="T4" fmla="*/ 0 w 42"/>
                <a:gd name="T5" fmla="*/ 7 h 37"/>
                <a:gd name="T6" fmla="*/ 37 w 42"/>
                <a:gd name="T7" fmla="*/ 37 h 37"/>
                <a:gd name="T8" fmla="*/ 42 w 42"/>
                <a:gd name="T9" fmla="*/ 30 h 37"/>
              </a:gdLst>
              <a:ahLst/>
              <a:cxnLst>
                <a:cxn ang="0">
                  <a:pos x="T0" y="T1"/>
                </a:cxn>
                <a:cxn ang="0">
                  <a:pos x="T2" y="T3"/>
                </a:cxn>
                <a:cxn ang="0">
                  <a:pos x="T4" y="T5"/>
                </a:cxn>
                <a:cxn ang="0">
                  <a:pos x="T6" y="T7"/>
                </a:cxn>
                <a:cxn ang="0">
                  <a:pos x="T8" y="T9"/>
                </a:cxn>
              </a:cxnLst>
              <a:rect l="0" t="0" r="r" b="b"/>
              <a:pathLst>
                <a:path w="42" h="37">
                  <a:moveTo>
                    <a:pt x="42" y="30"/>
                  </a:moveTo>
                  <a:lnTo>
                    <a:pt x="6" y="0"/>
                  </a:lnTo>
                  <a:lnTo>
                    <a:pt x="0" y="7"/>
                  </a:lnTo>
                  <a:lnTo>
                    <a:pt x="37" y="37"/>
                  </a:lnTo>
                  <a:lnTo>
                    <a:pt x="42" y="3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3" name="Freeform 587"/>
            <p:cNvSpPr>
              <a:spLocks/>
            </p:cNvSpPr>
            <p:nvPr/>
          </p:nvSpPr>
          <p:spPr bwMode="auto">
            <a:xfrm>
              <a:off x="2425700" y="1454151"/>
              <a:ext cx="46037" cy="69850"/>
            </a:xfrm>
            <a:custGeom>
              <a:avLst/>
              <a:gdLst>
                <a:gd name="T0" fmla="*/ 29 w 29"/>
                <a:gd name="T1" fmla="*/ 39 h 44"/>
                <a:gd name="T2" fmla="*/ 7 w 29"/>
                <a:gd name="T3" fmla="*/ 0 h 44"/>
                <a:gd name="T4" fmla="*/ 0 w 29"/>
                <a:gd name="T5" fmla="*/ 5 h 44"/>
                <a:gd name="T6" fmla="*/ 22 w 29"/>
                <a:gd name="T7" fmla="*/ 44 h 44"/>
                <a:gd name="T8" fmla="*/ 29 w 29"/>
                <a:gd name="T9" fmla="*/ 39 h 44"/>
              </a:gdLst>
              <a:ahLst/>
              <a:cxnLst>
                <a:cxn ang="0">
                  <a:pos x="T0" y="T1"/>
                </a:cxn>
                <a:cxn ang="0">
                  <a:pos x="T2" y="T3"/>
                </a:cxn>
                <a:cxn ang="0">
                  <a:pos x="T4" y="T5"/>
                </a:cxn>
                <a:cxn ang="0">
                  <a:pos x="T6" y="T7"/>
                </a:cxn>
                <a:cxn ang="0">
                  <a:pos x="T8" y="T9"/>
                </a:cxn>
              </a:cxnLst>
              <a:rect l="0" t="0" r="r" b="b"/>
              <a:pathLst>
                <a:path w="29" h="44">
                  <a:moveTo>
                    <a:pt x="29" y="39"/>
                  </a:moveTo>
                  <a:lnTo>
                    <a:pt x="7" y="0"/>
                  </a:lnTo>
                  <a:lnTo>
                    <a:pt x="0" y="5"/>
                  </a:lnTo>
                  <a:lnTo>
                    <a:pt x="22" y="44"/>
                  </a:lnTo>
                  <a:lnTo>
                    <a:pt x="29" y="3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4" name="Freeform 588"/>
            <p:cNvSpPr>
              <a:spLocks/>
            </p:cNvSpPr>
            <p:nvPr/>
          </p:nvSpPr>
          <p:spPr bwMode="auto">
            <a:xfrm>
              <a:off x="2530475" y="1431926"/>
              <a:ext cx="23812" cy="73025"/>
            </a:xfrm>
            <a:custGeom>
              <a:avLst/>
              <a:gdLst>
                <a:gd name="T0" fmla="*/ 15 w 15"/>
                <a:gd name="T1" fmla="*/ 43 h 46"/>
                <a:gd name="T2" fmla="*/ 8 w 15"/>
                <a:gd name="T3" fmla="*/ 0 h 46"/>
                <a:gd name="T4" fmla="*/ 0 w 15"/>
                <a:gd name="T5" fmla="*/ 1 h 46"/>
                <a:gd name="T6" fmla="*/ 7 w 15"/>
                <a:gd name="T7" fmla="*/ 46 h 46"/>
                <a:gd name="T8" fmla="*/ 15 w 15"/>
                <a:gd name="T9" fmla="*/ 43 h 46"/>
              </a:gdLst>
              <a:ahLst/>
              <a:cxnLst>
                <a:cxn ang="0">
                  <a:pos x="T0" y="T1"/>
                </a:cxn>
                <a:cxn ang="0">
                  <a:pos x="T2" y="T3"/>
                </a:cxn>
                <a:cxn ang="0">
                  <a:pos x="T4" y="T5"/>
                </a:cxn>
                <a:cxn ang="0">
                  <a:pos x="T6" y="T7"/>
                </a:cxn>
                <a:cxn ang="0">
                  <a:pos x="T8" y="T9"/>
                </a:cxn>
              </a:cxnLst>
              <a:rect l="0" t="0" r="r" b="b"/>
              <a:pathLst>
                <a:path w="15" h="46">
                  <a:moveTo>
                    <a:pt x="15" y="43"/>
                  </a:moveTo>
                  <a:lnTo>
                    <a:pt x="8" y="0"/>
                  </a:lnTo>
                  <a:lnTo>
                    <a:pt x="0" y="1"/>
                  </a:lnTo>
                  <a:lnTo>
                    <a:pt x="7" y="46"/>
                  </a:lnTo>
                  <a:lnTo>
                    <a:pt x="15" y="4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5" name="Rectangle 589"/>
            <p:cNvSpPr>
              <a:spLocks noChangeArrowheads="1"/>
            </p:cNvSpPr>
            <p:nvPr/>
          </p:nvSpPr>
          <p:spPr bwMode="auto">
            <a:xfrm>
              <a:off x="2630487" y="1427163"/>
              <a:ext cx="12700" cy="730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6" name="Freeform 590"/>
            <p:cNvSpPr>
              <a:spLocks/>
            </p:cNvSpPr>
            <p:nvPr/>
          </p:nvSpPr>
          <p:spPr bwMode="auto">
            <a:xfrm>
              <a:off x="2867025" y="1519238"/>
              <a:ext cx="65087" cy="58738"/>
            </a:xfrm>
            <a:custGeom>
              <a:avLst/>
              <a:gdLst>
                <a:gd name="T0" fmla="*/ 41 w 41"/>
                <a:gd name="T1" fmla="*/ 7 h 37"/>
                <a:gd name="T2" fmla="*/ 35 w 41"/>
                <a:gd name="T3" fmla="*/ 0 h 37"/>
                <a:gd name="T4" fmla="*/ 0 w 41"/>
                <a:gd name="T5" fmla="*/ 30 h 37"/>
                <a:gd name="T6" fmla="*/ 6 w 41"/>
                <a:gd name="T7" fmla="*/ 37 h 37"/>
                <a:gd name="T8" fmla="*/ 41 w 41"/>
                <a:gd name="T9" fmla="*/ 7 h 37"/>
              </a:gdLst>
              <a:ahLst/>
              <a:cxnLst>
                <a:cxn ang="0">
                  <a:pos x="T0" y="T1"/>
                </a:cxn>
                <a:cxn ang="0">
                  <a:pos x="T2" y="T3"/>
                </a:cxn>
                <a:cxn ang="0">
                  <a:pos x="T4" y="T5"/>
                </a:cxn>
                <a:cxn ang="0">
                  <a:pos x="T6" y="T7"/>
                </a:cxn>
                <a:cxn ang="0">
                  <a:pos x="T8" y="T9"/>
                </a:cxn>
              </a:cxnLst>
              <a:rect l="0" t="0" r="r" b="b"/>
              <a:pathLst>
                <a:path w="41" h="37">
                  <a:moveTo>
                    <a:pt x="41" y="7"/>
                  </a:moveTo>
                  <a:lnTo>
                    <a:pt x="35" y="0"/>
                  </a:lnTo>
                  <a:lnTo>
                    <a:pt x="0" y="30"/>
                  </a:lnTo>
                  <a:lnTo>
                    <a:pt x="6" y="37"/>
                  </a:lnTo>
                  <a:lnTo>
                    <a:pt x="41" y="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7" name="Freeform 591"/>
            <p:cNvSpPr>
              <a:spLocks/>
            </p:cNvSpPr>
            <p:nvPr/>
          </p:nvSpPr>
          <p:spPr bwMode="auto">
            <a:xfrm>
              <a:off x="2800350" y="1454151"/>
              <a:ext cx="47625" cy="69850"/>
            </a:xfrm>
            <a:custGeom>
              <a:avLst/>
              <a:gdLst>
                <a:gd name="T0" fmla="*/ 30 w 30"/>
                <a:gd name="T1" fmla="*/ 5 h 44"/>
                <a:gd name="T2" fmla="*/ 23 w 30"/>
                <a:gd name="T3" fmla="*/ 0 h 44"/>
                <a:gd name="T4" fmla="*/ 0 w 30"/>
                <a:gd name="T5" fmla="*/ 39 h 44"/>
                <a:gd name="T6" fmla="*/ 8 w 30"/>
                <a:gd name="T7" fmla="*/ 44 h 44"/>
                <a:gd name="T8" fmla="*/ 30 w 30"/>
                <a:gd name="T9" fmla="*/ 5 h 44"/>
              </a:gdLst>
              <a:ahLst/>
              <a:cxnLst>
                <a:cxn ang="0">
                  <a:pos x="T0" y="T1"/>
                </a:cxn>
                <a:cxn ang="0">
                  <a:pos x="T2" y="T3"/>
                </a:cxn>
                <a:cxn ang="0">
                  <a:pos x="T4" y="T5"/>
                </a:cxn>
                <a:cxn ang="0">
                  <a:pos x="T6" y="T7"/>
                </a:cxn>
                <a:cxn ang="0">
                  <a:pos x="T8" y="T9"/>
                </a:cxn>
              </a:cxnLst>
              <a:rect l="0" t="0" r="r" b="b"/>
              <a:pathLst>
                <a:path w="30" h="44">
                  <a:moveTo>
                    <a:pt x="30" y="5"/>
                  </a:moveTo>
                  <a:lnTo>
                    <a:pt x="23" y="0"/>
                  </a:lnTo>
                  <a:lnTo>
                    <a:pt x="0" y="39"/>
                  </a:lnTo>
                  <a:lnTo>
                    <a:pt x="8" y="44"/>
                  </a:lnTo>
                  <a:lnTo>
                    <a:pt x="30" y="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38" name="Freeform 592"/>
            <p:cNvSpPr>
              <a:spLocks/>
            </p:cNvSpPr>
            <p:nvPr/>
          </p:nvSpPr>
          <p:spPr bwMode="auto">
            <a:xfrm>
              <a:off x="2716212" y="1431926"/>
              <a:ext cx="26987" cy="73025"/>
            </a:xfrm>
            <a:custGeom>
              <a:avLst/>
              <a:gdLst>
                <a:gd name="T0" fmla="*/ 17 w 17"/>
                <a:gd name="T1" fmla="*/ 1 h 46"/>
                <a:gd name="T2" fmla="*/ 9 w 17"/>
                <a:gd name="T3" fmla="*/ 0 h 46"/>
                <a:gd name="T4" fmla="*/ 0 w 17"/>
                <a:gd name="T5" fmla="*/ 43 h 46"/>
                <a:gd name="T6" fmla="*/ 9 w 17"/>
                <a:gd name="T7" fmla="*/ 46 h 46"/>
                <a:gd name="T8" fmla="*/ 17 w 17"/>
                <a:gd name="T9" fmla="*/ 1 h 46"/>
              </a:gdLst>
              <a:ahLst/>
              <a:cxnLst>
                <a:cxn ang="0">
                  <a:pos x="T0" y="T1"/>
                </a:cxn>
                <a:cxn ang="0">
                  <a:pos x="T2" y="T3"/>
                </a:cxn>
                <a:cxn ang="0">
                  <a:pos x="T4" y="T5"/>
                </a:cxn>
                <a:cxn ang="0">
                  <a:pos x="T6" y="T7"/>
                </a:cxn>
                <a:cxn ang="0">
                  <a:pos x="T8" y="T9"/>
                </a:cxn>
              </a:cxnLst>
              <a:rect l="0" t="0" r="r" b="b"/>
              <a:pathLst>
                <a:path w="17" h="46">
                  <a:moveTo>
                    <a:pt x="17" y="1"/>
                  </a:moveTo>
                  <a:lnTo>
                    <a:pt x="9" y="0"/>
                  </a:lnTo>
                  <a:lnTo>
                    <a:pt x="0" y="43"/>
                  </a:lnTo>
                  <a:lnTo>
                    <a:pt x="9" y="46"/>
                  </a:lnTo>
                  <a:lnTo>
                    <a:pt x="17"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grpSp>
      <p:sp>
        <p:nvSpPr>
          <p:cNvPr id="39" name="Freeform 21"/>
          <p:cNvSpPr>
            <a:spLocks noEditPoints="1"/>
          </p:cNvSpPr>
          <p:nvPr/>
        </p:nvSpPr>
        <p:spPr bwMode="auto">
          <a:xfrm>
            <a:off x="8798487" y="3051371"/>
            <a:ext cx="620156" cy="585857"/>
          </a:xfrm>
          <a:custGeom>
            <a:avLst/>
            <a:gdLst>
              <a:gd name="T0" fmla="*/ 68 w 283"/>
              <a:gd name="T1" fmla="*/ 150 h 267"/>
              <a:gd name="T2" fmla="*/ 92 w 283"/>
              <a:gd name="T3" fmla="*/ 161 h 267"/>
              <a:gd name="T4" fmla="*/ 115 w 283"/>
              <a:gd name="T5" fmla="*/ 149 h 267"/>
              <a:gd name="T6" fmla="*/ 138 w 283"/>
              <a:gd name="T7" fmla="*/ 161 h 267"/>
              <a:gd name="T8" fmla="*/ 163 w 283"/>
              <a:gd name="T9" fmla="*/ 148 h 267"/>
              <a:gd name="T10" fmla="*/ 182 w 283"/>
              <a:gd name="T11" fmla="*/ 149 h 267"/>
              <a:gd name="T12" fmla="*/ 208 w 283"/>
              <a:gd name="T13" fmla="*/ 152 h 267"/>
              <a:gd name="T14" fmla="*/ 228 w 283"/>
              <a:gd name="T15" fmla="*/ 147 h 267"/>
              <a:gd name="T16" fmla="*/ 199 w 283"/>
              <a:gd name="T17" fmla="*/ 107 h 267"/>
              <a:gd name="T18" fmla="*/ 169 w 283"/>
              <a:gd name="T19" fmla="*/ 90 h 267"/>
              <a:gd name="T20" fmla="*/ 141 w 283"/>
              <a:gd name="T21" fmla="*/ 108 h 267"/>
              <a:gd name="T22" fmla="*/ 114 w 283"/>
              <a:gd name="T23" fmla="*/ 90 h 267"/>
              <a:gd name="T24" fmla="*/ 84 w 283"/>
              <a:gd name="T25" fmla="*/ 107 h 267"/>
              <a:gd name="T26" fmla="*/ 55 w 283"/>
              <a:gd name="T27" fmla="*/ 147 h 267"/>
              <a:gd name="T28" fmla="*/ 89 w 283"/>
              <a:gd name="T29" fmla="*/ 97 h 267"/>
              <a:gd name="T30" fmla="*/ 92 w 283"/>
              <a:gd name="T31" fmla="*/ 79 h 267"/>
              <a:gd name="T32" fmla="*/ 205 w 283"/>
              <a:gd name="T33" fmla="*/ 80 h 267"/>
              <a:gd name="T34" fmla="*/ 183 w 283"/>
              <a:gd name="T35" fmla="*/ 77 h 267"/>
              <a:gd name="T36" fmla="*/ 205 w 283"/>
              <a:gd name="T37" fmla="*/ 80 h 267"/>
              <a:gd name="T38" fmla="*/ 129 w 283"/>
              <a:gd name="T39" fmla="*/ 82 h 267"/>
              <a:gd name="T40" fmla="*/ 141 w 283"/>
              <a:gd name="T41" fmla="*/ 79 h 267"/>
              <a:gd name="T42" fmla="*/ 283 w 283"/>
              <a:gd name="T43" fmla="*/ 267 h 267"/>
              <a:gd name="T44" fmla="*/ 283 w 283"/>
              <a:gd name="T45" fmla="*/ 256 h 267"/>
              <a:gd name="T46" fmla="*/ 230 w 283"/>
              <a:gd name="T47" fmla="*/ 192 h 267"/>
              <a:gd name="T48" fmla="*/ 200 w 283"/>
              <a:gd name="T49" fmla="*/ 172 h 267"/>
              <a:gd name="T50" fmla="*/ 169 w 283"/>
              <a:gd name="T51" fmla="*/ 193 h 267"/>
              <a:gd name="T52" fmla="*/ 138 w 283"/>
              <a:gd name="T53" fmla="*/ 172 h 267"/>
              <a:gd name="T54" fmla="*/ 111 w 283"/>
              <a:gd name="T55" fmla="*/ 191 h 267"/>
              <a:gd name="T56" fmla="*/ 63 w 283"/>
              <a:gd name="T57" fmla="*/ 192 h 267"/>
              <a:gd name="T58" fmla="*/ 38 w 283"/>
              <a:gd name="T59" fmla="*/ 174 h 267"/>
              <a:gd name="T60" fmla="*/ 260 w 283"/>
              <a:gd name="T61" fmla="*/ 243 h 267"/>
              <a:gd name="T62" fmla="*/ 70 w 283"/>
              <a:gd name="T63" fmla="*/ 162 h 267"/>
              <a:gd name="T64" fmla="*/ 48 w 283"/>
              <a:gd name="T65" fmla="*/ 165 h 267"/>
              <a:gd name="T66" fmla="*/ 70 w 283"/>
              <a:gd name="T67" fmla="*/ 162 h 267"/>
              <a:gd name="T68" fmla="*/ 214 w 283"/>
              <a:gd name="T69" fmla="*/ 162 h 267"/>
              <a:gd name="T70" fmla="*/ 236 w 283"/>
              <a:gd name="T71" fmla="*/ 165 h 267"/>
              <a:gd name="T72" fmla="*/ 115 w 283"/>
              <a:gd name="T73" fmla="*/ 181 h 267"/>
              <a:gd name="T74" fmla="*/ 115 w 283"/>
              <a:gd name="T75" fmla="*/ 163 h 267"/>
              <a:gd name="T76" fmla="*/ 128 w 283"/>
              <a:gd name="T77" fmla="*/ 167 h 267"/>
              <a:gd name="T78" fmla="*/ 156 w 283"/>
              <a:gd name="T79" fmla="*/ 167 h 267"/>
              <a:gd name="T80" fmla="*/ 169 w 283"/>
              <a:gd name="T81" fmla="*/ 163 h 267"/>
              <a:gd name="T82" fmla="*/ 191 w 283"/>
              <a:gd name="T83" fmla="*/ 33 h 267"/>
              <a:gd name="T84" fmla="*/ 125 w 283"/>
              <a:gd name="T85" fmla="*/ 64 h 267"/>
              <a:gd name="T86" fmla="*/ 134 w 283"/>
              <a:gd name="T87" fmla="*/ 12 h 267"/>
              <a:gd name="T88" fmla="*/ 182 w 283"/>
              <a:gd name="T89" fmla="*/ 33 h 267"/>
              <a:gd name="T90" fmla="*/ 137 w 283"/>
              <a:gd name="T91" fmla="*/ 41 h 267"/>
              <a:gd name="T92" fmla="*/ 129 w 283"/>
              <a:gd name="T93" fmla="*/ 20 h 267"/>
              <a:gd name="T94" fmla="*/ 125 w 283"/>
              <a:gd name="T95" fmla="*/ 56 h 267"/>
              <a:gd name="T96" fmla="*/ 146 w 283"/>
              <a:gd name="T97" fmla="*/ 20 h 267"/>
              <a:gd name="T98" fmla="*/ 158 w 283"/>
              <a:gd name="T99" fmla="*/ 56 h 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83" h="267">
                <a:moveTo>
                  <a:pt x="55" y="147"/>
                </a:moveTo>
                <a:cubicBezTo>
                  <a:pt x="59" y="147"/>
                  <a:pt x="63" y="148"/>
                  <a:pt x="66" y="150"/>
                </a:cubicBezTo>
                <a:cubicBezTo>
                  <a:pt x="66" y="150"/>
                  <a:pt x="67" y="150"/>
                  <a:pt x="68" y="150"/>
                </a:cubicBezTo>
                <a:cubicBezTo>
                  <a:pt x="70" y="150"/>
                  <a:pt x="73" y="151"/>
                  <a:pt x="76" y="152"/>
                </a:cubicBezTo>
                <a:cubicBezTo>
                  <a:pt x="79" y="154"/>
                  <a:pt x="82" y="157"/>
                  <a:pt x="84" y="161"/>
                </a:cubicBezTo>
                <a:cubicBezTo>
                  <a:pt x="92" y="161"/>
                  <a:pt x="92" y="161"/>
                  <a:pt x="92" y="161"/>
                </a:cubicBezTo>
                <a:cubicBezTo>
                  <a:pt x="93" y="156"/>
                  <a:pt x="97" y="151"/>
                  <a:pt x="102" y="149"/>
                </a:cubicBezTo>
                <a:cubicBezTo>
                  <a:pt x="104" y="148"/>
                  <a:pt x="106" y="148"/>
                  <a:pt x="109" y="148"/>
                </a:cubicBezTo>
                <a:cubicBezTo>
                  <a:pt x="111" y="148"/>
                  <a:pt x="113" y="148"/>
                  <a:pt x="115" y="149"/>
                </a:cubicBezTo>
                <a:cubicBezTo>
                  <a:pt x="117" y="148"/>
                  <a:pt x="119" y="148"/>
                  <a:pt x="121" y="148"/>
                </a:cubicBezTo>
                <a:cubicBezTo>
                  <a:pt x="124" y="148"/>
                  <a:pt x="126" y="148"/>
                  <a:pt x="128" y="149"/>
                </a:cubicBezTo>
                <a:cubicBezTo>
                  <a:pt x="133" y="151"/>
                  <a:pt x="137" y="156"/>
                  <a:pt x="138" y="161"/>
                </a:cubicBezTo>
                <a:cubicBezTo>
                  <a:pt x="146" y="161"/>
                  <a:pt x="146" y="161"/>
                  <a:pt x="146" y="161"/>
                </a:cubicBezTo>
                <a:cubicBezTo>
                  <a:pt x="147" y="156"/>
                  <a:pt x="151" y="151"/>
                  <a:pt x="156" y="149"/>
                </a:cubicBezTo>
                <a:cubicBezTo>
                  <a:pt x="158" y="148"/>
                  <a:pt x="160" y="148"/>
                  <a:pt x="163" y="148"/>
                </a:cubicBezTo>
                <a:cubicBezTo>
                  <a:pt x="165" y="148"/>
                  <a:pt x="167" y="148"/>
                  <a:pt x="169" y="149"/>
                </a:cubicBezTo>
                <a:cubicBezTo>
                  <a:pt x="171" y="148"/>
                  <a:pt x="173" y="148"/>
                  <a:pt x="175" y="148"/>
                </a:cubicBezTo>
                <a:cubicBezTo>
                  <a:pt x="178" y="148"/>
                  <a:pt x="180" y="148"/>
                  <a:pt x="182" y="149"/>
                </a:cubicBezTo>
                <a:cubicBezTo>
                  <a:pt x="187" y="151"/>
                  <a:pt x="191" y="156"/>
                  <a:pt x="193" y="161"/>
                </a:cubicBezTo>
                <a:cubicBezTo>
                  <a:pt x="200" y="161"/>
                  <a:pt x="200" y="161"/>
                  <a:pt x="200" y="161"/>
                </a:cubicBezTo>
                <a:cubicBezTo>
                  <a:pt x="202" y="157"/>
                  <a:pt x="205" y="154"/>
                  <a:pt x="208" y="152"/>
                </a:cubicBezTo>
                <a:cubicBezTo>
                  <a:pt x="211" y="151"/>
                  <a:pt x="214" y="150"/>
                  <a:pt x="216" y="150"/>
                </a:cubicBezTo>
                <a:cubicBezTo>
                  <a:pt x="217" y="150"/>
                  <a:pt x="218" y="150"/>
                  <a:pt x="218" y="150"/>
                </a:cubicBezTo>
                <a:cubicBezTo>
                  <a:pt x="221" y="148"/>
                  <a:pt x="224" y="147"/>
                  <a:pt x="228" y="147"/>
                </a:cubicBezTo>
                <a:cubicBezTo>
                  <a:pt x="228" y="115"/>
                  <a:pt x="228" y="115"/>
                  <a:pt x="228" y="115"/>
                </a:cubicBezTo>
                <a:cubicBezTo>
                  <a:pt x="228" y="105"/>
                  <a:pt x="222" y="96"/>
                  <a:pt x="214" y="92"/>
                </a:cubicBezTo>
                <a:cubicBezTo>
                  <a:pt x="209" y="101"/>
                  <a:pt x="200" y="106"/>
                  <a:pt x="199" y="107"/>
                </a:cubicBezTo>
                <a:cubicBezTo>
                  <a:pt x="195" y="109"/>
                  <a:pt x="195" y="109"/>
                  <a:pt x="195" y="109"/>
                </a:cubicBezTo>
                <a:cubicBezTo>
                  <a:pt x="190" y="108"/>
                  <a:pt x="190" y="108"/>
                  <a:pt x="190" y="108"/>
                </a:cubicBezTo>
                <a:cubicBezTo>
                  <a:pt x="187" y="107"/>
                  <a:pt x="174" y="101"/>
                  <a:pt x="169" y="90"/>
                </a:cubicBezTo>
                <a:cubicBezTo>
                  <a:pt x="164" y="90"/>
                  <a:pt x="164" y="90"/>
                  <a:pt x="164" y="90"/>
                </a:cubicBezTo>
                <a:cubicBezTo>
                  <a:pt x="160" y="101"/>
                  <a:pt x="147" y="106"/>
                  <a:pt x="146" y="107"/>
                </a:cubicBezTo>
                <a:cubicBezTo>
                  <a:pt x="141" y="108"/>
                  <a:pt x="141" y="108"/>
                  <a:pt x="141" y="108"/>
                </a:cubicBezTo>
                <a:cubicBezTo>
                  <a:pt x="137" y="107"/>
                  <a:pt x="137" y="107"/>
                  <a:pt x="137" y="107"/>
                </a:cubicBezTo>
                <a:cubicBezTo>
                  <a:pt x="135" y="105"/>
                  <a:pt x="123" y="100"/>
                  <a:pt x="119" y="90"/>
                </a:cubicBezTo>
                <a:cubicBezTo>
                  <a:pt x="114" y="90"/>
                  <a:pt x="114" y="90"/>
                  <a:pt x="114" y="90"/>
                </a:cubicBezTo>
                <a:cubicBezTo>
                  <a:pt x="109" y="101"/>
                  <a:pt x="96" y="107"/>
                  <a:pt x="93" y="108"/>
                </a:cubicBezTo>
                <a:cubicBezTo>
                  <a:pt x="88" y="109"/>
                  <a:pt x="88" y="109"/>
                  <a:pt x="88" y="109"/>
                </a:cubicBezTo>
                <a:cubicBezTo>
                  <a:pt x="84" y="107"/>
                  <a:pt x="84" y="107"/>
                  <a:pt x="84" y="107"/>
                </a:cubicBezTo>
                <a:cubicBezTo>
                  <a:pt x="83" y="106"/>
                  <a:pt x="74" y="101"/>
                  <a:pt x="69" y="92"/>
                </a:cubicBezTo>
                <a:cubicBezTo>
                  <a:pt x="61" y="96"/>
                  <a:pt x="55" y="105"/>
                  <a:pt x="55" y="115"/>
                </a:cubicBezTo>
                <a:cubicBezTo>
                  <a:pt x="55" y="147"/>
                  <a:pt x="55" y="147"/>
                  <a:pt x="55" y="147"/>
                </a:cubicBezTo>
                <a:cubicBezTo>
                  <a:pt x="55" y="147"/>
                  <a:pt x="55" y="147"/>
                  <a:pt x="55" y="147"/>
                </a:cubicBezTo>
                <a:close/>
                <a:moveTo>
                  <a:pt x="104" y="84"/>
                </a:moveTo>
                <a:cubicBezTo>
                  <a:pt x="102" y="92"/>
                  <a:pt x="89" y="97"/>
                  <a:pt x="89" y="97"/>
                </a:cubicBezTo>
                <a:cubicBezTo>
                  <a:pt x="89" y="97"/>
                  <a:pt x="77" y="90"/>
                  <a:pt x="78" y="80"/>
                </a:cubicBezTo>
                <a:cubicBezTo>
                  <a:pt x="78" y="77"/>
                  <a:pt x="81" y="74"/>
                  <a:pt x="84" y="74"/>
                </a:cubicBezTo>
                <a:cubicBezTo>
                  <a:pt x="88" y="73"/>
                  <a:pt x="92" y="75"/>
                  <a:pt x="92" y="79"/>
                </a:cubicBezTo>
                <a:cubicBezTo>
                  <a:pt x="94" y="77"/>
                  <a:pt x="97" y="76"/>
                  <a:pt x="100" y="77"/>
                </a:cubicBezTo>
                <a:cubicBezTo>
                  <a:pt x="103" y="79"/>
                  <a:pt x="104" y="81"/>
                  <a:pt x="104" y="84"/>
                </a:cubicBezTo>
                <a:close/>
                <a:moveTo>
                  <a:pt x="205" y="80"/>
                </a:moveTo>
                <a:cubicBezTo>
                  <a:pt x="206" y="90"/>
                  <a:pt x="194" y="97"/>
                  <a:pt x="194" y="97"/>
                </a:cubicBezTo>
                <a:cubicBezTo>
                  <a:pt x="194" y="97"/>
                  <a:pt x="181" y="92"/>
                  <a:pt x="179" y="84"/>
                </a:cubicBezTo>
                <a:cubicBezTo>
                  <a:pt x="179" y="81"/>
                  <a:pt x="180" y="79"/>
                  <a:pt x="183" y="77"/>
                </a:cubicBezTo>
                <a:cubicBezTo>
                  <a:pt x="186" y="76"/>
                  <a:pt x="189" y="77"/>
                  <a:pt x="191" y="79"/>
                </a:cubicBezTo>
                <a:cubicBezTo>
                  <a:pt x="191" y="75"/>
                  <a:pt x="195" y="73"/>
                  <a:pt x="199" y="74"/>
                </a:cubicBezTo>
                <a:cubicBezTo>
                  <a:pt x="202" y="74"/>
                  <a:pt x="205" y="77"/>
                  <a:pt x="205" y="80"/>
                </a:cubicBezTo>
                <a:close/>
                <a:moveTo>
                  <a:pt x="154" y="82"/>
                </a:moveTo>
                <a:cubicBezTo>
                  <a:pt x="154" y="91"/>
                  <a:pt x="141" y="96"/>
                  <a:pt x="141" y="96"/>
                </a:cubicBezTo>
                <a:cubicBezTo>
                  <a:pt x="141" y="96"/>
                  <a:pt x="129" y="91"/>
                  <a:pt x="129" y="82"/>
                </a:cubicBezTo>
                <a:cubicBezTo>
                  <a:pt x="128" y="79"/>
                  <a:pt x="130" y="76"/>
                  <a:pt x="133" y="75"/>
                </a:cubicBezTo>
                <a:cubicBezTo>
                  <a:pt x="137" y="73"/>
                  <a:pt x="140" y="76"/>
                  <a:pt x="141" y="79"/>
                </a:cubicBezTo>
                <a:cubicBezTo>
                  <a:pt x="141" y="79"/>
                  <a:pt x="141" y="79"/>
                  <a:pt x="141" y="79"/>
                </a:cubicBezTo>
                <a:cubicBezTo>
                  <a:pt x="143" y="76"/>
                  <a:pt x="146" y="73"/>
                  <a:pt x="150" y="75"/>
                </a:cubicBezTo>
                <a:cubicBezTo>
                  <a:pt x="153" y="76"/>
                  <a:pt x="155" y="79"/>
                  <a:pt x="154" y="82"/>
                </a:cubicBezTo>
                <a:close/>
                <a:moveTo>
                  <a:pt x="283" y="267"/>
                </a:moveTo>
                <a:cubicBezTo>
                  <a:pt x="0" y="267"/>
                  <a:pt x="0" y="267"/>
                  <a:pt x="0" y="267"/>
                </a:cubicBezTo>
                <a:cubicBezTo>
                  <a:pt x="0" y="256"/>
                  <a:pt x="0" y="256"/>
                  <a:pt x="0" y="256"/>
                </a:cubicBezTo>
                <a:cubicBezTo>
                  <a:pt x="283" y="256"/>
                  <a:pt x="283" y="256"/>
                  <a:pt x="283" y="256"/>
                </a:cubicBezTo>
                <a:cubicBezTo>
                  <a:pt x="283" y="267"/>
                  <a:pt x="283" y="267"/>
                  <a:pt x="283" y="267"/>
                </a:cubicBezTo>
                <a:close/>
                <a:moveTo>
                  <a:pt x="246" y="175"/>
                </a:moveTo>
                <a:cubicBezTo>
                  <a:pt x="242" y="185"/>
                  <a:pt x="232" y="191"/>
                  <a:pt x="230" y="192"/>
                </a:cubicBezTo>
                <a:cubicBezTo>
                  <a:pt x="226" y="194"/>
                  <a:pt x="226" y="194"/>
                  <a:pt x="226" y="194"/>
                </a:cubicBezTo>
                <a:cubicBezTo>
                  <a:pt x="221" y="192"/>
                  <a:pt x="221" y="192"/>
                  <a:pt x="221" y="192"/>
                </a:cubicBezTo>
                <a:cubicBezTo>
                  <a:pt x="218" y="191"/>
                  <a:pt x="203" y="185"/>
                  <a:pt x="200" y="172"/>
                </a:cubicBezTo>
                <a:cubicBezTo>
                  <a:pt x="192" y="172"/>
                  <a:pt x="192" y="172"/>
                  <a:pt x="192" y="172"/>
                </a:cubicBezTo>
                <a:cubicBezTo>
                  <a:pt x="189" y="185"/>
                  <a:pt x="175" y="191"/>
                  <a:pt x="173" y="191"/>
                </a:cubicBezTo>
                <a:cubicBezTo>
                  <a:pt x="169" y="193"/>
                  <a:pt x="169" y="193"/>
                  <a:pt x="169" y="193"/>
                </a:cubicBezTo>
                <a:cubicBezTo>
                  <a:pt x="165" y="191"/>
                  <a:pt x="165" y="191"/>
                  <a:pt x="165" y="191"/>
                </a:cubicBezTo>
                <a:cubicBezTo>
                  <a:pt x="162" y="190"/>
                  <a:pt x="149" y="184"/>
                  <a:pt x="146" y="172"/>
                </a:cubicBezTo>
                <a:cubicBezTo>
                  <a:pt x="138" y="172"/>
                  <a:pt x="138" y="172"/>
                  <a:pt x="138" y="172"/>
                </a:cubicBezTo>
                <a:cubicBezTo>
                  <a:pt x="135" y="185"/>
                  <a:pt x="121" y="191"/>
                  <a:pt x="119" y="191"/>
                </a:cubicBezTo>
                <a:cubicBezTo>
                  <a:pt x="115" y="193"/>
                  <a:pt x="115" y="193"/>
                  <a:pt x="115" y="193"/>
                </a:cubicBezTo>
                <a:cubicBezTo>
                  <a:pt x="111" y="191"/>
                  <a:pt x="111" y="191"/>
                  <a:pt x="111" y="191"/>
                </a:cubicBezTo>
                <a:cubicBezTo>
                  <a:pt x="108" y="190"/>
                  <a:pt x="95" y="184"/>
                  <a:pt x="92" y="172"/>
                </a:cubicBezTo>
                <a:cubicBezTo>
                  <a:pt x="84" y="172"/>
                  <a:pt x="84" y="172"/>
                  <a:pt x="84" y="172"/>
                </a:cubicBezTo>
                <a:cubicBezTo>
                  <a:pt x="81" y="185"/>
                  <a:pt x="66" y="191"/>
                  <a:pt x="63" y="192"/>
                </a:cubicBezTo>
                <a:cubicBezTo>
                  <a:pt x="58" y="194"/>
                  <a:pt x="58" y="194"/>
                  <a:pt x="58" y="194"/>
                </a:cubicBezTo>
                <a:cubicBezTo>
                  <a:pt x="54" y="192"/>
                  <a:pt x="54" y="192"/>
                  <a:pt x="54" y="192"/>
                </a:cubicBezTo>
                <a:cubicBezTo>
                  <a:pt x="52" y="191"/>
                  <a:pt x="42" y="185"/>
                  <a:pt x="38" y="174"/>
                </a:cubicBezTo>
                <a:cubicBezTo>
                  <a:pt x="29" y="178"/>
                  <a:pt x="22" y="187"/>
                  <a:pt x="22" y="197"/>
                </a:cubicBezTo>
                <a:cubicBezTo>
                  <a:pt x="22" y="243"/>
                  <a:pt x="22" y="243"/>
                  <a:pt x="22" y="243"/>
                </a:cubicBezTo>
                <a:cubicBezTo>
                  <a:pt x="260" y="243"/>
                  <a:pt x="260" y="243"/>
                  <a:pt x="260" y="243"/>
                </a:cubicBezTo>
                <a:cubicBezTo>
                  <a:pt x="260" y="197"/>
                  <a:pt x="260" y="197"/>
                  <a:pt x="260" y="197"/>
                </a:cubicBezTo>
                <a:cubicBezTo>
                  <a:pt x="260" y="187"/>
                  <a:pt x="254" y="179"/>
                  <a:pt x="246" y="175"/>
                </a:cubicBezTo>
                <a:close/>
                <a:moveTo>
                  <a:pt x="70" y="162"/>
                </a:moveTo>
                <a:cubicBezTo>
                  <a:pt x="67" y="160"/>
                  <a:pt x="64" y="162"/>
                  <a:pt x="62" y="164"/>
                </a:cubicBezTo>
                <a:cubicBezTo>
                  <a:pt x="62" y="160"/>
                  <a:pt x="58" y="158"/>
                  <a:pt x="54" y="158"/>
                </a:cubicBezTo>
                <a:cubicBezTo>
                  <a:pt x="51" y="159"/>
                  <a:pt x="48" y="162"/>
                  <a:pt x="48" y="165"/>
                </a:cubicBezTo>
                <a:cubicBezTo>
                  <a:pt x="47" y="175"/>
                  <a:pt x="59" y="182"/>
                  <a:pt x="59" y="182"/>
                </a:cubicBezTo>
                <a:cubicBezTo>
                  <a:pt x="59" y="182"/>
                  <a:pt x="72" y="177"/>
                  <a:pt x="74" y="169"/>
                </a:cubicBezTo>
                <a:cubicBezTo>
                  <a:pt x="74" y="166"/>
                  <a:pt x="73" y="163"/>
                  <a:pt x="70" y="162"/>
                </a:cubicBezTo>
                <a:close/>
                <a:moveTo>
                  <a:pt x="225" y="182"/>
                </a:moveTo>
                <a:cubicBezTo>
                  <a:pt x="225" y="182"/>
                  <a:pt x="212" y="177"/>
                  <a:pt x="210" y="169"/>
                </a:cubicBezTo>
                <a:cubicBezTo>
                  <a:pt x="210" y="166"/>
                  <a:pt x="211" y="163"/>
                  <a:pt x="214" y="162"/>
                </a:cubicBezTo>
                <a:cubicBezTo>
                  <a:pt x="217" y="160"/>
                  <a:pt x="220" y="162"/>
                  <a:pt x="222" y="164"/>
                </a:cubicBezTo>
                <a:cubicBezTo>
                  <a:pt x="222" y="160"/>
                  <a:pt x="226" y="158"/>
                  <a:pt x="230" y="158"/>
                </a:cubicBezTo>
                <a:cubicBezTo>
                  <a:pt x="233" y="159"/>
                  <a:pt x="236" y="162"/>
                  <a:pt x="236" y="165"/>
                </a:cubicBezTo>
                <a:cubicBezTo>
                  <a:pt x="237" y="175"/>
                  <a:pt x="225" y="182"/>
                  <a:pt x="225" y="182"/>
                </a:cubicBezTo>
                <a:close/>
                <a:moveTo>
                  <a:pt x="128" y="167"/>
                </a:moveTo>
                <a:cubicBezTo>
                  <a:pt x="127" y="176"/>
                  <a:pt x="115" y="181"/>
                  <a:pt x="115" y="181"/>
                </a:cubicBezTo>
                <a:cubicBezTo>
                  <a:pt x="115" y="181"/>
                  <a:pt x="103" y="176"/>
                  <a:pt x="102" y="167"/>
                </a:cubicBezTo>
                <a:cubicBezTo>
                  <a:pt x="102" y="164"/>
                  <a:pt x="103" y="161"/>
                  <a:pt x="106" y="160"/>
                </a:cubicBezTo>
                <a:cubicBezTo>
                  <a:pt x="110" y="158"/>
                  <a:pt x="114" y="161"/>
                  <a:pt x="115" y="163"/>
                </a:cubicBezTo>
                <a:cubicBezTo>
                  <a:pt x="115" y="163"/>
                  <a:pt x="115" y="163"/>
                  <a:pt x="115" y="163"/>
                </a:cubicBezTo>
                <a:cubicBezTo>
                  <a:pt x="116" y="161"/>
                  <a:pt x="120" y="158"/>
                  <a:pt x="124" y="160"/>
                </a:cubicBezTo>
                <a:cubicBezTo>
                  <a:pt x="126" y="161"/>
                  <a:pt x="128" y="164"/>
                  <a:pt x="128" y="167"/>
                </a:cubicBezTo>
                <a:close/>
                <a:moveTo>
                  <a:pt x="182" y="167"/>
                </a:moveTo>
                <a:cubicBezTo>
                  <a:pt x="181" y="176"/>
                  <a:pt x="169" y="181"/>
                  <a:pt x="169" y="181"/>
                </a:cubicBezTo>
                <a:cubicBezTo>
                  <a:pt x="169" y="181"/>
                  <a:pt x="157" y="176"/>
                  <a:pt x="156" y="167"/>
                </a:cubicBezTo>
                <a:cubicBezTo>
                  <a:pt x="156" y="164"/>
                  <a:pt x="158" y="161"/>
                  <a:pt x="160" y="160"/>
                </a:cubicBezTo>
                <a:cubicBezTo>
                  <a:pt x="164" y="158"/>
                  <a:pt x="168" y="161"/>
                  <a:pt x="169" y="163"/>
                </a:cubicBezTo>
                <a:cubicBezTo>
                  <a:pt x="169" y="163"/>
                  <a:pt x="169" y="163"/>
                  <a:pt x="169" y="163"/>
                </a:cubicBezTo>
                <a:cubicBezTo>
                  <a:pt x="170" y="161"/>
                  <a:pt x="174" y="158"/>
                  <a:pt x="178" y="160"/>
                </a:cubicBezTo>
                <a:cubicBezTo>
                  <a:pt x="181" y="161"/>
                  <a:pt x="182" y="164"/>
                  <a:pt x="182" y="167"/>
                </a:cubicBezTo>
                <a:close/>
                <a:moveTo>
                  <a:pt x="191" y="33"/>
                </a:moveTo>
                <a:cubicBezTo>
                  <a:pt x="191" y="50"/>
                  <a:pt x="176" y="65"/>
                  <a:pt x="158" y="65"/>
                </a:cubicBezTo>
                <a:cubicBezTo>
                  <a:pt x="152" y="65"/>
                  <a:pt x="146" y="63"/>
                  <a:pt x="141" y="59"/>
                </a:cubicBezTo>
                <a:cubicBezTo>
                  <a:pt x="136" y="62"/>
                  <a:pt x="131" y="64"/>
                  <a:pt x="125" y="64"/>
                </a:cubicBezTo>
                <a:cubicBezTo>
                  <a:pt x="110" y="64"/>
                  <a:pt x="98" y="52"/>
                  <a:pt x="98" y="37"/>
                </a:cubicBezTo>
                <a:cubicBezTo>
                  <a:pt x="98" y="23"/>
                  <a:pt x="110" y="11"/>
                  <a:pt x="125" y="11"/>
                </a:cubicBezTo>
                <a:cubicBezTo>
                  <a:pt x="128" y="11"/>
                  <a:pt x="131" y="11"/>
                  <a:pt x="134" y="12"/>
                </a:cubicBezTo>
                <a:cubicBezTo>
                  <a:pt x="140" y="5"/>
                  <a:pt x="148" y="0"/>
                  <a:pt x="158" y="0"/>
                </a:cubicBezTo>
                <a:cubicBezTo>
                  <a:pt x="176" y="0"/>
                  <a:pt x="191" y="15"/>
                  <a:pt x="191" y="33"/>
                </a:cubicBezTo>
                <a:close/>
                <a:moveTo>
                  <a:pt x="182" y="33"/>
                </a:moveTo>
                <a:cubicBezTo>
                  <a:pt x="182" y="20"/>
                  <a:pt x="171" y="9"/>
                  <a:pt x="158" y="9"/>
                </a:cubicBezTo>
                <a:cubicBezTo>
                  <a:pt x="146" y="9"/>
                  <a:pt x="135" y="20"/>
                  <a:pt x="135" y="33"/>
                </a:cubicBezTo>
                <a:cubicBezTo>
                  <a:pt x="135" y="36"/>
                  <a:pt x="136" y="39"/>
                  <a:pt x="137" y="41"/>
                </a:cubicBezTo>
                <a:cubicBezTo>
                  <a:pt x="136" y="44"/>
                  <a:pt x="133" y="47"/>
                  <a:pt x="131" y="49"/>
                </a:cubicBezTo>
                <a:cubicBezTo>
                  <a:pt x="128" y="44"/>
                  <a:pt x="126" y="38"/>
                  <a:pt x="126" y="33"/>
                </a:cubicBezTo>
                <a:cubicBezTo>
                  <a:pt x="126" y="28"/>
                  <a:pt x="127" y="24"/>
                  <a:pt x="129" y="20"/>
                </a:cubicBezTo>
                <a:cubicBezTo>
                  <a:pt x="128" y="20"/>
                  <a:pt x="126" y="19"/>
                  <a:pt x="125" y="19"/>
                </a:cubicBezTo>
                <a:cubicBezTo>
                  <a:pt x="115" y="19"/>
                  <a:pt x="107" y="27"/>
                  <a:pt x="107" y="37"/>
                </a:cubicBezTo>
                <a:cubicBezTo>
                  <a:pt x="107" y="48"/>
                  <a:pt x="115" y="56"/>
                  <a:pt x="125" y="56"/>
                </a:cubicBezTo>
                <a:cubicBezTo>
                  <a:pt x="135" y="56"/>
                  <a:pt x="143" y="48"/>
                  <a:pt x="143" y="37"/>
                </a:cubicBezTo>
                <a:cubicBezTo>
                  <a:pt x="143" y="35"/>
                  <a:pt x="142" y="32"/>
                  <a:pt x="141" y="29"/>
                </a:cubicBezTo>
                <a:cubicBezTo>
                  <a:pt x="142" y="26"/>
                  <a:pt x="143" y="23"/>
                  <a:pt x="146" y="20"/>
                </a:cubicBezTo>
                <a:cubicBezTo>
                  <a:pt x="149" y="25"/>
                  <a:pt x="152" y="31"/>
                  <a:pt x="152" y="37"/>
                </a:cubicBezTo>
                <a:cubicBezTo>
                  <a:pt x="152" y="43"/>
                  <a:pt x="150" y="49"/>
                  <a:pt x="147" y="53"/>
                </a:cubicBezTo>
                <a:cubicBezTo>
                  <a:pt x="150" y="55"/>
                  <a:pt x="154" y="56"/>
                  <a:pt x="158" y="56"/>
                </a:cubicBezTo>
                <a:cubicBezTo>
                  <a:pt x="171" y="56"/>
                  <a:pt x="182" y="46"/>
                  <a:pt x="182" y="33"/>
                </a:cubicBez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41" name="矩形 40"/>
          <p:cNvSpPr/>
          <p:nvPr/>
        </p:nvSpPr>
        <p:spPr>
          <a:xfrm>
            <a:off x="1767215" y="4801488"/>
            <a:ext cx="3912616" cy="1384995"/>
          </a:xfrm>
          <a:prstGeom prst="rect">
            <a:avLst/>
          </a:prstGeom>
        </p:spPr>
        <p:txBody>
          <a:bodyPr wrap="square">
            <a:spAutoFit/>
          </a:bodyPr>
          <a:lstStyle/>
          <a:p>
            <a:pPr marL="457200" indent="-457200">
              <a:buFont typeface="Arial" charset="0"/>
              <a:buChar char="•"/>
            </a:pPr>
            <a:r>
              <a:rPr lang="zh-CN" altLang="en-US" sz="2800" dirty="0" smtClean="0">
                <a:solidFill>
                  <a:schemeClr val="accent2">
                    <a:lumMod val="75000"/>
                  </a:schemeClr>
                </a:solidFill>
                <a:latin typeface="Simsun" panose="02010600030101010101" pitchFamily="2" charset="-122"/>
                <a:ea typeface="Simsun" panose="02010600030101010101" pitchFamily="2" charset="-122"/>
              </a:rPr>
              <a:t>形式灵活，气氛活跃</a:t>
            </a:r>
            <a:endParaRPr lang="en-US" altLang="zh-CN" sz="2800" dirty="0" smtClean="0">
              <a:solidFill>
                <a:schemeClr val="accent2">
                  <a:lumMod val="75000"/>
                </a:schemeClr>
              </a:solidFill>
              <a:latin typeface="Simsun" panose="02010600030101010101" pitchFamily="2" charset="-122"/>
              <a:ea typeface="Simsun" panose="02010600030101010101" pitchFamily="2" charset="-122"/>
            </a:endParaRPr>
          </a:p>
          <a:p>
            <a:pPr marL="457200" indent="-457200">
              <a:buFont typeface="Arial" charset="0"/>
              <a:buChar char="•"/>
            </a:pPr>
            <a:endParaRPr lang="en-US" altLang="zh-CN" sz="2800" dirty="0">
              <a:solidFill>
                <a:schemeClr val="accent2">
                  <a:lumMod val="75000"/>
                </a:schemeClr>
              </a:solidFill>
              <a:latin typeface="Simsun" panose="02010600030101010101" pitchFamily="2" charset="-122"/>
              <a:ea typeface="Simsun" panose="02010600030101010101" pitchFamily="2" charset="-122"/>
            </a:endParaRPr>
          </a:p>
          <a:p>
            <a:pPr marL="457200" indent="-457200">
              <a:buFont typeface="Arial" charset="0"/>
              <a:buChar char="•"/>
            </a:pPr>
            <a:r>
              <a:rPr lang="zh-CN" altLang="en-US" sz="2800" dirty="0" smtClean="0">
                <a:solidFill>
                  <a:schemeClr val="accent2">
                    <a:lumMod val="75000"/>
                  </a:schemeClr>
                </a:solidFill>
              </a:rPr>
              <a:t>地位对等，各抒己见</a:t>
            </a:r>
            <a:endParaRPr lang="zh-CN" altLang="en-US" sz="2800" dirty="0">
              <a:solidFill>
                <a:schemeClr val="accent2">
                  <a:lumMod val="75000"/>
                </a:schemeClr>
              </a:solidFill>
            </a:endParaRPr>
          </a:p>
        </p:txBody>
      </p:sp>
      <p:sp>
        <p:nvSpPr>
          <p:cNvPr id="44" name="文本框 43"/>
          <p:cNvSpPr txBox="1"/>
          <p:nvPr/>
        </p:nvSpPr>
        <p:spPr>
          <a:xfrm>
            <a:off x="6574005" y="3189318"/>
            <a:ext cx="1640889" cy="523220"/>
          </a:xfrm>
          <a:prstGeom prst="rect">
            <a:avLst/>
          </a:prstGeom>
          <a:noFill/>
        </p:spPr>
        <p:txBody>
          <a:bodyPr wrap="square" rtlCol="0">
            <a:spAutoFit/>
          </a:bodyPr>
          <a:lstStyle/>
          <a:p>
            <a:pPr algn="ctr"/>
            <a:r>
              <a:rPr lang="en-US" altLang="zh-CN" sz="2800" smtClean="0">
                <a:solidFill>
                  <a:schemeClr val="accent2">
                    <a:lumMod val="75000"/>
                  </a:schemeClr>
                </a:solidFill>
                <a:latin typeface="方正超粗黑_GBK" panose="03000509000000000000" pitchFamily="65" charset="-122"/>
                <a:ea typeface="方正超粗黑_GBK" panose="03000509000000000000" pitchFamily="65" charset="-122"/>
              </a:rPr>
              <a:t>customer</a:t>
            </a:r>
            <a:endParaRPr lang="zh-CN" altLang="en-US" sz="2800" dirty="0" smtClean="0">
              <a:solidFill>
                <a:schemeClr val="accent2">
                  <a:lumMod val="75000"/>
                </a:schemeClr>
              </a:solidFill>
              <a:latin typeface="方正超粗黑_GBK" panose="03000509000000000000" pitchFamily="65" charset="-122"/>
              <a:ea typeface="方正超粗黑_GBK" panose="03000509000000000000" pitchFamily="65" charset="-122"/>
            </a:endParaRPr>
          </a:p>
        </p:txBody>
      </p:sp>
      <p:sp>
        <p:nvSpPr>
          <p:cNvPr id="45" name="矩形 44"/>
          <p:cNvSpPr/>
          <p:nvPr/>
        </p:nvSpPr>
        <p:spPr>
          <a:xfrm>
            <a:off x="6904802" y="5025628"/>
            <a:ext cx="3445826" cy="954107"/>
          </a:xfrm>
          <a:prstGeom prst="rect">
            <a:avLst/>
          </a:prstGeom>
        </p:spPr>
        <p:txBody>
          <a:bodyPr wrap="square">
            <a:spAutoFit/>
          </a:bodyPr>
          <a:lstStyle/>
          <a:p>
            <a:r>
              <a:rPr lang="zh-CN" altLang="en-US" sz="2800" dirty="0" smtClean="0">
                <a:solidFill>
                  <a:schemeClr val="accent2">
                    <a:lumMod val="75000"/>
                  </a:schemeClr>
                </a:solidFill>
                <a:latin typeface="Simsun" panose="02010600030101010101" pitchFamily="2" charset="-122"/>
                <a:ea typeface="Simsun" panose="02010600030101010101" pitchFamily="2" charset="-122"/>
              </a:rPr>
              <a:t>适合作为传统需求分析方式的补充</a:t>
            </a:r>
            <a:endParaRPr lang="zh-CN" altLang="en-US" sz="2800" dirty="0">
              <a:solidFill>
                <a:schemeClr val="accent2">
                  <a:lumMod val="75000"/>
                </a:schemeClr>
              </a:solidFill>
            </a:endParaRPr>
          </a:p>
        </p:txBody>
      </p:sp>
      <p:cxnSp>
        <p:nvCxnSpPr>
          <p:cNvPr id="46" name="直接连接符 52"/>
          <p:cNvCxnSpPr/>
          <p:nvPr/>
        </p:nvCxnSpPr>
        <p:spPr>
          <a:xfrm>
            <a:off x="6652547" y="5129958"/>
            <a:ext cx="0" cy="849777"/>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7" name="直接连接符 52"/>
          <p:cNvCxnSpPr/>
          <p:nvPr/>
        </p:nvCxnSpPr>
        <p:spPr>
          <a:xfrm>
            <a:off x="10570696" y="5025628"/>
            <a:ext cx="0" cy="849777"/>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8" name="直接连接符 35"/>
          <p:cNvCxnSpPr/>
          <p:nvPr/>
        </p:nvCxnSpPr>
        <p:spPr>
          <a:xfrm>
            <a:off x="6904802" y="6186483"/>
            <a:ext cx="3445826" cy="0"/>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9" name="直接连接符 35"/>
          <p:cNvCxnSpPr/>
          <p:nvPr/>
        </p:nvCxnSpPr>
        <p:spPr>
          <a:xfrm>
            <a:off x="6904802" y="5025628"/>
            <a:ext cx="3445826" cy="0"/>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724035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任意多边形 22"/>
          <p:cNvSpPr/>
          <p:nvPr/>
        </p:nvSpPr>
        <p:spPr>
          <a:xfrm>
            <a:off x="1767840" y="1840992"/>
            <a:ext cx="8229600" cy="1149426"/>
          </a:xfrm>
          <a:custGeom>
            <a:avLst/>
            <a:gdLst>
              <a:gd name="connsiteX0" fmla="*/ 0 w 8229600"/>
              <a:gd name="connsiteY0" fmla="*/ 0 h 1149426"/>
              <a:gd name="connsiteX1" fmla="*/ 1645920 w 8229600"/>
              <a:gd name="connsiteY1" fmla="*/ 1133856 h 1149426"/>
              <a:gd name="connsiteX2" fmla="*/ 3084576 w 8229600"/>
              <a:gd name="connsiteY2" fmla="*/ 682752 h 1149426"/>
              <a:gd name="connsiteX3" fmla="*/ 5462016 w 8229600"/>
              <a:gd name="connsiteY3" fmla="*/ 1024128 h 1149426"/>
              <a:gd name="connsiteX4" fmla="*/ 7095744 w 8229600"/>
              <a:gd name="connsiteY4" fmla="*/ 475488 h 1149426"/>
              <a:gd name="connsiteX5" fmla="*/ 8229600 w 8229600"/>
              <a:gd name="connsiteY5" fmla="*/ 1085088 h 1149426"/>
              <a:gd name="connsiteX6" fmla="*/ 8229600 w 8229600"/>
              <a:gd name="connsiteY6" fmla="*/ 1085088 h 11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29600" h="1149426">
                <a:moveTo>
                  <a:pt x="0" y="0"/>
                </a:moveTo>
                <a:cubicBezTo>
                  <a:pt x="565912" y="510032"/>
                  <a:pt x="1131824" y="1020064"/>
                  <a:pt x="1645920" y="1133856"/>
                </a:cubicBezTo>
                <a:cubicBezTo>
                  <a:pt x="2160016" y="1247648"/>
                  <a:pt x="2448560" y="701040"/>
                  <a:pt x="3084576" y="682752"/>
                </a:cubicBezTo>
                <a:cubicBezTo>
                  <a:pt x="3720592" y="664464"/>
                  <a:pt x="4793488" y="1058672"/>
                  <a:pt x="5462016" y="1024128"/>
                </a:cubicBezTo>
                <a:cubicBezTo>
                  <a:pt x="6130544" y="989584"/>
                  <a:pt x="6634480" y="465328"/>
                  <a:pt x="7095744" y="475488"/>
                </a:cubicBezTo>
                <a:cubicBezTo>
                  <a:pt x="7557008" y="485648"/>
                  <a:pt x="8229600" y="1085088"/>
                  <a:pt x="8229600" y="1085088"/>
                </a:cubicBezTo>
                <a:lnTo>
                  <a:pt x="8229600" y="1085088"/>
                </a:lnTo>
              </a:path>
            </a:pathLst>
          </a:custGeom>
          <a:noFill/>
          <a:ln w="19050">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任意多边形 23"/>
          <p:cNvSpPr/>
          <p:nvPr/>
        </p:nvSpPr>
        <p:spPr>
          <a:xfrm>
            <a:off x="1926336" y="4424877"/>
            <a:ext cx="8180832" cy="1684650"/>
          </a:xfrm>
          <a:custGeom>
            <a:avLst/>
            <a:gdLst>
              <a:gd name="connsiteX0" fmla="*/ 0 w 8180832"/>
              <a:gd name="connsiteY0" fmla="*/ 1293171 h 1684650"/>
              <a:gd name="connsiteX1" fmla="*/ 1194816 w 8180832"/>
              <a:gd name="connsiteY1" fmla="*/ 819 h 1684650"/>
              <a:gd name="connsiteX2" fmla="*/ 2499360 w 8180832"/>
              <a:gd name="connsiteY2" fmla="*/ 1098099 h 1684650"/>
              <a:gd name="connsiteX3" fmla="*/ 2987040 w 8180832"/>
              <a:gd name="connsiteY3" fmla="*/ 1110291 h 1684650"/>
              <a:gd name="connsiteX4" fmla="*/ 5376672 w 8180832"/>
              <a:gd name="connsiteY4" fmla="*/ 1049331 h 1684650"/>
              <a:gd name="connsiteX5" fmla="*/ 6144768 w 8180832"/>
              <a:gd name="connsiteY5" fmla="*/ 1683315 h 1684650"/>
              <a:gd name="connsiteX6" fmla="*/ 8180832 w 8180832"/>
              <a:gd name="connsiteY6" fmla="*/ 854259 h 1684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80832" h="1684650">
                <a:moveTo>
                  <a:pt x="0" y="1293171"/>
                </a:moveTo>
                <a:cubicBezTo>
                  <a:pt x="389128" y="663251"/>
                  <a:pt x="778256" y="33331"/>
                  <a:pt x="1194816" y="819"/>
                </a:cubicBezTo>
                <a:cubicBezTo>
                  <a:pt x="1611376" y="-31693"/>
                  <a:pt x="2200656" y="913187"/>
                  <a:pt x="2499360" y="1098099"/>
                </a:cubicBezTo>
                <a:cubicBezTo>
                  <a:pt x="2798064" y="1283011"/>
                  <a:pt x="2987040" y="1110291"/>
                  <a:pt x="2987040" y="1110291"/>
                </a:cubicBezTo>
                <a:cubicBezTo>
                  <a:pt x="3466592" y="1102163"/>
                  <a:pt x="4850384" y="953827"/>
                  <a:pt x="5376672" y="1049331"/>
                </a:cubicBezTo>
                <a:cubicBezTo>
                  <a:pt x="5902960" y="1144835"/>
                  <a:pt x="5677408" y="1715827"/>
                  <a:pt x="6144768" y="1683315"/>
                </a:cubicBezTo>
                <a:cubicBezTo>
                  <a:pt x="6612128" y="1650803"/>
                  <a:pt x="7396480" y="1252531"/>
                  <a:pt x="8180832" y="854259"/>
                </a:cubicBezTo>
              </a:path>
            </a:pathLst>
          </a:custGeom>
          <a:noFill/>
          <a:ln w="19050">
            <a:solidFill>
              <a:schemeClr val="tx1">
                <a:lumMod val="75000"/>
                <a:lumOff val="2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2" name="组合 1"/>
          <p:cNvGrpSpPr/>
          <p:nvPr/>
        </p:nvGrpSpPr>
        <p:grpSpPr>
          <a:xfrm>
            <a:off x="4610113" y="0"/>
            <a:ext cx="3057247" cy="1635218"/>
            <a:chOff x="4610113" y="0"/>
            <a:chExt cx="3057247" cy="1635218"/>
          </a:xfrm>
        </p:grpSpPr>
        <p:sp>
          <p:nvSpPr>
            <p:cNvPr id="3" name="矩形 2"/>
            <p:cNvSpPr/>
            <p:nvPr/>
          </p:nvSpPr>
          <p:spPr>
            <a:xfrm>
              <a:off x="4610113" y="1111998"/>
              <a:ext cx="3057247" cy="523220"/>
            </a:xfrm>
            <a:prstGeom prst="rect">
              <a:avLst/>
            </a:prstGeom>
          </p:spPr>
          <p:txBody>
            <a:bodyPr wrap="none">
              <a:spAutoFit/>
            </a:bodyPr>
            <a:lstStyle/>
            <a:p>
              <a:r>
                <a:rPr lang="zh-CN" altLang="en-US" sz="2800" b="1" i="0" dirty="0" smtClean="0">
                  <a:solidFill>
                    <a:schemeClr val="accent2">
                      <a:lumMod val="75000"/>
                    </a:schemeClr>
                  </a:solidFill>
                  <a:effectLst/>
                  <a:latin typeface="Simsun" panose="02010600030101010101" pitchFamily="2" charset="-122"/>
                  <a:ea typeface="Simsun" panose="02010600030101010101" pitchFamily="2" charset="-122"/>
                </a:rPr>
                <a:t>灵活应对需求变化</a:t>
              </a:r>
              <a:endParaRPr lang="zh-CN" altLang="en-US" sz="2800" b="1" dirty="0"/>
            </a:p>
          </p:txBody>
        </p:sp>
        <p:cxnSp>
          <p:nvCxnSpPr>
            <p:cNvPr id="4" name="直接连接符 3"/>
            <p:cNvCxnSpPr>
              <a:stCxn id="5" idx="4"/>
              <a:endCxn id="6" idx="4"/>
            </p:cNvCxnSpPr>
            <p:nvPr/>
          </p:nvCxnSpPr>
          <p:spPr>
            <a:xfrm>
              <a:off x="6110728" y="133446"/>
              <a:ext cx="12193" cy="91789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 name="椭圆 4"/>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椭圆 5"/>
            <p:cNvSpPr/>
            <p:nvPr/>
          </p:nvSpPr>
          <p:spPr>
            <a:xfrm>
              <a:off x="6056198" y="91789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8" name="图片 7"/>
          <p:cNvPicPr>
            <a:picLocks noChangeAspect="1"/>
          </p:cNvPicPr>
          <p:nvPr/>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t="-3022" b="3022"/>
          <a:stretch/>
        </p:blipFill>
        <p:spPr>
          <a:xfrm>
            <a:off x="4409086" y="1373608"/>
            <a:ext cx="3427670" cy="5123991"/>
          </a:xfrm>
          <a:prstGeom prst="rect">
            <a:avLst/>
          </a:prstGeom>
        </p:spPr>
      </p:pic>
      <p:grpSp>
        <p:nvGrpSpPr>
          <p:cNvPr id="25" name="组合 24"/>
          <p:cNvGrpSpPr/>
          <p:nvPr/>
        </p:nvGrpSpPr>
        <p:grpSpPr>
          <a:xfrm>
            <a:off x="2138674" y="2063014"/>
            <a:ext cx="705382" cy="705382"/>
            <a:chOff x="3272949" y="3722523"/>
            <a:chExt cx="813408" cy="877328"/>
          </a:xfrm>
        </p:grpSpPr>
        <p:sp>
          <p:nvSpPr>
            <p:cNvPr id="26" name="椭圆 25"/>
            <p:cNvSpPr/>
            <p:nvPr/>
          </p:nvSpPr>
          <p:spPr>
            <a:xfrm>
              <a:off x="3272949" y="3722523"/>
              <a:ext cx="813408" cy="877328"/>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635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prstClr val="white"/>
                </a:solidFill>
              </a:endParaRPr>
            </a:p>
          </p:txBody>
        </p:sp>
        <p:sp>
          <p:nvSpPr>
            <p:cNvPr id="27" name="椭圆 26"/>
            <p:cNvSpPr/>
            <p:nvPr/>
          </p:nvSpPr>
          <p:spPr>
            <a:xfrm>
              <a:off x="3286069" y="3736674"/>
              <a:ext cx="787168" cy="849026"/>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smtClean="0">
                  <a:solidFill>
                    <a:schemeClr val="accent2">
                      <a:lumMod val="75000"/>
                    </a:schemeClr>
                  </a:solidFill>
                </a:rPr>
                <a:t>1</a:t>
              </a:r>
              <a:endParaRPr lang="zh-CN" altLang="en-US" b="1" dirty="0">
                <a:solidFill>
                  <a:schemeClr val="accent2">
                    <a:lumMod val="75000"/>
                  </a:schemeClr>
                </a:solidFill>
              </a:endParaRPr>
            </a:p>
          </p:txBody>
        </p:sp>
      </p:grpSp>
      <p:grpSp>
        <p:nvGrpSpPr>
          <p:cNvPr id="31" name="组合 30"/>
          <p:cNvGrpSpPr/>
          <p:nvPr/>
        </p:nvGrpSpPr>
        <p:grpSpPr>
          <a:xfrm>
            <a:off x="2735772" y="4036805"/>
            <a:ext cx="705382" cy="705382"/>
            <a:chOff x="3272949" y="3722523"/>
            <a:chExt cx="813408" cy="877328"/>
          </a:xfrm>
        </p:grpSpPr>
        <p:sp>
          <p:nvSpPr>
            <p:cNvPr id="32" name="椭圆 31"/>
            <p:cNvSpPr/>
            <p:nvPr/>
          </p:nvSpPr>
          <p:spPr>
            <a:xfrm>
              <a:off x="3272949" y="3722523"/>
              <a:ext cx="813408" cy="877328"/>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635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b="1">
                <a:solidFill>
                  <a:prstClr val="white"/>
                </a:solidFill>
              </a:endParaRPr>
            </a:p>
          </p:txBody>
        </p:sp>
        <p:sp>
          <p:nvSpPr>
            <p:cNvPr id="33" name="椭圆 32"/>
            <p:cNvSpPr/>
            <p:nvPr/>
          </p:nvSpPr>
          <p:spPr>
            <a:xfrm>
              <a:off x="3286069" y="3736674"/>
              <a:ext cx="787168" cy="849026"/>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b="1" dirty="0">
                  <a:solidFill>
                    <a:schemeClr val="accent2">
                      <a:lumMod val="75000"/>
                    </a:schemeClr>
                  </a:solidFill>
                </a:rPr>
                <a:t>2</a:t>
              </a:r>
              <a:endParaRPr lang="zh-CN" altLang="en-US" b="1" dirty="0">
                <a:solidFill>
                  <a:schemeClr val="accent2">
                    <a:lumMod val="75000"/>
                  </a:schemeClr>
                </a:solidFill>
              </a:endParaRPr>
            </a:p>
          </p:txBody>
        </p:sp>
      </p:grpSp>
      <p:sp>
        <p:nvSpPr>
          <p:cNvPr id="37" name="矩形 36"/>
          <p:cNvSpPr/>
          <p:nvPr/>
        </p:nvSpPr>
        <p:spPr>
          <a:xfrm>
            <a:off x="956180" y="3024547"/>
            <a:ext cx="3070370" cy="707886"/>
          </a:xfrm>
          <a:prstGeom prst="rect">
            <a:avLst/>
          </a:prstGeom>
        </p:spPr>
        <p:txBody>
          <a:bodyPr wrap="square">
            <a:spAutoFit/>
          </a:bodyPr>
          <a:lstStyle/>
          <a:p>
            <a:r>
              <a:rPr lang="zh-CN" altLang="en-US" sz="2000" i="0" dirty="0" smtClean="0">
                <a:solidFill>
                  <a:schemeClr val="accent2">
                    <a:lumMod val="75000"/>
                  </a:schemeClr>
                </a:solidFill>
                <a:effectLst/>
                <a:latin typeface="Simsun" panose="02010600030101010101" pitchFamily="2" charset="-122"/>
                <a:ea typeface="Simsun" panose="02010600030101010101" pitchFamily="2" charset="-122"/>
              </a:rPr>
              <a:t>几乎没有什么软件</a:t>
            </a:r>
            <a:r>
              <a:rPr lang="zh-CN" altLang="en-US" sz="2000" i="0" smtClean="0">
                <a:solidFill>
                  <a:schemeClr val="accent2">
                    <a:lumMod val="75000"/>
                  </a:schemeClr>
                </a:solidFill>
                <a:effectLst/>
                <a:latin typeface="Simsun" panose="02010600030101010101" pitchFamily="2" charset="-122"/>
                <a:ea typeface="Simsun" panose="02010600030101010101" pitchFamily="2" charset="-122"/>
              </a:rPr>
              <a:t>需求会一成不变</a:t>
            </a:r>
            <a:r>
              <a:rPr lang="en-US" altLang="zh-CN" sz="2000" i="0" dirty="0" smtClean="0">
                <a:solidFill>
                  <a:schemeClr val="accent2">
                    <a:lumMod val="75000"/>
                  </a:schemeClr>
                </a:solidFill>
                <a:effectLst/>
                <a:latin typeface="Simsun" panose="02010600030101010101" pitchFamily="2" charset="-122"/>
                <a:ea typeface="Simsun" panose="02010600030101010101" pitchFamily="2" charset="-122"/>
              </a:rPr>
              <a:t> </a:t>
            </a:r>
            <a:endParaRPr lang="zh-CN" altLang="en-US" sz="2000" dirty="0">
              <a:solidFill>
                <a:schemeClr val="accent2">
                  <a:lumMod val="75000"/>
                </a:schemeClr>
              </a:solidFill>
            </a:endParaRPr>
          </a:p>
        </p:txBody>
      </p:sp>
      <p:sp>
        <p:nvSpPr>
          <p:cNvPr id="38" name="矩形 37"/>
          <p:cNvSpPr/>
          <p:nvPr/>
        </p:nvSpPr>
        <p:spPr>
          <a:xfrm>
            <a:off x="956180" y="5703398"/>
            <a:ext cx="3070370" cy="400110"/>
          </a:xfrm>
          <a:prstGeom prst="rect">
            <a:avLst/>
          </a:prstGeom>
        </p:spPr>
        <p:txBody>
          <a:bodyPr wrap="square">
            <a:spAutoFit/>
          </a:bodyPr>
          <a:lstStyle/>
          <a:p>
            <a:r>
              <a:rPr lang="zh-CN" altLang="en-US" sz="2000" dirty="0" smtClean="0">
                <a:solidFill>
                  <a:schemeClr val="accent2">
                    <a:lumMod val="75000"/>
                  </a:schemeClr>
                </a:solidFill>
              </a:rPr>
              <a:t>及时沟通，消除模糊性</a:t>
            </a:r>
            <a:endParaRPr lang="zh-CN" altLang="en-US" sz="2000" dirty="0">
              <a:solidFill>
                <a:schemeClr val="accent2">
                  <a:lumMod val="75000"/>
                </a:schemeClr>
              </a:solidFill>
            </a:endParaRPr>
          </a:p>
        </p:txBody>
      </p:sp>
      <p:sp>
        <p:nvSpPr>
          <p:cNvPr id="41" name="矩形 40"/>
          <p:cNvSpPr/>
          <p:nvPr/>
        </p:nvSpPr>
        <p:spPr>
          <a:xfrm>
            <a:off x="7979253" y="3618634"/>
            <a:ext cx="3445826" cy="954107"/>
          </a:xfrm>
          <a:prstGeom prst="rect">
            <a:avLst/>
          </a:prstGeom>
        </p:spPr>
        <p:txBody>
          <a:bodyPr wrap="square">
            <a:spAutoFit/>
          </a:bodyPr>
          <a:lstStyle/>
          <a:p>
            <a:r>
              <a:rPr lang="zh-CN" altLang="en-US" sz="2800" dirty="0" smtClean="0">
                <a:solidFill>
                  <a:schemeClr val="accent2">
                    <a:lumMod val="75000"/>
                  </a:schemeClr>
                </a:solidFill>
              </a:rPr>
              <a:t>达成双方都能接受的方案</a:t>
            </a:r>
            <a:endParaRPr lang="zh-CN" altLang="en-US" sz="2800" dirty="0">
              <a:solidFill>
                <a:schemeClr val="accent2">
                  <a:lumMod val="75000"/>
                </a:schemeClr>
              </a:solidFill>
            </a:endParaRPr>
          </a:p>
        </p:txBody>
      </p:sp>
      <p:cxnSp>
        <p:nvCxnSpPr>
          <p:cNvPr id="43" name="直接连接符 52"/>
          <p:cNvCxnSpPr/>
          <p:nvPr/>
        </p:nvCxnSpPr>
        <p:spPr>
          <a:xfrm>
            <a:off x="7731839" y="3664081"/>
            <a:ext cx="0" cy="849777"/>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4" name="直接连接符 52"/>
          <p:cNvCxnSpPr/>
          <p:nvPr/>
        </p:nvCxnSpPr>
        <p:spPr>
          <a:xfrm>
            <a:off x="11649988" y="3559751"/>
            <a:ext cx="0" cy="849777"/>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5" name="直接连接符 35"/>
          <p:cNvCxnSpPr/>
          <p:nvPr/>
        </p:nvCxnSpPr>
        <p:spPr>
          <a:xfrm>
            <a:off x="7984094" y="4720606"/>
            <a:ext cx="3445826" cy="0"/>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46" name="直接连接符 35"/>
          <p:cNvCxnSpPr/>
          <p:nvPr/>
        </p:nvCxnSpPr>
        <p:spPr>
          <a:xfrm>
            <a:off x="7984094" y="3559751"/>
            <a:ext cx="3445826" cy="0"/>
          </a:xfrm>
          <a:prstGeom prst="line">
            <a:avLst/>
          </a:prstGeom>
          <a:ln w="9525">
            <a:solidFill>
              <a:schemeClr val="bg1">
                <a:lumMod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46195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667512" y="4629912"/>
            <a:ext cx="274320" cy="2228088"/>
            <a:chOff x="801624" y="4629912"/>
            <a:chExt cx="274320" cy="2228088"/>
          </a:xfrm>
        </p:grpSpPr>
        <p:cxnSp>
          <p:nvCxnSpPr>
            <p:cNvPr id="2" name="直接连接符 1"/>
            <p:cNvCxnSpPr/>
            <p:nvPr/>
          </p:nvCxnSpPr>
          <p:spPr>
            <a:xfrm>
              <a:off x="938784" y="4767072"/>
              <a:ext cx="2537" cy="2090928"/>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4" name="椭圆 3"/>
            <p:cNvSpPr/>
            <p:nvPr/>
          </p:nvSpPr>
          <p:spPr>
            <a:xfrm>
              <a:off x="801624" y="4629912"/>
              <a:ext cx="274320" cy="27432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7" name="直接连接符 6"/>
          <p:cNvCxnSpPr/>
          <p:nvPr/>
        </p:nvCxnSpPr>
        <p:spPr>
          <a:xfrm flipH="1">
            <a:off x="2052418" y="3614741"/>
            <a:ext cx="12505" cy="3255390"/>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1993170" y="3492820"/>
            <a:ext cx="143506" cy="121921"/>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1" name="直接连接符 10"/>
          <p:cNvCxnSpPr>
            <a:stCxn id="12" idx="4"/>
          </p:cNvCxnSpPr>
          <p:nvPr/>
        </p:nvCxnSpPr>
        <p:spPr>
          <a:xfrm>
            <a:off x="3525730" y="2475101"/>
            <a:ext cx="9950" cy="4382899"/>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12" name="椭圆 11"/>
          <p:cNvSpPr/>
          <p:nvPr/>
        </p:nvSpPr>
        <p:spPr>
          <a:xfrm>
            <a:off x="3394728" y="2213098"/>
            <a:ext cx="262003" cy="26200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0" name="直接连接符 19"/>
          <p:cNvCxnSpPr/>
          <p:nvPr/>
        </p:nvCxnSpPr>
        <p:spPr>
          <a:xfrm>
            <a:off x="5309616" y="5812536"/>
            <a:ext cx="2537" cy="1045464"/>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1" name="椭圆 20"/>
          <p:cNvSpPr/>
          <p:nvPr/>
        </p:nvSpPr>
        <p:spPr>
          <a:xfrm>
            <a:off x="5241036" y="5675376"/>
            <a:ext cx="137160" cy="137160"/>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3" name="直接连接符 22"/>
          <p:cNvCxnSpPr/>
          <p:nvPr/>
        </p:nvCxnSpPr>
        <p:spPr>
          <a:xfrm flipH="1">
            <a:off x="6929533" y="4904232"/>
            <a:ext cx="7504" cy="1953768"/>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4" name="椭圆 23"/>
          <p:cNvSpPr/>
          <p:nvPr/>
        </p:nvSpPr>
        <p:spPr>
          <a:xfrm>
            <a:off x="6868656" y="4767134"/>
            <a:ext cx="138506" cy="1385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26" name="直接连接符 25"/>
          <p:cNvCxnSpPr/>
          <p:nvPr/>
        </p:nvCxnSpPr>
        <p:spPr>
          <a:xfrm flipH="1">
            <a:off x="8617038" y="2938272"/>
            <a:ext cx="28091" cy="391966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27" name="椭圆 26"/>
          <p:cNvSpPr/>
          <p:nvPr/>
        </p:nvSpPr>
        <p:spPr>
          <a:xfrm>
            <a:off x="8575876" y="2865120"/>
            <a:ext cx="138506" cy="138506"/>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30" name="直接连接符 29"/>
          <p:cNvCxnSpPr/>
          <p:nvPr/>
        </p:nvCxnSpPr>
        <p:spPr>
          <a:xfrm flipH="1">
            <a:off x="10817695" y="4108704"/>
            <a:ext cx="69761" cy="2756769"/>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32" name="椭圆 31"/>
          <p:cNvSpPr/>
          <p:nvPr/>
        </p:nvSpPr>
        <p:spPr>
          <a:xfrm>
            <a:off x="10756454" y="3846701"/>
            <a:ext cx="262003" cy="262003"/>
          </a:xfrm>
          <a:prstGeom prst="ellipse">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3" name="椭圆形标注 32"/>
          <p:cNvSpPr/>
          <p:nvPr/>
        </p:nvSpPr>
        <p:spPr>
          <a:xfrm>
            <a:off x="1148229" y="1812842"/>
            <a:ext cx="1976893" cy="1324518"/>
          </a:xfrm>
          <a:prstGeom prst="wedgeEllipseCallout">
            <a:avLst>
              <a:gd name="adj1" fmla="val -3713"/>
              <a:gd name="adj2" fmla="val 66200"/>
            </a:avLst>
          </a:prstGeom>
          <a:no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a:solidFill>
                  <a:schemeClr val="accent2">
                    <a:lumMod val="75000"/>
                  </a:schemeClr>
                </a:solidFill>
                <a:latin typeface="Simsun" panose="02010600030101010101" pitchFamily="2" charset="-122"/>
                <a:ea typeface="Simsun" panose="02010600030101010101" pitchFamily="2" charset="-122"/>
              </a:rPr>
              <a:t>协调客户与开发者对创新点的理解</a:t>
            </a:r>
          </a:p>
        </p:txBody>
      </p:sp>
      <p:sp>
        <p:nvSpPr>
          <p:cNvPr id="34" name="椭圆形标注 33"/>
          <p:cNvSpPr/>
          <p:nvPr/>
        </p:nvSpPr>
        <p:spPr>
          <a:xfrm>
            <a:off x="4403175" y="4004291"/>
            <a:ext cx="1976893" cy="1324518"/>
          </a:xfrm>
          <a:prstGeom prst="wedgeEllipseCallout">
            <a:avLst>
              <a:gd name="adj1" fmla="val -3713"/>
              <a:gd name="adj2" fmla="val 66200"/>
            </a:avLst>
          </a:prstGeom>
          <a:no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i="0" dirty="0" smtClean="0">
                <a:solidFill>
                  <a:schemeClr val="accent2">
                    <a:lumMod val="75000"/>
                  </a:schemeClr>
                </a:solidFill>
                <a:effectLst/>
                <a:latin typeface="Simsun" panose="02010600030101010101" pitchFamily="2" charset="-122"/>
                <a:ea typeface="Simsun" panose="02010600030101010101" pitchFamily="2" charset="-122"/>
              </a:rPr>
              <a:t>在同类软件中出类拔萃</a:t>
            </a:r>
            <a:endParaRPr lang="zh-CN" altLang="en-US" dirty="0"/>
          </a:p>
        </p:txBody>
      </p:sp>
      <p:sp>
        <p:nvSpPr>
          <p:cNvPr id="35" name="椭圆形标注 34"/>
          <p:cNvSpPr/>
          <p:nvPr/>
        </p:nvSpPr>
        <p:spPr>
          <a:xfrm>
            <a:off x="7725935" y="1279379"/>
            <a:ext cx="1976893" cy="1324518"/>
          </a:xfrm>
          <a:prstGeom prst="wedgeEllipseCallout">
            <a:avLst>
              <a:gd name="adj1" fmla="val -3713"/>
              <a:gd name="adj2" fmla="val 66200"/>
            </a:avLst>
          </a:prstGeom>
          <a:noFill/>
          <a:ln>
            <a:solidFill>
              <a:schemeClr val="bg1">
                <a:lumMod val="50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i="0" dirty="0" smtClean="0">
                <a:solidFill>
                  <a:schemeClr val="accent2">
                    <a:lumMod val="75000"/>
                  </a:schemeClr>
                </a:solidFill>
                <a:effectLst/>
                <a:latin typeface="Simsun" panose="02010600030101010101" pitchFamily="2" charset="-122"/>
                <a:ea typeface="Simsun" panose="02010600030101010101" pitchFamily="2" charset="-122"/>
              </a:rPr>
              <a:t>灵感的发源</a:t>
            </a:r>
            <a:endParaRPr lang="zh-CN" altLang="en-US" dirty="0"/>
          </a:p>
        </p:txBody>
      </p:sp>
      <p:grpSp>
        <p:nvGrpSpPr>
          <p:cNvPr id="36" name="组合 35"/>
          <p:cNvGrpSpPr/>
          <p:nvPr/>
        </p:nvGrpSpPr>
        <p:grpSpPr>
          <a:xfrm>
            <a:off x="902994" y="4898105"/>
            <a:ext cx="949120" cy="949121"/>
            <a:chOff x="3176812" y="2273198"/>
            <a:chExt cx="2641825" cy="2726239"/>
          </a:xfrm>
        </p:grpSpPr>
        <p:sp>
          <p:nvSpPr>
            <p:cNvPr id="37" name="椭圆 36"/>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sp>
          <p:nvSpPr>
            <p:cNvPr id="38" name="椭圆 37"/>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grpSp>
      <p:grpSp>
        <p:nvGrpSpPr>
          <p:cNvPr id="39" name="组合 38"/>
          <p:cNvGrpSpPr/>
          <p:nvPr/>
        </p:nvGrpSpPr>
        <p:grpSpPr>
          <a:xfrm>
            <a:off x="3651522" y="5200815"/>
            <a:ext cx="949120" cy="949121"/>
            <a:chOff x="3176812" y="2273198"/>
            <a:chExt cx="2641825" cy="2726239"/>
          </a:xfrm>
        </p:grpSpPr>
        <p:sp>
          <p:nvSpPr>
            <p:cNvPr id="40" name="椭圆 39"/>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sp>
          <p:nvSpPr>
            <p:cNvPr id="41" name="椭圆 40"/>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grpSp>
      <p:grpSp>
        <p:nvGrpSpPr>
          <p:cNvPr id="42" name="组合 41"/>
          <p:cNvGrpSpPr/>
          <p:nvPr/>
        </p:nvGrpSpPr>
        <p:grpSpPr>
          <a:xfrm>
            <a:off x="7390197" y="3680791"/>
            <a:ext cx="949120" cy="949121"/>
            <a:chOff x="3176812" y="2273198"/>
            <a:chExt cx="2641825" cy="2726239"/>
          </a:xfrm>
        </p:grpSpPr>
        <p:sp>
          <p:nvSpPr>
            <p:cNvPr id="43" name="椭圆 42"/>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sp>
          <p:nvSpPr>
            <p:cNvPr id="44" name="椭圆 43"/>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grpSp>
      <p:grpSp>
        <p:nvGrpSpPr>
          <p:cNvPr id="45" name="组合 44"/>
          <p:cNvGrpSpPr/>
          <p:nvPr/>
        </p:nvGrpSpPr>
        <p:grpSpPr>
          <a:xfrm>
            <a:off x="10988156" y="2344099"/>
            <a:ext cx="949120" cy="949121"/>
            <a:chOff x="3176812" y="2273198"/>
            <a:chExt cx="2641825" cy="2726239"/>
          </a:xfrm>
        </p:grpSpPr>
        <p:sp>
          <p:nvSpPr>
            <p:cNvPr id="46" name="椭圆 45"/>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sp>
          <p:nvSpPr>
            <p:cNvPr id="47" name="椭圆 46"/>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grpSp>
      <p:sp>
        <p:nvSpPr>
          <p:cNvPr id="48" name="矩形 47"/>
          <p:cNvSpPr/>
          <p:nvPr/>
        </p:nvSpPr>
        <p:spPr>
          <a:xfrm>
            <a:off x="4941177" y="1704148"/>
            <a:ext cx="2339102" cy="523220"/>
          </a:xfrm>
          <a:prstGeom prst="rect">
            <a:avLst/>
          </a:prstGeom>
        </p:spPr>
        <p:txBody>
          <a:bodyPr wrap="none">
            <a:spAutoFit/>
          </a:bodyPr>
          <a:lstStyle/>
          <a:p>
            <a:r>
              <a:rPr lang="zh-CN" altLang="en-US" sz="2800" b="1" i="0" dirty="0" smtClean="0">
                <a:solidFill>
                  <a:schemeClr val="accent2">
                    <a:lumMod val="75000"/>
                  </a:schemeClr>
                </a:solidFill>
                <a:effectLst/>
                <a:latin typeface="Simsun" panose="02010600030101010101" pitchFamily="2" charset="-122"/>
                <a:ea typeface="Simsun" panose="02010600030101010101" pitchFamily="2" charset="-122"/>
              </a:rPr>
              <a:t>让软件更出彩</a:t>
            </a:r>
            <a:endParaRPr lang="zh-CN" altLang="en-US" sz="2800" b="1" dirty="0"/>
          </a:p>
        </p:txBody>
      </p:sp>
      <p:grpSp>
        <p:nvGrpSpPr>
          <p:cNvPr id="49" name="组合 48"/>
          <p:cNvGrpSpPr/>
          <p:nvPr/>
        </p:nvGrpSpPr>
        <p:grpSpPr>
          <a:xfrm>
            <a:off x="6044005" y="0"/>
            <a:ext cx="138209" cy="1686967"/>
            <a:chOff x="6044005" y="0"/>
            <a:chExt cx="138209" cy="1686967"/>
          </a:xfrm>
        </p:grpSpPr>
        <p:cxnSp>
          <p:nvCxnSpPr>
            <p:cNvPr id="50" name="直接连接符 49"/>
            <p:cNvCxnSpPr/>
            <p:nvPr/>
          </p:nvCxnSpPr>
          <p:spPr>
            <a:xfrm flipH="1">
              <a:off x="6096000" y="36610"/>
              <a:ext cx="1" cy="1558157"/>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51" name="椭圆 50"/>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2" name="椭圆 51"/>
            <p:cNvSpPr/>
            <p:nvPr/>
          </p:nvSpPr>
          <p:spPr>
            <a:xfrm>
              <a:off x="6048768" y="1553521"/>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53" name="Freeform 74"/>
          <p:cNvSpPr>
            <a:spLocks noEditPoints="1"/>
          </p:cNvSpPr>
          <p:nvPr/>
        </p:nvSpPr>
        <p:spPr bwMode="auto">
          <a:xfrm>
            <a:off x="1093939" y="5096522"/>
            <a:ext cx="554503" cy="552286"/>
          </a:xfrm>
          <a:custGeom>
            <a:avLst/>
            <a:gdLst>
              <a:gd name="T0" fmla="*/ 100 w 200"/>
              <a:gd name="T1" fmla="*/ 200 h 200"/>
              <a:gd name="T2" fmla="*/ 0 w 200"/>
              <a:gd name="T3" fmla="*/ 100 h 200"/>
              <a:gd name="T4" fmla="*/ 100 w 200"/>
              <a:gd name="T5" fmla="*/ 0 h 200"/>
              <a:gd name="T6" fmla="*/ 200 w 200"/>
              <a:gd name="T7" fmla="*/ 100 h 200"/>
              <a:gd name="T8" fmla="*/ 100 w 200"/>
              <a:gd name="T9" fmla="*/ 200 h 200"/>
              <a:gd name="T10" fmla="*/ 155 w 200"/>
              <a:gd name="T11" fmla="*/ 43 h 200"/>
              <a:gd name="T12" fmla="*/ 138 w 200"/>
              <a:gd name="T13" fmla="*/ 43 h 200"/>
              <a:gd name="T14" fmla="*/ 108 w 200"/>
              <a:gd name="T15" fmla="*/ 73 h 200"/>
              <a:gd name="T16" fmla="*/ 44 w 200"/>
              <a:gd name="T17" fmla="*/ 60 h 200"/>
              <a:gd name="T18" fmla="*/ 36 w 200"/>
              <a:gd name="T19" fmla="*/ 68 h 200"/>
              <a:gd name="T20" fmla="*/ 87 w 200"/>
              <a:gd name="T21" fmla="*/ 94 h 200"/>
              <a:gd name="T22" fmla="*/ 63 w 200"/>
              <a:gd name="T23" fmla="*/ 118 h 200"/>
              <a:gd name="T24" fmla="*/ 40 w 200"/>
              <a:gd name="T25" fmla="*/ 115 h 200"/>
              <a:gd name="T26" fmla="*/ 31 w 200"/>
              <a:gd name="T27" fmla="*/ 124 h 200"/>
              <a:gd name="T28" fmla="*/ 61 w 200"/>
              <a:gd name="T29" fmla="*/ 136 h 200"/>
              <a:gd name="T30" fmla="*/ 74 w 200"/>
              <a:gd name="T31" fmla="*/ 166 h 200"/>
              <a:gd name="T32" fmla="*/ 82 w 200"/>
              <a:gd name="T33" fmla="*/ 158 h 200"/>
              <a:gd name="T34" fmla="*/ 80 w 200"/>
              <a:gd name="T35" fmla="*/ 135 h 200"/>
              <a:gd name="T36" fmla="*/ 104 w 200"/>
              <a:gd name="T37" fmla="*/ 111 h 200"/>
              <a:gd name="T38" fmla="*/ 129 w 200"/>
              <a:gd name="T39" fmla="*/ 162 h 200"/>
              <a:gd name="T40" fmla="*/ 138 w 200"/>
              <a:gd name="T41" fmla="*/ 153 h 200"/>
              <a:gd name="T42" fmla="*/ 125 w 200"/>
              <a:gd name="T43" fmla="*/ 90 h 200"/>
              <a:gd name="T44" fmla="*/ 155 w 200"/>
              <a:gd name="T45" fmla="*/ 60 h 200"/>
              <a:gd name="T46" fmla="*/ 155 w 200"/>
              <a:gd name="T47" fmla="*/ 43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200" h="200">
                <a:moveTo>
                  <a:pt x="100" y="200"/>
                </a:moveTo>
                <a:cubicBezTo>
                  <a:pt x="44" y="200"/>
                  <a:pt x="0" y="155"/>
                  <a:pt x="0" y="100"/>
                </a:cubicBezTo>
                <a:cubicBezTo>
                  <a:pt x="0" y="45"/>
                  <a:pt x="44" y="0"/>
                  <a:pt x="100" y="0"/>
                </a:cubicBezTo>
                <a:cubicBezTo>
                  <a:pt x="155" y="0"/>
                  <a:pt x="200" y="45"/>
                  <a:pt x="200" y="100"/>
                </a:cubicBezTo>
                <a:cubicBezTo>
                  <a:pt x="200" y="155"/>
                  <a:pt x="155" y="200"/>
                  <a:pt x="100" y="200"/>
                </a:cubicBezTo>
                <a:close/>
                <a:moveTo>
                  <a:pt x="155" y="43"/>
                </a:moveTo>
                <a:cubicBezTo>
                  <a:pt x="146" y="34"/>
                  <a:pt x="138" y="43"/>
                  <a:pt x="138" y="43"/>
                </a:cubicBezTo>
                <a:cubicBezTo>
                  <a:pt x="108" y="73"/>
                  <a:pt x="108" y="73"/>
                  <a:pt x="108" y="73"/>
                </a:cubicBezTo>
                <a:cubicBezTo>
                  <a:pt x="44" y="60"/>
                  <a:pt x="44" y="60"/>
                  <a:pt x="44" y="60"/>
                </a:cubicBezTo>
                <a:cubicBezTo>
                  <a:pt x="36" y="68"/>
                  <a:pt x="36" y="68"/>
                  <a:pt x="36" y="68"/>
                </a:cubicBezTo>
                <a:cubicBezTo>
                  <a:pt x="87" y="94"/>
                  <a:pt x="87" y="94"/>
                  <a:pt x="87" y="94"/>
                </a:cubicBezTo>
                <a:cubicBezTo>
                  <a:pt x="63" y="118"/>
                  <a:pt x="63" y="118"/>
                  <a:pt x="63" y="118"/>
                </a:cubicBezTo>
                <a:cubicBezTo>
                  <a:pt x="40" y="115"/>
                  <a:pt x="40" y="115"/>
                  <a:pt x="40" y="115"/>
                </a:cubicBezTo>
                <a:cubicBezTo>
                  <a:pt x="31" y="124"/>
                  <a:pt x="31" y="124"/>
                  <a:pt x="31" y="124"/>
                </a:cubicBezTo>
                <a:cubicBezTo>
                  <a:pt x="61" y="136"/>
                  <a:pt x="61" y="136"/>
                  <a:pt x="61" y="136"/>
                </a:cubicBezTo>
                <a:cubicBezTo>
                  <a:pt x="74" y="166"/>
                  <a:pt x="74" y="166"/>
                  <a:pt x="74" y="166"/>
                </a:cubicBezTo>
                <a:cubicBezTo>
                  <a:pt x="82" y="158"/>
                  <a:pt x="82" y="158"/>
                  <a:pt x="82" y="158"/>
                </a:cubicBezTo>
                <a:cubicBezTo>
                  <a:pt x="80" y="135"/>
                  <a:pt x="80" y="135"/>
                  <a:pt x="80" y="135"/>
                </a:cubicBezTo>
                <a:cubicBezTo>
                  <a:pt x="104" y="111"/>
                  <a:pt x="104" y="111"/>
                  <a:pt x="104" y="111"/>
                </a:cubicBezTo>
                <a:cubicBezTo>
                  <a:pt x="129" y="162"/>
                  <a:pt x="129" y="162"/>
                  <a:pt x="129" y="162"/>
                </a:cubicBezTo>
                <a:cubicBezTo>
                  <a:pt x="138" y="153"/>
                  <a:pt x="138" y="153"/>
                  <a:pt x="138" y="153"/>
                </a:cubicBezTo>
                <a:cubicBezTo>
                  <a:pt x="125" y="90"/>
                  <a:pt x="125" y="90"/>
                  <a:pt x="125" y="90"/>
                </a:cubicBezTo>
                <a:cubicBezTo>
                  <a:pt x="155" y="60"/>
                  <a:pt x="155" y="60"/>
                  <a:pt x="155" y="60"/>
                </a:cubicBezTo>
                <a:cubicBezTo>
                  <a:pt x="155" y="60"/>
                  <a:pt x="163" y="51"/>
                  <a:pt x="155" y="43"/>
                </a:cubicBez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4" name="Freeform 77"/>
          <p:cNvSpPr>
            <a:spLocks noEditPoints="1"/>
          </p:cNvSpPr>
          <p:nvPr/>
        </p:nvSpPr>
        <p:spPr bwMode="auto">
          <a:xfrm>
            <a:off x="11188228" y="2543069"/>
            <a:ext cx="548976" cy="551180"/>
          </a:xfrm>
          <a:custGeom>
            <a:avLst/>
            <a:gdLst>
              <a:gd name="T0" fmla="*/ 100 w 200"/>
              <a:gd name="T1" fmla="*/ 0 h 200"/>
              <a:gd name="T2" fmla="*/ 138 w 200"/>
              <a:gd name="T3" fmla="*/ 162 h 200"/>
              <a:gd name="T4" fmla="*/ 125 w 200"/>
              <a:gd name="T5" fmla="*/ 149 h 200"/>
              <a:gd name="T6" fmla="*/ 97 w 200"/>
              <a:gd name="T7" fmla="*/ 149 h 200"/>
              <a:gd name="T8" fmla="*/ 85 w 200"/>
              <a:gd name="T9" fmla="*/ 162 h 200"/>
              <a:gd name="T10" fmla="*/ 156 w 200"/>
              <a:gd name="T11" fmla="*/ 77 h 200"/>
              <a:gd name="T12" fmla="*/ 56 w 200"/>
              <a:gd name="T13" fmla="*/ 66 h 200"/>
              <a:gd name="T14" fmla="*/ 52 w 200"/>
              <a:gd name="T15" fmla="*/ 56 h 200"/>
              <a:gd name="T16" fmla="*/ 28 w 200"/>
              <a:gd name="T17" fmla="*/ 59 h 200"/>
              <a:gd name="T18" fmla="*/ 49 w 200"/>
              <a:gd name="T19" fmla="*/ 62 h 200"/>
              <a:gd name="T20" fmla="*/ 69 w 200"/>
              <a:gd name="T21" fmla="*/ 131 h 200"/>
              <a:gd name="T22" fmla="*/ 155 w 200"/>
              <a:gd name="T23" fmla="*/ 127 h 200"/>
              <a:gd name="T24" fmla="*/ 69 w 200"/>
              <a:gd name="T25" fmla="*/ 124 h 200"/>
              <a:gd name="T26" fmla="*/ 151 w 200"/>
              <a:gd name="T27" fmla="*/ 117 h 200"/>
              <a:gd name="T28" fmla="*/ 156 w 200"/>
              <a:gd name="T29" fmla="*/ 110 h 200"/>
              <a:gd name="T30" fmla="*/ 137 w 200"/>
              <a:gd name="T31" fmla="*/ 106 h 200"/>
              <a:gd name="T32" fmla="*/ 151 w 200"/>
              <a:gd name="T33" fmla="*/ 112 h 200"/>
              <a:gd name="T34" fmla="*/ 151 w 200"/>
              <a:gd name="T35" fmla="*/ 102 h 200"/>
              <a:gd name="T36" fmla="*/ 137 w 200"/>
              <a:gd name="T37" fmla="*/ 90 h 200"/>
              <a:gd name="T38" fmla="*/ 137 w 200"/>
              <a:gd name="T39" fmla="*/ 94 h 200"/>
              <a:gd name="T40" fmla="*/ 151 w 200"/>
              <a:gd name="T41" fmla="*/ 82 h 200"/>
              <a:gd name="T42" fmla="*/ 137 w 200"/>
              <a:gd name="T43" fmla="*/ 82 h 200"/>
              <a:gd name="T44" fmla="*/ 133 w 200"/>
              <a:gd name="T45" fmla="*/ 112 h 200"/>
              <a:gd name="T46" fmla="*/ 117 w 200"/>
              <a:gd name="T47" fmla="*/ 98 h 200"/>
              <a:gd name="T48" fmla="*/ 117 w 200"/>
              <a:gd name="T49" fmla="*/ 102 h 200"/>
              <a:gd name="T50" fmla="*/ 133 w 200"/>
              <a:gd name="T51" fmla="*/ 90 h 200"/>
              <a:gd name="T52" fmla="*/ 116 w 200"/>
              <a:gd name="T53" fmla="*/ 90 h 200"/>
              <a:gd name="T54" fmla="*/ 133 w 200"/>
              <a:gd name="T55" fmla="*/ 86 h 200"/>
              <a:gd name="T56" fmla="*/ 116 w 200"/>
              <a:gd name="T57" fmla="*/ 73 h 200"/>
              <a:gd name="T58" fmla="*/ 116 w 200"/>
              <a:gd name="T59" fmla="*/ 78 h 200"/>
              <a:gd name="T60" fmla="*/ 113 w 200"/>
              <a:gd name="T61" fmla="*/ 106 h 200"/>
              <a:gd name="T62" fmla="*/ 97 w 200"/>
              <a:gd name="T63" fmla="*/ 106 h 200"/>
              <a:gd name="T64" fmla="*/ 113 w 200"/>
              <a:gd name="T65" fmla="*/ 102 h 200"/>
              <a:gd name="T66" fmla="*/ 96 w 200"/>
              <a:gd name="T67" fmla="*/ 90 h 200"/>
              <a:gd name="T68" fmla="*/ 96 w 200"/>
              <a:gd name="T69" fmla="*/ 94 h 200"/>
              <a:gd name="T70" fmla="*/ 112 w 200"/>
              <a:gd name="T71" fmla="*/ 82 h 200"/>
              <a:gd name="T72" fmla="*/ 96 w 200"/>
              <a:gd name="T73" fmla="*/ 82 h 200"/>
              <a:gd name="T74" fmla="*/ 112 w 200"/>
              <a:gd name="T75" fmla="*/ 78 h 200"/>
              <a:gd name="T76" fmla="*/ 81 w 200"/>
              <a:gd name="T77" fmla="*/ 106 h 200"/>
              <a:gd name="T78" fmla="*/ 82 w 200"/>
              <a:gd name="T79" fmla="*/ 114 h 200"/>
              <a:gd name="T80" fmla="*/ 93 w 200"/>
              <a:gd name="T81" fmla="*/ 98 h 200"/>
              <a:gd name="T82" fmla="*/ 80 w 200"/>
              <a:gd name="T83" fmla="*/ 98 h 200"/>
              <a:gd name="T84" fmla="*/ 92 w 200"/>
              <a:gd name="T85" fmla="*/ 94 h 200"/>
              <a:gd name="T86" fmla="*/ 77 w 200"/>
              <a:gd name="T87" fmla="*/ 82 h 200"/>
              <a:gd name="T88" fmla="*/ 78 w 200"/>
              <a:gd name="T89" fmla="*/ 86 h 200"/>
              <a:gd name="T90" fmla="*/ 91 w 200"/>
              <a:gd name="T91" fmla="*/ 73 h 200"/>
              <a:gd name="T92" fmla="*/ 75 w 200"/>
              <a:gd name="T93" fmla="*/ 72 h 200"/>
              <a:gd name="T94" fmla="*/ 75 w 200"/>
              <a:gd name="T95" fmla="*/ 94 h 200"/>
              <a:gd name="T96" fmla="*/ 60 w 200"/>
              <a:gd name="T97" fmla="*/ 82 h 200"/>
              <a:gd name="T98" fmla="*/ 62 w 200"/>
              <a:gd name="T99" fmla="*/ 86 h 200"/>
              <a:gd name="T100" fmla="*/ 72 w 200"/>
              <a:gd name="T101" fmla="*/ 72 h 200"/>
              <a:gd name="T102" fmla="*/ 57 w 200"/>
              <a:gd name="T103" fmla="*/ 71 h 200"/>
              <a:gd name="T104" fmla="*/ 65 w 200"/>
              <a:gd name="T105" fmla="*/ 98 h 200"/>
              <a:gd name="T106" fmla="*/ 79 w 200"/>
              <a:gd name="T107" fmla="*/ 114 h 200"/>
              <a:gd name="T108" fmla="*/ 77 w 200"/>
              <a:gd name="T109" fmla="*/ 106 h 200"/>
              <a:gd name="T110" fmla="*/ 151 w 200"/>
              <a:gd name="T111" fmla="*/ 77 h 200"/>
              <a:gd name="T112" fmla="*/ 151 w 200"/>
              <a:gd name="T113" fmla="*/ 77 h 200"/>
              <a:gd name="T114" fmla="*/ 151 w 200"/>
              <a:gd name="T115" fmla="*/ 75 h 200"/>
              <a:gd name="T116" fmla="*/ 151 w 200"/>
              <a:gd name="T117" fmla="*/ 78 h 200"/>
              <a:gd name="T118" fmla="*/ 90 w 200"/>
              <a:gd name="T119" fmla="*/ 149 h 200"/>
              <a:gd name="T120" fmla="*/ 85 w 200"/>
              <a:gd name="T121" fmla="*/ 143 h 200"/>
              <a:gd name="T122" fmla="*/ 138 w 200"/>
              <a:gd name="T123" fmla="*/ 155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0" h="200">
                <a:moveTo>
                  <a:pt x="100" y="200"/>
                </a:moveTo>
                <a:cubicBezTo>
                  <a:pt x="44" y="200"/>
                  <a:pt x="0" y="155"/>
                  <a:pt x="0" y="100"/>
                </a:cubicBezTo>
                <a:cubicBezTo>
                  <a:pt x="0" y="45"/>
                  <a:pt x="44" y="0"/>
                  <a:pt x="100" y="0"/>
                </a:cubicBezTo>
                <a:cubicBezTo>
                  <a:pt x="155" y="0"/>
                  <a:pt x="200" y="45"/>
                  <a:pt x="200" y="100"/>
                </a:cubicBezTo>
                <a:cubicBezTo>
                  <a:pt x="200" y="155"/>
                  <a:pt x="155" y="200"/>
                  <a:pt x="100" y="200"/>
                </a:cubicBezTo>
                <a:close/>
                <a:moveTo>
                  <a:pt x="138" y="162"/>
                </a:moveTo>
                <a:cubicBezTo>
                  <a:pt x="145" y="162"/>
                  <a:pt x="151" y="156"/>
                  <a:pt x="151" y="149"/>
                </a:cubicBezTo>
                <a:cubicBezTo>
                  <a:pt x="151" y="142"/>
                  <a:pt x="145" y="136"/>
                  <a:pt x="138" y="136"/>
                </a:cubicBezTo>
                <a:cubicBezTo>
                  <a:pt x="131" y="136"/>
                  <a:pt x="125" y="142"/>
                  <a:pt x="125" y="149"/>
                </a:cubicBezTo>
                <a:cubicBezTo>
                  <a:pt x="125" y="156"/>
                  <a:pt x="131" y="162"/>
                  <a:pt x="138" y="162"/>
                </a:cubicBezTo>
                <a:close/>
                <a:moveTo>
                  <a:pt x="85" y="162"/>
                </a:moveTo>
                <a:cubicBezTo>
                  <a:pt x="92" y="162"/>
                  <a:pt x="97" y="156"/>
                  <a:pt x="97" y="149"/>
                </a:cubicBezTo>
                <a:cubicBezTo>
                  <a:pt x="97" y="142"/>
                  <a:pt x="92" y="136"/>
                  <a:pt x="85" y="136"/>
                </a:cubicBezTo>
                <a:cubicBezTo>
                  <a:pt x="77" y="136"/>
                  <a:pt x="72" y="142"/>
                  <a:pt x="72" y="149"/>
                </a:cubicBezTo>
                <a:cubicBezTo>
                  <a:pt x="72" y="156"/>
                  <a:pt x="77" y="162"/>
                  <a:pt x="85" y="162"/>
                </a:cubicBezTo>
                <a:close/>
                <a:moveTo>
                  <a:pt x="156" y="110"/>
                </a:moveTo>
                <a:cubicBezTo>
                  <a:pt x="156" y="77"/>
                  <a:pt x="156" y="77"/>
                  <a:pt x="156" y="77"/>
                </a:cubicBezTo>
                <a:cubicBezTo>
                  <a:pt x="156" y="77"/>
                  <a:pt x="156" y="77"/>
                  <a:pt x="156" y="77"/>
                </a:cubicBezTo>
                <a:cubicBezTo>
                  <a:pt x="156" y="70"/>
                  <a:pt x="151" y="70"/>
                  <a:pt x="151" y="70"/>
                </a:cubicBezTo>
                <a:cubicBezTo>
                  <a:pt x="151" y="70"/>
                  <a:pt x="151" y="70"/>
                  <a:pt x="151" y="70"/>
                </a:cubicBezTo>
                <a:cubicBezTo>
                  <a:pt x="56" y="66"/>
                  <a:pt x="56" y="66"/>
                  <a:pt x="56" y="66"/>
                </a:cubicBezTo>
                <a:cubicBezTo>
                  <a:pt x="53" y="56"/>
                  <a:pt x="53" y="56"/>
                  <a:pt x="53" y="56"/>
                </a:cubicBezTo>
                <a:cubicBezTo>
                  <a:pt x="52" y="56"/>
                  <a:pt x="52" y="56"/>
                  <a:pt x="52" y="56"/>
                </a:cubicBezTo>
                <a:cubicBezTo>
                  <a:pt x="52" y="56"/>
                  <a:pt x="52" y="56"/>
                  <a:pt x="52" y="56"/>
                </a:cubicBezTo>
                <a:cubicBezTo>
                  <a:pt x="41" y="56"/>
                  <a:pt x="41" y="56"/>
                  <a:pt x="41" y="56"/>
                </a:cubicBezTo>
                <a:cubicBezTo>
                  <a:pt x="40" y="54"/>
                  <a:pt x="38" y="53"/>
                  <a:pt x="35" y="53"/>
                </a:cubicBezTo>
                <a:cubicBezTo>
                  <a:pt x="31" y="53"/>
                  <a:pt x="28" y="56"/>
                  <a:pt x="28" y="59"/>
                </a:cubicBezTo>
                <a:cubicBezTo>
                  <a:pt x="28" y="63"/>
                  <a:pt x="31" y="66"/>
                  <a:pt x="35" y="66"/>
                </a:cubicBezTo>
                <a:cubicBezTo>
                  <a:pt x="37" y="66"/>
                  <a:pt x="40" y="64"/>
                  <a:pt x="41" y="62"/>
                </a:cubicBezTo>
                <a:cubicBezTo>
                  <a:pt x="49" y="62"/>
                  <a:pt x="49" y="62"/>
                  <a:pt x="49" y="62"/>
                </a:cubicBezTo>
                <a:cubicBezTo>
                  <a:pt x="65" y="114"/>
                  <a:pt x="65" y="114"/>
                  <a:pt x="65" y="114"/>
                </a:cubicBezTo>
                <a:cubicBezTo>
                  <a:pt x="64" y="114"/>
                  <a:pt x="64" y="114"/>
                  <a:pt x="64" y="114"/>
                </a:cubicBezTo>
                <a:cubicBezTo>
                  <a:pt x="57" y="114"/>
                  <a:pt x="56" y="131"/>
                  <a:pt x="69" y="131"/>
                </a:cubicBezTo>
                <a:cubicBezTo>
                  <a:pt x="69" y="132"/>
                  <a:pt x="70" y="132"/>
                  <a:pt x="70" y="132"/>
                </a:cubicBezTo>
                <a:cubicBezTo>
                  <a:pt x="152" y="132"/>
                  <a:pt x="152" y="132"/>
                  <a:pt x="152" y="132"/>
                </a:cubicBezTo>
                <a:cubicBezTo>
                  <a:pt x="154" y="132"/>
                  <a:pt x="155" y="129"/>
                  <a:pt x="155" y="127"/>
                </a:cubicBezTo>
                <a:cubicBezTo>
                  <a:pt x="155" y="125"/>
                  <a:pt x="154" y="124"/>
                  <a:pt x="152" y="124"/>
                </a:cubicBezTo>
                <a:cubicBezTo>
                  <a:pt x="70" y="124"/>
                  <a:pt x="70" y="124"/>
                  <a:pt x="70" y="124"/>
                </a:cubicBezTo>
                <a:cubicBezTo>
                  <a:pt x="70" y="124"/>
                  <a:pt x="69" y="124"/>
                  <a:pt x="69" y="124"/>
                </a:cubicBezTo>
                <a:cubicBezTo>
                  <a:pt x="64" y="124"/>
                  <a:pt x="65" y="119"/>
                  <a:pt x="69" y="119"/>
                </a:cubicBezTo>
                <a:cubicBezTo>
                  <a:pt x="69" y="119"/>
                  <a:pt x="69" y="119"/>
                  <a:pt x="69" y="119"/>
                </a:cubicBezTo>
                <a:cubicBezTo>
                  <a:pt x="151" y="117"/>
                  <a:pt x="151" y="117"/>
                  <a:pt x="151" y="117"/>
                </a:cubicBezTo>
                <a:cubicBezTo>
                  <a:pt x="151" y="117"/>
                  <a:pt x="151" y="117"/>
                  <a:pt x="151" y="117"/>
                </a:cubicBezTo>
                <a:cubicBezTo>
                  <a:pt x="151" y="117"/>
                  <a:pt x="157" y="116"/>
                  <a:pt x="157" y="110"/>
                </a:cubicBezTo>
                <a:cubicBezTo>
                  <a:pt x="157" y="110"/>
                  <a:pt x="157" y="110"/>
                  <a:pt x="156" y="110"/>
                </a:cubicBezTo>
                <a:close/>
                <a:moveTo>
                  <a:pt x="151" y="112"/>
                </a:moveTo>
                <a:cubicBezTo>
                  <a:pt x="137" y="112"/>
                  <a:pt x="137" y="112"/>
                  <a:pt x="137" y="112"/>
                </a:cubicBezTo>
                <a:cubicBezTo>
                  <a:pt x="137" y="106"/>
                  <a:pt x="137" y="106"/>
                  <a:pt x="137" y="106"/>
                </a:cubicBezTo>
                <a:cubicBezTo>
                  <a:pt x="151" y="106"/>
                  <a:pt x="151" y="106"/>
                  <a:pt x="151" y="106"/>
                </a:cubicBezTo>
                <a:cubicBezTo>
                  <a:pt x="151" y="110"/>
                  <a:pt x="151" y="110"/>
                  <a:pt x="151" y="110"/>
                </a:cubicBezTo>
                <a:cubicBezTo>
                  <a:pt x="151" y="112"/>
                  <a:pt x="151" y="112"/>
                  <a:pt x="151" y="112"/>
                </a:cubicBezTo>
                <a:close/>
                <a:moveTo>
                  <a:pt x="137" y="98"/>
                </a:moveTo>
                <a:cubicBezTo>
                  <a:pt x="151" y="98"/>
                  <a:pt x="151" y="98"/>
                  <a:pt x="151" y="98"/>
                </a:cubicBezTo>
                <a:cubicBezTo>
                  <a:pt x="151" y="102"/>
                  <a:pt x="151" y="102"/>
                  <a:pt x="151" y="102"/>
                </a:cubicBezTo>
                <a:cubicBezTo>
                  <a:pt x="137" y="102"/>
                  <a:pt x="137" y="102"/>
                  <a:pt x="137" y="102"/>
                </a:cubicBezTo>
                <a:lnTo>
                  <a:pt x="137" y="98"/>
                </a:lnTo>
                <a:close/>
                <a:moveTo>
                  <a:pt x="137" y="90"/>
                </a:moveTo>
                <a:cubicBezTo>
                  <a:pt x="151" y="90"/>
                  <a:pt x="151" y="90"/>
                  <a:pt x="151" y="90"/>
                </a:cubicBezTo>
                <a:cubicBezTo>
                  <a:pt x="151" y="94"/>
                  <a:pt x="151" y="94"/>
                  <a:pt x="151" y="94"/>
                </a:cubicBezTo>
                <a:cubicBezTo>
                  <a:pt x="137" y="94"/>
                  <a:pt x="137" y="94"/>
                  <a:pt x="137" y="94"/>
                </a:cubicBezTo>
                <a:lnTo>
                  <a:pt x="137" y="90"/>
                </a:lnTo>
                <a:close/>
                <a:moveTo>
                  <a:pt x="137" y="82"/>
                </a:moveTo>
                <a:cubicBezTo>
                  <a:pt x="151" y="82"/>
                  <a:pt x="151" y="82"/>
                  <a:pt x="151" y="82"/>
                </a:cubicBezTo>
                <a:cubicBezTo>
                  <a:pt x="151" y="86"/>
                  <a:pt x="151" y="86"/>
                  <a:pt x="151" y="86"/>
                </a:cubicBezTo>
                <a:cubicBezTo>
                  <a:pt x="137" y="86"/>
                  <a:pt x="137" y="86"/>
                  <a:pt x="137" y="86"/>
                </a:cubicBezTo>
                <a:lnTo>
                  <a:pt x="137" y="82"/>
                </a:lnTo>
                <a:close/>
                <a:moveTo>
                  <a:pt x="117" y="106"/>
                </a:moveTo>
                <a:cubicBezTo>
                  <a:pt x="133" y="106"/>
                  <a:pt x="133" y="106"/>
                  <a:pt x="133" y="106"/>
                </a:cubicBezTo>
                <a:cubicBezTo>
                  <a:pt x="133" y="112"/>
                  <a:pt x="133" y="112"/>
                  <a:pt x="133" y="112"/>
                </a:cubicBezTo>
                <a:cubicBezTo>
                  <a:pt x="117" y="113"/>
                  <a:pt x="117" y="113"/>
                  <a:pt x="117" y="113"/>
                </a:cubicBezTo>
                <a:lnTo>
                  <a:pt x="117" y="106"/>
                </a:lnTo>
                <a:close/>
                <a:moveTo>
                  <a:pt x="117" y="98"/>
                </a:moveTo>
                <a:cubicBezTo>
                  <a:pt x="133" y="98"/>
                  <a:pt x="133" y="98"/>
                  <a:pt x="133" y="98"/>
                </a:cubicBezTo>
                <a:cubicBezTo>
                  <a:pt x="133" y="102"/>
                  <a:pt x="133" y="102"/>
                  <a:pt x="133" y="102"/>
                </a:cubicBezTo>
                <a:cubicBezTo>
                  <a:pt x="117" y="102"/>
                  <a:pt x="117" y="102"/>
                  <a:pt x="117" y="102"/>
                </a:cubicBezTo>
                <a:lnTo>
                  <a:pt x="117" y="98"/>
                </a:lnTo>
                <a:close/>
                <a:moveTo>
                  <a:pt x="116" y="90"/>
                </a:moveTo>
                <a:cubicBezTo>
                  <a:pt x="133" y="90"/>
                  <a:pt x="133" y="90"/>
                  <a:pt x="133" y="90"/>
                </a:cubicBezTo>
                <a:cubicBezTo>
                  <a:pt x="133" y="94"/>
                  <a:pt x="133" y="94"/>
                  <a:pt x="133" y="94"/>
                </a:cubicBezTo>
                <a:cubicBezTo>
                  <a:pt x="116" y="94"/>
                  <a:pt x="116" y="94"/>
                  <a:pt x="116" y="94"/>
                </a:cubicBezTo>
                <a:lnTo>
                  <a:pt x="116" y="90"/>
                </a:lnTo>
                <a:close/>
                <a:moveTo>
                  <a:pt x="116" y="82"/>
                </a:moveTo>
                <a:cubicBezTo>
                  <a:pt x="133" y="82"/>
                  <a:pt x="133" y="82"/>
                  <a:pt x="133" y="82"/>
                </a:cubicBezTo>
                <a:cubicBezTo>
                  <a:pt x="133" y="86"/>
                  <a:pt x="133" y="86"/>
                  <a:pt x="133" y="86"/>
                </a:cubicBezTo>
                <a:cubicBezTo>
                  <a:pt x="116" y="86"/>
                  <a:pt x="116" y="86"/>
                  <a:pt x="116" y="86"/>
                </a:cubicBezTo>
                <a:lnTo>
                  <a:pt x="116" y="82"/>
                </a:lnTo>
                <a:close/>
                <a:moveTo>
                  <a:pt x="116" y="73"/>
                </a:moveTo>
                <a:cubicBezTo>
                  <a:pt x="133" y="74"/>
                  <a:pt x="133" y="74"/>
                  <a:pt x="133" y="74"/>
                </a:cubicBezTo>
                <a:cubicBezTo>
                  <a:pt x="133" y="78"/>
                  <a:pt x="133" y="78"/>
                  <a:pt x="133" y="78"/>
                </a:cubicBezTo>
                <a:cubicBezTo>
                  <a:pt x="116" y="78"/>
                  <a:pt x="116" y="78"/>
                  <a:pt x="116" y="78"/>
                </a:cubicBezTo>
                <a:lnTo>
                  <a:pt x="116" y="73"/>
                </a:lnTo>
                <a:close/>
                <a:moveTo>
                  <a:pt x="97" y="106"/>
                </a:moveTo>
                <a:cubicBezTo>
                  <a:pt x="113" y="106"/>
                  <a:pt x="113" y="106"/>
                  <a:pt x="113" y="106"/>
                </a:cubicBezTo>
                <a:cubicBezTo>
                  <a:pt x="113" y="113"/>
                  <a:pt x="113" y="113"/>
                  <a:pt x="113" y="113"/>
                </a:cubicBezTo>
                <a:cubicBezTo>
                  <a:pt x="97" y="113"/>
                  <a:pt x="97" y="113"/>
                  <a:pt x="97" y="113"/>
                </a:cubicBezTo>
                <a:lnTo>
                  <a:pt x="97" y="106"/>
                </a:lnTo>
                <a:close/>
                <a:moveTo>
                  <a:pt x="97" y="98"/>
                </a:moveTo>
                <a:cubicBezTo>
                  <a:pt x="113" y="98"/>
                  <a:pt x="113" y="98"/>
                  <a:pt x="113" y="98"/>
                </a:cubicBezTo>
                <a:cubicBezTo>
                  <a:pt x="113" y="102"/>
                  <a:pt x="113" y="102"/>
                  <a:pt x="113" y="102"/>
                </a:cubicBezTo>
                <a:cubicBezTo>
                  <a:pt x="97" y="102"/>
                  <a:pt x="97" y="102"/>
                  <a:pt x="97" y="102"/>
                </a:cubicBezTo>
                <a:lnTo>
                  <a:pt x="97" y="98"/>
                </a:lnTo>
                <a:close/>
                <a:moveTo>
                  <a:pt x="96" y="90"/>
                </a:moveTo>
                <a:cubicBezTo>
                  <a:pt x="112" y="90"/>
                  <a:pt x="112" y="90"/>
                  <a:pt x="112" y="90"/>
                </a:cubicBezTo>
                <a:cubicBezTo>
                  <a:pt x="113" y="94"/>
                  <a:pt x="113" y="94"/>
                  <a:pt x="113" y="94"/>
                </a:cubicBezTo>
                <a:cubicBezTo>
                  <a:pt x="96" y="94"/>
                  <a:pt x="96" y="94"/>
                  <a:pt x="96" y="94"/>
                </a:cubicBezTo>
                <a:lnTo>
                  <a:pt x="96" y="90"/>
                </a:lnTo>
                <a:close/>
                <a:moveTo>
                  <a:pt x="96" y="82"/>
                </a:moveTo>
                <a:cubicBezTo>
                  <a:pt x="112" y="82"/>
                  <a:pt x="112" y="82"/>
                  <a:pt x="112" y="82"/>
                </a:cubicBezTo>
                <a:cubicBezTo>
                  <a:pt x="112" y="86"/>
                  <a:pt x="112" y="86"/>
                  <a:pt x="112" y="86"/>
                </a:cubicBezTo>
                <a:cubicBezTo>
                  <a:pt x="96" y="86"/>
                  <a:pt x="96" y="86"/>
                  <a:pt x="96" y="86"/>
                </a:cubicBezTo>
                <a:lnTo>
                  <a:pt x="96" y="82"/>
                </a:lnTo>
                <a:close/>
                <a:moveTo>
                  <a:pt x="95" y="73"/>
                </a:moveTo>
                <a:cubicBezTo>
                  <a:pt x="112" y="73"/>
                  <a:pt x="112" y="73"/>
                  <a:pt x="112" y="73"/>
                </a:cubicBezTo>
                <a:cubicBezTo>
                  <a:pt x="112" y="78"/>
                  <a:pt x="112" y="78"/>
                  <a:pt x="112" y="78"/>
                </a:cubicBezTo>
                <a:cubicBezTo>
                  <a:pt x="96" y="78"/>
                  <a:pt x="96" y="78"/>
                  <a:pt x="96" y="78"/>
                </a:cubicBezTo>
                <a:lnTo>
                  <a:pt x="95" y="73"/>
                </a:lnTo>
                <a:close/>
                <a:moveTo>
                  <a:pt x="81" y="106"/>
                </a:moveTo>
                <a:cubicBezTo>
                  <a:pt x="93" y="106"/>
                  <a:pt x="93" y="106"/>
                  <a:pt x="93" y="106"/>
                </a:cubicBezTo>
                <a:cubicBezTo>
                  <a:pt x="93" y="113"/>
                  <a:pt x="93" y="113"/>
                  <a:pt x="93" y="113"/>
                </a:cubicBezTo>
                <a:cubicBezTo>
                  <a:pt x="82" y="114"/>
                  <a:pt x="82" y="114"/>
                  <a:pt x="82" y="114"/>
                </a:cubicBezTo>
                <a:lnTo>
                  <a:pt x="81" y="106"/>
                </a:lnTo>
                <a:close/>
                <a:moveTo>
                  <a:pt x="80" y="98"/>
                </a:moveTo>
                <a:cubicBezTo>
                  <a:pt x="93" y="98"/>
                  <a:pt x="93" y="98"/>
                  <a:pt x="93" y="98"/>
                </a:cubicBezTo>
                <a:cubicBezTo>
                  <a:pt x="93" y="102"/>
                  <a:pt x="93" y="102"/>
                  <a:pt x="93" y="102"/>
                </a:cubicBezTo>
                <a:cubicBezTo>
                  <a:pt x="81" y="102"/>
                  <a:pt x="81" y="102"/>
                  <a:pt x="81" y="102"/>
                </a:cubicBezTo>
                <a:lnTo>
                  <a:pt x="80" y="98"/>
                </a:lnTo>
                <a:close/>
                <a:moveTo>
                  <a:pt x="79" y="90"/>
                </a:moveTo>
                <a:cubicBezTo>
                  <a:pt x="92" y="90"/>
                  <a:pt x="92" y="90"/>
                  <a:pt x="92" y="90"/>
                </a:cubicBezTo>
                <a:cubicBezTo>
                  <a:pt x="92" y="94"/>
                  <a:pt x="92" y="94"/>
                  <a:pt x="92" y="94"/>
                </a:cubicBezTo>
                <a:cubicBezTo>
                  <a:pt x="79" y="94"/>
                  <a:pt x="79" y="94"/>
                  <a:pt x="79" y="94"/>
                </a:cubicBezTo>
                <a:lnTo>
                  <a:pt x="79" y="90"/>
                </a:lnTo>
                <a:close/>
                <a:moveTo>
                  <a:pt x="77" y="82"/>
                </a:moveTo>
                <a:cubicBezTo>
                  <a:pt x="92" y="82"/>
                  <a:pt x="92" y="82"/>
                  <a:pt x="92" y="82"/>
                </a:cubicBezTo>
                <a:cubicBezTo>
                  <a:pt x="92" y="86"/>
                  <a:pt x="92" y="86"/>
                  <a:pt x="92" y="86"/>
                </a:cubicBezTo>
                <a:cubicBezTo>
                  <a:pt x="78" y="86"/>
                  <a:pt x="78" y="86"/>
                  <a:pt x="78" y="86"/>
                </a:cubicBezTo>
                <a:lnTo>
                  <a:pt x="77" y="82"/>
                </a:lnTo>
                <a:close/>
                <a:moveTo>
                  <a:pt x="75" y="72"/>
                </a:moveTo>
                <a:cubicBezTo>
                  <a:pt x="91" y="73"/>
                  <a:pt x="91" y="73"/>
                  <a:pt x="91" y="73"/>
                </a:cubicBezTo>
                <a:cubicBezTo>
                  <a:pt x="92" y="78"/>
                  <a:pt x="92" y="78"/>
                  <a:pt x="92" y="78"/>
                </a:cubicBezTo>
                <a:cubicBezTo>
                  <a:pt x="77" y="78"/>
                  <a:pt x="77" y="78"/>
                  <a:pt x="77" y="78"/>
                </a:cubicBezTo>
                <a:lnTo>
                  <a:pt x="75" y="72"/>
                </a:lnTo>
                <a:close/>
                <a:moveTo>
                  <a:pt x="63" y="90"/>
                </a:moveTo>
                <a:cubicBezTo>
                  <a:pt x="75" y="90"/>
                  <a:pt x="75" y="90"/>
                  <a:pt x="75" y="90"/>
                </a:cubicBezTo>
                <a:cubicBezTo>
                  <a:pt x="75" y="94"/>
                  <a:pt x="75" y="94"/>
                  <a:pt x="75" y="94"/>
                </a:cubicBezTo>
                <a:cubicBezTo>
                  <a:pt x="64" y="94"/>
                  <a:pt x="64" y="94"/>
                  <a:pt x="64" y="94"/>
                </a:cubicBezTo>
                <a:lnTo>
                  <a:pt x="63" y="90"/>
                </a:lnTo>
                <a:close/>
                <a:moveTo>
                  <a:pt x="60" y="82"/>
                </a:moveTo>
                <a:cubicBezTo>
                  <a:pt x="73" y="82"/>
                  <a:pt x="73" y="82"/>
                  <a:pt x="73" y="82"/>
                </a:cubicBezTo>
                <a:cubicBezTo>
                  <a:pt x="74" y="86"/>
                  <a:pt x="74" y="86"/>
                  <a:pt x="74" y="86"/>
                </a:cubicBezTo>
                <a:cubicBezTo>
                  <a:pt x="62" y="86"/>
                  <a:pt x="62" y="86"/>
                  <a:pt x="62" y="86"/>
                </a:cubicBezTo>
                <a:lnTo>
                  <a:pt x="60" y="82"/>
                </a:lnTo>
                <a:close/>
                <a:moveTo>
                  <a:pt x="57" y="71"/>
                </a:moveTo>
                <a:cubicBezTo>
                  <a:pt x="72" y="72"/>
                  <a:pt x="72" y="72"/>
                  <a:pt x="72" y="72"/>
                </a:cubicBezTo>
                <a:cubicBezTo>
                  <a:pt x="73" y="78"/>
                  <a:pt x="73" y="78"/>
                  <a:pt x="73" y="78"/>
                </a:cubicBezTo>
                <a:cubicBezTo>
                  <a:pt x="59" y="78"/>
                  <a:pt x="59" y="78"/>
                  <a:pt x="59" y="78"/>
                </a:cubicBezTo>
                <a:lnTo>
                  <a:pt x="57" y="71"/>
                </a:lnTo>
                <a:close/>
                <a:moveTo>
                  <a:pt x="77" y="102"/>
                </a:moveTo>
                <a:cubicBezTo>
                  <a:pt x="67" y="102"/>
                  <a:pt x="67" y="102"/>
                  <a:pt x="67" y="102"/>
                </a:cubicBezTo>
                <a:cubicBezTo>
                  <a:pt x="65" y="98"/>
                  <a:pt x="65" y="98"/>
                  <a:pt x="65" y="98"/>
                </a:cubicBezTo>
                <a:cubicBezTo>
                  <a:pt x="76" y="98"/>
                  <a:pt x="76" y="98"/>
                  <a:pt x="76" y="98"/>
                </a:cubicBezTo>
                <a:lnTo>
                  <a:pt x="77" y="102"/>
                </a:lnTo>
                <a:close/>
                <a:moveTo>
                  <a:pt x="79" y="114"/>
                </a:moveTo>
                <a:cubicBezTo>
                  <a:pt x="70" y="114"/>
                  <a:pt x="70" y="114"/>
                  <a:pt x="70" y="114"/>
                </a:cubicBezTo>
                <a:cubicBezTo>
                  <a:pt x="67" y="106"/>
                  <a:pt x="67" y="106"/>
                  <a:pt x="67" y="106"/>
                </a:cubicBezTo>
                <a:cubicBezTo>
                  <a:pt x="77" y="106"/>
                  <a:pt x="77" y="106"/>
                  <a:pt x="77" y="106"/>
                </a:cubicBezTo>
                <a:lnTo>
                  <a:pt x="79" y="114"/>
                </a:lnTo>
                <a:close/>
                <a:moveTo>
                  <a:pt x="151" y="77"/>
                </a:moveTo>
                <a:cubicBezTo>
                  <a:pt x="151" y="77"/>
                  <a:pt x="151" y="77"/>
                  <a:pt x="151" y="77"/>
                </a:cubicBezTo>
                <a:cubicBezTo>
                  <a:pt x="156" y="77"/>
                  <a:pt x="156" y="77"/>
                  <a:pt x="156" y="77"/>
                </a:cubicBezTo>
                <a:cubicBezTo>
                  <a:pt x="156" y="77"/>
                  <a:pt x="156" y="77"/>
                  <a:pt x="156" y="77"/>
                </a:cubicBezTo>
                <a:cubicBezTo>
                  <a:pt x="156" y="77"/>
                  <a:pt x="151" y="77"/>
                  <a:pt x="151" y="77"/>
                </a:cubicBezTo>
                <a:close/>
                <a:moveTo>
                  <a:pt x="137" y="78"/>
                </a:moveTo>
                <a:cubicBezTo>
                  <a:pt x="137" y="74"/>
                  <a:pt x="137" y="74"/>
                  <a:pt x="137" y="74"/>
                </a:cubicBezTo>
                <a:cubicBezTo>
                  <a:pt x="151" y="75"/>
                  <a:pt x="151" y="75"/>
                  <a:pt x="151" y="75"/>
                </a:cubicBezTo>
                <a:cubicBezTo>
                  <a:pt x="151" y="75"/>
                  <a:pt x="151" y="75"/>
                  <a:pt x="151" y="75"/>
                </a:cubicBezTo>
                <a:cubicBezTo>
                  <a:pt x="151" y="77"/>
                  <a:pt x="151" y="77"/>
                  <a:pt x="151" y="77"/>
                </a:cubicBezTo>
                <a:cubicBezTo>
                  <a:pt x="151" y="78"/>
                  <a:pt x="151" y="78"/>
                  <a:pt x="151" y="78"/>
                </a:cubicBezTo>
                <a:lnTo>
                  <a:pt x="137" y="78"/>
                </a:lnTo>
                <a:close/>
                <a:moveTo>
                  <a:pt x="85" y="143"/>
                </a:moveTo>
                <a:cubicBezTo>
                  <a:pt x="88" y="143"/>
                  <a:pt x="90" y="145"/>
                  <a:pt x="90" y="149"/>
                </a:cubicBezTo>
                <a:cubicBezTo>
                  <a:pt x="90" y="152"/>
                  <a:pt x="88" y="155"/>
                  <a:pt x="85" y="155"/>
                </a:cubicBezTo>
                <a:cubicBezTo>
                  <a:pt x="81" y="155"/>
                  <a:pt x="79" y="152"/>
                  <a:pt x="79" y="149"/>
                </a:cubicBezTo>
                <a:cubicBezTo>
                  <a:pt x="79" y="145"/>
                  <a:pt x="81" y="143"/>
                  <a:pt x="85" y="143"/>
                </a:cubicBezTo>
                <a:close/>
                <a:moveTo>
                  <a:pt x="138" y="143"/>
                </a:moveTo>
                <a:cubicBezTo>
                  <a:pt x="142" y="143"/>
                  <a:pt x="144" y="145"/>
                  <a:pt x="144" y="149"/>
                </a:cubicBezTo>
                <a:cubicBezTo>
                  <a:pt x="144" y="152"/>
                  <a:pt x="142" y="155"/>
                  <a:pt x="138" y="155"/>
                </a:cubicBezTo>
                <a:cubicBezTo>
                  <a:pt x="135" y="155"/>
                  <a:pt x="132" y="152"/>
                  <a:pt x="132" y="149"/>
                </a:cubicBezTo>
                <a:cubicBezTo>
                  <a:pt x="132" y="145"/>
                  <a:pt x="135" y="143"/>
                  <a:pt x="138" y="143"/>
                </a:cubicBez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5" name="Freeform 78"/>
          <p:cNvSpPr>
            <a:spLocks noEditPoints="1"/>
          </p:cNvSpPr>
          <p:nvPr/>
        </p:nvSpPr>
        <p:spPr bwMode="auto">
          <a:xfrm>
            <a:off x="7585872" y="3878099"/>
            <a:ext cx="552286" cy="554503"/>
          </a:xfrm>
          <a:custGeom>
            <a:avLst/>
            <a:gdLst>
              <a:gd name="T0" fmla="*/ 0 w 200"/>
              <a:gd name="T1" fmla="*/ 100 h 200"/>
              <a:gd name="T2" fmla="*/ 200 w 200"/>
              <a:gd name="T3" fmla="*/ 100 h 200"/>
              <a:gd name="T4" fmla="*/ 159 w 200"/>
              <a:gd name="T5" fmla="*/ 82 h 200"/>
              <a:gd name="T6" fmla="*/ 132 w 200"/>
              <a:gd name="T7" fmla="*/ 76 h 200"/>
              <a:gd name="T8" fmla="*/ 132 w 200"/>
              <a:gd name="T9" fmla="*/ 88 h 200"/>
              <a:gd name="T10" fmla="*/ 136 w 200"/>
              <a:gd name="T11" fmla="*/ 141 h 200"/>
              <a:gd name="T12" fmla="*/ 146 w 200"/>
              <a:gd name="T13" fmla="*/ 144 h 200"/>
              <a:gd name="T14" fmla="*/ 148 w 200"/>
              <a:gd name="T15" fmla="*/ 86 h 200"/>
              <a:gd name="T16" fmla="*/ 159 w 200"/>
              <a:gd name="T17" fmla="*/ 82 h 200"/>
              <a:gd name="T18" fmla="*/ 149 w 200"/>
              <a:gd name="T19" fmla="*/ 168 h 200"/>
              <a:gd name="T20" fmla="*/ 149 w 200"/>
              <a:gd name="T21" fmla="*/ 164 h 200"/>
              <a:gd name="T22" fmla="*/ 48 w 200"/>
              <a:gd name="T23" fmla="*/ 166 h 200"/>
              <a:gd name="T24" fmla="*/ 51 w 200"/>
              <a:gd name="T25" fmla="*/ 160 h 200"/>
              <a:gd name="T26" fmla="*/ 152 w 200"/>
              <a:gd name="T27" fmla="*/ 158 h 200"/>
              <a:gd name="T28" fmla="*/ 51 w 200"/>
              <a:gd name="T29" fmla="*/ 156 h 200"/>
              <a:gd name="T30" fmla="*/ 51 w 200"/>
              <a:gd name="T31" fmla="*/ 160 h 200"/>
              <a:gd name="T32" fmla="*/ 149 w 200"/>
              <a:gd name="T33" fmla="*/ 152 h 200"/>
              <a:gd name="T34" fmla="*/ 149 w 200"/>
              <a:gd name="T35" fmla="*/ 148 h 200"/>
              <a:gd name="T36" fmla="*/ 48 w 200"/>
              <a:gd name="T37" fmla="*/ 150 h 200"/>
              <a:gd name="T38" fmla="*/ 111 w 200"/>
              <a:gd name="T39" fmla="*/ 88 h 200"/>
              <a:gd name="T40" fmla="*/ 111 w 200"/>
              <a:gd name="T41" fmla="*/ 76 h 200"/>
              <a:gd name="T42" fmla="*/ 84 w 200"/>
              <a:gd name="T43" fmla="*/ 82 h 200"/>
              <a:gd name="T44" fmla="*/ 94 w 200"/>
              <a:gd name="T45" fmla="*/ 86 h 200"/>
              <a:gd name="T46" fmla="*/ 97 w 200"/>
              <a:gd name="T47" fmla="*/ 144 h 200"/>
              <a:gd name="T48" fmla="*/ 107 w 200"/>
              <a:gd name="T49" fmla="*/ 141 h 200"/>
              <a:gd name="T50" fmla="*/ 111 w 200"/>
              <a:gd name="T51" fmla="*/ 88 h 200"/>
              <a:gd name="T52" fmla="*/ 52 w 200"/>
              <a:gd name="T53" fmla="*/ 86 h 200"/>
              <a:gd name="T54" fmla="*/ 54 w 200"/>
              <a:gd name="T55" fmla="*/ 144 h 200"/>
              <a:gd name="T56" fmla="*/ 65 w 200"/>
              <a:gd name="T57" fmla="*/ 141 h 200"/>
              <a:gd name="T58" fmla="*/ 69 w 200"/>
              <a:gd name="T59" fmla="*/ 88 h 200"/>
              <a:gd name="T60" fmla="*/ 69 w 200"/>
              <a:gd name="T61" fmla="*/ 76 h 200"/>
              <a:gd name="T62" fmla="*/ 42 w 200"/>
              <a:gd name="T63" fmla="*/ 82 h 200"/>
              <a:gd name="T64" fmla="*/ 133 w 200"/>
              <a:gd name="T65" fmla="*/ 51 h 200"/>
              <a:gd name="T66" fmla="*/ 68 w 200"/>
              <a:gd name="T67" fmla="*/ 51 h 200"/>
              <a:gd name="T68" fmla="*/ 100 w 200"/>
              <a:gd name="T69" fmla="*/ 68 h 200"/>
              <a:gd name="T70" fmla="*/ 133 w 200"/>
              <a:gd name="T71" fmla="*/ 51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00" h="200">
                <a:moveTo>
                  <a:pt x="100" y="200"/>
                </a:moveTo>
                <a:cubicBezTo>
                  <a:pt x="45" y="200"/>
                  <a:pt x="0" y="155"/>
                  <a:pt x="0" y="100"/>
                </a:cubicBezTo>
                <a:cubicBezTo>
                  <a:pt x="0" y="45"/>
                  <a:pt x="45" y="0"/>
                  <a:pt x="100" y="0"/>
                </a:cubicBezTo>
                <a:cubicBezTo>
                  <a:pt x="156" y="0"/>
                  <a:pt x="200" y="45"/>
                  <a:pt x="200" y="100"/>
                </a:cubicBezTo>
                <a:cubicBezTo>
                  <a:pt x="200" y="155"/>
                  <a:pt x="156" y="200"/>
                  <a:pt x="100" y="200"/>
                </a:cubicBezTo>
                <a:close/>
                <a:moveTo>
                  <a:pt x="159" y="82"/>
                </a:moveTo>
                <a:cubicBezTo>
                  <a:pt x="159" y="79"/>
                  <a:pt x="156" y="76"/>
                  <a:pt x="153" y="76"/>
                </a:cubicBezTo>
                <a:cubicBezTo>
                  <a:pt x="132" y="76"/>
                  <a:pt x="132" y="76"/>
                  <a:pt x="132" y="76"/>
                </a:cubicBezTo>
                <a:cubicBezTo>
                  <a:pt x="129" y="76"/>
                  <a:pt x="127" y="79"/>
                  <a:pt x="127" y="82"/>
                </a:cubicBezTo>
                <a:cubicBezTo>
                  <a:pt x="127" y="86"/>
                  <a:pt x="129" y="88"/>
                  <a:pt x="132" y="88"/>
                </a:cubicBezTo>
                <a:cubicBezTo>
                  <a:pt x="134" y="88"/>
                  <a:pt x="135" y="88"/>
                  <a:pt x="136" y="86"/>
                </a:cubicBezTo>
                <a:cubicBezTo>
                  <a:pt x="136" y="141"/>
                  <a:pt x="136" y="141"/>
                  <a:pt x="136" y="141"/>
                </a:cubicBezTo>
                <a:cubicBezTo>
                  <a:pt x="136" y="143"/>
                  <a:pt x="137" y="144"/>
                  <a:pt x="139" y="144"/>
                </a:cubicBezTo>
                <a:cubicBezTo>
                  <a:pt x="146" y="144"/>
                  <a:pt x="146" y="144"/>
                  <a:pt x="146" y="144"/>
                </a:cubicBezTo>
                <a:cubicBezTo>
                  <a:pt x="147" y="144"/>
                  <a:pt x="148" y="143"/>
                  <a:pt x="148" y="141"/>
                </a:cubicBezTo>
                <a:cubicBezTo>
                  <a:pt x="148" y="86"/>
                  <a:pt x="148" y="86"/>
                  <a:pt x="148" y="86"/>
                </a:cubicBezTo>
                <a:cubicBezTo>
                  <a:pt x="149" y="88"/>
                  <a:pt x="151" y="88"/>
                  <a:pt x="153" y="88"/>
                </a:cubicBezTo>
                <a:cubicBezTo>
                  <a:pt x="156" y="88"/>
                  <a:pt x="159" y="86"/>
                  <a:pt x="159" y="82"/>
                </a:cubicBezTo>
                <a:close/>
                <a:moveTo>
                  <a:pt x="51" y="168"/>
                </a:moveTo>
                <a:cubicBezTo>
                  <a:pt x="149" y="168"/>
                  <a:pt x="149" y="168"/>
                  <a:pt x="149" y="168"/>
                </a:cubicBezTo>
                <a:cubicBezTo>
                  <a:pt x="151" y="168"/>
                  <a:pt x="152" y="168"/>
                  <a:pt x="152" y="166"/>
                </a:cubicBezTo>
                <a:cubicBezTo>
                  <a:pt x="152" y="165"/>
                  <a:pt x="151" y="164"/>
                  <a:pt x="149" y="164"/>
                </a:cubicBezTo>
                <a:cubicBezTo>
                  <a:pt x="51" y="164"/>
                  <a:pt x="51" y="164"/>
                  <a:pt x="51" y="164"/>
                </a:cubicBezTo>
                <a:cubicBezTo>
                  <a:pt x="50" y="164"/>
                  <a:pt x="48" y="165"/>
                  <a:pt x="48" y="166"/>
                </a:cubicBezTo>
                <a:cubicBezTo>
                  <a:pt x="48" y="168"/>
                  <a:pt x="50" y="168"/>
                  <a:pt x="51" y="168"/>
                </a:cubicBezTo>
                <a:close/>
                <a:moveTo>
                  <a:pt x="51" y="160"/>
                </a:moveTo>
                <a:cubicBezTo>
                  <a:pt x="149" y="160"/>
                  <a:pt x="149" y="160"/>
                  <a:pt x="149" y="160"/>
                </a:cubicBezTo>
                <a:cubicBezTo>
                  <a:pt x="151" y="160"/>
                  <a:pt x="152" y="160"/>
                  <a:pt x="152" y="158"/>
                </a:cubicBezTo>
                <a:cubicBezTo>
                  <a:pt x="152" y="157"/>
                  <a:pt x="151" y="156"/>
                  <a:pt x="149" y="156"/>
                </a:cubicBezTo>
                <a:cubicBezTo>
                  <a:pt x="51" y="156"/>
                  <a:pt x="51" y="156"/>
                  <a:pt x="51" y="156"/>
                </a:cubicBezTo>
                <a:cubicBezTo>
                  <a:pt x="50" y="156"/>
                  <a:pt x="48" y="157"/>
                  <a:pt x="48" y="158"/>
                </a:cubicBezTo>
                <a:cubicBezTo>
                  <a:pt x="48" y="160"/>
                  <a:pt x="50" y="160"/>
                  <a:pt x="51" y="160"/>
                </a:cubicBezTo>
                <a:close/>
                <a:moveTo>
                  <a:pt x="51" y="152"/>
                </a:moveTo>
                <a:cubicBezTo>
                  <a:pt x="149" y="152"/>
                  <a:pt x="149" y="152"/>
                  <a:pt x="149" y="152"/>
                </a:cubicBezTo>
                <a:cubicBezTo>
                  <a:pt x="151" y="152"/>
                  <a:pt x="152" y="152"/>
                  <a:pt x="152" y="150"/>
                </a:cubicBezTo>
                <a:cubicBezTo>
                  <a:pt x="152" y="149"/>
                  <a:pt x="151" y="148"/>
                  <a:pt x="149" y="148"/>
                </a:cubicBezTo>
                <a:cubicBezTo>
                  <a:pt x="51" y="148"/>
                  <a:pt x="51" y="148"/>
                  <a:pt x="51" y="148"/>
                </a:cubicBezTo>
                <a:cubicBezTo>
                  <a:pt x="50" y="148"/>
                  <a:pt x="48" y="149"/>
                  <a:pt x="48" y="150"/>
                </a:cubicBezTo>
                <a:cubicBezTo>
                  <a:pt x="48" y="152"/>
                  <a:pt x="50" y="152"/>
                  <a:pt x="51" y="152"/>
                </a:cubicBezTo>
                <a:close/>
                <a:moveTo>
                  <a:pt x="111" y="88"/>
                </a:moveTo>
                <a:cubicBezTo>
                  <a:pt x="114" y="88"/>
                  <a:pt x="116" y="86"/>
                  <a:pt x="116" y="82"/>
                </a:cubicBezTo>
                <a:cubicBezTo>
                  <a:pt x="116" y="79"/>
                  <a:pt x="114" y="76"/>
                  <a:pt x="111" y="76"/>
                </a:cubicBezTo>
                <a:cubicBezTo>
                  <a:pt x="90" y="76"/>
                  <a:pt x="90" y="76"/>
                  <a:pt x="90" y="76"/>
                </a:cubicBezTo>
                <a:cubicBezTo>
                  <a:pt x="87" y="76"/>
                  <a:pt x="84" y="79"/>
                  <a:pt x="84" y="82"/>
                </a:cubicBezTo>
                <a:cubicBezTo>
                  <a:pt x="84" y="86"/>
                  <a:pt x="87" y="88"/>
                  <a:pt x="90" y="88"/>
                </a:cubicBezTo>
                <a:cubicBezTo>
                  <a:pt x="91" y="88"/>
                  <a:pt x="93" y="88"/>
                  <a:pt x="94" y="86"/>
                </a:cubicBezTo>
                <a:cubicBezTo>
                  <a:pt x="94" y="141"/>
                  <a:pt x="94" y="141"/>
                  <a:pt x="94" y="141"/>
                </a:cubicBezTo>
                <a:cubicBezTo>
                  <a:pt x="94" y="143"/>
                  <a:pt x="95" y="144"/>
                  <a:pt x="97" y="144"/>
                </a:cubicBezTo>
                <a:cubicBezTo>
                  <a:pt x="104" y="144"/>
                  <a:pt x="104" y="144"/>
                  <a:pt x="104" y="144"/>
                </a:cubicBezTo>
                <a:cubicBezTo>
                  <a:pt x="106" y="144"/>
                  <a:pt x="107" y="143"/>
                  <a:pt x="107" y="141"/>
                </a:cubicBezTo>
                <a:cubicBezTo>
                  <a:pt x="107" y="86"/>
                  <a:pt x="107" y="86"/>
                  <a:pt x="107" y="86"/>
                </a:cubicBezTo>
                <a:cubicBezTo>
                  <a:pt x="108" y="88"/>
                  <a:pt x="109" y="88"/>
                  <a:pt x="111" y="88"/>
                </a:cubicBezTo>
                <a:close/>
                <a:moveTo>
                  <a:pt x="48" y="88"/>
                </a:moveTo>
                <a:cubicBezTo>
                  <a:pt x="49" y="88"/>
                  <a:pt x="51" y="88"/>
                  <a:pt x="52" y="86"/>
                </a:cubicBezTo>
                <a:cubicBezTo>
                  <a:pt x="52" y="141"/>
                  <a:pt x="52" y="141"/>
                  <a:pt x="52" y="141"/>
                </a:cubicBezTo>
                <a:cubicBezTo>
                  <a:pt x="52" y="143"/>
                  <a:pt x="53" y="144"/>
                  <a:pt x="54" y="144"/>
                </a:cubicBezTo>
                <a:cubicBezTo>
                  <a:pt x="62" y="144"/>
                  <a:pt x="62" y="144"/>
                  <a:pt x="62" y="144"/>
                </a:cubicBezTo>
                <a:cubicBezTo>
                  <a:pt x="63" y="144"/>
                  <a:pt x="65" y="143"/>
                  <a:pt x="65" y="141"/>
                </a:cubicBezTo>
                <a:cubicBezTo>
                  <a:pt x="65" y="86"/>
                  <a:pt x="65" y="86"/>
                  <a:pt x="65" y="86"/>
                </a:cubicBezTo>
                <a:cubicBezTo>
                  <a:pt x="66" y="88"/>
                  <a:pt x="67" y="88"/>
                  <a:pt x="69" y="88"/>
                </a:cubicBezTo>
                <a:cubicBezTo>
                  <a:pt x="72" y="88"/>
                  <a:pt x="74" y="86"/>
                  <a:pt x="74" y="82"/>
                </a:cubicBezTo>
                <a:cubicBezTo>
                  <a:pt x="74" y="79"/>
                  <a:pt x="72" y="76"/>
                  <a:pt x="69" y="76"/>
                </a:cubicBezTo>
                <a:cubicBezTo>
                  <a:pt x="48" y="76"/>
                  <a:pt x="48" y="76"/>
                  <a:pt x="48" y="76"/>
                </a:cubicBezTo>
                <a:cubicBezTo>
                  <a:pt x="45" y="76"/>
                  <a:pt x="42" y="79"/>
                  <a:pt x="42" y="82"/>
                </a:cubicBezTo>
                <a:cubicBezTo>
                  <a:pt x="42" y="86"/>
                  <a:pt x="45" y="88"/>
                  <a:pt x="48" y="88"/>
                </a:cubicBezTo>
                <a:close/>
                <a:moveTo>
                  <a:pt x="133" y="51"/>
                </a:moveTo>
                <a:cubicBezTo>
                  <a:pt x="100" y="34"/>
                  <a:pt x="100" y="34"/>
                  <a:pt x="100" y="34"/>
                </a:cubicBezTo>
                <a:cubicBezTo>
                  <a:pt x="68" y="51"/>
                  <a:pt x="68" y="51"/>
                  <a:pt x="68" y="51"/>
                </a:cubicBezTo>
                <a:cubicBezTo>
                  <a:pt x="36" y="68"/>
                  <a:pt x="36" y="68"/>
                  <a:pt x="36" y="68"/>
                </a:cubicBezTo>
                <a:cubicBezTo>
                  <a:pt x="100" y="68"/>
                  <a:pt x="100" y="68"/>
                  <a:pt x="100" y="68"/>
                </a:cubicBezTo>
                <a:cubicBezTo>
                  <a:pt x="165" y="68"/>
                  <a:pt x="165" y="68"/>
                  <a:pt x="165" y="68"/>
                </a:cubicBezTo>
                <a:lnTo>
                  <a:pt x="133" y="51"/>
                </a:ln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56" name="Freeform 79"/>
          <p:cNvSpPr>
            <a:spLocks noEditPoints="1"/>
          </p:cNvSpPr>
          <p:nvPr/>
        </p:nvSpPr>
        <p:spPr bwMode="auto">
          <a:xfrm>
            <a:off x="3860932" y="5399232"/>
            <a:ext cx="552286" cy="552286"/>
          </a:xfrm>
          <a:custGeom>
            <a:avLst/>
            <a:gdLst>
              <a:gd name="T0" fmla="*/ 100 w 200"/>
              <a:gd name="T1" fmla="*/ 200 h 200"/>
              <a:gd name="T2" fmla="*/ 0 w 200"/>
              <a:gd name="T3" fmla="*/ 100 h 200"/>
              <a:gd name="T4" fmla="*/ 100 w 200"/>
              <a:gd name="T5" fmla="*/ 0 h 200"/>
              <a:gd name="T6" fmla="*/ 200 w 200"/>
              <a:gd name="T7" fmla="*/ 100 h 200"/>
              <a:gd name="T8" fmla="*/ 100 w 200"/>
              <a:gd name="T9" fmla="*/ 200 h 200"/>
              <a:gd name="T10" fmla="*/ 156 w 200"/>
              <a:gd name="T11" fmla="*/ 80 h 200"/>
              <a:gd name="T12" fmla="*/ 142 w 200"/>
              <a:gd name="T13" fmla="*/ 80 h 200"/>
              <a:gd name="T14" fmla="*/ 142 w 200"/>
              <a:gd name="T15" fmla="*/ 62 h 200"/>
              <a:gd name="T16" fmla="*/ 100 w 200"/>
              <a:gd name="T17" fmla="*/ 20 h 200"/>
              <a:gd name="T18" fmla="*/ 58 w 200"/>
              <a:gd name="T19" fmla="*/ 62 h 200"/>
              <a:gd name="T20" fmla="*/ 58 w 200"/>
              <a:gd name="T21" fmla="*/ 80 h 200"/>
              <a:gd name="T22" fmla="*/ 44 w 200"/>
              <a:gd name="T23" fmla="*/ 80 h 200"/>
              <a:gd name="T24" fmla="*/ 44 w 200"/>
              <a:gd name="T25" fmla="*/ 160 h 200"/>
              <a:gd name="T26" fmla="*/ 156 w 200"/>
              <a:gd name="T27" fmla="*/ 160 h 200"/>
              <a:gd name="T28" fmla="*/ 156 w 200"/>
              <a:gd name="T29" fmla="*/ 80 h 200"/>
              <a:gd name="T30" fmla="*/ 100 w 200"/>
              <a:gd name="T31" fmla="*/ 32 h 200"/>
              <a:gd name="T32" fmla="*/ 130 w 200"/>
              <a:gd name="T33" fmla="*/ 62 h 200"/>
              <a:gd name="T34" fmla="*/ 130 w 200"/>
              <a:gd name="T35" fmla="*/ 80 h 200"/>
              <a:gd name="T36" fmla="*/ 70 w 200"/>
              <a:gd name="T37" fmla="*/ 80 h 200"/>
              <a:gd name="T38" fmla="*/ 70 w 200"/>
              <a:gd name="T39" fmla="*/ 63 h 200"/>
              <a:gd name="T40" fmla="*/ 100 w 200"/>
              <a:gd name="T41" fmla="*/ 32 h 200"/>
              <a:gd name="T42" fmla="*/ 100 w 200"/>
              <a:gd name="T43" fmla="*/ 104 h 200"/>
              <a:gd name="T44" fmla="*/ 112 w 200"/>
              <a:gd name="T45" fmla="*/ 116 h 200"/>
              <a:gd name="T46" fmla="*/ 106 w 200"/>
              <a:gd name="T47" fmla="*/ 127 h 200"/>
              <a:gd name="T48" fmla="*/ 106 w 200"/>
              <a:gd name="T49" fmla="*/ 148 h 200"/>
              <a:gd name="T50" fmla="*/ 94 w 200"/>
              <a:gd name="T51" fmla="*/ 148 h 200"/>
              <a:gd name="T52" fmla="*/ 94 w 200"/>
              <a:gd name="T53" fmla="*/ 127 h 200"/>
              <a:gd name="T54" fmla="*/ 88 w 200"/>
              <a:gd name="T55" fmla="*/ 116 h 200"/>
              <a:gd name="T56" fmla="*/ 100 w 200"/>
              <a:gd name="T57" fmla="*/ 104 h 2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200" h="200">
                <a:moveTo>
                  <a:pt x="100" y="200"/>
                </a:moveTo>
                <a:cubicBezTo>
                  <a:pt x="44" y="200"/>
                  <a:pt x="0" y="156"/>
                  <a:pt x="0" y="100"/>
                </a:cubicBezTo>
                <a:cubicBezTo>
                  <a:pt x="0" y="45"/>
                  <a:pt x="44" y="0"/>
                  <a:pt x="100" y="0"/>
                </a:cubicBezTo>
                <a:cubicBezTo>
                  <a:pt x="155" y="0"/>
                  <a:pt x="200" y="45"/>
                  <a:pt x="200" y="100"/>
                </a:cubicBezTo>
                <a:cubicBezTo>
                  <a:pt x="200" y="156"/>
                  <a:pt x="155" y="200"/>
                  <a:pt x="100" y="200"/>
                </a:cubicBezTo>
                <a:close/>
                <a:moveTo>
                  <a:pt x="156" y="80"/>
                </a:moveTo>
                <a:cubicBezTo>
                  <a:pt x="142" y="80"/>
                  <a:pt x="142" y="80"/>
                  <a:pt x="142" y="80"/>
                </a:cubicBezTo>
                <a:cubicBezTo>
                  <a:pt x="142" y="62"/>
                  <a:pt x="142" y="62"/>
                  <a:pt x="142" y="62"/>
                </a:cubicBezTo>
                <a:cubicBezTo>
                  <a:pt x="142" y="62"/>
                  <a:pt x="141" y="20"/>
                  <a:pt x="100" y="20"/>
                </a:cubicBezTo>
                <a:cubicBezTo>
                  <a:pt x="58" y="20"/>
                  <a:pt x="58" y="62"/>
                  <a:pt x="58" y="62"/>
                </a:cubicBezTo>
                <a:cubicBezTo>
                  <a:pt x="58" y="80"/>
                  <a:pt x="58" y="80"/>
                  <a:pt x="58" y="80"/>
                </a:cubicBezTo>
                <a:cubicBezTo>
                  <a:pt x="44" y="80"/>
                  <a:pt x="44" y="80"/>
                  <a:pt x="44" y="80"/>
                </a:cubicBezTo>
                <a:cubicBezTo>
                  <a:pt x="44" y="160"/>
                  <a:pt x="44" y="160"/>
                  <a:pt x="44" y="160"/>
                </a:cubicBezTo>
                <a:cubicBezTo>
                  <a:pt x="156" y="160"/>
                  <a:pt x="156" y="160"/>
                  <a:pt x="156" y="160"/>
                </a:cubicBezTo>
                <a:lnTo>
                  <a:pt x="156" y="80"/>
                </a:lnTo>
                <a:close/>
                <a:moveTo>
                  <a:pt x="100" y="32"/>
                </a:moveTo>
                <a:cubicBezTo>
                  <a:pt x="128" y="32"/>
                  <a:pt x="129" y="58"/>
                  <a:pt x="130" y="62"/>
                </a:cubicBezTo>
                <a:cubicBezTo>
                  <a:pt x="130" y="80"/>
                  <a:pt x="130" y="80"/>
                  <a:pt x="130" y="80"/>
                </a:cubicBezTo>
                <a:cubicBezTo>
                  <a:pt x="70" y="80"/>
                  <a:pt x="70" y="80"/>
                  <a:pt x="70" y="80"/>
                </a:cubicBezTo>
                <a:cubicBezTo>
                  <a:pt x="70" y="63"/>
                  <a:pt x="70" y="63"/>
                  <a:pt x="70" y="63"/>
                </a:cubicBezTo>
                <a:cubicBezTo>
                  <a:pt x="70" y="58"/>
                  <a:pt x="71" y="32"/>
                  <a:pt x="100" y="32"/>
                </a:cubicBezTo>
                <a:close/>
                <a:moveTo>
                  <a:pt x="100" y="104"/>
                </a:moveTo>
                <a:cubicBezTo>
                  <a:pt x="106" y="104"/>
                  <a:pt x="112" y="110"/>
                  <a:pt x="112" y="116"/>
                </a:cubicBezTo>
                <a:cubicBezTo>
                  <a:pt x="112" y="121"/>
                  <a:pt x="109" y="125"/>
                  <a:pt x="106" y="127"/>
                </a:cubicBezTo>
                <a:cubicBezTo>
                  <a:pt x="106" y="148"/>
                  <a:pt x="106" y="148"/>
                  <a:pt x="106" y="148"/>
                </a:cubicBezTo>
                <a:cubicBezTo>
                  <a:pt x="94" y="148"/>
                  <a:pt x="94" y="148"/>
                  <a:pt x="94" y="148"/>
                </a:cubicBezTo>
                <a:cubicBezTo>
                  <a:pt x="94" y="127"/>
                  <a:pt x="94" y="127"/>
                  <a:pt x="94" y="127"/>
                </a:cubicBezTo>
                <a:cubicBezTo>
                  <a:pt x="90" y="125"/>
                  <a:pt x="88" y="121"/>
                  <a:pt x="88" y="116"/>
                </a:cubicBezTo>
                <a:cubicBezTo>
                  <a:pt x="88" y="110"/>
                  <a:pt x="93" y="104"/>
                  <a:pt x="100" y="104"/>
                </a:cubicBez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3" name="文本框 2"/>
          <p:cNvSpPr txBox="1"/>
          <p:nvPr/>
        </p:nvSpPr>
        <p:spPr>
          <a:xfrm>
            <a:off x="4638227" y="2313951"/>
            <a:ext cx="3071154" cy="338554"/>
          </a:xfrm>
          <a:prstGeom prst="rect">
            <a:avLst/>
          </a:prstGeom>
          <a:noFill/>
        </p:spPr>
        <p:txBody>
          <a:bodyPr wrap="square" rtlCol="0">
            <a:spAutoFit/>
          </a:bodyPr>
          <a:lstStyle/>
          <a:p>
            <a:r>
              <a:rPr lang="zh-CN" altLang="en-US" sz="1600" b="1" dirty="0">
                <a:solidFill>
                  <a:schemeClr val="accent2">
                    <a:lumMod val="75000"/>
                  </a:schemeClr>
                </a:solidFill>
                <a:latin typeface="Simsun" panose="02010600030101010101" pitchFamily="2" charset="-122"/>
                <a:ea typeface="Simsun" panose="02010600030101010101" pitchFamily="2" charset="-122"/>
              </a:rPr>
              <a:t>所谓“风暴”，即新点子的涌现</a:t>
            </a:r>
          </a:p>
        </p:txBody>
      </p:sp>
    </p:spTree>
    <p:extLst>
      <p:ext uri="{BB962C8B-B14F-4D97-AF65-F5344CB8AC3E}">
        <p14:creationId xmlns:p14="http://schemas.microsoft.com/office/powerpoint/2010/main" val="3263458963"/>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5277978" y="2240464"/>
            <a:ext cx="1665500" cy="1665501"/>
            <a:chOff x="3176812" y="2273198"/>
            <a:chExt cx="2641825" cy="2726239"/>
          </a:xfrm>
        </p:grpSpPr>
        <p:sp>
          <p:nvSpPr>
            <p:cNvPr id="3" name="椭圆 2"/>
            <p:cNvSpPr/>
            <p:nvPr/>
          </p:nvSpPr>
          <p:spPr>
            <a:xfrm>
              <a:off x="3176812" y="2273198"/>
              <a:ext cx="2641825" cy="2726239"/>
            </a:xfrm>
            <a:prstGeom prst="ellipse">
              <a:avLst/>
            </a:prstGeom>
            <a:gradFill flip="none" rotWithShape="1">
              <a:gsLst>
                <a:gs pos="57000">
                  <a:schemeClr val="accent1">
                    <a:lumMod val="5000"/>
                    <a:lumOff val="95000"/>
                  </a:schemeClr>
                </a:gs>
                <a:gs pos="92000">
                  <a:schemeClr val="bg1">
                    <a:lumMod val="75000"/>
                  </a:schemeClr>
                </a:gs>
                <a:gs pos="100000">
                  <a:schemeClr val="bg1">
                    <a:lumMod val="65000"/>
                  </a:schemeClr>
                </a:gs>
              </a:gsLst>
              <a:lin ang="8100000" scaled="1"/>
              <a:tileRect/>
            </a:gradFill>
            <a:ln>
              <a:noFill/>
            </a:ln>
            <a:effectLst>
              <a:outerShdw blurRad="127000" dist="254000" dir="7200000" sx="99000" sy="99000" algn="tr" rotWithShape="0">
                <a:prstClr val="black">
                  <a:alpha val="31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sp>
          <p:nvSpPr>
            <p:cNvPr id="4" name="椭圆 3"/>
            <p:cNvSpPr/>
            <p:nvPr/>
          </p:nvSpPr>
          <p:spPr>
            <a:xfrm>
              <a:off x="3268970" y="2368298"/>
              <a:ext cx="2457512" cy="2536037"/>
            </a:xfrm>
            <a:prstGeom prst="ellipse">
              <a:avLst/>
            </a:prstGeom>
            <a:gradFill flip="none" rotWithShape="1">
              <a:gsLst>
                <a:gs pos="49000">
                  <a:schemeClr val="accent1">
                    <a:lumMod val="5000"/>
                    <a:lumOff val="95000"/>
                  </a:schemeClr>
                </a:gs>
                <a:gs pos="92000">
                  <a:schemeClr val="bg1">
                    <a:lumMod val="85000"/>
                  </a:schemeClr>
                </a:gs>
                <a:gs pos="100000">
                  <a:schemeClr val="bg1">
                    <a:lumMod val="75000"/>
                  </a:schemeClr>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6000">
                <a:solidFill>
                  <a:prstClr val="white"/>
                </a:solidFill>
              </a:endParaRPr>
            </a:p>
          </p:txBody>
        </p:sp>
      </p:grpSp>
      <p:grpSp>
        <p:nvGrpSpPr>
          <p:cNvPr id="5" name="组合 4"/>
          <p:cNvGrpSpPr/>
          <p:nvPr/>
        </p:nvGrpSpPr>
        <p:grpSpPr>
          <a:xfrm>
            <a:off x="5659322" y="0"/>
            <a:ext cx="902811" cy="1645900"/>
            <a:chOff x="5659322" y="0"/>
            <a:chExt cx="902811" cy="1645900"/>
          </a:xfrm>
        </p:grpSpPr>
        <p:sp>
          <p:nvSpPr>
            <p:cNvPr id="6" name="矩形 5"/>
            <p:cNvSpPr/>
            <p:nvPr/>
          </p:nvSpPr>
          <p:spPr>
            <a:xfrm>
              <a:off x="5659322" y="1122680"/>
              <a:ext cx="902811" cy="523220"/>
            </a:xfrm>
            <a:prstGeom prst="rect">
              <a:avLst/>
            </a:prstGeom>
          </p:spPr>
          <p:txBody>
            <a:bodyPr wrap="none">
              <a:spAutoFit/>
            </a:bodyPr>
            <a:lstStyle/>
            <a:p>
              <a:r>
                <a:rPr lang="zh-CN" altLang="en-US" sz="2800" b="1" smtClean="0">
                  <a:solidFill>
                    <a:schemeClr val="accent2">
                      <a:lumMod val="75000"/>
                    </a:schemeClr>
                  </a:solidFill>
                  <a:latin typeface="Simsun" panose="02010600030101010101" pitchFamily="2" charset="-122"/>
                  <a:ea typeface="Simsun" panose="02010600030101010101" pitchFamily="2" charset="-122"/>
                </a:rPr>
                <a:t>小结</a:t>
              </a:r>
              <a:endParaRPr lang="zh-CN" altLang="en-US" sz="2800" b="1" dirty="0"/>
            </a:p>
          </p:txBody>
        </p:sp>
        <p:cxnSp>
          <p:nvCxnSpPr>
            <p:cNvPr id="7" name="直接连接符 6"/>
            <p:cNvCxnSpPr>
              <a:stCxn id="8" idx="4"/>
              <a:endCxn id="9" idx="4"/>
            </p:cNvCxnSpPr>
            <p:nvPr/>
          </p:nvCxnSpPr>
          <p:spPr>
            <a:xfrm>
              <a:off x="6110728" y="133446"/>
              <a:ext cx="12193" cy="917890"/>
            </a:xfrm>
            <a:prstGeom prst="line">
              <a:avLst/>
            </a:prstGeom>
            <a:ln>
              <a:solidFill>
                <a:schemeClr val="tx1">
                  <a:lumMod val="50000"/>
                  <a:lumOff val="50000"/>
                </a:schemeClr>
              </a:solidFill>
              <a:prstDash val="sysDash"/>
            </a:ln>
          </p:spPr>
          <p:style>
            <a:lnRef idx="1">
              <a:schemeClr val="accent1"/>
            </a:lnRef>
            <a:fillRef idx="0">
              <a:schemeClr val="accent1"/>
            </a:fillRef>
            <a:effectRef idx="0">
              <a:schemeClr val="accent1"/>
            </a:effectRef>
            <a:fontRef idx="minor">
              <a:schemeClr val="tx1"/>
            </a:fontRef>
          </p:style>
        </p:cxnSp>
        <p:sp>
          <p:nvSpPr>
            <p:cNvPr id="8" name="椭圆 7"/>
            <p:cNvSpPr/>
            <p:nvPr/>
          </p:nvSpPr>
          <p:spPr>
            <a:xfrm>
              <a:off x="6044005" y="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椭圆 8"/>
            <p:cNvSpPr/>
            <p:nvPr/>
          </p:nvSpPr>
          <p:spPr>
            <a:xfrm>
              <a:off x="6056198" y="917890"/>
              <a:ext cx="133446" cy="133446"/>
            </a:xfrm>
            <a:prstGeom prst="ellipse">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3" name="组合 12"/>
          <p:cNvGrpSpPr/>
          <p:nvPr/>
        </p:nvGrpSpPr>
        <p:grpSpPr>
          <a:xfrm>
            <a:off x="5784385" y="2721205"/>
            <a:ext cx="543623" cy="704018"/>
            <a:chOff x="10221913" y="385762"/>
            <a:chExt cx="801688" cy="1038225"/>
          </a:xfrm>
        </p:grpSpPr>
        <p:sp>
          <p:nvSpPr>
            <p:cNvPr id="10" name="Oval 325"/>
            <p:cNvSpPr>
              <a:spLocks noChangeArrowheads="1"/>
            </p:cNvSpPr>
            <p:nvPr/>
          </p:nvSpPr>
          <p:spPr bwMode="auto">
            <a:xfrm>
              <a:off x="10325101" y="385762"/>
              <a:ext cx="157163" cy="155575"/>
            </a:xfrm>
            <a:prstGeom prst="ellipse">
              <a:avLst/>
            </a:pr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11" name="Oval 326"/>
            <p:cNvSpPr>
              <a:spLocks noChangeArrowheads="1"/>
            </p:cNvSpPr>
            <p:nvPr/>
          </p:nvSpPr>
          <p:spPr bwMode="auto">
            <a:xfrm>
              <a:off x="10761663" y="385762"/>
              <a:ext cx="157163" cy="155575"/>
            </a:xfrm>
            <a:prstGeom prst="ellipse">
              <a:avLst/>
            </a:pr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sp>
          <p:nvSpPr>
            <p:cNvPr id="12" name="Freeform 327"/>
            <p:cNvSpPr>
              <a:spLocks/>
            </p:cNvSpPr>
            <p:nvPr/>
          </p:nvSpPr>
          <p:spPr bwMode="auto">
            <a:xfrm>
              <a:off x="10221913" y="574675"/>
              <a:ext cx="801688" cy="849312"/>
            </a:xfrm>
            <a:custGeom>
              <a:avLst/>
              <a:gdLst>
                <a:gd name="T0" fmla="*/ 442 w 493"/>
                <a:gd name="T1" fmla="*/ 5 h 522"/>
                <a:gd name="T2" fmla="*/ 412 w 493"/>
                <a:gd name="T3" fmla="*/ 0 h 522"/>
                <a:gd name="T4" fmla="*/ 380 w 493"/>
                <a:gd name="T5" fmla="*/ 0 h 522"/>
                <a:gd name="T6" fmla="*/ 348 w 493"/>
                <a:gd name="T7" fmla="*/ 0 h 522"/>
                <a:gd name="T8" fmla="*/ 318 w 493"/>
                <a:gd name="T9" fmla="*/ 5 h 522"/>
                <a:gd name="T10" fmla="*/ 276 w 493"/>
                <a:gd name="T11" fmla="*/ 69 h 522"/>
                <a:gd name="T12" fmla="*/ 246 w 493"/>
                <a:gd name="T13" fmla="*/ 180 h 522"/>
                <a:gd name="T14" fmla="*/ 217 w 493"/>
                <a:gd name="T15" fmla="*/ 69 h 522"/>
                <a:gd name="T16" fmla="*/ 175 w 493"/>
                <a:gd name="T17" fmla="*/ 5 h 522"/>
                <a:gd name="T18" fmla="*/ 144 w 493"/>
                <a:gd name="T19" fmla="*/ 0 h 522"/>
                <a:gd name="T20" fmla="*/ 112 w 493"/>
                <a:gd name="T21" fmla="*/ 0 h 522"/>
                <a:gd name="T22" fmla="*/ 80 w 493"/>
                <a:gd name="T23" fmla="*/ 0 h 522"/>
                <a:gd name="T24" fmla="*/ 50 w 493"/>
                <a:gd name="T25" fmla="*/ 5 h 522"/>
                <a:gd name="T26" fmla="*/ 7 w 493"/>
                <a:gd name="T27" fmla="*/ 94 h 522"/>
                <a:gd name="T28" fmla="*/ 18 w 493"/>
                <a:gd name="T29" fmla="*/ 250 h 522"/>
                <a:gd name="T30" fmla="*/ 50 w 493"/>
                <a:gd name="T31" fmla="*/ 250 h 522"/>
                <a:gd name="T32" fmla="*/ 29 w 493"/>
                <a:gd name="T33" fmla="*/ 344 h 522"/>
                <a:gd name="T34" fmla="*/ 60 w 493"/>
                <a:gd name="T35" fmla="*/ 344 h 522"/>
                <a:gd name="T36" fmla="*/ 81 w 493"/>
                <a:gd name="T37" fmla="*/ 522 h 522"/>
                <a:gd name="T38" fmla="*/ 106 w 493"/>
                <a:gd name="T39" fmla="*/ 522 h 522"/>
                <a:gd name="T40" fmla="*/ 106 w 493"/>
                <a:gd name="T41" fmla="*/ 344 h 522"/>
                <a:gd name="T42" fmla="*/ 118 w 493"/>
                <a:gd name="T43" fmla="*/ 344 h 522"/>
                <a:gd name="T44" fmla="*/ 118 w 493"/>
                <a:gd name="T45" fmla="*/ 522 h 522"/>
                <a:gd name="T46" fmla="*/ 144 w 493"/>
                <a:gd name="T47" fmla="*/ 522 h 522"/>
                <a:gd name="T48" fmla="*/ 164 w 493"/>
                <a:gd name="T49" fmla="*/ 344 h 522"/>
                <a:gd name="T50" fmla="*/ 196 w 493"/>
                <a:gd name="T51" fmla="*/ 344 h 522"/>
                <a:gd name="T52" fmla="*/ 175 w 493"/>
                <a:gd name="T53" fmla="*/ 250 h 522"/>
                <a:gd name="T54" fmla="*/ 175 w 493"/>
                <a:gd name="T55" fmla="*/ 103 h 522"/>
                <a:gd name="T56" fmla="*/ 230 w 493"/>
                <a:gd name="T57" fmla="*/ 240 h 522"/>
                <a:gd name="T58" fmla="*/ 262 w 493"/>
                <a:gd name="T59" fmla="*/ 240 h 522"/>
                <a:gd name="T60" fmla="*/ 317 w 493"/>
                <a:gd name="T61" fmla="*/ 103 h 522"/>
                <a:gd name="T62" fmla="*/ 317 w 493"/>
                <a:gd name="T63" fmla="*/ 250 h 522"/>
                <a:gd name="T64" fmla="*/ 317 w 493"/>
                <a:gd name="T65" fmla="*/ 522 h 522"/>
                <a:gd name="T66" fmla="*/ 359 w 493"/>
                <a:gd name="T67" fmla="*/ 522 h 522"/>
                <a:gd name="T68" fmla="*/ 380 w 493"/>
                <a:gd name="T69" fmla="*/ 292 h 522"/>
                <a:gd name="T70" fmla="*/ 401 w 493"/>
                <a:gd name="T71" fmla="*/ 522 h 522"/>
                <a:gd name="T72" fmla="*/ 443 w 493"/>
                <a:gd name="T73" fmla="*/ 522 h 522"/>
                <a:gd name="T74" fmla="*/ 443 w 493"/>
                <a:gd name="T75" fmla="*/ 250 h 522"/>
                <a:gd name="T76" fmla="*/ 475 w 493"/>
                <a:gd name="T77" fmla="*/ 250 h 522"/>
                <a:gd name="T78" fmla="*/ 485 w 493"/>
                <a:gd name="T79" fmla="*/ 94 h 522"/>
                <a:gd name="T80" fmla="*/ 442 w 493"/>
                <a:gd name="T81" fmla="*/ 5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93" h="522">
                  <a:moveTo>
                    <a:pt x="442" y="5"/>
                  </a:moveTo>
                  <a:cubicBezTo>
                    <a:pt x="434" y="2"/>
                    <a:pt x="424" y="0"/>
                    <a:pt x="412" y="0"/>
                  </a:cubicBezTo>
                  <a:cubicBezTo>
                    <a:pt x="380" y="0"/>
                    <a:pt x="380" y="0"/>
                    <a:pt x="380" y="0"/>
                  </a:cubicBezTo>
                  <a:cubicBezTo>
                    <a:pt x="348" y="0"/>
                    <a:pt x="348" y="0"/>
                    <a:pt x="348" y="0"/>
                  </a:cubicBezTo>
                  <a:cubicBezTo>
                    <a:pt x="336" y="0"/>
                    <a:pt x="326" y="2"/>
                    <a:pt x="318" y="5"/>
                  </a:cubicBezTo>
                  <a:cubicBezTo>
                    <a:pt x="287" y="17"/>
                    <a:pt x="281" y="47"/>
                    <a:pt x="276" y="69"/>
                  </a:cubicBezTo>
                  <a:cubicBezTo>
                    <a:pt x="246" y="180"/>
                    <a:pt x="246" y="180"/>
                    <a:pt x="246" y="180"/>
                  </a:cubicBezTo>
                  <a:cubicBezTo>
                    <a:pt x="217" y="69"/>
                    <a:pt x="217" y="69"/>
                    <a:pt x="217" y="69"/>
                  </a:cubicBezTo>
                  <a:cubicBezTo>
                    <a:pt x="211" y="46"/>
                    <a:pt x="205" y="17"/>
                    <a:pt x="175" y="5"/>
                  </a:cubicBezTo>
                  <a:cubicBezTo>
                    <a:pt x="166" y="2"/>
                    <a:pt x="156" y="0"/>
                    <a:pt x="144" y="0"/>
                  </a:cubicBezTo>
                  <a:cubicBezTo>
                    <a:pt x="112" y="0"/>
                    <a:pt x="112" y="0"/>
                    <a:pt x="112" y="0"/>
                  </a:cubicBezTo>
                  <a:cubicBezTo>
                    <a:pt x="80" y="0"/>
                    <a:pt x="80" y="0"/>
                    <a:pt x="80" y="0"/>
                  </a:cubicBezTo>
                  <a:cubicBezTo>
                    <a:pt x="68" y="0"/>
                    <a:pt x="58" y="2"/>
                    <a:pt x="50" y="5"/>
                  </a:cubicBezTo>
                  <a:cubicBezTo>
                    <a:pt x="0" y="25"/>
                    <a:pt x="7" y="94"/>
                    <a:pt x="7" y="94"/>
                  </a:cubicBezTo>
                  <a:cubicBezTo>
                    <a:pt x="18" y="250"/>
                    <a:pt x="18" y="250"/>
                    <a:pt x="18" y="250"/>
                  </a:cubicBezTo>
                  <a:cubicBezTo>
                    <a:pt x="50" y="250"/>
                    <a:pt x="50" y="250"/>
                    <a:pt x="50" y="250"/>
                  </a:cubicBezTo>
                  <a:cubicBezTo>
                    <a:pt x="29" y="344"/>
                    <a:pt x="29" y="344"/>
                    <a:pt x="29" y="344"/>
                  </a:cubicBezTo>
                  <a:cubicBezTo>
                    <a:pt x="60" y="344"/>
                    <a:pt x="60" y="344"/>
                    <a:pt x="60" y="344"/>
                  </a:cubicBezTo>
                  <a:cubicBezTo>
                    <a:pt x="81" y="522"/>
                    <a:pt x="81" y="522"/>
                    <a:pt x="81" y="522"/>
                  </a:cubicBezTo>
                  <a:cubicBezTo>
                    <a:pt x="106" y="522"/>
                    <a:pt x="106" y="522"/>
                    <a:pt x="106" y="522"/>
                  </a:cubicBezTo>
                  <a:cubicBezTo>
                    <a:pt x="106" y="344"/>
                    <a:pt x="106" y="344"/>
                    <a:pt x="106" y="344"/>
                  </a:cubicBezTo>
                  <a:cubicBezTo>
                    <a:pt x="118" y="344"/>
                    <a:pt x="118" y="344"/>
                    <a:pt x="118" y="344"/>
                  </a:cubicBezTo>
                  <a:cubicBezTo>
                    <a:pt x="118" y="522"/>
                    <a:pt x="118" y="522"/>
                    <a:pt x="118" y="522"/>
                  </a:cubicBezTo>
                  <a:cubicBezTo>
                    <a:pt x="144" y="522"/>
                    <a:pt x="144" y="522"/>
                    <a:pt x="144" y="522"/>
                  </a:cubicBezTo>
                  <a:cubicBezTo>
                    <a:pt x="164" y="344"/>
                    <a:pt x="164" y="344"/>
                    <a:pt x="164" y="344"/>
                  </a:cubicBezTo>
                  <a:cubicBezTo>
                    <a:pt x="196" y="344"/>
                    <a:pt x="196" y="344"/>
                    <a:pt x="196" y="344"/>
                  </a:cubicBezTo>
                  <a:cubicBezTo>
                    <a:pt x="175" y="250"/>
                    <a:pt x="175" y="250"/>
                    <a:pt x="175" y="250"/>
                  </a:cubicBezTo>
                  <a:cubicBezTo>
                    <a:pt x="175" y="103"/>
                    <a:pt x="175" y="103"/>
                    <a:pt x="175" y="103"/>
                  </a:cubicBezTo>
                  <a:cubicBezTo>
                    <a:pt x="230" y="240"/>
                    <a:pt x="230" y="240"/>
                    <a:pt x="230" y="240"/>
                  </a:cubicBezTo>
                  <a:cubicBezTo>
                    <a:pt x="262" y="240"/>
                    <a:pt x="262" y="240"/>
                    <a:pt x="262" y="240"/>
                  </a:cubicBezTo>
                  <a:cubicBezTo>
                    <a:pt x="317" y="103"/>
                    <a:pt x="317" y="103"/>
                    <a:pt x="317" y="103"/>
                  </a:cubicBezTo>
                  <a:cubicBezTo>
                    <a:pt x="317" y="250"/>
                    <a:pt x="317" y="250"/>
                    <a:pt x="317" y="250"/>
                  </a:cubicBezTo>
                  <a:cubicBezTo>
                    <a:pt x="317" y="522"/>
                    <a:pt x="317" y="522"/>
                    <a:pt x="317" y="522"/>
                  </a:cubicBezTo>
                  <a:cubicBezTo>
                    <a:pt x="359" y="522"/>
                    <a:pt x="359" y="522"/>
                    <a:pt x="359" y="522"/>
                  </a:cubicBezTo>
                  <a:cubicBezTo>
                    <a:pt x="380" y="292"/>
                    <a:pt x="380" y="292"/>
                    <a:pt x="380" y="292"/>
                  </a:cubicBezTo>
                  <a:cubicBezTo>
                    <a:pt x="401" y="522"/>
                    <a:pt x="401" y="522"/>
                    <a:pt x="401" y="522"/>
                  </a:cubicBezTo>
                  <a:cubicBezTo>
                    <a:pt x="443" y="522"/>
                    <a:pt x="443" y="522"/>
                    <a:pt x="443" y="522"/>
                  </a:cubicBezTo>
                  <a:cubicBezTo>
                    <a:pt x="443" y="250"/>
                    <a:pt x="443" y="250"/>
                    <a:pt x="443" y="250"/>
                  </a:cubicBezTo>
                  <a:cubicBezTo>
                    <a:pt x="475" y="250"/>
                    <a:pt x="475" y="250"/>
                    <a:pt x="475" y="250"/>
                  </a:cubicBezTo>
                  <a:cubicBezTo>
                    <a:pt x="485" y="94"/>
                    <a:pt x="485" y="94"/>
                    <a:pt x="485" y="94"/>
                  </a:cubicBezTo>
                  <a:cubicBezTo>
                    <a:pt x="485" y="94"/>
                    <a:pt x="493" y="25"/>
                    <a:pt x="442" y="5"/>
                  </a:cubicBezTo>
                  <a:close/>
                </a:path>
              </a:pathLst>
            </a:custGeom>
            <a:solidFill>
              <a:srgbClr val="C55A11"/>
            </a:solidFill>
            <a:ln>
              <a:noFill/>
            </a:ln>
            <a:extLst/>
          </p:spPr>
          <p:txBody>
            <a:bodyPr vert="horz" wrap="square" lIns="91440" tIns="45720" rIns="91440" bIns="45720" numCol="1" anchor="t" anchorCtr="0" compatLnSpc="1">
              <a:prstTxWarp prst="textNoShape">
                <a:avLst/>
              </a:prstTxWarp>
            </a:bodyPr>
            <a:lstStyle/>
            <a:p>
              <a:endParaRPr lang="zh-CN" altLang="en-US"/>
            </a:p>
          </p:txBody>
        </p:sp>
      </p:grpSp>
      <p:sp>
        <p:nvSpPr>
          <p:cNvPr id="14" name="椭圆 13"/>
          <p:cNvSpPr/>
          <p:nvPr/>
        </p:nvSpPr>
        <p:spPr>
          <a:xfrm>
            <a:off x="1255776" y="3073214"/>
            <a:ext cx="3145536" cy="3145536"/>
          </a:xfrm>
          <a:prstGeom prst="ellipse">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accent2">
                    <a:lumMod val="75000"/>
                  </a:schemeClr>
                </a:solidFill>
                <a:latin typeface="Simsun" panose="02010600030101010101" pitchFamily="2" charset="-122"/>
                <a:ea typeface="Simsun" panose="02010600030101010101" pitchFamily="2" charset="-122"/>
              </a:rPr>
              <a:t>群体智慧</a:t>
            </a: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pPr algn="ctr"/>
            <a:endParaRPr lang="en-US" altLang="zh-CN" dirty="0" smtClean="0">
              <a:solidFill>
                <a:schemeClr val="accent2">
                  <a:lumMod val="75000"/>
                </a:schemeClr>
              </a:solidFill>
              <a:latin typeface="Simsun" panose="02010600030101010101" pitchFamily="2" charset="-122"/>
              <a:ea typeface="Simsun" panose="02010600030101010101" pitchFamily="2" charset="-122"/>
            </a:endParaRPr>
          </a:p>
          <a:p>
            <a:pPr algn="ctr"/>
            <a:r>
              <a:rPr lang="zh-CN" altLang="en-US" dirty="0" smtClean="0">
                <a:solidFill>
                  <a:schemeClr val="accent2">
                    <a:lumMod val="75000"/>
                  </a:schemeClr>
                </a:solidFill>
                <a:latin typeface="Simsun" panose="02010600030101010101" pitchFamily="2" charset="-122"/>
                <a:ea typeface="Simsun" panose="02010600030101010101" pitchFamily="2" charset="-122"/>
              </a:rPr>
              <a:t>热情激励</a:t>
            </a:r>
            <a:endParaRPr lang="zh-CN" altLang="en-US" dirty="0"/>
          </a:p>
        </p:txBody>
      </p:sp>
      <p:sp>
        <p:nvSpPr>
          <p:cNvPr id="15" name="椭圆 14"/>
          <p:cNvSpPr/>
          <p:nvPr/>
        </p:nvSpPr>
        <p:spPr>
          <a:xfrm>
            <a:off x="3668176" y="2267237"/>
            <a:ext cx="1055438" cy="1055438"/>
          </a:xfrm>
          <a:prstGeom prst="ellipse">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椭圆 15"/>
          <p:cNvSpPr/>
          <p:nvPr/>
        </p:nvSpPr>
        <p:spPr>
          <a:xfrm>
            <a:off x="6647329" y="3538298"/>
            <a:ext cx="2713219" cy="2713219"/>
          </a:xfrm>
          <a:prstGeom prst="ellipse">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i="0" dirty="0" smtClean="0">
                <a:solidFill>
                  <a:schemeClr val="accent2">
                    <a:lumMod val="75000"/>
                  </a:schemeClr>
                </a:solidFill>
                <a:effectLst/>
                <a:latin typeface="Simsun" panose="02010600030101010101" pitchFamily="2" charset="-122"/>
                <a:ea typeface="Simsun" panose="02010600030101010101" pitchFamily="2" charset="-122"/>
              </a:rPr>
              <a:t>高效的创意发生源头</a:t>
            </a:r>
            <a:endParaRPr lang="zh-CN" altLang="en-US" dirty="0"/>
          </a:p>
        </p:txBody>
      </p:sp>
      <p:sp>
        <p:nvSpPr>
          <p:cNvPr id="17" name="椭圆 16"/>
          <p:cNvSpPr/>
          <p:nvPr/>
        </p:nvSpPr>
        <p:spPr>
          <a:xfrm>
            <a:off x="6969007" y="2298562"/>
            <a:ext cx="1340503" cy="1340503"/>
          </a:xfrm>
          <a:prstGeom prst="ellipse">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椭圆 17"/>
          <p:cNvSpPr/>
          <p:nvPr/>
        </p:nvSpPr>
        <p:spPr>
          <a:xfrm>
            <a:off x="4280640" y="5215938"/>
            <a:ext cx="1055438" cy="1055438"/>
          </a:xfrm>
          <a:prstGeom prst="ellipse">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椭圆 18"/>
          <p:cNvSpPr/>
          <p:nvPr/>
        </p:nvSpPr>
        <p:spPr>
          <a:xfrm>
            <a:off x="5525649" y="4822481"/>
            <a:ext cx="763987" cy="763987"/>
          </a:xfrm>
          <a:prstGeom prst="ellipse">
            <a:avLst/>
          </a:prstGeom>
          <a:noFill/>
          <a:ln>
            <a:solidFill>
              <a:schemeClr val="tx1">
                <a:lumMod val="65000"/>
                <a:lumOff val="35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2690125598"/>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4757812" y="4518211"/>
            <a:ext cx="2585926" cy="1880010"/>
            <a:chOff x="3886869" y="1452952"/>
            <a:chExt cx="4409966" cy="3206117"/>
          </a:xfrm>
        </p:grpSpPr>
        <p:sp>
          <p:nvSpPr>
            <p:cNvPr id="3" name="椭圆 2"/>
            <p:cNvSpPr/>
            <p:nvPr/>
          </p:nvSpPr>
          <p:spPr>
            <a:xfrm>
              <a:off x="4488794" y="1452952"/>
              <a:ext cx="3206117" cy="3206117"/>
            </a:xfrm>
            <a:prstGeom prst="ellipse">
              <a:avLst/>
            </a:prstGeom>
            <a:gradFill>
              <a:gsLst>
                <a:gs pos="0">
                  <a:srgbClr val="E4E4E4"/>
                </a:gs>
                <a:gs pos="100000">
                  <a:schemeClr val="bg1"/>
                </a:gs>
              </a:gsLst>
              <a:lin ang="2700000" scaled="0"/>
            </a:gradFill>
            <a:ln w="57150">
              <a:gradFill>
                <a:gsLst>
                  <a:gs pos="0">
                    <a:schemeClr val="bg1">
                      <a:lumMod val="65000"/>
                    </a:schemeClr>
                  </a:gs>
                  <a:gs pos="100000">
                    <a:schemeClr val="bg1"/>
                  </a:gs>
                </a:gsLst>
                <a:lin ang="13500000" scaled="0"/>
              </a:gradFill>
            </a:ln>
            <a:effectLst>
              <a:outerShdw blurRad="177800" dist="114300" dir="2700000" sx="101000" sy="101000" algn="tl"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Freeform 23"/>
            <p:cNvSpPr>
              <a:spLocks/>
            </p:cNvSpPr>
            <p:nvPr/>
          </p:nvSpPr>
          <p:spPr bwMode="auto">
            <a:xfrm>
              <a:off x="7234496" y="3256695"/>
              <a:ext cx="1062339" cy="715967"/>
            </a:xfrm>
            <a:custGeom>
              <a:avLst/>
              <a:gdLst>
                <a:gd name="T0" fmla="*/ 0 w 549"/>
                <a:gd name="T1" fmla="*/ 107 h 370"/>
                <a:gd name="T2" fmla="*/ 495 w 549"/>
                <a:gd name="T3" fmla="*/ 0 h 370"/>
                <a:gd name="T4" fmla="*/ 443 w 549"/>
                <a:gd name="T5" fmla="*/ 148 h 370"/>
                <a:gd name="T6" fmla="*/ 549 w 549"/>
                <a:gd name="T7" fmla="*/ 262 h 370"/>
                <a:gd name="T8" fmla="*/ 54 w 549"/>
                <a:gd name="T9" fmla="*/ 370 h 370"/>
                <a:gd name="T10" fmla="*/ 0 w 549"/>
                <a:gd name="T11" fmla="*/ 107 h 370"/>
              </a:gdLst>
              <a:ahLst/>
              <a:cxnLst>
                <a:cxn ang="0">
                  <a:pos x="T0" y="T1"/>
                </a:cxn>
                <a:cxn ang="0">
                  <a:pos x="T2" y="T3"/>
                </a:cxn>
                <a:cxn ang="0">
                  <a:pos x="T4" y="T5"/>
                </a:cxn>
                <a:cxn ang="0">
                  <a:pos x="T6" y="T7"/>
                </a:cxn>
                <a:cxn ang="0">
                  <a:pos x="T8" y="T9"/>
                </a:cxn>
                <a:cxn ang="0">
                  <a:pos x="T10" y="T11"/>
                </a:cxn>
              </a:cxnLst>
              <a:rect l="0" t="0" r="r" b="b"/>
              <a:pathLst>
                <a:path w="549" h="370">
                  <a:moveTo>
                    <a:pt x="0" y="107"/>
                  </a:moveTo>
                  <a:lnTo>
                    <a:pt x="495" y="0"/>
                  </a:lnTo>
                  <a:lnTo>
                    <a:pt x="443" y="148"/>
                  </a:lnTo>
                  <a:lnTo>
                    <a:pt x="549" y="262"/>
                  </a:lnTo>
                  <a:lnTo>
                    <a:pt x="54" y="370"/>
                  </a:lnTo>
                  <a:lnTo>
                    <a:pt x="0" y="107"/>
                  </a:lnTo>
                  <a:close/>
                </a:path>
              </a:pathLst>
            </a:custGeom>
            <a:gradFill flip="none" rotWithShape="1">
              <a:gsLst>
                <a:gs pos="0">
                  <a:srgbClr val="F02525">
                    <a:shade val="30000"/>
                    <a:satMod val="115000"/>
                  </a:srgbClr>
                </a:gs>
                <a:gs pos="50000">
                  <a:srgbClr val="F02525">
                    <a:shade val="67500"/>
                    <a:satMod val="115000"/>
                  </a:srgbClr>
                </a:gs>
                <a:gs pos="100000">
                  <a:srgbClr val="F02525">
                    <a:shade val="100000"/>
                    <a:satMod val="115000"/>
                  </a:srgbClr>
                </a:gs>
              </a:gsLst>
              <a:lin ang="18900000" scaled="1"/>
              <a:tileRect/>
            </a:gradFill>
            <a:ln>
              <a:noFill/>
            </a:ln>
            <a:effectLst>
              <a:outerShdw blurRad="127000" dist="101600" dir="2700000" algn="tl"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5" name="Freeform 21"/>
            <p:cNvSpPr>
              <a:spLocks/>
            </p:cNvSpPr>
            <p:nvPr/>
          </p:nvSpPr>
          <p:spPr bwMode="auto">
            <a:xfrm>
              <a:off x="3886869" y="3256695"/>
              <a:ext cx="1062339" cy="715967"/>
            </a:xfrm>
            <a:custGeom>
              <a:avLst/>
              <a:gdLst>
                <a:gd name="T0" fmla="*/ 549 w 549"/>
                <a:gd name="T1" fmla="*/ 107 h 370"/>
                <a:gd name="T2" fmla="*/ 54 w 549"/>
                <a:gd name="T3" fmla="*/ 0 h 370"/>
                <a:gd name="T4" fmla="*/ 104 w 549"/>
                <a:gd name="T5" fmla="*/ 148 h 370"/>
                <a:gd name="T6" fmla="*/ 0 w 549"/>
                <a:gd name="T7" fmla="*/ 262 h 370"/>
                <a:gd name="T8" fmla="*/ 495 w 549"/>
                <a:gd name="T9" fmla="*/ 370 h 370"/>
                <a:gd name="T10" fmla="*/ 549 w 549"/>
                <a:gd name="T11" fmla="*/ 107 h 370"/>
              </a:gdLst>
              <a:ahLst/>
              <a:cxnLst>
                <a:cxn ang="0">
                  <a:pos x="T0" y="T1"/>
                </a:cxn>
                <a:cxn ang="0">
                  <a:pos x="T2" y="T3"/>
                </a:cxn>
                <a:cxn ang="0">
                  <a:pos x="T4" y="T5"/>
                </a:cxn>
                <a:cxn ang="0">
                  <a:pos x="T6" y="T7"/>
                </a:cxn>
                <a:cxn ang="0">
                  <a:pos x="T8" y="T9"/>
                </a:cxn>
                <a:cxn ang="0">
                  <a:pos x="T10" y="T11"/>
                </a:cxn>
              </a:cxnLst>
              <a:rect l="0" t="0" r="r" b="b"/>
              <a:pathLst>
                <a:path w="549" h="370">
                  <a:moveTo>
                    <a:pt x="549" y="107"/>
                  </a:moveTo>
                  <a:lnTo>
                    <a:pt x="54" y="0"/>
                  </a:lnTo>
                  <a:lnTo>
                    <a:pt x="104" y="148"/>
                  </a:lnTo>
                  <a:lnTo>
                    <a:pt x="0" y="262"/>
                  </a:lnTo>
                  <a:lnTo>
                    <a:pt x="495" y="370"/>
                  </a:lnTo>
                  <a:lnTo>
                    <a:pt x="549" y="107"/>
                  </a:lnTo>
                  <a:close/>
                </a:path>
              </a:pathLst>
            </a:custGeom>
            <a:gradFill flip="none" rotWithShape="1">
              <a:gsLst>
                <a:gs pos="0">
                  <a:srgbClr val="F02525">
                    <a:shade val="30000"/>
                    <a:satMod val="115000"/>
                  </a:srgbClr>
                </a:gs>
                <a:gs pos="50000">
                  <a:srgbClr val="F02525">
                    <a:shade val="67500"/>
                    <a:satMod val="115000"/>
                  </a:srgbClr>
                </a:gs>
                <a:gs pos="100000">
                  <a:srgbClr val="F02525">
                    <a:shade val="100000"/>
                    <a:satMod val="115000"/>
                  </a:srgbClr>
                </a:gs>
              </a:gsLst>
              <a:path path="circle">
                <a:fillToRect l="100000" t="100000"/>
              </a:path>
              <a:tileRect r="-100000" b="-100000"/>
            </a:gradFill>
            <a:ln>
              <a:noFill/>
            </a:ln>
            <a:effectLst>
              <a:outerShdw blurRad="127000" dist="101600" dir="2700000" algn="tl"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6" name="Freeform 25"/>
            <p:cNvSpPr>
              <a:spLocks/>
            </p:cNvSpPr>
            <p:nvPr/>
          </p:nvSpPr>
          <p:spPr bwMode="auto">
            <a:xfrm>
              <a:off x="4335799" y="3430849"/>
              <a:ext cx="3502430" cy="1097170"/>
            </a:xfrm>
            <a:custGeom>
              <a:avLst/>
              <a:gdLst>
                <a:gd name="T0" fmla="*/ 764 w 764"/>
                <a:gd name="T1" fmla="*/ 0 h 237"/>
                <a:gd name="T2" fmla="*/ 0 w 764"/>
                <a:gd name="T3" fmla="*/ 0 h 237"/>
                <a:gd name="T4" fmla="*/ 0 w 764"/>
                <a:gd name="T5" fmla="*/ 140 h 237"/>
                <a:gd name="T6" fmla="*/ 764 w 764"/>
                <a:gd name="T7" fmla="*/ 140 h 237"/>
                <a:gd name="T8" fmla="*/ 764 w 764"/>
                <a:gd name="T9" fmla="*/ 0 h 237"/>
              </a:gdLst>
              <a:ahLst/>
              <a:cxnLst>
                <a:cxn ang="0">
                  <a:pos x="T0" y="T1"/>
                </a:cxn>
                <a:cxn ang="0">
                  <a:pos x="T2" y="T3"/>
                </a:cxn>
                <a:cxn ang="0">
                  <a:pos x="T4" y="T5"/>
                </a:cxn>
                <a:cxn ang="0">
                  <a:pos x="T6" y="T7"/>
                </a:cxn>
                <a:cxn ang="0">
                  <a:pos x="T8" y="T9"/>
                </a:cxn>
              </a:cxnLst>
              <a:rect l="0" t="0" r="r" b="b"/>
              <a:pathLst>
                <a:path w="764" h="237">
                  <a:moveTo>
                    <a:pt x="764" y="0"/>
                  </a:moveTo>
                  <a:cubicBezTo>
                    <a:pt x="511" y="97"/>
                    <a:pt x="254" y="97"/>
                    <a:pt x="0" y="0"/>
                  </a:cubicBezTo>
                  <a:cubicBezTo>
                    <a:pt x="0" y="47"/>
                    <a:pt x="0" y="93"/>
                    <a:pt x="0" y="140"/>
                  </a:cubicBezTo>
                  <a:cubicBezTo>
                    <a:pt x="254" y="237"/>
                    <a:pt x="511" y="237"/>
                    <a:pt x="764" y="140"/>
                  </a:cubicBezTo>
                  <a:cubicBezTo>
                    <a:pt x="764" y="93"/>
                    <a:pt x="764" y="47"/>
                    <a:pt x="764" y="0"/>
                  </a:cubicBezTo>
                  <a:close/>
                </a:path>
              </a:pathLst>
            </a:custGeom>
            <a:solidFill>
              <a:srgbClr val="F91515"/>
            </a:solidFill>
            <a:ln>
              <a:noFill/>
            </a:ln>
            <a:effectLst>
              <a:outerShdw blurRad="127000" dist="101600" dir="2700000" algn="tl" rotWithShape="0">
                <a:prstClr val="black">
                  <a:alpha val="40000"/>
                </a:prst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zh-CN" altLang="en-US"/>
            </a:p>
          </p:txBody>
        </p:sp>
        <p:sp>
          <p:nvSpPr>
            <p:cNvPr id="7" name="矩形 6"/>
            <p:cNvSpPr/>
            <p:nvPr/>
          </p:nvSpPr>
          <p:spPr>
            <a:xfrm>
              <a:off x="4949208" y="2230520"/>
              <a:ext cx="2745703" cy="931745"/>
            </a:xfrm>
            <a:prstGeom prst="rect">
              <a:avLst/>
            </a:prstGeom>
          </p:spPr>
          <p:txBody>
            <a:bodyPr wrap="square">
              <a:spAutoFit/>
            </a:bodyPr>
            <a:lstStyle/>
            <a:p>
              <a:r>
                <a:rPr lang="en-US" altLang="zh-CN" sz="2000" b="1" dirty="0" smtClean="0">
                  <a:solidFill>
                    <a:srgbClr val="C55A11"/>
                  </a:solidFill>
                  <a:latin typeface="微软雅黑" panose="020B0503020204020204" pitchFamily="34" charset="-122"/>
                  <a:ea typeface="微软雅黑" panose="020B0503020204020204" pitchFamily="34" charset="-122"/>
                </a:rPr>
                <a:t>THANK</a:t>
              </a:r>
            </a:p>
            <a:p>
              <a:r>
                <a:rPr lang="en-US" altLang="zh-CN" sz="2000" b="1" dirty="0" smtClean="0">
                  <a:solidFill>
                    <a:srgbClr val="C55A11"/>
                  </a:solidFill>
                  <a:latin typeface="微软雅黑" panose="020B0503020204020204" pitchFamily="34" charset="-122"/>
                  <a:ea typeface="微软雅黑" panose="020B0503020204020204" pitchFamily="34" charset="-122"/>
                </a:rPr>
                <a:t>    YOU !!!</a:t>
              </a:r>
              <a:endParaRPr lang="zh-CN" altLang="en-US" sz="2000" dirty="0">
                <a:solidFill>
                  <a:srgbClr val="C55A11"/>
                </a:solidFill>
                <a:latin typeface="微软雅黑" panose="020B0503020204020204" pitchFamily="34" charset="-122"/>
                <a:ea typeface="微软雅黑" panose="020B0503020204020204" pitchFamily="34" charset="-122"/>
              </a:endParaRPr>
            </a:p>
          </p:txBody>
        </p:sp>
      </p:grpSp>
      <p:sp>
        <p:nvSpPr>
          <p:cNvPr id="8" name="文本框 7"/>
          <p:cNvSpPr txBox="1"/>
          <p:nvPr/>
        </p:nvSpPr>
        <p:spPr>
          <a:xfrm>
            <a:off x="322729" y="304800"/>
            <a:ext cx="5235389" cy="3693319"/>
          </a:xfrm>
          <a:prstGeom prst="rect">
            <a:avLst/>
          </a:prstGeom>
          <a:noFill/>
        </p:spPr>
        <p:txBody>
          <a:bodyPr wrap="square" rtlCol="0">
            <a:spAutoFit/>
          </a:bodyPr>
          <a:lstStyle/>
          <a:p>
            <a:r>
              <a:rPr kumimoji="1" lang="en-US" altLang="zh-CN" dirty="0" smtClean="0"/>
              <a:t>1</a:t>
            </a:r>
            <a:r>
              <a:rPr kumimoji="1" lang="zh-CN" altLang="en-US" dirty="0" smtClean="0"/>
              <a:t>、需求分析的常见问题及其对策分析</a:t>
            </a:r>
            <a:r>
              <a:rPr kumimoji="1" lang="en-US" altLang="zh-CN" dirty="0" smtClean="0">
                <a:hlinkClick r:id="rId2"/>
              </a:rPr>
              <a:t>https</a:t>
            </a:r>
            <a:r>
              <a:rPr kumimoji="1" lang="en-US" altLang="zh-CN" dirty="0">
                <a:hlinkClick r:id="rId2"/>
              </a:rPr>
              <a:t>://</a:t>
            </a:r>
            <a:r>
              <a:rPr kumimoji="1" lang="en-US" altLang="zh-CN" dirty="0" smtClean="0">
                <a:hlinkClick r:id="rId2"/>
              </a:rPr>
              <a:t>wenku.baidu.com/view/a2b87c372f3f5727a5e9856a561252d381eb2058.html</a:t>
            </a:r>
            <a:endParaRPr kumimoji="1" lang="en-US" altLang="zh-CN" dirty="0" smtClean="0"/>
          </a:p>
          <a:p>
            <a:endParaRPr kumimoji="1" lang="en-US" altLang="zh-CN" dirty="0" smtClean="0"/>
          </a:p>
          <a:p>
            <a:r>
              <a:rPr kumimoji="1" lang="en-US" altLang="zh-CN" dirty="0" smtClean="0"/>
              <a:t>2</a:t>
            </a:r>
            <a:r>
              <a:rPr kumimoji="1" lang="zh-CN" altLang="en-US" dirty="0" smtClean="0"/>
              <a:t>、</a:t>
            </a:r>
            <a:r>
              <a:rPr lang="zh-CN" altLang="en-US" b="1" dirty="0"/>
              <a:t>如果你的项目失败了，应该是做了失败的需求分析</a:t>
            </a:r>
          </a:p>
          <a:p>
            <a:r>
              <a:rPr kumimoji="1" lang="en-US" altLang="zh-CN" dirty="0">
                <a:hlinkClick r:id="rId3"/>
              </a:rPr>
              <a:t>http://</a:t>
            </a:r>
            <a:r>
              <a:rPr kumimoji="1" lang="en-US" altLang="zh-CN" dirty="0" smtClean="0">
                <a:hlinkClick r:id="rId3"/>
              </a:rPr>
              <a:t>www.woshipm.com/pmd/638021.html</a:t>
            </a:r>
            <a:endParaRPr kumimoji="1" lang="en-US" altLang="zh-CN" dirty="0" smtClean="0"/>
          </a:p>
          <a:p>
            <a:endParaRPr kumimoji="1" lang="en-US" altLang="zh-CN" dirty="0" smtClean="0"/>
          </a:p>
          <a:p>
            <a:r>
              <a:rPr kumimoji="1" lang="en-US" altLang="zh-CN" dirty="0" smtClean="0"/>
              <a:t>3</a:t>
            </a:r>
            <a:r>
              <a:rPr kumimoji="1" lang="zh-CN" altLang="en-US" dirty="0" smtClean="0"/>
              <a:t>、</a:t>
            </a:r>
            <a:r>
              <a:rPr lang="zh-CN" altLang="en-US" b="1" dirty="0"/>
              <a:t>软件需求分析的</a:t>
            </a:r>
            <a:r>
              <a:rPr lang="zh-CN" altLang="en-US" b="1" dirty="0" smtClean="0"/>
              <a:t>作用 百度百科</a:t>
            </a:r>
            <a:endParaRPr lang="en-US" altLang="zh-CN" b="1" dirty="0" smtClean="0"/>
          </a:p>
          <a:p>
            <a:r>
              <a:rPr kumimoji="1" lang="en-US" altLang="zh-CN" dirty="0">
                <a:hlinkClick r:id="rId4"/>
              </a:rPr>
              <a:t>https://zhidao.baidu.com/question/684288960916119732.html</a:t>
            </a:r>
            <a:endParaRPr kumimoji="1" lang="en-US" altLang="zh-CN" dirty="0"/>
          </a:p>
          <a:p>
            <a:endParaRPr lang="zh-CN" altLang="en-US" b="1" dirty="0"/>
          </a:p>
          <a:p>
            <a:endParaRPr kumimoji="1" lang="zh-CN" altLang="en-US" dirty="0"/>
          </a:p>
        </p:txBody>
      </p:sp>
      <p:cxnSp>
        <p:nvCxnSpPr>
          <p:cNvPr id="27" name="直接连接符 25"/>
          <p:cNvCxnSpPr/>
          <p:nvPr/>
        </p:nvCxnSpPr>
        <p:spPr>
          <a:xfrm flipH="1">
            <a:off x="6036730" y="245064"/>
            <a:ext cx="28091" cy="3919666"/>
          </a:xfrm>
          <a:prstGeom prst="line">
            <a:avLst/>
          </a:prstGeom>
          <a:ln w="12700">
            <a:solidFill>
              <a:schemeClr val="tx1">
                <a:lumMod val="50000"/>
                <a:lumOff val="50000"/>
              </a:schemeClr>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485365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ctrTitle"/>
          </p:nvPr>
        </p:nvSpPr>
        <p:spPr>
          <a:xfrm>
            <a:off x="2063750" y="1484314"/>
            <a:ext cx="7772400" cy="1470025"/>
          </a:xfrm>
        </p:spPr>
        <p:txBody>
          <a:bodyPr anchor="ctr"/>
          <a:lstStyle/>
          <a:p>
            <a:pPr eaLnBrk="1" hangingPunct="1"/>
            <a:r>
              <a:rPr lang="zh-CN" altLang="en-US" sz="7200" b="1">
                <a:solidFill>
                  <a:srgbClr val="000000"/>
                </a:solidFill>
                <a:latin typeface="Times New Roman" panose="02020603050405020304" pitchFamily="18" charset="0"/>
                <a:ea typeface="宋体-方正超大字符集" pitchFamily="65" charset="-122"/>
              </a:rPr>
              <a:t>软件需求</a:t>
            </a:r>
            <a:r>
              <a:rPr lang="zh-CN" altLang="en-GB" sz="7200" b="1">
                <a:solidFill>
                  <a:srgbClr val="000000"/>
                </a:solidFill>
                <a:latin typeface="Times New Roman" panose="02020603050405020304" pitchFamily="18" charset="0"/>
                <a:ea typeface="宋体-方正超大字符集" pitchFamily="65" charset="-122"/>
              </a:rPr>
              <a:t>工程</a:t>
            </a:r>
            <a:endParaRPr lang="zh-CN" altLang="en-US" sz="7200" b="1">
              <a:solidFill>
                <a:srgbClr val="000000"/>
              </a:solidFill>
              <a:latin typeface="Times New Roman" panose="02020603050405020304" pitchFamily="18" charset="0"/>
              <a:ea typeface="宋体-方正超大字符集" pitchFamily="65" charset="-122"/>
            </a:endParaRPr>
          </a:p>
        </p:txBody>
      </p:sp>
      <p:sp>
        <p:nvSpPr>
          <p:cNvPr id="3075" name="Rectangle 3"/>
          <p:cNvSpPr>
            <a:spLocks noGrp="1" noChangeArrowheads="1"/>
          </p:cNvSpPr>
          <p:nvPr>
            <p:ph type="subTitle" idx="1"/>
          </p:nvPr>
        </p:nvSpPr>
        <p:spPr>
          <a:xfrm>
            <a:off x="2895600" y="3886200"/>
            <a:ext cx="6400800" cy="1752600"/>
          </a:xfrm>
        </p:spPr>
        <p:txBody>
          <a:bodyPr/>
          <a:lstStyle/>
          <a:p>
            <a:pPr eaLnBrk="1" hangingPunct="1">
              <a:lnSpc>
                <a:spcPct val="80000"/>
              </a:lnSpc>
            </a:pPr>
            <a:endParaRPr lang="zh-CN" altLang="en-US" sz="3600" b="1">
              <a:solidFill>
                <a:srgbClr val="000000"/>
              </a:solidFill>
            </a:endParaRPr>
          </a:p>
        </p:txBody>
      </p:sp>
    </p:spTree>
    <p:extLst>
      <p:ext uri="{BB962C8B-B14F-4D97-AF65-F5344CB8AC3E}">
        <p14:creationId xmlns:p14="http://schemas.microsoft.com/office/powerpoint/2010/main" val="179592821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2"/>
          <p:cNvSpPr>
            <a:spLocks noGrp="1" noChangeArrowheads="1"/>
          </p:cNvSpPr>
          <p:nvPr>
            <p:ph type="title"/>
          </p:nvPr>
        </p:nvSpPr>
        <p:spPr/>
        <p:txBody>
          <a:bodyPr/>
          <a:lstStyle/>
          <a:p>
            <a:pPr eaLnBrk="1" hangingPunct="1"/>
            <a:r>
              <a:rPr lang="zh-CN" altLang="en-US" sz="4000"/>
              <a:t>软件缺陷产生的原因</a:t>
            </a:r>
          </a:p>
        </p:txBody>
      </p:sp>
      <p:sp>
        <p:nvSpPr>
          <p:cNvPr id="5123" name="Rectangle 3"/>
          <p:cNvSpPr>
            <a:spLocks noGrp="1" noChangeArrowheads="1"/>
          </p:cNvSpPr>
          <p:nvPr>
            <p:ph type="body" idx="1"/>
          </p:nvPr>
        </p:nvSpPr>
        <p:spPr>
          <a:xfrm>
            <a:off x="2133600" y="1371600"/>
            <a:ext cx="7924800" cy="4724400"/>
          </a:xfrm>
        </p:spPr>
        <p:txBody>
          <a:bodyPr/>
          <a:lstStyle/>
          <a:p>
            <a:pPr eaLnBrk="1" hangingPunct="1">
              <a:buFont typeface="Wingdings" panose="05000000000000000000" pitchFamily="2" charset="2"/>
              <a:buNone/>
            </a:pPr>
            <a:endParaRPr lang="zh-CN" altLang="en-US" sz="2400">
              <a:latin typeface="宋体" panose="02010600030101010101" pitchFamily="2" charset="-122"/>
            </a:endParaRPr>
          </a:p>
          <a:p>
            <a:pPr eaLnBrk="1" hangingPunct="1">
              <a:buFont typeface="Wingdings" panose="05000000000000000000" pitchFamily="2" charset="2"/>
              <a:buNone/>
            </a:pPr>
            <a:endParaRPr lang="zh-CN" altLang="en-US" sz="2400">
              <a:latin typeface="宋体" panose="02010600030101010101" pitchFamily="2" charset="-122"/>
            </a:endParaRPr>
          </a:p>
          <a:p>
            <a:pPr eaLnBrk="1" hangingPunct="1">
              <a:buFont typeface="Wingdings" panose="05000000000000000000" pitchFamily="2" charset="2"/>
              <a:buNone/>
            </a:pPr>
            <a:endParaRPr lang="zh-CN" altLang="en-US" sz="2400">
              <a:latin typeface="宋体" panose="02010600030101010101" pitchFamily="2" charset="-122"/>
            </a:endParaRPr>
          </a:p>
          <a:p>
            <a:pPr eaLnBrk="1" hangingPunct="1">
              <a:buFont typeface="Wingdings" panose="05000000000000000000" pitchFamily="2" charset="2"/>
              <a:buNone/>
            </a:pPr>
            <a:endParaRPr lang="zh-CN" altLang="en-US" sz="2400">
              <a:latin typeface="宋体" panose="02010600030101010101" pitchFamily="2" charset="-122"/>
            </a:endParaRPr>
          </a:p>
          <a:p>
            <a:pPr eaLnBrk="1" hangingPunct="1">
              <a:buFont typeface="Wingdings" panose="05000000000000000000" pitchFamily="2" charset="2"/>
              <a:buNone/>
            </a:pPr>
            <a:endParaRPr lang="zh-CN" altLang="en-US" sz="2400"/>
          </a:p>
          <a:p>
            <a:pPr eaLnBrk="1" hangingPunct="1">
              <a:buFont typeface="Wingdings" panose="05000000000000000000" pitchFamily="2" charset="2"/>
              <a:buNone/>
            </a:pPr>
            <a:endParaRPr lang="zh-CN" altLang="en-US" sz="2400"/>
          </a:p>
          <a:p>
            <a:pPr eaLnBrk="1" hangingPunct="1">
              <a:buFont typeface="Wingdings" panose="05000000000000000000" pitchFamily="2" charset="2"/>
              <a:buNone/>
            </a:pPr>
            <a:endParaRPr lang="zh-CN" altLang="en-US" sz="2400"/>
          </a:p>
          <a:p>
            <a:pPr eaLnBrk="1" hangingPunct="1">
              <a:buFont typeface="Wingdings" panose="05000000000000000000" pitchFamily="2" charset="2"/>
              <a:buNone/>
            </a:pPr>
            <a:endParaRPr lang="zh-CN" altLang="en-US" sz="2400"/>
          </a:p>
          <a:p>
            <a:pPr eaLnBrk="1" hangingPunct="1">
              <a:buFont typeface="Wingdings" panose="05000000000000000000" pitchFamily="2" charset="2"/>
              <a:buNone/>
            </a:pPr>
            <a:endParaRPr lang="zh-CN" altLang="en-US" sz="2400"/>
          </a:p>
          <a:p>
            <a:pPr eaLnBrk="1" hangingPunct="1">
              <a:buFont typeface="Wingdings" panose="05000000000000000000" pitchFamily="2" charset="2"/>
              <a:buNone/>
            </a:pPr>
            <a:endParaRPr lang="zh-CN" altLang="en-US" sz="2400"/>
          </a:p>
          <a:p>
            <a:pPr eaLnBrk="1" hangingPunct="1">
              <a:buFont typeface="Wingdings" panose="05000000000000000000" pitchFamily="2" charset="2"/>
              <a:buNone/>
            </a:pPr>
            <a:endParaRPr lang="zh-CN" altLang="en-US" sz="2400"/>
          </a:p>
          <a:p>
            <a:pPr eaLnBrk="1" hangingPunct="1">
              <a:buFont typeface="Wingdings" panose="05000000000000000000" pitchFamily="2" charset="2"/>
              <a:buNone/>
            </a:pPr>
            <a:r>
              <a:rPr lang="zh-CN" altLang="en-US" sz="2400"/>
              <a:t>                    软件缺陷产生的原因分布</a:t>
            </a:r>
          </a:p>
        </p:txBody>
      </p:sp>
      <p:grpSp>
        <p:nvGrpSpPr>
          <p:cNvPr id="2" name="Group 4"/>
          <p:cNvGrpSpPr>
            <a:grpSpLocks/>
          </p:cNvGrpSpPr>
          <p:nvPr/>
        </p:nvGrpSpPr>
        <p:grpSpPr bwMode="auto">
          <a:xfrm>
            <a:off x="3733800" y="1676400"/>
            <a:ext cx="4114800" cy="3733800"/>
            <a:chOff x="3651" y="3104"/>
            <a:chExt cx="3360" cy="3276"/>
          </a:xfrm>
        </p:grpSpPr>
        <p:sp>
          <p:nvSpPr>
            <p:cNvPr id="5125" name="Oval 5"/>
            <p:cNvSpPr>
              <a:spLocks noChangeArrowheads="1"/>
            </p:cNvSpPr>
            <p:nvPr/>
          </p:nvSpPr>
          <p:spPr bwMode="auto">
            <a:xfrm>
              <a:off x="3651" y="3104"/>
              <a:ext cx="3360" cy="3276"/>
            </a:xfrm>
            <a:prstGeom prst="ellipse">
              <a:avLst/>
            </a:prstGeom>
            <a:solidFill>
              <a:srgbClr val="FFFFFF"/>
            </a:solidFill>
            <a:ln w="28575">
              <a:solidFill>
                <a:srgbClr val="FF0000"/>
              </a:solidFill>
              <a:round/>
              <a:headEnd/>
              <a:tailEnd/>
            </a:ln>
          </p:spPr>
          <p:txBody>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endParaRPr lang="zh-CN" altLang="en-US" sz="1800">
                <a:solidFill>
                  <a:srgbClr val="000000"/>
                </a:solidFill>
              </a:endParaRPr>
            </a:p>
          </p:txBody>
        </p:sp>
        <p:sp>
          <p:nvSpPr>
            <p:cNvPr id="5126" name="Line 6"/>
            <p:cNvSpPr>
              <a:spLocks noChangeShapeType="1"/>
            </p:cNvSpPr>
            <p:nvPr/>
          </p:nvSpPr>
          <p:spPr bwMode="auto">
            <a:xfrm flipH="1">
              <a:off x="5331" y="3104"/>
              <a:ext cx="105" cy="1716"/>
            </a:xfrm>
            <a:prstGeom prst="line">
              <a:avLst/>
            </a:prstGeom>
            <a:noFill/>
            <a:ln w="19050">
              <a:solidFill>
                <a:srgbClr val="00008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5127" name="Line 7"/>
            <p:cNvSpPr>
              <a:spLocks noChangeShapeType="1"/>
            </p:cNvSpPr>
            <p:nvPr/>
          </p:nvSpPr>
          <p:spPr bwMode="auto">
            <a:xfrm flipH="1">
              <a:off x="4596" y="4820"/>
              <a:ext cx="735" cy="1404"/>
            </a:xfrm>
            <a:prstGeom prst="line">
              <a:avLst/>
            </a:prstGeom>
            <a:noFill/>
            <a:ln w="19050">
              <a:solidFill>
                <a:srgbClr val="00008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5128" name="Line 8"/>
            <p:cNvSpPr>
              <a:spLocks noChangeShapeType="1"/>
            </p:cNvSpPr>
            <p:nvPr/>
          </p:nvSpPr>
          <p:spPr bwMode="auto">
            <a:xfrm flipH="1" flipV="1">
              <a:off x="3756" y="4196"/>
              <a:ext cx="1575" cy="624"/>
            </a:xfrm>
            <a:prstGeom prst="line">
              <a:avLst/>
            </a:prstGeom>
            <a:noFill/>
            <a:ln w="19050">
              <a:solidFill>
                <a:srgbClr val="00008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5129" name="Line 9"/>
            <p:cNvSpPr>
              <a:spLocks noChangeShapeType="1"/>
            </p:cNvSpPr>
            <p:nvPr/>
          </p:nvSpPr>
          <p:spPr bwMode="auto">
            <a:xfrm flipH="1" flipV="1">
              <a:off x="4386" y="3416"/>
              <a:ext cx="945" cy="1404"/>
            </a:xfrm>
            <a:prstGeom prst="line">
              <a:avLst/>
            </a:prstGeom>
            <a:noFill/>
            <a:ln w="19050">
              <a:solidFill>
                <a:srgbClr val="000080"/>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5130" name="Text Box 10"/>
            <p:cNvSpPr txBox="1">
              <a:spLocks noChangeArrowheads="1"/>
            </p:cNvSpPr>
            <p:nvPr/>
          </p:nvSpPr>
          <p:spPr bwMode="auto">
            <a:xfrm>
              <a:off x="4701" y="3260"/>
              <a:ext cx="525"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endParaRPr lang="zh-CN" altLang="en-US" sz="1800" b="1">
                <a:solidFill>
                  <a:srgbClr val="808080"/>
                </a:solidFill>
              </a:endParaRPr>
            </a:p>
            <a:p>
              <a:pPr fontAlgn="base">
                <a:spcBef>
                  <a:spcPct val="0"/>
                </a:spcBef>
                <a:spcAft>
                  <a:spcPct val="0"/>
                </a:spcAft>
                <a:buNone/>
              </a:pPr>
              <a:r>
                <a:rPr lang="zh-CN" altLang="en-US" sz="1800" b="1">
                  <a:solidFill>
                    <a:srgbClr val="808080"/>
                  </a:solidFill>
                </a:rPr>
                <a:t>其他</a:t>
              </a:r>
            </a:p>
            <a:p>
              <a:pPr fontAlgn="base">
                <a:spcBef>
                  <a:spcPct val="0"/>
                </a:spcBef>
                <a:spcAft>
                  <a:spcPct val="0"/>
                </a:spcAft>
                <a:buNone/>
              </a:pPr>
              <a:r>
                <a:rPr lang="zh-CN" altLang="en-US" sz="1800" b="1">
                  <a:solidFill>
                    <a:srgbClr val="808080"/>
                  </a:solidFill>
                </a:rPr>
                <a:t>10%</a:t>
              </a:r>
            </a:p>
          </p:txBody>
        </p:sp>
        <p:sp>
          <p:nvSpPr>
            <p:cNvPr id="5131" name="Text Box 11"/>
            <p:cNvSpPr txBox="1">
              <a:spLocks noChangeArrowheads="1"/>
            </p:cNvSpPr>
            <p:nvPr/>
          </p:nvSpPr>
          <p:spPr bwMode="auto">
            <a:xfrm>
              <a:off x="5541" y="4664"/>
              <a:ext cx="1155" cy="10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r>
                <a:rPr lang="zh-CN" altLang="en-US" sz="1800" b="1">
                  <a:solidFill>
                    <a:srgbClr val="808080"/>
                  </a:solidFill>
                </a:rPr>
                <a:t>软件产品说明书（需求）</a:t>
              </a:r>
            </a:p>
            <a:p>
              <a:pPr fontAlgn="base">
                <a:spcBef>
                  <a:spcPct val="0"/>
                </a:spcBef>
                <a:spcAft>
                  <a:spcPct val="0"/>
                </a:spcAft>
                <a:buNone/>
              </a:pPr>
              <a:r>
                <a:rPr lang="zh-CN" altLang="en-US" sz="1800" b="1">
                  <a:solidFill>
                    <a:srgbClr val="808080"/>
                  </a:solidFill>
                </a:rPr>
                <a:t>56%</a:t>
              </a:r>
            </a:p>
          </p:txBody>
        </p:sp>
        <p:sp>
          <p:nvSpPr>
            <p:cNvPr id="5132" name="Text Box 12"/>
            <p:cNvSpPr txBox="1">
              <a:spLocks noChangeArrowheads="1"/>
            </p:cNvSpPr>
            <p:nvPr/>
          </p:nvSpPr>
          <p:spPr bwMode="auto">
            <a:xfrm>
              <a:off x="3861" y="3728"/>
              <a:ext cx="945" cy="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endParaRPr lang="zh-CN" altLang="en-US" sz="1800" b="1">
                <a:solidFill>
                  <a:srgbClr val="808080"/>
                </a:solidFill>
              </a:endParaRPr>
            </a:p>
            <a:p>
              <a:pPr fontAlgn="base">
                <a:spcBef>
                  <a:spcPct val="0"/>
                </a:spcBef>
                <a:spcAft>
                  <a:spcPct val="0"/>
                </a:spcAft>
                <a:buNone/>
              </a:pPr>
              <a:r>
                <a:rPr lang="zh-CN" altLang="en-US" sz="1800" b="1">
                  <a:solidFill>
                    <a:srgbClr val="808080"/>
                  </a:solidFill>
                </a:rPr>
                <a:t>编写代码</a:t>
              </a:r>
            </a:p>
            <a:p>
              <a:pPr fontAlgn="base">
                <a:spcBef>
                  <a:spcPct val="0"/>
                </a:spcBef>
                <a:spcAft>
                  <a:spcPct val="0"/>
                </a:spcAft>
                <a:buNone/>
              </a:pPr>
              <a:r>
                <a:rPr lang="zh-CN" altLang="en-US" sz="1800" b="1">
                  <a:solidFill>
                    <a:srgbClr val="808080"/>
                  </a:solidFill>
                </a:rPr>
                <a:t>7%</a:t>
              </a:r>
            </a:p>
          </p:txBody>
        </p:sp>
        <p:sp>
          <p:nvSpPr>
            <p:cNvPr id="5133" name="Text Box 13"/>
            <p:cNvSpPr txBox="1">
              <a:spLocks noChangeArrowheads="1"/>
            </p:cNvSpPr>
            <p:nvPr/>
          </p:nvSpPr>
          <p:spPr bwMode="auto">
            <a:xfrm>
              <a:off x="4176" y="4976"/>
              <a:ext cx="525" cy="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just" fontAlgn="base">
                <a:spcBef>
                  <a:spcPct val="0"/>
                </a:spcBef>
                <a:spcAft>
                  <a:spcPct val="0"/>
                </a:spcAft>
                <a:buNone/>
              </a:pPr>
              <a:r>
                <a:rPr lang="zh-CN" altLang="en-US" sz="1800" b="1">
                  <a:solidFill>
                    <a:srgbClr val="808080"/>
                  </a:solidFill>
                </a:rPr>
                <a:t>设计27%</a:t>
              </a:r>
            </a:p>
          </p:txBody>
        </p:sp>
      </p:grpSp>
    </p:spTree>
    <p:extLst>
      <p:ext uri="{BB962C8B-B14F-4D97-AF65-F5344CB8AC3E}">
        <p14:creationId xmlns:p14="http://schemas.microsoft.com/office/powerpoint/2010/main" val="122784206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2" presetClass="entr" presetSubtype="4"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2209800" y="457200"/>
            <a:ext cx="7772400" cy="762000"/>
          </a:xfrm>
        </p:spPr>
        <p:txBody>
          <a:bodyPr/>
          <a:lstStyle/>
          <a:p>
            <a:pPr eaLnBrk="1" hangingPunct="1"/>
            <a:r>
              <a:rPr lang="zh-CN" altLang="en-US" smtClean="0"/>
              <a:t>缺陷纠正得越晚成本越大</a:t>
            </a:r>
            <a:r>
              <a:rPr lang="zh-CN" altLang="en-US" smtClean="0">
                <a:solidFill>
                  <a:schemeClr val="accent1"/>
                </a:solidFill>
              </a:rPr>
              <a:t> </a:t>
            </a:r>
          </a:p>
        </p:txBody>
      </p:sp>
      <p:sp>
        <p:nvSpPr>
          <p:cNvPr id="7171" name="Text Box 4"/>
          <p:cNvSpPr txBox="1">
            <a:spLocks noChangeArrowheads="1"/>
          </p:cNvSpPr>
          <p:nvPr/>
        </p:nvSpPr>
        <p:spPr bwMode="auto">
          <a:xfrm>
            <a:off x="2376488" y="3195638"/>
            <a:ext cx="1573212" cy="615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ts val="600"/>
              </a:spcBef>
              <a:spcAft>
                <a:spcPct val="0"/>
              </a:spcAft>
              <a:buNone/>
            </a:pPr>
            <a:r>
              <a:rPr kumimoji="1" lang="en-US" altLang="zh-CN" sz="1100" b="1">
                <a:solidFill>
                  <a:srgbClr val="FFFFFF"/>
                </a:solidFill>
              </a:rPr>
              <a:t>Phase That a </a:t>
            </a:r>
            <a:br>
              <a:rPr kumimoji="1" lang="en-US" altLang="zh-CN" sz="1100" b="1">
                <a:solidFill>
                  <a:srgbClr val="FFFFFF"/>
                </a:solidFill>
              </a:rPr>
            </a:br>
            <a:r>
              <a:rPr kumimoji="1" lang="en-US" altLang="zh-CN" sz="1100" b="1">
                <a:solidFill>
                  <a:srgbClr val="FFFFFF"/>
                </a:solidFill>
              </a:rPr>
              <a:t>Defect Is Created</a:t>
            </a:r>
            <a:endParaRPr kumimoji="1" lang="en-US" altLang="zh-CN" sz="1100" b="1">
              <a:solidFill>
                <a:srgbClr val="000000"/>
              </a:solidFill>
            </a:endParaRPr>
          </a:p>
          <a:p>
            <a:pPr fontAlgn="base">
              <a:spcBef>
                <a:spcPct val="0"/>
              </a:spcBef>
              <a:spcAft>
                <a:spcPct val="0"/>
              </a:spcAft>
              <a:buNone/>
            </a:pPr>
            <a:endParaRPr kumimoji="1" lang="en-US" altLang="zh-CN" sz="1000">
              <a:solidFill>
                <a:srgbClr val="000000"/>
              </a:solidFill>
            </a:endParaRPr>
          </a:p>
        </p:txBody>
      </p:sp>
      <p:sp>
        <p:nvSpPr>
          <p:cNvPr id="7172" name="Text Box 5"/>
          <p:cNvSpPr txBox="1">
            <a:spLocks noChangeArrowheads="1"/>
          </p:cNvSpPr>
          <p:nvPr/>
        </p:nvSpPr>
        <p:spPr bwMode="auto">
          <a:xfrm>
            <a:off x="8870950" y="1905000"/>
            <a:ext cx="801688" cy="6492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ts val="600"/>
              </a:spcBef>
              <a:spcAft>
                <a:spcPct val="0"/>
              </a:spcAft>
              <a:buNone/>
            </a:pPr>
            <a:r>
              <a:rPr kumimoji="1" lang="en-US" altLang="zh-CN" sz="1100" b="1">
                <a:solidFill>
                  <a:srgbClr val="FFFFFF"/>
                </a:solidFill>
              </a:rPr>
              <a:t>Cost to Correct</a:t>
            </a:r>
            <a:endParaRPr kumimoji="1" lang="en-US" altLang="zh-CN" sz="1100" b="1">
              <a:solidFill>
                <a:srgbClr val="000000"/>
              </a:solidFill>
            </a:endParaRPr>
          </a:p>
          <a:p>
            <a:pPr fontAlgn="base">
              <a:spcBef>
                <a:spcPct val="0"/>
              </a:spcBef>
              <a:spcAft>
                <a:spcPct val="0"/>
              </a:spcAft>
              <a:buNone/>
            </a:pPr>
            <a:endParaRPr kumimoji="1" lang="en-US" altLang="zh-CN" sz="1000">
              <a:solidFill>
                <a:srgbClr val="000000"/>
              </a:solidFill>
            </a:endParaRPr>
          </a:p>
        </p:txBody>
      </p:sp>
      <p:sp>
        <p:nvSpPr>
          <p:cNvPr id="7173" name="Line 6"/>
          <p:cNvSpPr>
            <a:spLocks noChangeShapeType="1"/>
          </p:cNvSpPr>
          <p:nvPr/>
        </p:nvSpPr>
        <p:spPr bwMode="auto">
          <a:xfrm>
            <a:off x="3708401" y="3835400"/>
            <a:ext cx="155575" cy="1849438"/>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74" name="Line 7"/>
          <p:cNvSpPr>
            <a:spLocks noChangeShapeType="1"/>
          </p:cNvSpPr>
          <p:nvPr/>
        </p:nvSpPr>
        <p:spPr bwMode="auto">
          <a:xfrm flipV="1">
            <a:off x="3708400" y="3819525"/>
            <a:ext cx="4025900" cy="0"/>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75" name="Line 8"/>
          <p:cNvSpPr>
            <a:spLocks noChangeShapeType="1"/>
          </p:cNvSpPr>
          <p:nvPr/>
        </p:nvSpPr>
        <p:spPr bwMode="auto">
          <a:xfrm>
            <a:off x="3863975" y="5668963"/>
            <a:ext cx="5480050" cy="0"/>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76" name="Line 9"/>
          <p:cNvSpPr>
            <a:spLocks noChangeShapeType="1"/>
          </p:cNvSpPr>
          <p:nvPr/>
        </p:nvSpPr>
        <p:spPr bwMode="auto">
          <a:xfrm flipH="1" flipV="1">
            <a:off x="7691439" y="3819525"/>
            <a:ext cx="1652587" cy="1849438"/>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77" name="Line 10"/>
          <p:cNvSpPr>
            <a:spLocks noChangeShapeType="1"/>
          </p:cNvSpPr>
          <p:nvPr/>
        </p:nvSpPr>
        <p:spPr bwMode="auto">
          <a:xfrm flipV="1">
            <a:off x="3786189" y="4699000"/>
            <a:ext cx="4689475" cy="12700"/>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78" name="Line 11"/>
          <p:cNvSpPr>
            <a:spLocks noChangeShapeType="1"/>
          </p:cNvSpPr>
          <p:nvPr/>
        </p:nvSpPr>
        <p:spPr bwMode="auto">
          <a:xfrm>
            <a:off x="3819525" y="5211763"/>
            <a:ext cx="5111750" cy="0"/>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79" name="Line 12"/>
          <p:cNvSpPr>
            <a:spLocks noChangeShapeType="1"/>
          </p:cNvSpPr>
          <p:nvPr/>
        </p:nvSpPr>
        <p:spPr bwMode="auto">
          <a:xfrm flipV="1">
            <a:off x="3730625" y="4205289"/>
            <a:ext cx="4305300" cy="7937"/>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80" name="Line 13"/>
          <p:cNvSpPr>
            <a:spLocks noChangeShapeType="1"/>
          </p:cNvSpPr>
          <p:nvPr/>
        </p:nvSpPr>
        <p:spPr bwMode="auto">
          <a:xfrm>
            <a:off x="5341938" y="3819525"/>
            <a:ext cx="628650" cy="1849438"/>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81" name="Line 14"/>
          <p:cNvSpPr>
            <a:spLocks noChangeShapeType="1"/>
          </p:cNvSpPr>
          <p:nvPr/>
        </p:nvSpPr>
        <p:spPr bwMode="auto">
          <a:xfrm>
            <a:off x="4514850" y="3819525"/>
            <a:ext cx="363538" cy="1843088"/>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82" name="Line 15"/>
          <p:cNvSpPr>
            <a:spLocks noChangeShapeType="1"/>
          </p:cNvSpPr>
          <p:nvPr/>
        </p:nvSpPr>
        <p:spPr bwMode="auto">
          <a:xfrm>
            <a:off x="6157914" y="3829051"/>
            <a:ext cx="903287" cy="1833563"/>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83" name="Line 16"/>
          <p:cNvSpPr>
            <a:spLocks noChangeShapeType="1"/>
          </p:cNvSpPr>
          <p:nvPr/>
        </p:nvSpPr>
        <p:spPr bwMode="auto">
          <a:xfrm>
            <a:off x="6986589" y="3819525"/>
            <a:ext cx="1190625" cy="1855788"/>
          </a:xfrm>
          <a:prstGeom prst="line">
            <a:avLst/>
          </a:prstGeom>
          <a:noFill/>
          <a:ln w="25400">
            <a:solidFill>
              <a:schemeClr val="bg1"/>
            </a:solidFill>
            <a:round/>
            <a:headEnd/>
            <a:tailEn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84" name="Line 17"/>
          <p:cNvSpPr>
            <a:spLocks noChangeShapeType="1"/>
          </p:cNvSpPr>
          <p:nvPr/>
        </p:nvSpPr>
        <p:spPr bwMode="auto">
          <a:xfrm flipV="1">
            <a:off x="8788400" y="1544638"/>
            <a:ext cx="0" cy="2449512"/>
          </a:xfrm>
          <a:prstGeom prst="line">
            <a:avLst/>
          </a:prstGeom>
          <a:noFill/>
          <a:ln w="25400">
            <a:solidFill>
              <a:schemeClr val="bg1"/>
            </a:solidFill>
            <a:round/>
            <a:headEnd/>
            <a:tailEnd type="triangle" w="med" len="med"/>
          </a:ln>
          <a:extLst>
            <a:ext uri="{909E8E84-426E-40DD-AFC4-6F175D3DCCD1}">
              <a14:hiddenFill xmlns:a14="http://schemas.microsoft.com/office/drawing/2010/main">
                <a:noFill/>
              </a14:hiddenFill>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185" name="Text Box 18"/>
          <p:cNvSpPr txBox="1">
            <a:spLocks noChangeArrowheads="1"/>
          </p:cNvSpPr>
          <p:nvPr/>
        </p:nvSpPr>
        <p:spPr bwMode="auto">
          <a:xfrm>
            <a:off x="2478089" y="3863976"/>
            <a:ext cx="11715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r>
              <a:rPr kumimoji="1" lang="en-US" altLang="zh-CN" sz="1000" b="1">
                <a:solidFill>
                  <a:srgbClr val="FFFFFF"/>
                </a:solidFill>
              </a:rPr>
              <a:t>Requirements</a:t>
            </a:r>
            <a:endParaRPr kumimoji="1" lang="en-US" altLang="zh-CN" sz="1000">
              <a:solidFill>
                <a:srgbClr val="000000"/>
              </a:solidFill>
              <a:latin typeface="Times New Roman" panose="02020603050405020304" pitchFamily="18" charset="0"/>
            </a:endParaRPr>
          </a:p>
          <a:p>
            <a:pPr algn="just" fontAlgn="base">
              <a:spcBef>
                <a:spcPct val="0"/>
              </a:spcBef>
              <a:spcAft>
                <a:spcPct val="0"/>
              </a:spcAft>
              <a:buNone/>
            </a:pPr>
            <a:endParaRPr kumimoji="1" lang="en-US" altLang="zh-CN" sz="1000">
              <a:solidFill>
                <a:srgbClr val="000000"/>
              </a:solidFill>
              <a:latin typeface="Times New Roman" panose="02020603050405020304" pitchFamily="18" charset="0"/>
            </a:endParaRPr>
          </a:p>
        </p:txBody>
      </p:sp>
      <p:sp>
        <p:nvSpPr>
          <p:cNvPr id="7186" name="Text Box 19"/>
          <p:cNvSpPr txBox="1">
            <a:spLocks noChangeArrowheads="1"/>
          </p:cNvSpPr>
          <p:nvPr/>
        </p:nvSpPr>
        <p:spPr bwMode="auto">
          <a:xfrm>
            <a:off x="2519364" y="4303713"/>
            <a:ext cx="1158875" cy="33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r>
              <a:rPr kumimoji="1" lang="en-US" altLang="zh-CN" sz="1000" b="1">
                <a:solidFill>
                  <a:srgbClr val="FFFFFF"/>
                </a:solidFill>
              </a:rPr>
              <a:t>Architecture</a:t>
            </a:r>
            <a:endParaRPr kumimoji="1" lang="en-US" altLang="zh-CN" sz="1000">
              <a:solidFill>
                <a:srgbClr val="000000"/>
              </a:solidFill>
              <a:latin typeface="Times New Roman" panose="02020603050405020304" pitchFamily="18" charset="0"/>
            </a:endParaRPr>
          </a:p>
          <a:p>
            <a:pPr fontAlgn="base">
              <a:spcBef>
                <a:spcPct val="0"/>
              </a:spcBef>
              <a:spcAft>
                <a:spcPct val="0"/>
              </a:spcAft>
              <a:buNone/>
            </a:pPr>
            <a:endParaRPr kumimoji="1" lang="en-US" altLang="zh-CN" sz="1000">
              <a:solidFill>
                <a:srgbClr val="000000"/>
              </a:solidFill>
              <a:latin typeface="Times New Roman" panose="02020603050405020304" pitchFamily="18" charset="0"/>
            </a:endParaRPr>
          </a:p>
          <a:p>
            <a:pPr fontAlgn="base">
              <a:spcBef>
                <a:spcPct val="0"/>
              </a:spcBef>
              <a:spcAft>
                <a:spcPct val="0"/>
              </a:spcAft>
              <a:buNone/>
            </a:pPr>
            <a:endParaRPr kumimoji="1" lang="en-US" altLang="zh-CN" sz="1000">
              <a:solidFill>
                <a:srgbClr val="000000"/>
              </a:solidFill>
              <a:latin typeface="Times New Roman" panose="02020603050405020304" pitchFamily="18" charset="0"/>
            </a:endParaRPr>
          </a:p>
        </p:txBody>
      </p:sp>
      <p:sp>
        <p:nvSpPr>
          <p:cNvPr id="7187" name="Text Box 20"/>
          <p:cNvSpPr txBox="1">
            <a:spLocks noChangeArrowheads="1"/>
          </p:cNvSpPr>
          <p:nvPr/>
        </p:nvSpPr>
        <p:spPr bwMode="auto">
          <a:xfrm>
            <a:off x="2347914" y="4799013"/>
            <a:ext cx="1341437"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r>
              <a:rPr kumimoji="1" lang="en-US" altLang="zh-CN" sz="1000" b="1">
                <a:solidFill>
                  <a:srgbClr val="FFFFFF"/>
                </a:solidFill>
              </a:rPr>
              <a:t>Detailed design</a:t>
            </a:r>
            <a:endParaRPr kumimoji="1" lang="en-US" altLang="zh-CN" sz="1000">
              <a:solidFill>
                <a:srgbClr val="000000"/>
              </a:solidFill>
              <a:latin typeface="Times New Roman" panose="02020603050405020304" pitchFamily="18" charset="0"/>
            </a:endParaRPr>
          </a:p>
          <a:p>
            <a:pPr fontAlgn="base">
              <a:spcBef>
                <a:spcPct val="0"/>
              </a:spcBef>
              <a:spcAft>
                <a:spcPct val="0"/>
              </a:spcAft>
              <a:buNone/>
            </a:pPr>
            <a:endParaRPr kumimoji="1" lang="en-US" altLang="zh-CN" sz="1000">
              <a:solidFill>
                <a:srgbClr val="000000"/>
              </a:solidFill>
              <a:latin typeface="Times New Roman" panose="02020603050405020304" pitchFamily="18" charset="0"/>
            </a:endParaRPr>
          </a:p>
        </p:txBody>
      </p:sp>
      <p:sp>
        <p:nvSpPr>
          <p:cNvPr id="7188" name="Text Box 21"/>
          <p:cNvSpPr txBox="1">
            <a:spLocks noChangeArrowheads="1"/>
          </p:cNvSpPr>
          <p:nvPr/>
        </p:nvSpPr>
        <p:spPr bwMode="auto">
          <a:xfrm>
            <a:off x="2598738" y="5272088"/>
            <a:ext cx="1149350" cy="328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r>
              <a:rPr kumimoji="1" lang="en-US" altLang="zh-CN" sz="1000" b="1">
                <a:solidFill>
                  <a:srgbClr val="FFFFFF"/>
                </a:solidFill>
              </a:rPr>
              <a:t>Construction</a:t>
            </a:r>
            <a:endParaRPr kumimoji="1" lang="en-US" altLang="zh-CN" sz="1000">
              <a:solidFill>
                <a:srgbClr val="000000"/>
              </a:solidFill>
              <a:latin typeface="Times New Roman" panose="02020603050405020304" pitchFamily="18" charset="0"/>
            </a:endParaRPr>
          </a:p>
          <a:p>
            <a:pPr fontAlgn="base">
              <a:spcBef>
                <a:spcPct val="0"/>
              </a:spcBef>
              <a:spcAft>
                <a:spcPct val="0"/>
              </a:spcAft>
              <a:buNone/>
            </a:pPr>
            <a:endParaRPr kumimoji="1" lang="en-US" altLang="zh-CN" sz="1000">
              <a:solidFill>
                <a:srgbClr val="000000"/>
              </a:solidFill>
              <a:latin typeface="Times New Roman" panose="02020603050405020304" pitchFamily="18" charset="0"/>
            </a:endParaRPr>
          </a:p>
        </p:txBody>
      </p:sp>
      <p:sp>
        <p:nvSpPr>
          <p:cNvPr id="7189" name="Text Box 22"/>
          <p:cNvSpPr txBox="1">
            <a:spLocks noChangeArrowheads="1"/>
          </p:cNvSpPr>
          <p:nvPr/>
        </p:nvSpPr>
        <p:spPr bwMode="auto">
          <a:xfrm>
            <a:off x="3849688" y="5724526"/>
            <a:ext cx="1339850"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ts val="600"/>
              </a:spcBef>
              <a:spcAft>
                <a:spcPct val="0"/>
              </a:spcAft>
              <a:buNone/>
            </a:pPr>
            <a:r>
              <a:rPr kumimoji="1" lang="en-US" altLang="zh-CN" sz="900" b="1">
                <a:solidFill>
                  <a:srgbClr val="FFFFFF"/>
                </a:solidFill>
              </a:rPr>
              <a:t>Requirements</a:t>
            </a:r>
            <a:endParaRPr kumimoji="1" lang="en-US" altLang="zh-CN" sz="900" b="1">
              <a:solidFill>
                <a:srgbClr val="000000"/>
              </a:solidFill>
            </a:endParaRPr>
          </a:p>
          <a:p>
            <a:pPr fontAlgn="base">
              <a:spcBef>
                <a:spcPct val="0"/>
              </a:spcBef>
              <a:spcAft>
                <a:spcPct val="0"/>
              </a:spcAft>
              <a:buNone/>
            </a:pPr>
            <a:endParaRPr kumimoji="1" lang="en-US" altLang="zh-CN" sz="1000">
              <a:solidFill>
                <a:srgbClr val="000000"/>
              </a:solidFill>
              <a:latin typeface="CG Omega"/>
            </a:endParaRPr>
          </a:p>
        </p:txBody>
      </p:sp>
      <p:sp>
        <p:nvSpPr>
          <p:cNvPr id="7190" name="Text Box 23"/>
          <p:cNvSpPr txBox="1">
            <a:spLocks noChangeArrowheads="1"/>
          </p:cNvSpPr>
          <p:nvPr/>
        </p:nvSpPr>
        <p:spPr bwMode="auto">
          <a:xfrm>
            <a:off x="4929189" y="5724526"/>
            <a:ext cx="1082675"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ts val="600"/>
              </a:spcBef>
              <a:spcAft>
                <a:spcPct val="0"/>
              </a:spcAft>
              <a:buNone/>
            </a:pPr>
            <a:r>
              <a:rPr kumimoji="1" lang="en-US" altLang="zh-CN" sz="900" b="1">
                <a:solidFill>
                  <a:srgbClr val="FFFFFF"/>
                </a:solidFill>
              </a:rPr>
              <a:t>Architecture</a:t>
            </a:r>
            <a:endParaRPr kumimoji="1" lang="en-US" altLang="zh-CN" sz="900" b="1">
              <a:solidFill>
                <a:srgbClr val="000000"/>
              </a:solidFill>
            </a:endParaRPr>
          </a:p>
          <a:p>
            <a:pPr fontAlgn="base">
              <a:spcBef>
                <a:spcPct val="0"/>
              </a:spcBef>
              <a:spcAft>
                <a:spcPct val="0"/>
              </a:spcAft>
              <a:buNone/>
            </a:pPr>
            <a:endParaRPr kumimoji="1" lang="en-US" altLang="zh-CN" sz="1000">
              <a:solidFill>
                <a:srgbClr val="000000"/>
              </a:solidFill>
            </a:endParaRPr>
          </a:p>
        </p:txBody>
      </p:sp>
      <p:sp>
        <p:nvSpPr>
          <p:cNvPr id="7191" name="Text Box 24"/>
          <p:cNvSpPr txBox="1">
            <a:spLocks noChangeArrowheads="1"/>
          </p:cNvSpPr>
          <p:nvPr/>
        </p:nvSpPr>
        <p:spPr bwMode="auto">
          <a:xfrm>
            <a:off x="6061075" y="5724526"/>
            <a:ext cx="1030288" cy="5254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None/>
            </a:pPr>
            <a:r>
              <a:rPr kumimoji="1" lang="en-US" altLang="zh-CN" sz="1000" b="1">
                <a:solidFill>
                  <a:srgbClr val="FFFFFF"/>
                </a:solidFill>
              </a:rPr>
              <a:t>Detailed </a:t>
            </a:r>
            <a:br>
              <a:rPr kumimoji="1" lang="en-US" altLang="zh-CN" sz="1000" b="1">
                <a:solidFill>
                  <a:srgbClr val="FFFFFF"/>
                </a:solidFill>
              </a:rPr>
            </a:br>
            <a:r>
              <a:rPr kumimoji="1" lang="en-US" altLang="zh-CN" sz="1000" b="1">
                <a:solidFill>
                  <a:srgbClr val="FFFFFF"/>
                </a:solidFill>
              </a:rPr>
              <a:t>design</a:t>
            </a:r>
            <a:endParaRPr kumimoji="1" lang="en-US" altLang="zh-CN" sz="1000">
              <a:solidFill>
                <a:srgbClr val="000000"/>
              </a:solidFill>
              <a:latin typeface="Times New Roman" panose="02020603050405020304" pitchFamily="18" charset="0"/>
            </a:endParaRPr>
          </a:p>
          <a:p>
            <a:pPr fontAlgn="base">
              <a:spcBef>
                <a:spcPct val="0"/>
              </a:spcBef>
              <a:spcAft>
                <a:spcPct val="0"/>
              </a:spcAft>
              <a:buNone/>
            </a:pPr>
            <a:endParaRPr kumimoji="1" lang="en-US" altLang="zh-CN" sz="1000">
              <a:solidFill>
                <a:srgbClr val="000000"/>
              </a:solidFill>
              <a:latin typeface="Times New Roman" panose="02020603050405020304" pitchFamily="18" charset="0"/>
            </a:endParaRPr>
          </a:p>
        </p:txBody>
      </p:sp>
      <p:sp>
        <p:nvSpPr>
          <p:cNvPr id="7192" name="Text Box 25"/>
          <p:cNvSpPr txBox="1">
            <a:spLocks noChangeArrowheads="1"/>
          </p:cNvSpPr>
          <p:nvPr/>
        </p:nvSpPr>
        <p:spPr bwMode="auto">
          <a:xfrm>
            <a:off x="6991350" y="5724526"/>
            <a:ext cx="134143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None/>
            </a:pPr>
            <a:r>
              <a:rPr kumimoji="1" lang="en-US" altLang="zh-CN" sz="1000" b="1">
                <a:solidFill>
                  <a:srgbClr val="FFFFFF"/>
                </a:solidFill>
              </a:rPr>
              <a:t>Construction</a:t>
            </a:r>
            <a:endParaRPr kumimoji="1" lang="en-US" altLang="zh-CN" sz="1000">
              <a:solidFill>
                <a:srgbClr val="000000"/>
              </a:solidFill>
              <a:latin typeface="Times New Roman" panose="02020603050405020304" pitchFamily="18" charset="0"/>
            </a:endParaRPr>
          </a:p>
          <a:p>
            <a:pPr fontAlgn="base">
              <a:spcBef>
                <a:spcPct val="0"/>
              </a:spcBef>
              <a:spcAft>
                <a:spcPct val="0"/>
              </a:spcAft>
              <a:buNone/>
            </a:pPr>
            <a:endParaRPr kumimoji="1" lang="en-US" altLang="zh-CN" sz="1000">
              <a:solidFill>
                <a:srgbClr val="000000"/>
              </a:solidFill>
              <a:latin typeface="Times New Roman" panose="02020603050405020304" pitchFamily="18" charset="0"/>
            </a:endParaRPr>
          </a:p>
        </p:txBody>
      </p:sp>
      <p:sp>
        <p:nvSpPr>
          <p:cNvPr id="7193" name="Text Box 26"/>
          <p:cNvSpPr txBox="1">
            <a:spLocks noChangeArrowheads="1"/>
          </p:cNvSpPr>
          <p:nvPr/>
        </p:nvSpPr>
        <p:spPr bwMode="auto">
          <a:xfrm>
            <a:off x="8162925" y="5724526"/>
            <a:ext cx="1341438" cy="328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ct val="0"/>
              </a:spcBef>
              <a:spcAft>
                <a:spcPct val="0"/>
              </a:spcAft>
              <a:buNone/>
            </a:pPr>
            <a:r>
              <a:rPr kumimoji="1" lang="en-US" altLang="zh-CN" sz="1000" b="1">
                <a:solidFill>
                  <a:srgbClr val="FFFFFF"/>
                </a:solidFill>
              </a:rPr>
              <a:t>Release</a:t>
            </a:r>
            <a:endParaRPr kumimoji="1" lang="en-US" altLang="zh-CN" sz="1000">
              <a:solidFill>
                <a:srgbClr val="000000"/>
              </a:solidFill>
              <a:latin typeface="Times New Roman" panose="02020603050405020304" pitchFamily="18" charset="0"/>
            </a:endParaRPr>
          </a:p>
          <a:p>
            <a:pPr algn="ctr" fontAlgn="base">
              <a:spcBef>
                <a:spcPct val="0"/>
              </a:spcBef>
              <a:spcAft>
                <a:spcPct val="0"/>
              </a:spcAft>
              <a:buNone/>
            </a:pPr>
            <a:endParaRPr kumimoji="1" lang="en-US" altLang="zh-CN" sz="1000">
              <a:solidFill>
                <a:srgbClr val="000000"/>
              </a:solidFill>
              <a:latin typeface="Times New Roman" panose="02020603050405020304" pitchFamily="18" charset="0"/>
            </a:endParaRPr>
          </a:p>
          <a:p>
            <a:pPr fontAlgn="base">
              <a:spcBef>
                <a:spcPct val="0"/>
              </a:spcBef>
              <a:spcAft>
                <a:spcPct val="0"/>
              </a:spcAft>
              <a:buNone/>
            </a:pPr>
            <a:endParaRPr kumimoji="1" lang="en-US" altLang="zh-CN" sz="1000">
              <a:solidFill>
                <a:srgbClr val="000000"/>
              </a:solidFill>
              <a:latin typeface="Times New Roman" panose="02020603050405020304" pitchFamily="18" charset="0"/>
            </a:endParaRPr>
          </a:p>
        </p:txBody>
      </p:sp>
      <p:sp>
        <p:nvSpPr>
          <p:cNvPr id="7194" name="Text Box 27"/>
          <p:cNvSpPr txBox="1">
            <a:spLocks noChangeArrowheads="1"/>
          </p:cNvSpPr>
          <p:nvPr/>
        </p:nvSpPr>
        <p:spPr bwMode="auto">
          <a:xfrm>
            <a:off x="7642225" y="2443164"/>
            <a:ext cx="750888" cy="230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r>
              <a:rPr kumimoji="1" lang="en-US" altLang="zh-CN" sz="1200" b="1">
                <a:solidFill>
                  <a:srgbClr val="FFFFFF"/>
                </a:solidFill>
              </a:rPr>
              <a:t>50-200X</a:t>
            </a:r>
            <a:endParaRPr kumimoji="1" lang="en-US" altLang="zh-CN" sz="1000">
              <a:solidFill>
                <a:srgbClr val="000000"/>
              </a:solidFill>
              <a:latin typeface="Times New Roman" panose="02020603050405020304" pitchFamily="18" charset="0"/>
            </a:endParaRPr>
          </a:p>
        </p:txBody>
      </p:sp>
      <p:sp>
        <p:nvSpPr>
          <p:cNvPr id="7195" name="Text Box 28"/>
          <p:cNvSpPr txBox="1">
            <a:spLocks noChangeArrowheads="1"/>
          </p:cNvSpPr>
          <p:nvPr/>
        </p:nvSpPr>
        <p:spPr bwMode="auto">
          <a:xfrm>
            <a:off x="3833814" y="3827463"/>
            <a:ext cx="325437"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r>
              <a:rPr kumimoji="1" lang="en-US" altLang="zh-CN" sz="1200" b="1">
                <a:solidFill>
                  <a:srgbClr val="FFFFFF"/>
                </a:solidFill>
              </a:rPr>
              <a:t>1X</a:t>
            </a:r>
            <a:endParaRPr kumimoji="1" lang="en-US" altLang="zh-CN" sz="1000">
              <a:solidFill>
                <a:srgbClr val="000000"/>
              </a:solidFill>
              <a:latin typeface="Times New Roman" panose="02020603050405020304" pitchFamily="18" charset="0"/>
            </a:endParaRPr>
          </a:p>
        </p:txBody>
      </p:sp>
      <p:sp>
        <p:nvSpPr>
          <p:cNvPr id="7196" name="Rectangle 29"/>
          <p:cNvSpPr>
            <a:spLocks noChangeArrowheads="1"/>
          </p:cNvSpPr>
          <p:nvPr/>
        </p:nvSpPr>
        <p:spPr bwMode="auto">
          <a:xfrm>
            <a:off x="5164139" y="6161089"/>
            <a:ext cx="2560637"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wrap="none" anchor="ctr">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fontAlgn="base">
              <a:spcBef>
                <a:spcPts val="600"/>
              </a:spcBef>
              <a:spcAft>
                <a:spcPct val="0"/>
              </a:spcAft>
              <a:buNone/>
            </a:pPr>
            <a:r>
              <a:rPr kumimoji="1" lang="en-US" altLang="zh-CN" sz="1200" b="1">
                <a:solidFill>
                  <a:srgbClr val="FFFFFF"/>
                </a:solidFill>
              </a:rPr>
              <a:t>Phase That a Defect Is Corrected</a:t>
            </a:r>
          </a:p>
        </p:txBody>
      </p:sp>
      <p:sp>
        <p:nvSpPr>
          <p:cNvPr id="7197" name="Text Box 30"/>
          <p:cNvSpPr txBox="1">
            <a:spLocks noChangeArrowheads="1"/>
          </p:cNvSpPr>
          <p:nvPr/>
        </p:nvSpPr>
        <p:spPr bwMode="auto">
          <a:xfrm>
            <a:off x="6829425" y="1489075"/>
            <a:ext cx="750888" cy="22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r>
              <a:rPr kumimoji="1" lang="en-US" altLang="zh-CN" sz="1200" b="1">
                <a:solidFill>
                  <a:srgbClr val="FFFFFF"/>
                </a:solidFill>
              </a:rPr>
              <a:t>50-200X</a:t>
            </a:r>
            <a:endParaRPr kumimoji="1" lang="en-US" altLang="zh-CN" sz="1000">
              <a:solidFill>
                <a:srgbClr val="000000"/>
              </a:solidFill>
              <a:latin typeface="Times New Roman" panose="02020603050405020304" pitchFamily="18" charset="0"/>
            </a:endParaRPr>
          </a:p>
        </p:txBody>
      </p:sp>
      <p:sp>
        <p:nvSpPr>
          <p:cNvPr id="7198" name="Text Box 31"/>
          <p:cNvSpPr txBox="1">
            <a:spLocks noChangeArrowheads="1"/>
          </p:cNvSpPr>
          <p:nvPr/>
        </p:nvSpPr>
        <p:spPr bwMode="auto">
          <a:xfrm>
            <a:off x="4740275" y="4267200"/>
            <a:ext cx="325438" cy="24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r>
              <a:rPr kumimoji="1" lang="en-US" altLang="zh-CN" sz="1200" b="1">
                <a:solidFill>
                  <a:srgbClr val="FFFFFF"/>
                </a:solidFill>
              </a:rPr>
              <a:t>1X</a:t>
            </a:r>
            <a:endParaRPr kumimoji="1" lang="en-US" altLang="zh-CN" sz="1000">
              <a:solidFill>
                <a:srgbClr val="000000"/>
              </a:solidFill>
              <a:latin typeface="Times New Roman" panose="02020603050405020304" pitchFamily="18" charset="0"/>
            </a:endParaRPr>
          </a:p>
        </p:txBody>
      </p:sp>
      <p:graphicFrame>
        <p:nvGraphicFramePr>
          <p:cNvPr id="7199" name="Object 32"/>
          <p:cNvGraphicFramePr>
            <a:graphicFrameLocks noChangeAspect="1"/>
          </p:cNvGraphicFramePr>
          <p:nvPr/>
        </p:nvGraphicFramePr>
        <p:xfrm>
          <a:off x="2279650" y="1541464"/>
          <a:ext cx="7704138" cy="5233987"/>
        </p:xfrm>
        <a:graphic>
          <a:graphicData uri="http://schemas.openxmlformats.org/presentationml/2006/ole">
            <mc:AlternateContent xmlns:mc="http://schemas.openxmlformats.org/markup-compatibility/2006">
              <mc:Choice xmlns:v="urn:schemas-microsoft-com:vml" Requires="v">
                <p:oleObj spid="_x0000_s1027" name="BMP 图象" r:id="rId4" imgW="4933333" imgH="3352381" progId="Paint.Picture">
                  <p:embed/>
                </p:oleObj>
              </mc:Choice>
              <mc:Fallback>
                <p:oleObj name="BMP 图象" r:id="rId4" imgW="4933333" imgH="3352381" progId="Paint.Picture">
                  <p:embed/>
                  <p:pic>
                    <p:nvPicPr>
                      <p:cNvPr id="7199" name="Object 3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279650" y="1541464"/>
                        <a:ext cx="7704138" cy="52339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200" name="AutoShape 35"/>
          <p:cNvSpPr>
            <a:spLocks noChangeArrowheads="1"/>
          </p:cNvSpPr>
          <p:nvPr/>
        </p:nvSpPr>
        <p:spPr bwMode="auto">
          <a:xfrm rot="1352088">
            <a:off x="3910013" y="4992689"/>
            <a:ext cx="4032250" cy="71437"/>
          </a:xfrm>
          <a:prstGeom prst="roundRect">
            <a:avLst>
              <a:gd name="adj" fmla="val 16667"/>
            </a:avLst>
          </a:prstGeom>
          <a:solidFill>
            <a:schemeClr val="accent1">
              <a:alpha val="50195"/>
            </a:schemeClr>
          </a:solidFill>
          <a:ln w="19050">
            <a:solidFill>
              <a:schemeClr val="accent2"/>
            </a:solidFill>
            <a:prstDash val="dash"/>
            <a:round/>
            <a:headEnd/>
            <a:tailEnd/>
          </a:ln>
        </p:spPr>
        <p:txBody>
          <a:bodyPr wrap="none" lIns="0" tIns="0" rIns="0" bIns="0"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endParaRPr lang="zh-CN" altLang="en-US" sz="1800">
              <a:solidFill>
                <a:srgbClr val="000000"/>
              </a:solidFill>
            </a:endParaRPr>
          </a:p>
        </p:txBody>
      </p:sp>
      <p:sp>
        <p:nvSpPr>
          <p:cNvPr id="7201" name="Line 36"/>
          <p:cNvSpPr>
            <a:spLocks noChangeShapeType="1"/>
          </p:cNvSpPr>
          <p:nvPr/>
        </p:nvSpPr>
        <p:spPr bwMode="auto">
          <a:xfrm flipH="1">
            <a:off x="4224339" y="2997201"/>
            <a:ext cx="34925" cy="1331913"/>
          </a:xfrm>
          <a:prstGeom prst="line">
            <a:avLst/>
          </a:prstGeom>
          <a:noFill/>
          <a:ln w="19050">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nchor="ct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202" name="Text Box 37"/>
          <p:cNvSpPr txBox="1">
            <a:spLocks noChangeArrowheads="1"/>
          </p:cNvSpPr>
          <p:nvPr/>
        </p:nvSpPr>
        <p:spPr bwMode="auto">
          <a:xfrm>
            <a:off x="2674938" y="2600325"/>
            <a:ext cx="24130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None/>
            </a:pPr>
            <a:r>
              <a:rPr lang="zh-CN" altLang="en-US" sz="2400" b="1">
                <a:solidFill>
                  <a:srgbClr val="FFFFFF"/>
                </a:solidFill>
                <a:ea typeface="楷体_GB2312" pitchFamily="49" charset="-122"/>
              </a:rPr>
              <a:t>缺陷产生的地方</a:t>
            </a:r>
          </a:p>
        </p:txBody>
      </p:sp>
      <p:sp>
        <p:nvSpPr>
          <p:cNvPr id="7203" name="Text Box 38"/>
          <p:cNvSpPr txBox="1">
            <a:spLocks noChangeArrowheads="1"/>
          </p:cNvSpPr>
          <p:nvPr/>
        </p:nvSpPr>
        <p:spPr bwMode="auto">
          <a:xfrm>
            <a:off x="5124450" y="2205038"/>
            <a:ext cx="1620838"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50000"/>
              </a:spcBef>
              <a:spcAft>
                <a:spcPct val="0"/>
              </a:spcAft>
              <a:buNone/>
            </a:pPr>
            <a:r>
              <a:rPr lang="zh-CN" altLang="en-US" sz="2400" b="1">
                <a:solidFill>
                  <a:srgbClr val="FFFFFF"/>
                </a:solidFill>
                <a:ea typeface="楷体_GB2312" pitchFamily="49" charset="-122"/>
              </a:rPr>
              <a:t>修正的成本</a:t>
            </a:r>
          </a:p>
        </p:txBody>
      </p:sp>
      <p:sp>
        <p:nvSpPr>
          <p:cNvPr id="7204" name="Line 39"/>
          <p:cNvSpPr>
            <a:spLocks noChangeShapeType="1"/>
          </p:cNvSpPr>
          <p:nvPr/>
        </p:nvSpPr>
        <p:spPr bwMode="auto">
          <a:xfrm>
            <a:off x="5843589" y="2565400"/>
            <a:ext cx="1260475" cy="287338"/>
          </a:xfrm>
          <a:prstGeom prst="line">
            <a:avLst/>
          </a:prstGeom>
          <a:noFill/>
          <a:ln w="19050">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nchor="ct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205" name="Line 40"/>
          <p:cNvSpPr>
            <a:spLocks noChangeShapeType="1"/>
          </p:cNvSpPr>
          <p:nvPr/>
        </p:nvSpPr>
        <p:spPr bwMode="auto">
          <a:xfrm>
            <a:off x="5843589" y="2565400"/>
            <a:ext cx="2052637" cy="863600"/>
          </a:xfrm>
          <a:prstGeom prst="line">
            <a:avLst/>
          </a:prstGeom>
          <a:noFill/>
          <a:ln w="19050">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nchor="ct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206" name="Line 41"/>
          <p:cNvSpPr>
            <a:spLocks noChangeShapeType="1"/>
          </p:cNvSpPr>
          <p:nvPr/>
        </p:nvSpPr>
        <p:spPr bwMode="auto">
          <a:xfrm>
            <a:off x="5843588" y="2565401"/>
            <a:ext cx="2413000" cy="2087563"/>
          </a:xfrm>
          <a:prstGeom prst="line">
            <a:avLst/>
          </a:prstGeom>
          <a:noFill/>
          <a:ln w="19050">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nchor="ct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7207" name="Line 42"/>
          <p:cNvSpPr>
            <a:spLocks noChangeShapeType="1"/>
          </p:cNvSpPr>
          <p:nvPr/>
        </p:nvSpPr>
        <p:spPr bwMode="auto">
          <a:xfrm>
            <a:off x="5880101" y="2565401"/>
            <a:ext cx="2663825" cy="2951163"/>
          </a:xfrm>
          <a:prstGeom prst="line">
            <a:avLst/>
          </a:prstGeom>
          <a:noFill/>
          <a:ln w="19050">
            <a:solidFill>
              <a:schemeClr val="bg1"/>
            </a:solidFill>
            <a:round/>
            <a:headEnd/>
            <a:tailEnd type="arrow" w="med" len="med"/>
          </a:ln>
          <a:extLst>
            <a:ext uri="{909E8E84-426E-40DD-AFC4-6F175D3DCCD1}">
              <a14:hiddenFill xmlns:a14="http://schemas.microsoft.com/office/drawing/2010/main">
                <a:noFill/>
              </a14:hiddenFill>
            </a:ext>
          </a:extLst>
        </p:spPr>
        <p:txBody>
          <a:bodyPr lIns="0" tIns="0" rIns="0" bIns="0" anchor="ct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668526911"/>
      </p:ext>
    </p:extLst>
  </p:cSld>
  <p:clrMapOvr>
    <a:masterClrMapping/>
  </p:clrMapOvr>
  <p:transition/>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1992313" y="188913"/>
            <a:ext cx="8229600" cy="1143000"/>
          </a:xfrm>
        </p:spPr>
        <p:txBody>
          <a:bodyPr/>
          <a:lstStyle/>
          <a:p>
            <a:pPr eaLnBrk="1" hangingPunct="1"/>
            <a:r>
              <a:rPr lang="zh-CN" altLang="en-US" sz="6000" b="1">
                <a:ea typeface="华文新魏" pitchFamily="2" charset="-122"/>
              </a:rPr>
              <a:t>课程提纲</a:t>
            </a:r>
          </a:p>
        </p:txBody>
      </p:sp>
      <p:sp>
        <p:nvSpPr>
          <p:cNvPr id="9219" name="Rectangle 3"/>
          <p:cNvSpPr>
            <a:spLocks noGrp="1" noChangeArrowheads="1"/>
          </p:cNvSpPr>
          <p:nvPr>
            <p:ph type="body" idx="1"/>
          </p:nvPr>
        </p:nvSpPr>
        <p:spPr>
          <a:xfrm>
            <a:off x="1992313" y="1341438"/>
            <a:ext cx="8229600" cy="4824412"/>
          </a:xfrm>
        </p:spPr>
        <p:txBody>
          <a:bodyPr/>
          <a:lstStyle/>
          <a:p>
            <a:pPr marL="609600" indent="-609600" eaLnBrk="1" hangingPunct="1">
              <a:lnSpc>
                <a:spcPct val="90000"/>
              </a:lnSpc>
              <a:buFontTx/>
              <a:buAutoNum type="arabicPeriod"/>
            </a:pPr>
            <a:r>
              <a:rPr lang="zh-CN" altLang="en-US" sz="2800" b="1">
                <a:solidFill>
                  <a:srgbClr val="0066CC"/>
                </a:solidFill>
                <a:latin typeface="Arial Unicode MS" pitchFamily="34" charset="-122"/>
                <a:ea typeface="Arial Unicode MS" pitchFamily="34" charset="-122"/>
              </a:rPr>
              <a:t>软件需求基本理论和概念</a:t>
            </a:r>
            <a:r>
              <a:rPr lang="zh-CN" altLang="en-US" sz="2800">
                <a:latin typeface="Arial Unicode MS" pitchFamily="34" charset="-122"/>
                <a:ea typeface="Arial Unicode MS" pitchFamily="34" charset="-122"/>
              </a:rPr>
              <a:t> </a:t>
            </a:r>
          </a:p>
          <a:p>
            <a:pPr marL="609600" indent="-609600" eaLnBrk="1" hangingPunct="1">
              <a:lnSpc>
                <a:spcPct val="90000"/>
              </a:lnSpc>
              <a:buFontTx/>
              <a:buAutoNum type="arabicPeriod"/>
            </a:pPr>
            <a:r>
              <a:rPr lang="zh-CN" altLang="en-US" sz="2800" b="1">
                <a:latin typeface="Arial Unicode MS" pitchFamily="34" charset="-122"/>
                <a:ea typeface="Arial Unicode MS" pitchFamily="34" charset="-122"/>
              </a:rPr>
              <a:t>软件需求工程过程</a:t>
            </a:r>
            <a:r>
              <a:rPr lang="zh-CN" altLang="en-US" sz="2800">
                <a:latin typeface="Arial Unicode MS" pitchFamily="34" charset="-122"/>
                <a:ea typeface="Arial Unicode MS" pitchFamily="34" charset="-122"/>
              </a:rPr>
              <a:t> </a:t>
            </a:r>
          </a:p>
          <a:p>
            <a:pPr marL="609600" indent="-609600" eaLnBrk="1" hangingPunct="1">
              <a:lnSpc>
                <a:spcPct val="90000"/>
              </a:lnSpc>
              <a:buFontTx/>
              <a:buAutoNum type="arabicPeriod"/>
            </a:pPr>
            <a:r>
              <a:rPr lang="zh-CN" altLang="en-US" sz="2800" b="1">
                <a:latin typeface="Arial Unicode MS" pitchFamily="34" charset="-122"/>
                <a:ea typeface="Arial Unicode MS" pitchFamily="34" charset="-122"/>
              </a:rPr>
              <a:t>软件需求获取</a:t>
            </a:r>
            <a:r>
              <a:rPr lang="zh-CN" altLang="en-US" sz="2800">
                <a:latin typeface="Arial Unicode MS" pitchFamily="34" charset="-122"/>
                <a:ea typeface="Arial Unicode MS" pitchFamily="34" charset="-122"/>
              </a:rPr>
              <a:t> </a:t>
            </a:r>
          </a:p>
          <a:p>
            <a:pPr marL="609600" indent="-609600" eaLnBrk="1" hangingPunct="1">
              <a:lnSpc>
                <a:spcPct val="90000"/>
              </a:lnSpc>
              <a:buFontTx/>
              <a:buAutoNum type="arabicPeriod"/>
            </a:pPr>
            <a:r>
              <a:rPr lang="zh-CN" altLang="en-US" sz="2800" b="1">
                <a:latin typeface="Arial Unicode MS" pitchFamily="34" charset="-122"/>
                <a:ea typeface="Arial Unicode MS" pitchFamily="34" charset="-122"/>
              </a:rPr>
              <a:t>软件需求分析</a:t>
            </a:r>
            <a:r>
              <a:rPr lang="zh-CN" altLang="en-US" sz="2800">
                <a:latin typeface="Arial Unicode MS" pitchFamily="34" charset="-122"/>
                <a:ea typeface="Arial Unicode MS" pitchFamily="34" charset="-122"/>
              </a:rPr>
              <a:t> </a:t>
            </a:r>
          </a:p>
          <a:p>
            <a:pPr marL="609600" indent="-609600" eaLnBrk="1" hangingPunct="1">
              <a:lnSpc>
                <a:spcPct val="90000"/>
              </a:lnSpc>
              <a:buFontTx/>
              <a:buAutoNum type="arabicPeriod"/>
            </a:pPr>
            <a:r>
              <a:rPr lang="zh-CN" altLang="en-US" sz="2800" b="1">
                <a:latin typeface="Arial Unicode MS" pitchFamily="34" charset="-122"/>
                <a:ea typeface="Arial Unicode MS" pitchFamily="34" charset="-122"/>
              </a:rPr>
              <a:t>软件需求规格说明</a:t>
            </a:r>
            <a:r>
              <a:rPr lang="zh-CN" altLang="en-US" sz="2800">
                <a:latin typeface="Arial Unicode MS" pitchFamily="34" charset="-122"/>
                <a:ea typeface="Arial Unicode MS" pitchFamily="34" charset="-122"/>
              </a:rPr>
              <a:t> </a:t>
            </a:r>
          </a:p>
          <a:p>
            <a:pPr marL="609600" indent="-609600" eaLnBrk="1" hangingPunct="1">
              <a:lnSpc>
                <a:spcPct val="90000"/>
              </a:lnSpc>
              <a:buFontTx/>
              <a:buAutoNum type="arabicPeriod"/>
            </a:pPr>
            <a:r>
              <a:rPr lang="zh-CN" altLang="en-US" sz="2800" b="1">
                <a:latin typeface="Arial Unicode MS" pitchFamily="34" charset="-122"/>
                <a:ea typeface="Arial Unicode MS" pitchFamily="34" charset="-122"/>
              </a:rPr>
              <a:t>软件需求验证</a:t>
            </a:r>
            <a:r>
              <a:rPr lang="zh-CN" altLang="en-US" sz="2800">
                <a:latin typeface="Arial Unicode MS" pitchFamily="34" charset="-122"/>
                <a:ea typeface="Arial Unicode MS" pitchFamily="34" charset="-122"/>
              </a:rPr>
              <a:t> </a:t>
            </a:r>
          </a:p>
          <a:p>
            <a:pPr marL="609600" indent="-609600" eaLnBrk="1" hangingPunct="1">
              <a:lnSpc>
                <a:spcPct val="90000"/>
              </a:lnSpc>
              <a:buFontTx/>
              <a:buAutoNum type="arabicPeriod"/>
            </a:pPr>
            <a:r>
              <a:rPr lang="zh-CN" altLang="en-US" sz="2800" b="1">
                <a:latin typeface="Arial Unicode MS" pitchFamily="34" charset="-122"/>
                <a:ea typeface="Arial Unicode MS" pitchFamily="34" charset="-122"/>
              </a:rPr>
              <a:t>软件需求管理</a:t>
            </a:r>
            <a:r>
              <a:rPr lang="zh-CN" altLang="en-US" sz="2800">
                <a:latin typeface="Arial Unicode MS" pitchFamily="34" charset="-122"/>
                <a:ea typeface="Arial Unicode MS" pitchFamily="34" charset="-122"/>
              </a:rPr>
              <a:t> </a:t>
            </a:r>
          </a:p>
          <a:p>
            <a:pPr marL="609600" indent="-609600" eaLnBrk="1" hangingPunct="1">
              <a:lnSpc>
                <a:spcPct val="90000"/>
              </a:lnSpc>
              <a:buFontTx/>
              <a:buAutoNum type="arabicPeriod"/>
            </a:pPr>
            <a:r>
              <a:rPr lang="zh-CN" altLang="en-US" sz="2800" b="1">
                <a:latin typeface="Arial Unicode MS" pitchFamily="34" charset="-122"/>
                <a:ea typeface="Arial Unicode MS" pitchFamily="34" charset="-122"/>
              </a:rPr>
              <a:t>软件需求实现</a:t>
            </a:r>
            <a:r>
              <a:rPr lang="zh-CN" altLang="en-US" sz="2800">
                <a:latin typeface="Arial Unicode MS" pitchFamily="34" charset="-122"/>
                <a:ea typeface="Arial Unicode MS" pitchFamily="34" charset="-122"/>
              </a:rPr>
              <a:t> </a:t>
            </a:r>
          </a:p>
          <a:p>
            <a:pPr marL="609600" indent="-609600" eaLnBrk="1" hangingPunct="1">
              <a:lnSpc>
                <a:spcPct val="90000"/>
              </a:lnSpc>
              <a:buFontTx/>
              <a:buAutoNum type="arabicPeriod"/>
            </a:pPr>
            <a:r>
              <a:rPr lang="zh-CN" altLang="en-US" sz="2800" b="1">
                <a:latin typeface="Arial Unicode MS" pitchFamily="34" charset="-122"/>
                <a:ea typeface="Arial Unicode MS" pitchFamily="34" charset="-122"/>
              </a:rPr>
              <a:t>软件需求工程新进展</a:t>
            </a:r>
            <a:r>
              <a:rPr lang="zh-CN" altLang="en-US" sz="2800">
                <a:latin typeface="Arial Unicode MS" pitchFamily="34" charset="-122"/>
                <a:ea typeface="Arial Unicode MS" pitchFamily="34" charset="-122"/>
              </a:rPr>
              <a:t> </a:t>
            </a:r>
          </a:p>
          <a:p>
            <a:pPr marL="609600" indent="-609600" eaLnBrk="1" hangingPunct="1">
              <a:lnSpc>
                <a:spcPct val="90000"/>
              </a:lnSpc>
              <a:buFontTx/>
              <a:buAutoNum type="arabicPeriod"/>
            </a:pPr>
            <a:r>
              <a:rPr lang="zh-CN" altLang="en-US" sz="2800" b="1">
                <a:latin typeface="Arial Unicode MS" pitchFamily="34" charset="-122"/>
                <a:ea typeface="Arial Unicode MS" pitchFamily="34" charset="-122"/>
              </a:rPr>
              <a:t>软件需求开发与需求管理工具</a:t>
            </a:r>
          </a:p>
        </p:txBody>
      </p:sp>
    </p:spTree>
    <p:extLst>
      <p:ext uri="{BB962C8B-B14F-4D97-AF65-F5344CB8AC3E}">
        <p14:creationId xmlns:p14="http://schemas.microsoft.com/office/powerpoint/2010/main" val="3027902981"/>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标题 1"/>
          <p:cNvSpPr>
            <a:spLocks noGrp="1"/>
          </p:cNvSpPr>
          <p:nvPr>
            <p:ph type="title"/>
          </p:nvPr>
        </p:nvSpPr>
        <p:spPr/>
        <p:txBody>
          <a:bodyPr/>
          <a:lstStyle/>
          <a:p>
            <a:pPr eaLnBrk="1" hangingPunct="1"/>
            <a:endParaRPr lang="zh-CN" altLang="en-US" smtClean="0"/>
          </a:p>
        </p:txBody>
      </p:sp>
      <p:pic>
        <p:nvPicPr>
          <p:cNvPr id="10243" name="内容占位符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274639"/>
            <a:ext cx="8229600" cy="5851525"/>
          </a:xfrm>
        </p:spPr>
      </p:pic>
    </p:spTree>
    <p:extLst>
      <p:ext uri="{BB962C8B-B14F-4D97-AF65-F5344CB8AC3E}">
        <p14:creationId xmlns:p14="http://schemas.microsoft.com/office/powerpoint/2010/main" val="76239734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1981201" y="274638"/>
            <a:ext cx="7496175" cy="831850"/>
          </a:xfrm>
        </p:spPr>
        <p:txBody>
          <a:bodyPr/>
          <a:lstStyle/>
          <a:p>
            <a:pPr eaLnBrk="1" hangingPunct="1"/>
            <a:r>
              <a:rPr lang="zh-CN" altLang="en-US" b="1" smtClean="0">
                <a:solidFill>
                  <a:srgbClr val="000000"/>
                </a:solidFill>
              </a:rPr>
              <a:t>课程参考书</a:t>
            </a:r>
          </a:p>
        </p:txBody>
      </p:sp>
      <p:sp>
        <p:nvSpPr>
          <p:cNvPr id="11267" name="Rectangle 3"/>
          <p:cNvSpPr>
            <a:spLocks noGrp="1" noChangeArrowheads="1"/>
          </p:cNvSpPr>
          <p:nvPr>
            <p:ph type="body" idx="1"/>
          </p:nvPr>
        </p:nvSpPr>
        <p:spPr>
          <a:xfrm>
            <a:off x="2063751" y="1557338"/>
            <a:ext cx="8353425" cy="4183062"/>
          </a:xfrm>
        </p:spPr>
        <p:txBody>
          <a:bodyPr/>
          <a:lstStyle/>
          <a:p>
            <a:pPr marL="609600" indent="-609600" eaLnBrk="1" hangingPunct="1">
              <a:spcBef>
                <a:spcPct val="15000"/>
              </a:spcBef>
              <a:buClr>
                <a:srgbClr val="000000"/>
              </a:buClr>
              <a:buFont typeface="Wingdings" panose="05000000000000000000" pitchFamily="2" charset="2"/>
              <a:buAutoNum type="arabicPeriod"/>
            </a:pPr>
            <a:r>
              <a:rPr lang="en-GB" altLang="zh-CN" sz="2400" b="1" u="sng" dirty="0">
                <a:solidFill>
                  <a:srgbClr val="CC0000"/>
                </a:solidFill>
                <a:latin typeface="宋体" panose="02010600030101010101" pitchFamily="2" charset="-122"/>
              </a:rPr>
              <a:t>Karl E. Wiegers</a:t>
            </a:r>
            <a:r>
              <a:rPr lang="zh-CN" altLang="en-GB" sz="2400" b="1" u="sng" dirty="0">
                <a:solidFill>
                  <a:srgbClr val="CC0000"/>
                </a:solidFill>
                <a:latin typeface="宋体" panose="02010600030101010101" pitchFamily="2" charset="-122"/>
              </a:rPr>
              <a:t>著, 陆丽娜，王忠民，王志敏等译，软件需求，机械工业出版社，2000</a:t>
            </a:r>
            <a:r>
              <a:rPr lang="en-US" altLang="zh-CN" sz="2400" b="1" u="sng" dirty="0">
                <a:solidFill>
                  <a:srgbClr val="CC0000"/>
                </a:solidFill>
                <a:latin typeface="宋体" panose="02010600030101010101" pitchFamily="2" charset="-122"/>
              </a:rPr>
              <a:t> </a:t>
            </a:r>
          </a:p>
          <a:p>
            <a:pPr marL="609600" indent="-609600" eaLnBrk="1" hangingPunct="1">
              <a:spcBef>
                <a:spcPct val="15000"/>
              </a:spcBef>
              <a:buClr>
                <a:srgbClr val="000000"/>
              </a:buClr>
              <a:buFont typeface="Wingdings" panose="05000000000000000000" pitchFamily="2" charset="2"/>
              <a:buAutoNum type="arabicPeriod"/>
            </a:pPr>
            <a:r>
              <a:rPr lang="en-US" altLang="zh-CN" sz="2400" b="1" u="sng" dirty="0">
                <a:solidFill>
                  <a:srgbClr val="CC0000"/>
                </a:solidFill>
                <a:latin typeface="宋体" panose="02010600030101010101" pitchFamily="2" charset="-122"/>
              </a:rPr>
              <a:t>Ian K. Bray</a:t>
            </a:r>
            <a:r>
              <a:rPr lang="zh-CN" altLang="en-US" sz="2400" b="1" u="sng" dirty="0">
                <a:solidFill>
                  <a:srgbClr val="CC0000"/>
                </a:solidFill>
                <a:latin typeface="宋体" panose="02010600030101010101" pitchFamily="2" charset="-122"/>
              </a:rPr>
              <a:t>著</a:t>
            </a:r>
            <a:r>
              <a:rPr lang="zh-CN" altLang="en-GB" sz="2400" b="1" u="sng" dirty="0">
                <a:solidFill>
                  <a:srgbClr val="CC0000"/>
                </a:solidFill>
                <a:latin typeface="宋体" panose="02010600030101010101" pitchFamily="2" charset="-122"/>
              </a:rPr>
              <a:t>，</a:t>
            </a:r>
            <a:r>
              <a:rPr lang="zh-CN" altLang="en-US" sz="2400" b="1" u="sng" dirty="0">
                <a:solidFill>
                  <a:srgbClr val="CC0000"/>
                </a:solidFill>
                <a:latin typeface="宋体" panose="02010600030101010101" pitchFamily="2" charset="-122"/>
              </a:rPr>
              <a:t>需求工程导引，人民邮电出版社，</a:t>
            </a:r>
            <a:r>
              <a:rPr lang="en-US" altLang="zh-CN" sz="2400" b="1" u="sng" dirty="0">
                <a:solidFill>
                  <a:srgbClr val="CC0000"/>
                </a:solidFill>
                <a:latin typeface="宋体" panose="02010600030101010101" pitchFamily="2" charset="-122"/>
              </a:rPr>
              <a:t>2003</a:t>
            </a:r>
            <a:r>
              <a:rPr lang="en-US" altLang="zh-CN" sz="2400" b="1" dirty="0">
                <a:solidFill>
                  <a:srgbClr val="000000"/>
                </a:solidFill>
                <a:latin typeface="宋体" panose="02010600030101010101" pitchFamily="2" charset="-122"/>
              </a:rPr>
              <a:t> </a:t>
            </a:r>
          </a:p>
          <a:p>
            <a:pPr marL="609600" indent="-609600" eaLnBrk="1" hangingPunct="1">
              <a:spcBef>
                <a:spcPct val="15000"/>
              </a:spcBef>
              <a:buClr>
                <a:srgbClr val="000000"/>
              </a:buClr>
              <a:buFont typeface="Wingdings" panose="05000000000000000000" pitchFamily="2" charset="2"/>
              <a:buAutoNum type="arabicPeriod"/>
            </a:pPr>
            <a:r>
              <a:rPr lang="en-GB" altLang="zh-CN" sz="2400" b="1" dirty="0">
                <a:solidFill>
                  <a:srgbClr val="000000"/>
                </a:solidFill>
                <a:latin typeface="宋体" panose="02010600030101010101" pitchFamily="2" charset="-122"/>
              </a:rPr>
              <a:t>Geri Schneider and Jason P. Winters</a:t>
            </a:r>
            <a:r>
              <a:rPr lang="zh-CN" altLang="en-GB" sz="2400" b="1" dirty="0">
                <a:solidFill>
                  <a:srgbClr val="000000"/>
                </a:solidFill>
                <a:latin typeface="宋体" panose="02010600030101010101" pitchFamily="2" charset="-122"/>
              </a:rPr>
              <a:t>著, 姚淑珍，李巍等译，用例分析技术，机械工业出版社，2002</a:t>
            </a:r>
            <a:r>
              <a:rPr lang="en-US" altLang="zh-CN" sz="2400" b="1" dirty="0">
                <a:solidFill>
                  <a:srgbClr val="000000"/>
                </a:solidFill>
                <a:latin typeface="宋体" panose="02010600030101010101" pitchFamily="2" charset="-122"/>
              </a:rPr>
              <a:t> </a:t>
            </a:r>
          </a:p>
          <a:p>
            <a:pPr marL="609600" indent="-609600" eaLnBrk="1" hangingPunct="1">
              <a:spcBef>
                <a:spcPct val="15000"/>
              </a:spcBef>
              <a:buClr>
                <a:srgbClr val="000000"/>
              </a:buClr>
              <a:buFont typeface="Wingdings" panose="05000000000000000000" pitchFamily="2" charset="2"/>
              <a:buAutoNum type="arabicPeriod"/>
            </a:pPr>
            <a:r>
              <a:rPr lang="en-GB" altLang="zh-CN" sz="2400" b="1" dirty="0">
                <a:solidFill>
                  <a:srgbClr val="000000"/>
                </a:solidFill>
                <a:latin typeface="宋体" panose="02010600030101010101" pitchFamily="2" charset="-122"/>
              </a:rPr>
              <a:t>Dean Leffingwell and Don Widrig</a:t>
            </a:r>
            <a:r>
              <a:rPr lang="zh-CN" altLang="en-GB" sz="2400" b="1" dirty="0">
                <a:solidFill>
                  <a:srgbClr val="000000"/>
                </a:solidFill>
                <a:latin typeface="宋体" panose="02010600030101010101" pitchFamily="2" charset="-122"/>
              </a:rPr>
              <a:t>著, 蒋慧，林东译，软件需求管理：统一方法，机械工业出版社，2002</a:t>
            </a:r>
            <a:r>
              <a:rPr lang="en-US" altLang="zh-CN" sz="2400" b="1" dirty="0">
                <a:solidFill>
                  <a:srgbClr val="000000"/>
                </a:solidFill>
                <a:latin typeface="宋体" panose="02010600030101010101" pitchFamily="2" charset="-122"/>
              </a:rPr>
              <a:t> </a:t>
            </a:r>
          </a:p>
          <a:p>
            <a:pPr marL="609600" indent="-609600" eaLnBrk="1" hangingPunct="1">
              <a:spcBef>
                <a:spcPct val="15000"/>
              </a:spcBef>
              <a:buClr>
                <a:srgbClr val="000000"/>
              </a:buClr>
              <a:buFont typeface="Wingdings" panose="05000000000000000000" pitchFamily="2" charset="2"/>
              <a:buAutoNum type="arabicPeriod"/>
            </a:pPr>
            <a:r>
              <a:rPr lang="en-GB" altLang="zh-CN" sz="2400" b="1" dirty="0">
                <a:solidFill>
                  <a:srgbClr val="000000"/>
                </a:solidFill>
                <a:latin typeface="宋体" panose="02010600030101010101" pitchFamily="2" charset="-122"/>
                <a:cs typeface="Times New Roman" panose="02020603050405020304" pitchFamily="18" charset="0"/>
              </a:rPr>
              <a:t>Ralph R. Young</a:t>
            </a:r>
            <a:r>
              <a:rPr lang="zh-CN" altLang="en-GB" sz="2400" b="1" dirty="0">
                <a:solidFill>
                  <a:srgbClr val="000000"/>
                </a:solidFill>
                <a:latin typeface="宋体" panose="02010600030101010101" pitchFamily="2" charset="-122"/>
              </a:rPr>
              <a:t>著</a:t>
            </a:r>
            <a:r>
              <a:rPr lang="zh-CN" altLang="en-GB" sz="2400" b="1" dirty="0">
                <a:solidFill>
                  <a:srgbClr val="000000"/>
                </a:solidFill>
                <a:latin typeface="宋体" panose="02010600030101010101" pitchFamily="2" charset="-122"/>
                <a:cs typeface="Times New Roman" panose="02020603050405020304" pitchFamily="18" charset="0"/>
              </a:rPr>
              <a:t>, </a:t>
            </a:r>
            <a:r>
              <a:rPr lang="zh-CN" altLang="en-GB" sz="2400" b="1" dirty="0">
                <a:solidFill>
                  <a:srgbClr val="000000"/>
                </a:solidFill>
                <a:latin typeface="宋体" panose="02010600030101010101" pitchFamily="2" charset="-122"/>
              </a:rPr>
              <a:t>韩柯，耿民等译，有效需求实践，机械工业出版社，</a:t>
            </a:r>
            <a:r>
              <a:rPr lang="zh-CN" altLang="en-GB" sz="2400" b="1" dirty="0">
                <a:solidFill>
                  <a:srgbClr val="000000"/>
                </a:solidFill>
                <a:latin typeface="宋体" panose="02010600030101010101" pitchFamily="2" charset="-122"/>
                <a:cs typeface="Times New Roman" panose="02020603050405020304" pitchFamily="18" charset="0"/>
              </a:rPr>
              <a:t>2002</a:t>
            </a:r>
            <a:r>
              <a:rPr lang="en-US" altLang="zh-CN" sz="2400" b="1" dirty="0">
                <a:solidFill>
                  <a:srgbClr val="000000"/>
                </a:solidFill>
              </a:rPr>
              <a:t> </a:t>
            </a:r>
          </a:p>
          <a:p>
            <a:pPr marL="609600" indent="-609600" eaLnBrk="1" hangingPunct="1">
              <a:spcBef>
                <a:spcPct val="15000"/>
              </a:spcBef>
              <a:buClr>
                <a:srgbClr val="000000"/>
              </a:buClr>
              <a:buFont typeface="Wingdings" panose="05000000000000000000" pitchFamily="2" charset="2"/>
              <a:buAutoNum type="arabicPeriod"/>
            </a:pPr>
            <a:r>
              <a:rPr lang="zh-CN" altLang="en-US" sz="2400" b="1" dirty="0">
                <a:solidFill>
                  <a:srgbClr val="000000"/>
                </a:solidFill>
                <a:latin typeface="宋体" panose="02010600030101010101" pitchFamily="2" charset="-122"/>
              </a:rPr>
              <a:t>以上参考书相对应的英文版本</a:t>
            </a:r>
          </a:p>
          <a:p>
            <a:pPr marL="609600" indent="-609600" eaLnBrk="1" hangingPunct="1">
              <a:spcBef>
                <a:spcPct val="15000"/>
              </a:spcBef>
              <a:buClr>
                <a:srgbClr val="000000"/>
              </a:buClr>
              <a:buFont typeface="Wingdings" panose="05000000000000000000" pitchFamily="2" charset="2"/>
              <a:buAutoNum type="arabicPeriod"/>
            </a:pPr>
            <a:r>
              <a:rPr lang="en-US" altLang="zh-CN" sz="2400" b="1" dirty="0">
                <a:solidFill>
                  <a:srgbClr val="000000"/>
                </a:solidFill>
                <a:latin typeface="宋体" panose="02010600030101010101" pitchFamily="2" charset="-122"/>
              </a:rPr>
              <a:t>RUP</a:t>
            </a:r>
          </a:p>
        </p:txBody>
      </p:sp>
    </p:spTree>
    <p:extLst>
      <p:ext uri="{BB962C8B-B14F-4D97-AF65-F5344CB8AC3E}">
        <p14:creationId xmlns:p14="http://schemas.microsoft.com/office/powerpoint/2010/main" val="2015816877"/>
      </p:ext>
    </p:extLst>
  </p:cSld>
  <p:clrMapOvr>
    <a:masterClrMapping/>
  </p:clrMapOvr>
  <p:transition/>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标题 1"/>
          <p:cNvSpPr>
            <a:spLocks noGrp="1"/>
          </p:cNvSpPr>
          <p:nvPr>
            <p:ph type="title"/>
          </p:nvPr>
        </p:nvSpPr>
        <p:spPr/>
        <p:txBody>
          <a:bodyPr/>
          <a:lstStyle/>
          <a:p>
            <a:pPr eaLnBrk="1" hangingPunct="1"/>
            <a:endParaRPr lang="zh-CN" altLang="en-US" smtClean="0"/>
          </a:p>
        </p:txBody>
      </p:sp>
      <p:pic>
        <p:nvPicPr>
          <p:cNvPr id="12291" name="内容占位符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1981200" y="476251"/>
            <a:ext cx="8147050" cy="5649913"/>
          </a:xfrm>
        </p:spPr>
      </p:pic>
    </p:spTree>
    <p:extLst>
      <p:ext uri="{BB962C8B-B14F-4D97-AF65-F5344CB8AC3E}">
        <p14:creationId xmlns:p14="http://schemas.microsoft.com/office/powerpoint/2010/main" val="301027861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标题 1"/>
          <p:cNvSpPr>
            <a:spLocks noGrp="1"/>
          </p:cNvSpPr>
          <p:nvPr>
            <p:ph type="title"/>
          </p:nvPr>
        </p:nvSpPr>
        <p:spPr/>
        <p:txBody>
          <a:bodyPr/>
          <a:lstStyle/>
          <a:p>
            <a:pPr eaLnBrk="1" hangingPunct="1"/>
            <a:r>
              <a:rPr lang="zh-CN" altLang="en-US" smtClean="0"/>
              <a:t>设计操作案例</a:t>
            </a:r>
          </a:p>
        </p:txBody>
      </p:sp>
      <p:pic>
        <p:nvPicPr>
          <p:cNvPr id="13315" name="内容占位符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473450" y="1600201"/>
            <a:ext cx="5245100" cy="4525963"/>
          </a:xfrm>
        </p:spPr>
      </p:pic>
    </p:spTree>
    <p:extLst>
      <p:ext uri="{BB962C8B-B14F-4D97-AF65-F5344CB8AC3E}">
        <p14:creationId xmlns:p14="http://schemas.microsoft.com/office/powerpoint/2010/main" val="3258540826"/>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标题 1"/>
          <p:cNvSpPr>
            <a:spLocks noGrp="1"/>
          </p:cNvSpPr>
          <p:nvPr>
            <p:ph type="title"/>
          </p:nvPr>
        </p:nvSpPr>
        <p:spPr/>
        <p:txBody>
          <a:bodyPr/>
          <a:lstStyle/>
          <a:p>
            <a:pPr eaLnBrk="1" hangingPunct="1"/>
            <a:r>
              <a:rPr lang="zh-CN" altLang="en-US" smtClean="0"/>
              <a:t>设计操作案例</a:t>
            </a:r>
          </a:p>
        </p:txBody>
      </p:sp>
      <p:pic>
        <p:nvPicPr>
          <p:cNvPr id="14339" name="内容占位符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965450" y="1600201"/>
            <a:ext cx="6261100" cy="4525963"/>
          </a:xfrm>
        </p:spPr>
      </p:pic>
    </p:spTree>
    <p:extLst>
      <p:ext uri="{BB962C8B-B14F-4D97-AF65-F5344CB8AC3E}">
        <p14:creationId xmlns:p14="http://schemas.microsoft.com/office/powerpoint/2010/main" val="2713693087"/>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标题 1"/>
          <p:cNvSpPr>
            <a:spLocks noGrp="1"/>
          </p:cNvSpPr>
          <p:nvPr>
            <p:ph type="title"/>
          </p:nvPr>
        </p:nvSpPr>
        <p:spPr/>
        <p:txBody>
          <a:bodyPr/>
          <a:lstStyle/>
          <a:p>
            <a:pPr eaLnBrk="1" hangingPunct="1"/>
            <a:r>
              <a:rPr lang="zh-CN" altLang="en-US" smtClean="0"/>
              <a:t>设计操作案例</a:t>
            </a:r>
          </a:p>
        </p:txBody>
      </p:sp>
      <p:pic>
        <p:nvPicPr>
          <p:cNvPr id="15363" name="内容占位符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038475" y="1600201"/>
            <a:ext cx="6115050" cy="4525963"/>
          </a:xfrm>
        </p:spPr>
      </p:pic>
    </p:spTree>
    <p:extLst>
      <p:ext uri="{BB962C8B-B14F-4D97-AF65-F5344CB8AC3E}">
        <p14:creationId xmlns:p14="http://schemas.microsoft.com/office/powerpoint/2010/main" val="443857951"/>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p:nvPr>
        </p:nvSpPr>
        <p:spPr/>
        <p:txBody>
          <a:bodyPr/>
          <a:lstStyle/>
          <a:p>
            <a:pPr eaLnBrk="1" hangingPunct="1"/>
            <a:r>
              <a:rPr lang="zh-CN" altLang="en-US" smtClean="0"/>
              <a:t>应对现实世界的复杂性</a:t>
            </a:r>
          </a:p>
        </p:txBody>
      </p:sp>
      <p:pic>
        <p:nvPicPr>
          <p:cNvPr id="16387" name="内容占位符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040064" y="1600201"/>
            <a:ext cx="6111875" cy="4525963"/>
          </a:xfrm>
        </p:spPr>
      </p:pic>
    </p:spTree>
    <p:extLst>
      <p:ext uri="{BB962C8B-B14F-4D97-AF65-F5344CB8AC3E}">
        <p14:creationId xmlns:p14="http://schemas.microsoft.com/office/powerpoint/2010/main" val="150128093"/>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标题 1"/>
          <p:cNvSpPr>
            <a:spLocks noGrp="1"/>
          </p:cNvSpPr>
          <p:nvPr>
            <p:ph type="title"/>
          </p:nvPr>
        </p:nvSpPr>
        <p:spPr/>
        <p:txBody>
          <a:bodyPr/>
          <a:lstStyle/>
          <a:p>
            <a:pPr eaLnBrk="1" hangingPunct="1"/>
            <a:r>
              <a:rPr lang="zh-CN" altLang="en-US" smtClean="0"/>
              <a:t>应对现实世界的复杂性</a:t>
            </a:r>
          </a:p>
        </p:txBody>
      </p:sp>
      <p:pic>
        <p:nvPicPr>
          <p:cNvPr id="17411" name="内容占位符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3081339" y="1600201"/>
            <a:ext cx="6029325" cy="4525963"/>
          </a:xfrm>
        </p:spPr>
      </p:pic>
    </p:spTree>
    <p:extLst>
      <p:ext uri="{BB962C8B-B14F-4D97-AF65-F5344CB8AC3E}">
        <p14:creationId xmlns:p14="http://schemas.microsoft.com/office/powerpoint/2010/main" val="1318887130"/>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标题 1"/>
          <p:cNvSpPr>
            <a:spLocks noGrp="1"/>
          </p:cNvSpPr>
          <p:nvPr>
            <p:ph type="title"/>
          </p:nvPr>
        </p:nvSpPr>
        <p:spPr/>
        <p:txBody>
          <a:bodyPr/>
          <a:lstStyle/>
          <a:p>
            <a:pPr eaLnBrk="1" hangingPunct="1"/>
            <a:r>
              <a:rPr lang="zh-CN" altLang="en-US" smtClean="0"/>
              <a:t>应对现实世界的复杂性</a:t>
            </a:r>
          </a:p>
        </p:txBody>
      </p:sp>
      <p:pic>
        <p:nvPicPr>
          <p:cNvPr id="18435" name="内容占位符 3"/>
          <p:cNvPicPr>
            <a:picLocks noGrp="1" noChangeAspect="1"/>
          </p:cNvPicPr>
          <p:nvPr>
            <p:ph idx="1"/>
          </p:nvPr>
        </p:nvPicPr>
        <p:blipFill>
          <a:blip r:embed="rId2">
            <a:extLst>
              <a:ext uri="{28A0092B-C50C-407E-A947-70E740481C1C}">
                <a14:useLocalDpi xmlns:a14="http://schemas.microsoft.com/office/drawing/2010/main" val="0"/>
              </a:ext>
            </a:extLst>
          </a:blip>
          <a:srcRect/>
          <a:stretch>
            <a:fillRect/>
          </a:stretch>
        </p:blipFill>
        <p:spPr>
          <a:xfrm>
            <a:off x="2947989" y="1600201"/>
            <a:ext cx="6296025" cy="4525963"/>
          </a:xfrm>
        </p:spPr>
      </p:pic>
    </p:spTree>
    <p:extLst>
      <p:ext uri="{BB962C8B-B14F-4D97-AF65-F5344CB8AC3E}">
        <p14:creationId xmlns:p14="http://schemas.microsoft.com/office/powerpoint/2010/main" val="66964749"/>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1992313" y="188913"/>
            <a:ext cx="8229600" cy="1143000"/>
          </a:xfrm>
        </p:spPr>
        <p:txBody>
          <a:bodyPr/>
          <a:lstStyle/>
          <a:p>
            <a:pPr eaLnBrk="1" hangingPunct="1"/>
            <a:r>
              <a:rPr lang="zh-CN" altLang="en-US" b="1" smtClean="0"/>
              <a:t>第一章</a:t>
            </a:r>
            <a:r>
              <a:rPr lang="zh-CN" altLang="en-US" smtClean="0"/>
              <a:t> </a:t>
            </a:r>
            <a:r>
              <a:rPr lang="zh-CN" altLang="en-US" b="1" smtClean="0"/>
              <a:t>软件需求基本理论和概念</a:t>
            </a:r>
          </a:p>
        </p:txBody>
      </p:sp>
      <p:sp>
        <p:nvSpPr>
          <p:cNvPr id="19459" name="Rectangle 3"/>
          <p:cNvSpPr>
            <a:spLocks noGrp="1" noChangeArrowheads="1"/>
          </p:cNvSpPr>
          <p:nvPr>
            <p:ph type="body" idx="1"/>
          </p:nvPr>
        </p:nvSpPr>
        <p:spPr>
          <a:xfrm>
            <a:off x="1992313" y="1341438"/>
            <a:ext cx="8229600" cy="5257800"/>
          </a:xfrm>
        </p:spPr>
        <p:txBody>
          <a:bodyPr/>
          <a:lstStyle/>
          <a:p>
            <a:pPr marL="457200" indent="-457200" eaLnBrk="1" hangingPunct="1">
              <a:lnSpc>
                <a:spcPct val="80000"/>
              </a:lnSpc>
              <a:buFontTx/>
              <a:buAutoNum type="arabicPeriod"/>
            </a:pPr>
            <a:r>
              <a:rPr lang="zh-CN" altLang="en-US" sz="2800" b="1"/>
              <a:t>软件需求定义</a:t>
            </a:r>
          </a:p>
          <a:p>
            <a:pPr marL="457200" indent="-457200" eaLnBrk="1" hangingPunct="1">
              <a:lnSpc>
                <a:spcPct val="80000"/>
              </a:lnSpc>
              <a:buFontTx/>
              <a:buAutoNum type="arabicPeriod"/>
            </a:pPr>
            <a:r>
              <a:rPr lang="zh-CN" altLang="en-US" sz="2800" b="1"/>
              <a:t>需求工程的本质</a:t>
            </a:r>
          </a:p>
          <a:p>
            <a:pPr marL="457200" indent="-457200" eaLnBrk="1" hangingPunct="1">
              <a:lnSpc>
                <a:spcPct val="80000"/>
              </a:lnSpc>
              <a:buFontTx/>
              <a:buAutoNum type="arabicPeriod"/>
            </a:pPr>
            <a:r>
              <a:rPr lang="zh-CN" altLang="en-US" sz="2800" b="1"/>
              <a:t>问题域与解系统</a:t>
            </a:r>
          </a:p>
          <a:p>
            <a:pPr marL="457200" indent="-457200" eaLnBrk="1" hangingPunct="1">
              <a:lnSpc>
                <a:spcPct val="80000"/>
              </a:lnSpc>
              <a:buFontTx/>
              <a:buAutoNum type="arabicPeriod"/>
            </a:pPr>
            <a:r>
              <a:rPr lang="zh-CN" altLang="en-US" sz="2800" b="1"/>
              <a:t>软件需求分类</a:t>
            </a:r>
          </a:p>
          <a:p>
            <a:pPr marL="838200" lvl="1" indent="-381000" eaLnBrk="1" hangingPunct="1">
              <a:lnSpc>
                <a:spcPct val="80000"/>
              </a:lnSpc>
              <a:buFontTx/>
              <a:buAutoNum type="arabicPeriod"/>
            </a:pPr>
            <a:r>
              <a:rPr lang="zh-CN" altLang="en-US" sz="2400" b="1"/>
              <a:t>功能需求</a:t>
            </a:r>
          </a:p>
          <a:p>
            <a:pPr marL="838200" lvl="1" indent="-381000" eaLnBrk="1" hangingPunct="1">
              <a:lnSpc>
                <a:spcPct val="80000"/>
              </a:lnSpc>
              <a:buFontTx/>
              <a:buAutoNum type="arabicPeriod"/>
            </a:pPr>
            <a:r>
              <a:rPr lang="zh-CN" altLang="en-US" sz="2400" b="1"/>
              <a:t>性能需求 </a:t>
            </a:r>
            <a:r>
              <a:rPr lang="en-US" altLang="zh-CN" sz="2400" b="1"/>
              <a:t>(</a:t>
            </a:r>
            <a:r>
              <a:rPr lang="zh-CN" altLang="en-US" sz="2400" b="1"/>
              <a:t>非功能需求</a:t>
            </a:r>
            <a:r>
              <a:rPr lang="en-US" altLang="zh-CN" sz="2400" b="1"/>
              <a:t>)</a:t>
            </a:r>
          </a:p>
          <a:p>
            <a:pPr marL="838200" lvl="1" indent="-381000" eaLnBrk="1" hangingPunct="1">
              <a:lnSpc>
                <a:spcPct val="80000"/>
              </a:lnSpc>
              <a:buFontTx/>
              <a:buAutoNum type="arabicPeriod"/>
            </a:pPr>
            <a:r>
              <a:rPr lang="zh-CN" altLang="en-US" sz="2400" b="1"/>
              <a:t>设计约束</a:t>
            </a:r>
          </a:p>
          <a:p>
            <a:pPr marL="838200" lvl="1" indent="-381000" eaLnBrk="1" hangingPunct="1">
              <a:lnSpc>
                <a:spcPct val="80000"/>
              </a:lnSpc>
              <a:buFontTx/>
              <a:buAutoNum type="arabicPeriod"/>
            </a:pPr>
            <a:r>
              <a:rPr lang="zh-CN" altLang="en-US" sz="2400" b="1"/>
              <a:t>商业约束</a:t>
            </a:r>
          </a:p>
          <a:p>
            <a:pPr marL="457200" indent="-457200" eaLnBrk="1" hangingPunct="1">
              <a:lnSpc>
                <a:spcPct val="80000"/>
              </a:lnSpc>
              <a:buFontTx/>
              <a:buAutoNum type="arabicPeriod"/>
            </a:pPr>
            <a:r>
              <a:rPr lang="zh-CN" altLang="en-US" sz="2800" b="1"/>
              <a:t>客户</a:t>
            </a:r>
            <a:r>
              <a:rPr lang="en-US" altLang="zh-CN" sz="2800" b="1"/>
              <a:t>/</a:t>
            </a:r>
            <a:r>
              <a:rPr lang="zh-CN" altLang="en-US" sz="2800" b="1"/>
              <a:t>用户</a:t>
            </a:r>
            <a:r>
              <a:rPr lang="en-US" altLang="zh-CN" sz="2800" b="1"/>
              <a:t>/</a:t>
            </a:r>
            <a:r>
              <a:rPr lang="zh-CN" altLang="en-US" sz="2800" b="1"/>
              <a:t>开发者的需求观</a:t>
            </a:r>
          </a:p>
          <a:p>
            <a:pPr marL="457200" indent="-457200" eaLnBrk="1" hangingPunct="1">
              <a:lnSpc>
                <a:spcPct val="80000"/>
              </a:lnSpc>
              <a:buFontTx/>
              <a:buAutoNum type="arabicPeriod"/>
            </a:pPr>
            <a:r>
              <a:rPr lang="zh-CN" altLang="en-US" sz="2800" b="1"/>
              <a:t>不合格的需求派生的问题</a:t>
            </a:r>
          </a:p>
          <a:p>
            <a:pPr marL="457200" indent="-457200" eaLnBrk="1" hangingPunct="1">
              <a:lnSpc>
                <a:spcPct val="80000"/>
              </a:lnSpc>
              <a:buFontTx/>
              <a:buAutoNum type="arabicPeriod"/>
            </a:pPr>
            <a:r>
              <a:rPr lang="zh-CN" altLang="en-US" sz="2800" b="1"/>
              <a:t>高质量的需求带来的好处</a:t>
            </a:r>
          </a:p>
          <a:p>
            <a:pPr marL="457200" indent="-457200" eaLnBrk="1" hangingPunct="1">
              <a:lnSpc>
                <a:spcPct val="80000"/>
              </a:lnSpc>
              <a:buFontTx/>
              <a:buAutoNum type="arabicPeriod"/>
            </a:pPr>
            <a:r>
              <a:rPr lang="zh-CN" altLang="en-US" sz="2800" b="1"/>
              <a:t>优秀需求所具有的特征</a:t>
            </a:r>
          </a:p>
        </p:txBody>
      </p:sp>
    </p:spTree>
    <p:extLst>
      <p:ext uri="{BB962C8B-B14F-4D97-AF65-F5344CB8AC3E}">
        <p14:creationId xmlns:p14="http://schemas.microsoft.com/office/powerpoint/2010/main" val="1157175302"/>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2209800" y="0"/>
            <a:ext cx="7391400" cy="762000"/>
          </a:xfrm>
        </p:spPr>
        <p:txBody>
          <a:bodyPr/>
          <a:lstStyle/>
          <a:p>
            <a:pPr eaLnBrk="1" hangingPunct="1"/>
            <a:r>
              <a:rPr lang="en-AU" altLang="en-AU" smtClean="0">
                <a:solidFill>
                  <a:srgbClr val="000000"/>
                </a:solidFill>
              </a:rPr>
              <a:t>项目</a:t>
            </a:r>
            <a:r>
              <a:rPr lang="zh-CN" altLang="en-AU" smtClean="0">
                <a:solidFill>
                  <a:srgbClr val="000000"/>
                </a:solidFill>
              </a:rPr>
              <a:t>失败的原因分析</a:t>
            </a:r>
            <a:endParaRPr lang="zh-CN" altLang="en-US" smtClean="0">
              <a:solidFill>
                <a:srgbClr val="000000"/>
              </a:solidFill>
            </a:endParaRPr>
          </a:p>
        </p:txBody>
      </p:sp>
      <p:graphicFrame>
        <p:nvGraphicFramePr>
          <p:cNvPr id="20483" name="Object 3"/>
          <p:cNvGraphicFramePr>
            <a:graphicFrameLocks/>
          </p:cNvGraphicFramePr>
          <p:nvPr/>
        </p:nvGraphicFramePr>
        <p:xfrm>
          <a:off x="2003426" y="838201"/>
          <a:ext cx="8664575" cy="7275513"/>
        </p:xfrm>
        <a:graphic>
          <a:graphicData uri="http://schemas.openxmlformats.org/presentationml/2006/ole">
            <mc:AlternateContent xmlns:mc="http://schemas.openxmlformats.org/markup-compatibility/2006">
              <mc:Choice xmlns:v="urn:schemas-microsoft-com:vml" Requires="v">
                <p:oleObj spid="_x0000_s2051" name="Document" r:id="rId3" imgW="3977640" imgH="3342132" progId="Word.Document.8">
                  <p:embed/>
                </p:oleObj>
              </mc:Choice>
              <mc:Fallback>
                <p:oleObj name="Document" r:id="rId3" imgW="3977640" imgH="3342132" progId="Word.Document.8">
                  <p:embed/>
                  <p:pic>
                    <p:nvPicPr>
                      <p:cNvPr id="20483" name="Object 3"/>
                      <p:cNvPicPr>
                        <a:picLocks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3426" y="838201"/>
                        <a:ext cx="8664575" cy="7275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a:solidFill>
                              <a:schemeClr val="tx1"/>
                            </a:solidFill>
                            <a:miter lim="800000"/>
                            <a:headEnd type="none" w="sm" len="sm"/>
                            <a:tailEnd type="none" w="sm" len="sm"/>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20484" name="Rectangle 4"/>
          <p:cNvSpPr>
            <a:spLocks noChangeArrowheads="1"/>
          </p:cNvSpPr>
          <p:nvPr/>
        </p:nvSpPr>
        <p:spPr bwMode="auto">
          <a:xfrm>
            <a:off x="1981200" y="6248400"/>
            <a:ext cx="6858000" cy="381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Aft>
                <a:spcPct val="0"/>
              </a:spcAft>
              <a:buNone/>
            </a:pPr>
            <a:r>
              <a:rPr lang="en-AU" altLang="en-US" sz="1600" b="1">
                <a:solidFill>
                  <a:srgbClr val="000000"/>
                </a:solidFill>
                <a:latin typeface="Times New Roman" panose="02020603050405020304" pitchFamily="18" charset="0"/>
              </a:rPr>
              <a:t>Source: Carnegie-Mellon University, Software Engineering Institute</a:t>
            </a:r>
          </a:p>
        </p:txBody>
      </p:sp>
    </p:spTree>
    <p:extLst>
      <p:ext uri="{BB962C8B-B14F-4D97-AF65-F5344CB8AC3E}">
        <p14:creationId xmlns:p14="http://schemas.microsoft.com/office/powerpoint/2010/main" val="1873262366"/>
      </p:ext>
    </p:extLst>
  </p:cSld>
  <p:clrMapOvr>
    <a:masterClrMapping/>
  </p:clrMapOvr>
  <p:transition/>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1524000" y="0"/>
            <a:ext cx="9144000" cy="838200"/>
          </a:xfrm>
        </p:spPr>
        <p:txBody>
          <a:bodyPr/>
          <a:lstStyle/>
          <a:p>
            <a:pPr eaLnBrk="1" hangingPunct="1"/>
            <a:r>
              <a:rPr lang="zh-CN" altLang="en-US" b="1" smtClean="0">
                <a:solidFill>
                  <a:srgbClr val="000000"/>
                </a:solidFill>
              </a:rPr>
              <a:t>错误认识</a:t>
            </a:r>
          </a:p>
        </p:txBody>
      </p:sp>
      <p:sp>
        <p:nvSpPr>
          <p:cNvPr id="21507" name="Rectangle 3"/>
          <p:cNvSpPr>
            <a:spLocks noGrp="1" noChangeArrowheads="1"/>
          </p:cNvSpPr>
          <p:nvPr>
            <p:ph type="body" idx="1"/>
          </p:nvPr>
        </p:nvSpPr>
        <p:spPr>
          <a:xfrm>
            <a:off x="2057400" y="914400"/>
            <a:ext cx="7924800" cy="4114800"/>
          </a:xfrm>
        </p:spPr>
        <p:txBody>
          <a:bodyPr/>
          <a:lstStyle/>
          <a:p>
            <a:pPr marL="457200" indent="-457200" eaLnBrk="1" hangingPunct="1">
              <a:lnSpc>
                <a:spcPct val="90000"/>
              </a:lnSpc>
            </a:pPr>
            <a:r>
              <a:rPr lang="en-US" altLang="zh-CN" sz="2800" b="1">
                <a:latin typeface="ArialMT" charset="0"/>
              </a:rPr>
              <a:t>A general statement of objectives is sufficient to begin writing programs </a:t>
            </a:r>
            <a:r>
              <a:rPr lang="en-US" altLang="zh-CN" sz="2800" b="1"/>
              <a:t>—</a:t>
            </a:r>
            <a:r>
              <a:rPr lang="en-US" altLang="zh-CN" sz="2800" b="1">
                <a:latin typeface="ArialMT" charset="0"/>
              </a:rPr>
              <a:t> we can fill in the details later</a:t>
            </a:r>
          </a:p>
          <a:p>
            <a:pPr marL="457200" indent="-457200" eaLnBrk="1" hangingPunct="1">
              <a:lnSpc>
                <a:spcPct val="90000"/>
              </a:lnSpc>
              <a:buNone/>
            </a:pPr>
            <a:r>
              <a:rPr lang="en-US" altLang="zh-CN" sz="2800" b="1"/>
              <a:t>	</a:t>
            </a:r>
            <a:r>
              <a:rPr lang="zh-CN" altLang="en-US" sz="2800" b="1"/>
              <a:t>需求不清楚就进入编程阶段，期望以后修改。更多的情况下是边写边修改</a:t>
            </a:r>
            <a:endParaRPr lang="zh-CN" altLang="en-US" sz="2800" b="1">
              <a:latin typeface="ArialMT" charset="0"/>
            </a:endParaRPr>
          </a:p>
          <a:p>
            <a:pPr marL="457200" indent="-457200" eaLnBrk="1" hangingPunct="1">
              <a:lnSpc>
                <a:spcPct val="90000"/>
              </a:lnSpc>
            </a:pPr>
            <a:r>
              <a:rPr lang="en-US" altLang="zh-CN" sz="2800" b="1">
                <a:latin typeface="ArialMT" charset="0"/>
              </a:rPr>
              <a:t>Project requirements continually change, but change can be easily accommodated because software is flexible</a:t>
            </a:r>
          </a:p>
          <a:p>
            <a:pPr marL="457200" indent="-457200" eaLnBrk="1" hangingPunct="1">
              <a:lnSpc>
                <a:spcPct val="90000"/>
              </a:lnSpc>
              <a:buNone/>
            </a:pPr>
            <a:r>
              <a:rPr lang="en-US" altLang="zh-CN" sz="2800" b="1"/>
              <a:t>	</a:t>
            </a:r>
            <a:r>
              <a:rPr lang="zh-CN" altLang="en-US" sz="2800" b="1"/>
              <a:t>软件调节和改变是很灵活的，任何需求的变更都可容易地在软件中反映出来</a:t>
            </a:r>
          </a:p>
        </p:txBody>
      </p:sp>
      <p:sp>
        <p:nvSpPr>
          <p:cNvPr id="21508" name="Rectangle 4"/>
          <p:cNvSpPr>
            <a:spLocks noChangeArrowheads="1"/>
          </p:cNvSpPr>
          <p:nvPr/>
        </p:nvSpPr>
        <p:spPr bwMode="auto">
          <a:xfrm>
            <a:off x="2279650" y="5157788"/>
            <a:ext cx="7848600" cy="1143000"/>
          </a:xfrm>
          <a:prstGeom prst="rect">
            <a:avLst/>
          </a:prstGeom>
          <a:solidFill>
            <a:srgbClr val="CCFFCC"/>
          </a:solidFill>
          <a:ln w="9525">
            <a:solidFill>
              <a:schemeClr val="bg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pPr>
            <a:r>
              <a:rPr lang="zh-CN" altLang="en-US" sz="2800" b="1">
                <a:solidFill>
                  <a:srgbClr val="CC3300"/>
                </a:solidFill>
              </a:rPr>
              <a:t>这些认识多来自极小项目的开发经验，当你面对一个中大型项目时必须彻底改变这些错误观念！</a:t>
            </a:r>
          </a:p>
        </p:txBody>
      </p:sp>
    </p:spTree>
    <p:extLst>
      <p:ext uri="{BB962C8B-B14F-4D97-AF65-F5344CB8AC3E}">
        <p14:creationId xmlns:p14="http://schemas.microsoft.com/office/powerpoint/2010/main" val="355677500"/>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altLang="zh-CN" b="1" smtClean="0"/>
              <a:t>1. </a:t>
            </a:r>
            <a:r>
              <a:rPr lang="zh-CN" altLang="en-US" b="1" smtClean="0"/>
              <a:t>软件需求的定义</a:t>
            </a:r>
          </a:p>
        </p:txBody>
      </p:sp>
      <p:sp>
        <p:nvSpPr>
          <p:cNvPr id="22531" name="Rectangle 3"/>
          <p:cNvSpPr>
            <a:spLocks noGrp="1" noChangeArrowheads="1"/>
          </p:cNvSpPr>
          <p:nvPr>
            <p:ph type="body" idx="1"/>
          </p:nvPr>
        </p:nvSpPr>
        <p:spPr/>
        <p:txBody>
          <a:bodyPr/>
          <a:lstStyle/>
          <a:p>
            <a:pPr eaLnBrk="1" hangingPunct="1">
              <a:lnSpc>
                <a:spcPct val="90000"/>
              </a:lnSpc>
            </a:pPr>
            <a:r>
              <a:rPr lang="en-US" altLang="zh-CN" sz="2400" b="1">
                <a:latin typeface="宋体" panose="02010600030101010101" pitchFamily="2" charset="-122"/>
              </a:rPr>
              <a:t>IEEE</a:t>
            </a:r>
            <a:r>
              <a:rPr lang="zh-CN" altLang="en-US" sz="2400" b="1">
                <a:latin typeface="宋体" panose="02010600030101010101" pitchFamily="2" charset="-122"/>
              </a:rPr>
              <a:t>软件工程中需求的定义</a:t>
            </a:r>
            <a:r>
              <a:rPr lang="en-US" altLang="zh-CN" sz="2400" b="1">
                <a:latin typeface="宋体" panose="02010600030101010101" pitchFamily="2" charset="-122"/>
              </a:rPr>
              <a:t>(1977)</a:t>
            </a:r>
          </a:p>
          <a:p>
            <a:pPr lvl="1" eaLnBrk="1" hangingPunct="1">
              <a:lnSpc>
                <a:spcPct val="90000"/>
              </a:lnSpc>
              <a:buFont typeface="Wingdings" panose="05000000000000000000" pitchFamily="2" charset="2"/>
              <a:buAutoNum type="arabicPeriod"/>
            </a:pPr>
            <a:r>
              <a:rPr lang="zh-CN" altLang="en-US" sz="2400" b="1">
                <a:latin typeface="宋体" panose="02010600030101010101" pitchFamily="2" charset="-122"/>
              </a:rPr>
              <a:t>用户解决问题或达到目标所需的条件和能力</a:t>
            </a:r>
          </a:p>
          <a:p>
            <a:pPr lvl="1" eaLnBrk="1" hangingPunct="1">
              <a:lnSpc>
                <a:spcPct val="90000"/>
              </a:lnSpc>
              <a:buFont typeface="Wingdings" panose="05000000000000000000" pitchFamily="2" charset="2"/>
              <a:buAutoNum type="arabicPeriod"/>
            </a:pPr>
            <a:r>
              <a:rPr lang="zh-CN" altLang="en-US" sz="2400" b="1">
                <a:latin typeface="宋体" panose="02010600030101010101" pitchFamily="2" charset="-122"/>
              </a:rPr>
              <a:t>系统或系统部件为满足合同、</a:t>
            </a:r>
            <a:r>
              <a:rPr lang="zh-CN" altLang="en-US" sz="2400" b="1">
                <a:solidFill>
                  <a:srgbClr val="0000CC"/>
                </a:solidFill>
                <a:latin typeface="宋体" panose="02010600030101010101" pitchFamily="2" charset="-122"/>
              </a:rPr>
              <a:t>标准</a:t>
            </a:r>
            <a:r>
              <a:rPr lang="zh-CN" altLang="en-US" sz="2400" b="1">
                <a:latin typeface="宋体" panose="02010600030101010101" pitchFamily="2" charset="-122"/>
              </a:rPr>
              <a:t>、规范或其它正式规定文档所需具有的条件和能力</a:t>
            </a:r>
          </a:p>
          <a:p>
            <a:pPr lvl="1" eaLnBrk="1" hangingPunct="1">
              <a:lnSpc>
                <a:spcPct val="90000"/>
              </a:lnSpc>
              <a:buFont typeface="Wingdings" panose="05000000000000000000" pitchFamily="2" charset="2"/>
              <a:buAutoNum type="arabicPeriod"/>
            </a:pPr>
            <a:r>
              <a:rPr lang="zh-CN" altLang="en-US" sz="2400" b="1">
                <a:latin typeface="宋体" panose="02010600030101010101" pitchFamily="2" charset="-122"/>
              </a:rPr>
              <a:t>以上条件和能力的</a:t>
            </a:r>
            <a:r>
              <a:rPr lang="zh-CN" altLang="en-US" sz="2400" b="1">
                <a:solidFill>
                  <a:srgbClr val="0000CC"/>
                </a:solidFill>
                <a:latin typeface="宋体" panose="02010600030101010101" pitchFamily="2" charset="-122"/>
              </a:rPr>
              <a:t>文档说明</a:t>
            </a:r>
            <a:endParaRPr lang="zh-CN" altLang="en-US" sz="2400" b="1" i="1">
              <a:latin typeface="宋体" panose="02010600030101010101" pitchFamily="2" charset="-122"/>
            </a:endParaRPr>
          </a:p>
          <a:p>
            <a:pPr eaLnBrk="1" hangingPunct="1">
              <a:lnSpc>
                <a:spcPct val="90000"/>
              </a:lnSpc>
            </a:pPr>
            <a:r>
              <a:rPr lang="zh-CN" altLang="en-US" sz="2400" b="1">
                <a:latin typeface="宋体" panose="02010600030101010101" pitchFamily="2" charset="-122"/>
              </a:rPr>
              <a:t>客户希望在</a:t>
            </a:r>
            <a:r>
              <a:rPr lang="zh-CN" altLang="en-US" sz="2400" b="1">
                <a:solidFill>
                  <a:srgbClr val="CC0000"/>
                </a:solidFill>
                <a:latin typeface="宋体" panose="02010600030101010101" pitchFamily="2" charset="-122"/>
              </a:rPr>
              <a:t>问题域</a:t>
            </a:r>
            <a:r>
              <a:rPr lang="zh-CN" altLang="en-US" sz="2400" b="1">
                <a:latin typeface="宋体" panose="02010600030101010101" pitchFamily="2" charset="-122"/>
              </a:rPr>
              <a:t>内产生的效果</a:t>
            </a:r>
          </a:p>
          <a:p>
            <a:pPr lvl="1" eaLnBrk="1" hangingPunct="1">
              <a:lnSpc>
                <a:spcPct val="90000"/>
              </a:lnSpc>
            </a:pPr>
            <a:r>
              <a:rPr lang="zh-CN" altLang="en-US" sz="2400" b="1">
                <a:latin typeface="宋体" panose="02010600030101010101" pitchFamily="2" charset="-122"/>
              </a:rPr>
              <a:t>需求与问题域的差别</a:t>
            </a:r>
          </a:p>
          <a:p>
            <a:pPr eaLnBrk="1" hangingPunct="1">
              <a:lnSpc>
                <a:spcPct val="90000"/>
              </a:lnSpc>
            </a:pPr>
            <a:r>
              <a:rPr lang="en-US" altLang="zh-CN" sz="2400" b="1">
                <a:latin typeface="宋体" panose="02010600030101010101" pitchFamily="2" charset="-122"/>
              </a:rPr>
              <a:t>Sommerville &amp; Sawyer 1997</a:t>
            </a:r>
          </a:p>
          <a:p>
            <a:pPr lvl="1" eaLnBrk="1" hangingPunct="1">
              <a:lnSpc>
                <a:spcPct val="90000"/>
              </a:lnSpc>
            </a:pPr>
            <a:r>
              <a:rPr lang="zh-CN" altLang="en-US" sz="2400" b="1">
                <a:latin typeface="宋体" panose="02010600030101010101" pitchFamily="2" charset="-122"/>
              </a:rPr>
              <a:t>需求是指系统必须实现什么的规格说明。它描述了系统的行为、特性或属性，是在开发过程中对系统的约束</a:t>
            </a:r>
            <a:endParaRPr lang="zh-CN" altLang="en-US" sz="2400" b="1"/>
          </a:p>
        </p:txBody>
      </p:sp>
    </p:spTree>
    <p:extLst>
      <p:ext uri="{BB962C8B-B14F-4D97-AF65-F5344CB8AC3E}">
        <p14:creationId xmlns:p14="http://schemas.microsoft.com/office/powerpoint/2010/main" val="2771425456"/>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altLang="zh-CN" b="1" smtClean="0"/>
              <a:t>2. </a:t>
            </a:r>
            <a:r>
              <a:rPr lang="zh-CN" altLang="en-US" b="1" smtClean="0"/>
              <a:t>需求工程的本质</a:t>
            </a:r>
          </a:p>
        </p:txBody>
      </p:sp>
      <p:sp>
        <p:nvSpPr>
          <p:cNvPr id="23555" name="Rectangle 3"/>
          <p:cNvSpPr>
            <a:spLocks noGrp="1" noChangeArrowheads="1"/>
          </p:cNvSpPr>
          <p:nvPr>
            <p:ph type="body" idx="1"/>
          </p:nvPr>
        </p:nvSpPr>
        <p:spPr>
          <a:xfrm>
            <a:off x="2063750" y="1484313"/>
            <a:ext cx="8229600" cy="4525962"/>
          </a:xfrm>
        </p:spPr>
        <p:txBody>
          <a:bodyPr/>
          <a:lstStyle/>
          <a:p>
            <a:pPr eaLnBrk="1" hangingPunct="1"/>
            <a:r>
              <a:rPr lang="zh-CN" altLang="en-US" sz="2800" b="1">
                <a:latin typeface="宋体" panose="02010600030101010101" pitchFamily="2" charset="-122"/>
              </a:rPr>
              <a:t>需求工程简单化描述为她关注系统将要做什么；而设计关注系统将怎样做</a:t>
            </a:r>
          </a:p>
          <a:p>
            <a:pPr eaLnBrk="1" hangingPunct="1"/>
            <a:r>
              <a:rPr lang="zh-CN" altLang="en-US" sz="2800" b="1">
                <a:latin typeface="宋体" panose="02010600030101010101" pitchFamily="2" charset="-122"/>
              </a:rPr>
              <a:t>需求工程可以看作把一个定义不足的问题转换为一个定义充分的问题以便找出解决方案。这是因为客户需求信息经常是粗糙的和不完整的</a:t>
            </a:r>
          </a:p>
          <a:p>
            <a:pPr eaLnBrk="1" hangingPunct="1"/>
            <a:r>
              <a:rPr lang="zh-CN" altLang="en-US" sz="2800" b="1">
                <a:latin typeface="宋体" panose="02010600030101010101" pitchFamily="2" charset="-122"/>
              </a:rPr>
              <a:t>需求工程的通用性、理论性和实践性，怎样理解其学科性质，如何学习才能掌握它的本质？有一劳永逸的方法和工具吗？能否将另一个成功项目的需求工程方法照搬到现在的项目 </a:t>
            </a:r>
            <a:r>
              <a:rPr lang="en-US" altLang="zh-CN" sz="2800" b="1"/>
              <a:t>–</a:t>
            </a:r>
            <a:r>
              <a:rPr lang="en-US" altLang="zh-CN" sz="2800" b="1">
                <a:latin typeface="宋体" panose="02010600030101010101" pitchFamily="2" charset="-122"/>
              </a:rPr>
              <a:t> </a:t>
            </a:r>
            <a:r>
              <a:rPr lang="zh-CN" altLang="en-US" sz="2800" b="1">
                <a:solidFill>
                  <a:schemeClr val="accent2"/>
                </a:solidFill>
                <a:latin typeface="宋体" panose="02010600030101010101" pitchFamily="2" charset="-122"/>
              </a:rPr>
              <a:t>答案是不能！</a:t>
            </a:r>
            <a:endParaRPr lang="zh-CN" altLang="en-US" sz="2800">
              <a:solidFill>
                <a:schemeClr val="accent2"/>
              </a:solidFill>
            </a:endParaRPr>
          </a:p>
        </p:txBody>
      </p:sp>
    </p:spTree>
    <p:extLst>
      <p:ext uri="{BB962C8B-B14F-4D97-AF65-F5344CB8AC3E}">
        <p14:creationId xmlns:p14="http://schemas.microsoft.com/office/powerpoint/2010/main" val="591381486"/>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altLang="zh-CN" sz="4000" b="1"/>
              <a:t>3. </a:t>
            </a:r>
            <a:r>
              <a:rPr lang="zh-CN" altLang="en-US" sz="4000" b="1"/>
              <a:t>问题域</a:t>
            </a:r>
            <a:r>
              <a:rPr lang="en-US" altLang="zh-CN" sz="4000" b="1"/>
              <a:t>(Problem Domain)</a:t>
            </a:r>
            <a:r>
              <a:rPr lang="zh-CN" altLang="en-US" sz="4000" b="1"/>
              <a:t>与</a:t>
            </a:r>
            <a:br>
              <a:rPr lang="zh-CN" altLang="en-US" sz="4000" b="1"/>
            </a:br>
            <a:r>
              <a:rPr lang="zh-CN" altLang="en-US" sz="4000" b="1"/>
              <a:t>解系统</a:t>
            </a:r>
            <a:r>
              <a:rPr lang="en-US" altLang="zh-CN" sz="4000" b="1"/>
              <a:t>(Solution System)</a:t>
            </a:r>
            <a:r>
              <a:rPr lang="en-US" altLang="zh-CN" sz="4000"/>
              <a:t> </a:t>
            </a:r>
          </a:p>
        </p:txBody>
      </p:sp>
      <p:sp>
        <p:nvSpPr>
          <p:cNvPr id="24579" name="Rectangle 3"/>
          <p:cNvSpPr>
            <a:spLocks noGrp="1" noChangeArrowheads="1"/>
          </p:cNvSpPr>
          <p:nvPr>
            <p:ph type="body" idx="1"/>
          </p:nvPr>
        </p:nvSpPr>
        <p:spPr>
          <a:xfrm>
            <a:off x="1992313" y="1916113"/>
            <a:ext cx="8229600" cy="4525962"/>
          </a:xfrm>
        </p:spPr>
        <p:txBody>
          <a:bodyPr/>
          <a:lstStyle/>
          <a:p>
            <a:pPr eaLnBrk="1" hangingPunct="1"/>
            <a:r>
              <a:rPr lang="zh-CN" altLang="en-US" sz="3600" b="1">
                <a:latin typeface="隶书" panose="02010509060101010101" pitchFamily="49" charset="-122"/>
              </a:rPr>
              <a:t>问题域：被开发系统的应用领域，即在现实世界中由这个系统进行处理的业务范围</a:t>
            </a:r>
          </a:p>
          <a:p>
            <a:pPr eaLnBrk="1" hangingPunct="1"/>
            <a:r>
              <a:rPr lang="zh-CN" altLang="en-US" sz="3600" b="1">
                <a:latin typeface="隶书" panose="02010509060101010101" pitchFamily="49" charset="-122"/>
              </a:rPr>
              <a:t>解系统：指可以在问题域内产生某种效果的系统，而构成软件需求的正是这些想要获得的效果，它也正是为何做软件需求的原因和目的</a:t>
            </a:r>
          </a:p>
        </p:txBody>
      </p:sp>
    </p:spTree>
    <p:extLst>
      <p:ext uri="{BB962C8B-B14F-4D97-AF65-F5344CB8AC3E}">
        <p14:creationId xmlns:p14="http://schemas.microsoft.com/office/powerpoint/2010/main" val="29441459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Grp="1" noChangeArrowheads="1"/>
          </p:cNvSpPr>
          <p:nvPr>
            <p:ph type="title"/>
          </p:nvPr>
        </p:nvSpPr>
        <p:spPr>
          <a:xfrm>
            <a:off x="2279650" y="333375"/>
            <a:ext cx="7696200" cy="838200"/>
          </a:xfrm>
        </p:spPr>
        <p:txBody>
          <a:bodyPr/>
          <a:lstStyle/>
          <a:p>
            <a:pPr eaLnBrk="1" hangingPunct="1"/>
            <a:r>
              <a:rPr lang="zh-CN" altLang="en-US" b="1" smtClean="0"/>
              <a:t>问题域 </a:t>
            </a:r>
            <a:r>
              <a:rPr lang="en-US" altLang="zh-CN" b="1" smtClean="0"/>
              <a:t>Problem Domain</a:t>
            </a:r>
          </a:p>
        </p:txBody>
      </p:sp>
      <p:sp>
        <p:nvSpPr>
          <p:cNvPr id="25603" name="Oval 3"/>
          <p:cNvSpPr>
            <a:spLocks noChangeArrowheads="1"/>
          </p:cNvSpPr>
          <p:nvPr/>
        </p:nvSpPr>
        <p:spPr bwMode="auto">
          <a:xfrm>
            <a:off x="3429000" y="3657600"/>
            <a:ext cx="3581400" cy="1524000"/>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eaLnBrk="0" fontAlgn="base" hangingPunct="0">
              <a:spcBef>
                <a:spcPct val="50000"/>
              </a:spcBef>
              <a:spcAft>
                <a:spcPct val="0"/>
              </a:spcAft>
              <a:buClr>
                <a:srgbClr val="003366"/>
              </a:buClr>
              <a:buNone/>
            </a:pPr>
            <a:r>
              <a:rPr lang="zh-CN" altLang="en-US" b="1">
                <a:solidFill>
                  <a:srgbClr val="CC0000"/>
                </a:solidFill>
                <a:latin typeface="宋体" panose="02010600030101010101" pitchFamily="2" charset="-122"/>
                <a:ea typeface="楷体_GB2312" pitchFamily="49" charset="-122"/>
              </a:rPr>
              <a:t>问题域</a:t>
            </a:r>
            <a:r>
              <a:rPr lang="zh-CN" altLang="en-US" b="1">
                <a:solidFill>
                  <a:srgbClr val="000000"/>
                </a:solidFill>
                <a:latin typeface="宋体" panose="02010600030101010101" pitchFamily="2" charset="-122"/>
                <a:ea typeface="楷体_GB2312" pitchFamily="49" charset="-122"/>
              </a:rPr>
              <a:t>    接口</a:t>
            </a:r>
          </a:p>
        </p:txBody>
      </p:sp>
      <p:sp>
        <p:nvSpPr>
          <p:cNvPr id="25604" name="Oval 4"/>
          <p:cNvSpPr>
            <a:spLocks noChangeArrowheads="1"/>
          </p:cNvSpPr>
          <p:nvPr/>
        </p:nvSpPr>
        <p:spPr bwMode="auto">
          <a:xfrm>
            <a:off x="5791200" y="3657600"/>
            <a:ext cx="3581400" cy="1524000"/>
          </a:xfrm>
          <a:prstGeom prst="ellipse">
            <a:avLst/>
          </a:prstGeom>
          <a:noFill/>
          <a:ln w="19050">
            <a:solidFill>
              <a:schemeClr val="tx1"/>
            </a:solidFill>
            <a:round/>
            <a:headEnd/>
            <a:tailEnd/>
          </a:ln>
          <a:effectLst/>
          <a:extLst>
            <a:ext uri="{909E8E84-426E-40DD-AFC4-6F175D3DCCD1}">
              <a14:hiddenFill xmlns:a14="http://schemas.microsoft.com/office/drawing/2010/main">
                <a:solidFill>
                  <a:srgbClr val="C0C0C0"/>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50000"/>
              </a:spcBef>
              <a:spcAft>
                <a:spcPct val="0"/>
              </a:spcAft>
              <a:buClr>
                <a:srgbClr val="003366"/>
              </a:buClr>
              <a:buNone/>
            </a:pPr>
            <a:r>
              <a:rPr lang="en-US" altLang="zh-CN" sz="2000" b="1">
                <a:solidFill>
                  <a:srgbClr val="000000"/>
                </a:solidFill>
                <a:ea typeface="楷体_GB2312" pitchFamily="49" charset="-122"/>
              </a:rPr>
              <a:t>          </a:t>
            </a:r>
            <a:r>
              <a:rPr lang="zh-CN" altLang="en-US" b="1">
                <a:solidFill>
                  <a:srgbClr val="0000CC"/>
                </a:solidFill>
                <a:latin typeface="宋体" panose="02010600030101010101" pitchFamily="2" charset="-122"/>
                <a:ea typeface="楷体_GB2312" pitchFamily="49" charset="-122"/>
              </a:rPr>
              <a:t>解系统</a:t>
            </a:r>
          </a:p>
        </p:txBody>
      </p:sp>
      <p:sp>
        <p:nvSpPr>
          <p:cNvPr id="25605" name="AutoShape 5"/>
          <p:cNvSpPr>
            <a:spLocks noChangeArrowheads="1"/>
          </p:cNvSpPr>
          <p:nvPr/>
        </p:nvSpPr>
        <p:spPr bwMode="auto">
          <a:xfrm>
            <a:off x="3200400" y="1676400"/>
            <a:ext cx="1752600" cy="1371600"/>
          </a:xfrm>
          <a:prstGeom prst="cloudCallout">
            <a:avLst>
              <a:gd name="adj1" fmla="val 6523"/>
              <a:gd name="adj2" fmla="val 103009"/>
            </a:avLst>
          </a:prstGeom>
          <a:noFill/>
          <a:ln w="19050">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50000"/>
              </a:spcBef>
              <a:spcAft>
                <a:spcPct val="0"/>
              </a:spcAft>
              <a:buClr>
                <a:srgbClr val="003366"/>
              </a:buClr>
              <a:buNone/>
            </a:pPr>
            <a:r>
              <a:rPr lang="zh-CN" altLang="en-US" b="1">
                <a:solidFill>
                  <a:srgbClr val="CC0000"/>
                </a:solidFill>
                <a:ea typeface="楷体_GB2312" pitchFamily="49" charset="-122"/>
              </a:rPr>
              <a:t>分析</a:t>
            </a:r>
          </a:p>
        </p:txBody>
      </p:sp>
      <p:sp>
        <p:nvSpPr>
          <p:cNvPr id="25606" name="AutoShape 6"/>
          <p:cNvSpPr>
            <a:spLocks noChangeArrowheads="1"/>
          </p:cNvSpPr>
          <p:nvPr/>
        </p:nvSpPr>
        <p:spPr bwMode="auto">
          <a:xfrm>
            <a:off x="5486400" y="1905000"/>
            <a:ext cx="1752600" cy="762000"/>
          </a:xfrm>
          <a:prstGeom prst="flowChartPredefinedProcess">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50000"/>
              </a:spcBef>
              <a:spcAft>
                <a:spcPct val="0"/>
              </a:spcAft>
              <a:buClr>
                <a:srgbClr val="003366"/>
              </a:buClr>
              <a:buNone/>
            </a:pPr>
            <a:r>
              <a:rPr lang="zh-CN" altLang="en-US" sz="2400" b="1">
                <a:solidFill>
                  <a:srgbClr val="000000"/>
                </a:solidFill>
                <a:ea typeface="楷体_GB2312" pitchFamily="49" charset="-122"/>
              </a:rPr>
              <a:t>规格说明</a:t>
            </a:r>
          </a:p>
        </p:txBody>
      </p:sp>
      <p:sp>
        <p:nvSpPr>
          <p:cNvPr id="25607" name="AutoShape 7"/>
          <p:cNvSpPr>
            <a:spLocks noChangeArrowheads="1"/>
          </p:cNvSpPr>
          <p:nvPr/>
        </p:nvSpPr>
        <p:spPr bwMode="auto">
          <a:xfrm>
            <a:off x="6248400" y="2667000"/>
            <a:ext cx="304800" cy="1143000"/>
          </a:xfrm>
          <a:prstGeom prst="downArrow">
            <a:avLst>
              <a:gd name="adj1" fmla="val 50000"/>
              <a:gd name="adj2" fmla="val 93750"/>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fontAlgn="base">
              <a:spcBef>
                <a:spcPct val="0"/>
              </a:spcBef>
              <a:spcAft>
                <a:spcPct val="0"/>
              </a:spcAft>
              <a:buNone/>
            </a:pPr>
            <a:endParaRPr lang="zh-CN" altLang="en-US" sz="1800">
              <a:solidFill>
                <a:srgbClr val="000000"/>
              </a:solidFill>
            </a:endParaRPr>
          </a:p>
        </p:txBody>
      </p:sp>
      <p:sp>
        <p:nvSpPr>
          <p:cNvPr id="25608" name="AutoShape 8"/>
          <p:cNvSpPr>
            <a:spLocks noChangeArrowheads="1"/>
          </p:cNvSpPr>
          <p:nvPr/>
        </p:nvSpPr>
        <p:spPr bwMode="auto">
          <a:xfrm>
            <a:off x="8229600" y="1752600"/>
            <a:ext cx="1524000" cy="990600"/>
          </a:xfrm>
          <a:prstGeom prst="wedgeRoundRectCallout">
            <a:avLst>
              <a:gd name="adj1" fmla="val -37917"/>
              <a:gd name="adj2" fmla="val 145995"/>
              <a:gd name="adj3" fmla="val 16667"/>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50000"/>
              </a:spcBef>
              <a:spcAft>
                <a:spcPct val="0"/>
              </a:spcAft>
              <a:buClr>
                <a:srgbClr val="003366"/>
              </a:buClr>
              <a:buNone/>
            </a:pPr>
            <a:r>
              <a:rPr lang="zh-CN" altLang="en-US" b="1">
                <a:solidFill>
                  <a:srgbClr val="0000CC"/>
                </a:solidFill>
                <a:ea typeface="楷体_GB2312" pitchFamily="49" charset="-122"/>
              </a:rPr>
              <a:t>设计</a:t>
            </a:r>
          </a:p>
        </p:txBody>
      </p:sp>
    </p:spTree>
    <p:extLst>
      <p:ext uri="{BB962C8B-B14F-4D97-AF65-F5344CB8AC3E}">
        <p14:creationId xmlns:p14="http://schemas.microsoft.com/office/powerpoint/2010/main" val="343722898"/>
      </p:ext>
    </p:extLst>
  </p:cSld>
  <p:clrMapOvr>
    <a:masterClrMapping/>
  </p:clrMapOvr>
  <p:transition/>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a:xfrm>
            <a:off x="2279650" y="188913"/>
            <a:ext cx="7696200" cy="838200"/>
          </a:xfrm>
        </p:spPr>
        <p:txBody>
          <a:bodyPr/>
          <a:lstStyle/>
          <a:p>
            <a:pPr eaLnBrk="1" hangingPunct="1"/>
            <a:r>
              <a:rPr lang="zh-CN" altLang="en-US" b="1" smtClean="0"/>
              <a:t>问题域的类型</a:t>
            </a:r>
          </a:p>
        </p:txBody>
      </p:sp>
      <p:sp>
        <p:nvSpPr>
          <p:cNvPr id="26627" name="Rectangle 3"/>
          <p:cNvSpPr>
            <a:spLocks noGrp="1" noChangeArrowheads="1"/>
          </p:cNvSpPr>
          <p:nvPr>
            <p:ph type="body" idx="1"/>
          </p:nvPr>
        </p:nvSpPr>
        <p:spPr>
          <a:xfrm>
            <a:off x="1992313" y="1125538"/>
            <a:ext cx="8229600" cy="5486400"/>
          </a:xfrm>
          <a:noFill/>
        </p:spPr>
        <p:txBody>
          <a:bodyPr/>
          <a:lstStyle/>
          <a:p>
            <a:pPr marL="457200" indent="-457200" eaLnBrk="1" hangingPunct="1">
              <a:lnSpc>
                <a:spcPct val="90000"/>
              </a:lnSpc>
            </a:pPr>
            <a:r>
              <a:rPr lang="zh-CN" altLang="en-US" sz="2800" b="1">
                <a:latin typeface="宋体" panose="02010600030101010101" pitchFamily="2" charset="-122"/>
              </a:rPr>
              <a:t>分类</a:t>
            </a:r>
            <a:r>
              <a:rPr lang="en-US" altLang="zh-CN" sz="2800" b="1">
                <a:latin typeface="宋体" panose="02010600030101010101" pitchFamily="2" charset="-122"/>
              </a:rPr>
              <a:t>I</a:t>
            </a:r>
          </a:p>
          <a:p>
            <a:pPr marL="876300" lvl="1" indent="-419100" eaLnBrk="1" hangingPunct="1">
              <a:lnSpc>
                <a:spcPct val="90000"/>
              </a:lnSpc>
              <a:buFont typeface="Wingdings" panose="05000000000000000000" pitchFamily="2" charset="2"/>
              <a:buAutoNum type="arabicPeriod"/>
            </a:pPr>
            <a:r>
              <a:rPr lang="zh-CN" altLang="en-US" b="1" smtClean="0">
                <a:latin typeface="宋体" panose="02010600030101010101" pitchFamily="2" charset="-122"/>
              </a:rPr>
              <a:t>系统软件</a:t>
            </a:r>
          </a:p>
          <a:p>
            <a:pPr marL="876300" lvl="1" indent="-419100" eaLnBrk="1" hangingPunct="1">
              <a:lnSpc>
                <a:spcPct val="90000"/>
              </a:lnSpc>
              <a:buFont typeface="Wingdings" panose="05000000000000000000" pitchFamily="2" charset="2"/>
              <a:buAutoNum type="arabicPeriod"/>
            </a:pPr>
            <a:r>
              <a:rPr lang="zh-CN" altLang="en-US" b="1" smtClean="0">
                <a:latin typeface="宋体" panose="02010600030101010101" pitchFamily="2" charset="-122"/>
              </a:rPr>
              <a:t>应用软件，进一步划分为商业软件和工程软件</a:t>
            </a:r>
          </a:p>
          <a:p>
            <a:pPr marL="457200" indent="-457200" eaLnBrk="1" hangingPunct="1">
              <a:lnSpc>
                <a:spcPct val="90000"/>
              </a:lnSpc>
            </a:pPr>
            <a:r>
              <a:rPr lang="zh-CN" altLang="en-US" sz="2800" b="1">
                <a:latin typeface="宋体" panose="02010600030101010101" pitchFamily="2" charset="-122"/>
              </a:rPr>
              <a:t>分类</a:t>
            </a:r>
            <a:r>
              <a:rPr lang="en-US" altLang="zh-CN" sz="2800" b="1">
                <a:latin typeface="宋体" panose="02010600030101010101" pitchFamily="2" charset="-122"/>
              </a:rPr>
              <a:t>II</a:t>
            </a:r>
          </a:p>
          <a:p>
            <a:pPr marL="876300" lvl="1" indent="-419100" eaLnBrk="1" hangingPunct="1">
              <a:lnSpc>
                <a:spcPct val="90000"/>
              </a:lnSpc>
              <a:buFont typeface="Wingdings" panose="05000000000000000000" pitchFamily="2" charset="2"/>
              <a:buAutoNum type="arabicPeriod"/>
            </a:pPr>
            <a:r>
              <a:rPr lang="zh-CN" altLang="en-US" b="1" smtClean="0">
                <a:latin typeface="宋体" panose="02010600030101010101" pitchFamily="2" charset="-122"/>
              </a:rPr>
              <a:t>批处理系统</a:t>
            </a:r>
            <a:r>
              <a:rPr lang="en-US" altLang="zh-CN" b="1" smtClean="0">
                <a:latin typeface="宋体" panose="02010600030101010101" pitchFamily="2" charset="-122"/>
              </a:rPr>
              <a:t>/</a:t>
            </a:r>
            <a:r>
              <a:rPr lang="zh-CN" altLang="en-US" b="1" smtClean="0">
                <a:latin typeface="宋体" panose="02010600030101010101" pitchFamily="2" charset="-122"/>
              </a:rPr>
              <a:t>系统脱机</a:t>
            </a:r>
          </a:p>
          <a:p>
            <a:pPr marL="876300" lvl="1" indent="-419100" eaLnBrk="1" hangingPunct="1">
              <a:lnSpc>
                <a:spcPct val="90000"/>
              </a:lnSpc>
              <a:buFont typeface="Wingdings" panose="05000000000000000000" pitchFamily="2" charset="2"/>
              <a:buAutoNum type="arabicPeriod"/>
            </a:pPr>
            <a:r>
              <a:rPr lang="zh-CN" altLang="en-US" b="1" smtClean="0">
                <a:latin typeface="宋体" panose="02010600030101010101" pitchFamily="2" charset="-122"/>
              </a:rPr>
              <a:t>交互系统</a:t>
            </a:r>
          </a:p>
          <a:p>
            <a:pPr marL="876300" lvl="1" indent="-419100" eaLnBrk="1" hangingPunct="1">
              <a:lnSpc>
                <a:spcPct val="90000"/>
              </a:lnSpc>
              <a:buFont typeface="Wingdings" panose="05000000000000000000" pitchFamily="2" charset="2"/>
              <a:buAutoNum type="arabicPeriod"/>
            </a:pPr>
            <a:r>
              <a:rPr lang="zh-CN" altLang="en-US" b="1" smtClean="0">
                <a:latin typeface="宋体" panose="02010600030101010101" pitchFamily="2" charset="-122"/>
              </a:rPr>
              <a:t>实时系统</a:t>
            </a:r>
          </a:p>
          <a:p>
            <a:pPr marL="457200" indent="-457200" eaLnBrk="1" hangingPunct="1">
              <a:lnSpc>
                <a:spcPct val="90000"/>
              </a:lnSpc>
            </a:pPr>
            <a:r>
              <a:rPr lang="zh-CN" altLang="en-US" sz="2800" b="1">
                <a:latin typeface="宋体" panose="02010600030101010101" pitchFamily="2" charset="-122"/>
              </a:rPr>
              <a:t>分类</a:t>
            </a:r>
            <a:r>
              <a:rPr lang="en-US" altLang="zh-CN" sz="2800" b="1">
                <a:latin typeface="宋体" panose="02010600030101010101" pitchFamily="2" charset="-122"/>
              </a:rPr>
              <a:t>III</a:t>
            </a:r>
          </a:p>
          <a:p>
            <a:pPr marL="876300" lvl="1" indent="-419100" eaLnBrk="1" hangingPunct="1">
              <a:lnSpc>
                <a:spcPct val="90000"/>
              </a:lnSpc>
              <a:buFont typeface="Wingdings" panose="05000000000000000000" pitchFamily="2" charset="2"/>
              <a:buAutoNum type="arabicPeriod"/>
            </a:pPr>
            <a:r>
              <a:rPr lang="zh-CN" altLang="en-US" b="1" smtClean="0">
                <a:latin typeface="宋体" panose="02010600030101010101" pitchFamily="2" charset="-122"/>
              </a:rPr>
              <a:t>数据为主的系统</a:t>
            </a:r>
          </a:p>
          <a:p>
            <a:pPr marL="876300" lvl="1" indent="-419100" eaLnBrk="1" hangingPunct="1">
              <a:lnSpc>
                <a:spcPct val="90000"/>
              </a:lnSpc>
              <a:buFont typeface="Wingdings" panose="05000000000000000000" pitchFamily="2" charset="2"/>
              <a:buAutoNum type="arabicPeriod"/>
            </a:pPr>
            <a:r>
              <a:rPr lang="zh-CN" altLang="en-US" b="1" smtClean="0">
                <a:latin typeface="宋体" panose="02010600030101010101" pitchFamily="2" charset="-122"/>
              </a:rPr>
              <a:t>交互为主的系统</a:t>
            </a:r>
          </a:p>
          <a:p>
            <a:pPr marL="876300" lvl="1" indent="-419100" eaLnBrk="1" hangingPunct="1">
              <a:lnSpc>
                <a:spcPct val="90000"/>
              </a:lnSpc>
              <a:buFont typeface="Wingdings" panose="05000000000000000000" pitchFamily="2" charset="2"/>
              <a:buAutoNum type="arabicPeriod"/>
            </a:pPr>
            <a:r>
              <a:rPr lang="zh-CN" altLang="en-US" b="1" smtClean="0">
                <a:latin typeface="宋体" panose="02010600030101010101" pitchFamily="2" charset="-122"/>
              </a:rPr>
              <a:t>算法为主的系统</a:t>
            </a:r>
          </a:p>
        </p:txBody>
      </p:sp>
    </p:spTree>
    <p:extLst>
      <p:ext uri="{BB962C8B-B14F-4D97-AF65-F5344CB8AC3E}">
        <p14:creationId xmlns:p14="http://schemas.microsoft.com/office/powerpoint/2010/main" val="3378097981"/>
      </p:ext>
    </p:extLst>
  </p:cSld>
  <p:clrMapOvr>
    <a:masterClrMapping/>
  </p:clrMapOvr>
  <p:transition/>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p:nvPr>
        </p:nvSpPr>
        <p:spPr>
          <a:xfrm>
            <a:off x="2279650" y="188913"/>
            <a:ext cx="7696200" cy="838200"/>
          </a:xfrm>
        </p:spPr>
        <p:txBody>
          <a:bodyPr/>
          <a:lstStyle/>
          <a:p>
            <a:pPr eaLnBrk="1" hangingPunct="1"/>
            <a:r>
              <a:rPr lang="zh-CN" altLang="en-US" b="1" smtClean="0"/>
              <a:t>问题域的类型</a:t>
            </a:r>
          </a:p>
        </p:txBody>
      </p:sp>
      <p:sp>
        <p:nvSpPr>
          <p:cNvPr id="27651" name="AutoShape 3"/>
          <p:cNvSpPr>
            <a:spLocks noChangeArrowheads="1"/>
          </p:cNvSpPr>
          <p:nvPr/>
        </p:nvSpPr>
        <p:spPr bwMode="auto">
          <a:xfrm>
            <a:off x="3810000" y="2028825"/>
            <a:ext cx="4876800" cy="3810000"/>
          </a:xfrm>
          <a:prstGeom prst="triangle">
            <a:avLst>
              <a:gd name="adj" fmla="val 50000"/>
            </a:avLst>
          </a:prstGeom>
          <a:noFill/>
          <a:ln w="19050">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50000"/>
              </a:spcBef>
              <a:spcAft>
                <a:spcPct val="0"/>
              </a:spcAft>
              <a:buClr>
                <a:srgbClr val="003366"/>
              </a:buClr>
              <a:buNone/>
            </a:pPr>
            <a:endParaRPr lang="zh-CN" altLang="zh-CN" sz="2000" b="1">
              <a:solidFill>
                <a:srgbClr val="000000"/>
              </a:solidFill>
              <a:ea typeface="楷体_GB2312" pitchFamily="49" charset="-122"/>
            </a:endParaRPr>
          </a:p>
        </p:txBody>
      </p:sp>
      <p:sp>
        <p:nvSpPr>
          <p:cNvPr id="27652" name="AutoShape 4"/>
          <p:cNvSpPr>
            <a:spLocks noChangeArrowheads="1"/>
          </p:cNvSpPr>
          <p:nvPr/>
        </p:nvSpPr>
        <p:spPr bwMode="auto">
          <a:xfrm>
            <a:off x="5410200" y="1419225"/>
            <a:ext cx="1600200" cy="5334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50000"/>
              </a:spcBef>
              <a:spcAft>
                <a:spcPct val="0"/>
              </a:spcAft>
              <a:buClr>
                <a:srgbClr val="003366"/>
              </a:buClr>
              <a:buNone/>
            </a:pPr>
            <a:r>
              <a:rPr lang="zh-CN" altLang="en-US" sz="2400" b="1">
                <a:solidFill>
                  <a:srgbClr val="000000"/>
                </a:solidFill>
                <a:ea typeface="楷体_GB2312" pitchFamily="49" charset="-122"/>
              </a:rPr>
              <a:t>数据为主</a:t>
            </a:r>
          </a:p>
        </p:txBody>
      </p:sp>
      <p:sp>
        <p:nvSpPr>
          <p:cNvPr id="27653" name="AutoShape 5"/>
          <p:cNvSpPr>
            <a:spLocks noChangeArrowheads="1"/>
          </p:cNvSpPr>
          <p:nvPr/>
        </p:nvSpPr>
        <p:spPr bwMode="auto">
          <a:xfrm>
            <a:off x="2743200" y="5991225"/>
            <a:ext cx="1600200" cy="5334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50000"/>
              </a:spcBef>
              <a:spcAft>
                <a:spcPct val="0"/>
              </a:spcAft>
              <a:buClr>
                <a:srgbClr val="003366"/>
              </a:buClr>
              <a:buNone/>
            </a:pPr>
            <a:r>
              <a:rPr lang="zh-CN" altLang="en-US" sz="2400" b="1">
                <a:solidFill>
                  <a:srgbClr val="000000"/>
                </a:solidFill>
                <a:ea typeface="楷体_GB2312" pitchFamily="49" charset="-122"/>
              </a:rPr>
              <a:t>交互为主</a:t>
            </a:r>
          </a:p>
        </p:txBody>
      </p:sp>
      <p:sp>
        <p:nvSpPr>
          <p:cNvPr id="27654" name="AutoShape 6"/>
          <p:cNvSpPr>
            <a:spLocks noChangeArrowheads="1"/>
          </p:cNvSpPr>
          <p:nvPr/>
        </p:nvSpPr>
        <p:spPr bwMode="auto">
          <a:xfrm>
            <a:off x="8229600" y="5991225"/>
            <a:ext cx="1600200" cy="533400"/>
          </a:xfrm>
          <a:prstGeom prst="roundRect">
            <a:avLst>
              <a:gd name="adj" fmla="val 16667"/>
            </a:avLst>
          </a:prstGeom>
          <a:noFill/>
          <a:ln w="9525">
            <a:solidFill>
              <a:schemeClr val="tx1"/>
            </a:solidFill>
            <a:round/>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50000"/>
              </a:spcBef>
              <a:spcAft>
                <a:spcPct val="0"/>
              </a:spcAft>
              <a:buClr>
                <a:srgbClr val="003366"/>
              </a:buClr>
              <a:buNone/>
            </a:pPr>
            <a:r>
              <a:rPr lang="zh-CN" altLang="en-US" sz="2400" b="1">
                <a:solidFill>
                  <a:srgbClr val="000000"/>
                </a:solidFill>
                <a:ea typeface="楷体_GB2312" pitchFamily="49" charset="-122"/>
              </a:rPr>
              <a:t>算法为主</a:t>
            </a:r>
          </a:p>
        </p:txBody>
      </p:sp>
      <p:sp>
        <p:nvSpPr>
          <p:cNvPr id="27655" name="Rectangle 7"/>
          <p:cNvSpPr>
            <a:spLocks noChangeArrowheads="1"/>
          </p:cNvSpPr>
          <p:nvPr/>
        </p:nvSpPr>
        <p:spPr bwMode="auto">
          <a:xfrm>
            <a:off x="1828800" y="1495425"/>
            <a:ext cx="2667000" cy="3276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457200" indent="-457200">
              <a:defRPr>
                <a:solidFill>
                  <a:schemeClr val="tx1"/>
                </a:solidFill>
                <a:latin typeface="Arial" panose="020B0604020202020204" pitchFamily="34" charset="0"/>
                <a:ea typeface="宋体" panose="02010600030101010101" pitchFamily="2" charset="-122"/>
              </a:defRPr>
            </a:lvl3pPr>
            <a:lvl4pPr marL="457200" indent="-457200">
              <a:defRPr>
                <a:solidFill>
                  <a:schemeClr val="tx1"/>
                </a:solidFill>
                <a:latin typeface="Arial" panose="020B0604020202020204" pitchFamily="34" charset="0"/>
                <a:ea typeface="宋体" panose="02010600030101010101" pitchFamily="2" charset="-122"/>
              </a:defRPr>
            </a:lvl4pPr>
            <a:lvl5pPr marL="457200" indent="-457200">
              <a:defRPr>
                <a:solidFill>
                  <a:schemeClr val="tx1"/>
                </a:solidFill>
                <a:latin typeface="Arial" panose="020B0604020202020204" pitchFamily="34" charset="0"/>
                <a:ea typeface="宋体" panose="02010600030101010101" pitchFamily="2" charset="-122"/>
              </a:defRPr>
            </a:lvl5pPr>
            <a:lvl6pPr marL="9144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13716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18288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2860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buFontTx/>
              <a:buAutoNum type="alphaUcPeriod"/>
            </a:pPr>
            <a:r>
              <a:rPr lang="zh-CN" altLang="en-US" sz="2400" b="1">
                <a:solidFill>
                  <a:srgbClr val="003366"/>
                </a:solidFill>
                <a:latin typeface="宋体" panose="02010600030101010101" pitchFamily="2" charset="-122"/>
              </a:rPr>
              <a:t>气象预报系统</a:t>
            </a:r>
          </a:p>
          <a:p>
            <a:pPr eaLnBrk="0" fontAlgn="base" hangingPunct="0">
              <a:spcBef>
                <a:spcPct val="0"/>
              </a:spcBef>
              <a:spcAft>
                <a:spcPct val="0"/>
              </a:spcAft>
              <a:buFontTx/>
              <a:buAutoNum type="alphaUcPeriod"/>
            </a:pPr>
            <a:r>
              <a:rPr lang="zh-CN" altLang="en-US" sz="2400" b="1">
                <a:solidFill>
                  <a:srgbClr val="003366"/>
                </a:solidFill>
                <a:latin typeface="宋体" panose="02010600030101010101" pitchFamily="2" charset="-122"/>
              </a:rPr>
              <a:t>收银机系统</a:t>
            </a:r>
          </a:p>
          <a:p>
            <a:pPr eaLnBrk="0" fontAlgn="base" hangingPunct="0">
              <a:spcBef>
                <a:spcPct val="0"/>
              </a:spcBef>
              <a:spcAft>
                <a:spcPct val="0"/>
              </a:spcAft>
              <a:buFontTx/>
              <a:buAutoNum type="alphaUcPeriod"/>
            </a:pPr>
            <a:r>
              <a:rPr lang="zh-CN" altLang="en-US" sz="2400" b="1">
                <a:solidFill>
                  <a:srgbClr val="003366"/>
                </a:solidFill>
                <a:latin typeface="宋体" panose="02010600030101010101" pitchFamily="2" charset="-122"/>
              </a:rPr>
              <a:t>电梯控制系统</a:t>
            </a:r>
          </a:p>
          <a:p>
            <a:pPr eaLnBrk="0" fontAlgn="base" hangingPunct="0">
              <a:spcBef>
                <a:spcPct val="0"/>
              </a:spcBef>
              <a:spcAft>
                <a:spcPct val="0"/>
              </a:spcAft>
              <a:buFontTx/>
              <a:buAutoNum type="alphaUcPeriod"/>
            </a:pPr>
            <a:r>
              <a:rPr lang="zh-CN" altLang="en-US" sz="2400" b="1">
                <a:solidFill>
                  <a:srgbClr val="003366"/>
                </a:solidFill>
                <a:latin typeface="宋体" panose="02010600030101010101" pitchFamily="2" charset="-122"/>
              </a:rPr>
              <a:t>工资系统</a:t>
            </a:r>
          </a:p>
          <a:p>
            <a:pPr eaLnBrk="0" fontAlgn="base" hangingPunct="0">
              <a:spcBef>
                <a:spcPct val="0"/>
              </a:spcBef>
              <a:spcAft>
                <a:spcPct val="0"/>
              </a:spcAft>
              <a:buFontTx/>
              <a:buAutoNum type="alphaUcPeriod"/>
            </a:pPr>
            <a:r>
              <a:rPr lang="zh-CN" altLang="en-US" sz="2400" b="1">
                <a:solidFill>
                  <a:srgbClr val="003366"/>
                </a:solidFill>
                <a:latin typeface="宋体" panose="02010600030101010101" pitchFamily="2" charset="-122"/>
              </a:rPr>
              <a:t>文字处理系统</a:t>
            </a:r>
          </a:p>
          <a:p>
            <a:pPr eaLnBrk="0" fontAlgn="base" hangingPunct="0">
              <a:spcBef>
                <a:spcPct val="0"/>
              </a:spcBef>
              <a:spcAft>
                <a:spcPct val="0"/>
              </a:spcAft>
              <a:buFontTx/>
              <a:buAutoNum type="alphaUcPeriod"/>
            </a:pPr>
            <a:r>
              <a:rPr lang="zh-CN" altLang="en-US" sz="2400" b="1">
                <a:solidFill>
                  <a:srgbClr val="003366"/>
                </a:solidFill>
                <a:latin typeface="宋体" panose="02010600030101010101" pitchFamily="2" charset="-122"/>
              </a:rPr>
              <a:t>文件转换系统</a:t>
            </a:r>
          </a:p>
          <a:p>
            <a:pPr eaLnBrk="0" fontAlgn="base" hangingPunct="0">
              <a:spcBef>
                <a:spcPct val="0"/>
              </a:spcBef>
              <a:spcAft>
                <a:spcPct val="0"/>
              </a:spcAft>
              <a:buFontTx/>
              <a:buAutoNum type="alphaUcPeriod"/>
            </a:pPr>
            <a:r>
              <a:rPr lang="zh-CN" altLang="en-US" sz="2400" b="1">
                <a:solidFill>
                  <a:srgbClr val="003366"/>
                </a:solidFill>
                <a:latin typeface="宋体" panose="02010600030101010101" pitchFamily="2" charset="-122"/>
              </a:rPr>
              <a:t>手机定位系统</a:t>
            </a:r>
          </a:p>
        </p:txBody>
      </p:sp>
      <p:sp>
        <p:nvSpPr>
          <p:cNvPr id="13320" name="Rectangle 8"/>
          <p:cNvSpPr>
            <a:spLocks noChangeArrowheads="1"/>
          </p:cNvSpPr>
          <p:nvPr/>
        </p:nvSpPr>
        <p:spPr bwMode="auto">
          <a:xfrm>
            <a:off x="7010400" y="4086225"/>
            <a:ext cx="45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457200" indent="-457200">
              <a:defRPr>
                <a:solidFill>
                  <a:schemeClr val="tx1"/>
                </a:solidFill>
                <a:latin typeface="Arial" panose="020B0604020202020204" pitchFamily="34" charset="0"/>
                <a:ea typeface="宋体" panose="02010600030101010101" pitchFamily="2" charset="-122"/>
              </a:defRPr>
            </a:lvl3pPr>
            <a:lvl4pPr marL="457200" indent="-457200">
              <a:defRPr>
                <a:solidFill>
                  <a:schemeClr val="tx1"/>
                </a:solidFill>
                <a:latin typeface="Arial" panose="020B0604020202020204" pitchFamily="34" charset="0"/>
                <a:ea typeface="宋体" panose="02010600030101010101" pitchFamily="2" charset="-122"/>
              </a:defRPr>
            </a:lvl4pPr>
            <a:lvl5pPr marL="457200" indent="-457200">
              <a:defRPr>
                <a:solidFill>
                  <a:schemeClr val="tx1"/>
                </a:solidFill>
                <a:latin typeface="Arial" panose="020B0604020202020204" pitchFamily="34" charset="0"/>
                <a:ea typeface="宋体" panose="02010600030101010101" pitchFamily="2" charset="-122"/>
              </a:defRPr>
            </a:lvl5pPr>
            <a:lvl6pPr marL="9144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13716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18288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2860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en-US" altLang="zh-CN" sz="3200" b="1">
                <a:solidFill>
                  <a:srgbClr val="003366"/>
                </a:solidFill>
                <a:latin typeface="宋体" panose="02010600030101010101" pitchFamily="2" charset="-122"/>
              </a:rPr>
              <a:t>A</a:t>
            </a:r>
          </a:p>
        </p:txBody>
      </p:sp>
      <p:sp>
        <p:nvSpPr>
          <p:cNvPr id="13321" name="Rectangle 9"/>
          <p:cNvSpPr>
            <a:spLocks noChangeArrowheads="1"/>
          </p:cNvSpPr>
          <p:nvPr/>
        </p:nvSpPr>
        <p:spPr bwMode="auto">
          <a:xfrm>
            <a:off x="5029200" y="4314825"/>
            <a:ext cx="45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457200" indent="-457200">
              <a:defRPr>
                <a:solidFill>
                  <a:schemeClr val="tx1"/>
                </a:solidFill>
                <a:latin typeface="Arial" panose="020B0604020202020204" pitchFamily="34" charset="0"/>
                <a:ea typeface="宋体" panose="02010600030101010101" pitchFamily="2" charset="-122"/>
              </a:defRPr>
            </a:lvl3pPr>
            <a:lvl4pPr marL="457200" indent="-457200">
              <a:defRPr>
                <a:solidFill>
                  <a:schemeClr val="tx1"/>
                </a:solidFill>
                <a:latin typeface="Arial" panose="020B0604020202020204" pitchFamily="34" charset="0"/>
                <a:ea typeface="宋体" panose="02010600030101010101" pitchFamily="2" charset="-122"/>
              </a:defRPr>
            </a:lvl4pPr>
            <a:lvl5pPr marL="457200" indent="-457200">
              <a:defRPr>
                <a:solidFill>
                  <a:schemeClr val="tx1"/>
                </a:solidFill>
                <a:latin typeface="Arial" panose="020B0604020202020204" pitchFamily="34" charset="0"/>
                <a:ea typeface="宋体" panose="02010600030101010101" pitchFamily="2" charset="-122"/>
              </a:defRPr>
            </a:lvl5pPr>
            <a:lvl6pPr marL="9144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13716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18288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2860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en-US" altLang="zh-CN" sz="3200" b="1">
                <a:solidFill>
                  <a:srgbClr val="003366"/>
                </a:solidFill>
                <a:latin typeface="宋体" panose="02010600030101010101" pitchFamily="2" charset="-122"/>
              </a:rPr>
              <a:t>B</a:t>
            </a:r>
          </a:p>
        </p:txBody>
      </p:sp>
      <p:sp>
        <p:nvSpPr>
          <p:cNvPr id="13322" name="Rectangle 10"/>
          <p:cNvSpPr>
            <a:spLocks noChangeArrowheads="1"/>
          </p:cNvSpPr>
          <p:nvPr/>
        </p:nvSpPr>
        <p:spPr bwMode="auto">
          <a:xfrm>
            <a:off x="6705600" y="5153025"/>
            <a:ext cx="45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457200" indent="-457200">
              <a:defRPr>
                <a:solidFill>
                  <a:schemeClr val="tx1"/>
                </a:solidFill>
                <a:latin typeface="Arial" panose="020B0604020202020204" pitchFamily="34" charset="0"/>
                <a:ea typeface="宋体" panose="02010600030101010101" pitchFamily="2" charset="-122"/>
              </a:defRPr>
            </a:lvl3pPr>
            <a:lvl4pPr marL="457200" indent="-457200">
              <a:defRPr>
                <a:solidFill>
                  <a:schemeClr val="tx1"/>
                </a:solidFill>
                <a:latin typeface="Arial" panose="020B0604020202020204" pitchFamily="34" charset="0"/>
                <a:ea typeface="宋体" panose="02010600030101010101" pitchFamily="2" charset="-122"/>
              </a:defRPr>
            </a:lvl4pPr>
            <a:lvl5pPr marL="457200" indent="-457200">
              <a:defRPr>
                <a:solidFill>
                  <a:schemeClr val="tx1"/>
                </a:solidFill>
                <a:latin typeface="Arial" panose="020B0604020202020204" pitchFamily="34" charset="0"/>
                <a:ea typeface="宋体" panose="02010600030101010101" pitchFamily="2" charset="-122"/>
              </a:defRPr>
            </a:lvl5pPr>
            <a:lvl6pPr marL="9144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13716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18288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2860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en-US" altLang="zh-CN" sz="3200" b="1">
                <a:solidFill>
                  <a:srgbClr val="003366"/>
                </a:solidFill>
                <a:latin typeface="宋体" panose="02010600030101010101" pitchFamily="2" charset="-122"/>
              </a:rPr>
              <a:t>C</a:t>
            </a:r>
          </a:p>
        </p:txBody>
      </p:sp>
      <p:sp>
        <p:nvSpPr>
          <p:cNvPr id="13323" name="Rectangle 11"/>
          <p:cNvSpPr>
            <a:spLocks noChangeArrowheads="1"/>
          </p:cNvSpPr>
          <p:nvPr/>
        </p:nvSpPr>
        <p:spPr bwMode="auto">
          <a:xfrm>
            <a:off x="5867400" y="3476625"/>
            <a:ext cx="45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457200" indent="-457200">
              <a:defRPr>
                <a:solidFill>
                  <a:schemeClr val="tx1"/>
                </a:solidFill>
                <a:latin typeface="Arial" panose="020B0604020202020204" pitchFamily="34" charset="0"/>
                <a:ea typeface="宋体" panose="02010600030101010101" pitchFamily="2" charset="-122"/>
              </a:defRPr>
            </a:lvl3pPr>
            <a:lvl4pPr marL="457200" indent="-457200">
              <a:defRPr>
                <a:solidFill>
                  <a:schemeClr val="tx1"/>
                </a:solidFill>
                <a:latin typeface="Arial" panose="020B0604020202020204" pitchFamily="34" charset="0"/>
                <a:ea typeface="宋体" panose="02010600030101010101" pitchFamily="2" charset="-122"/>
              </a:defRPr>
            </a:lvl4pPr>
            <a:lvl5pPr marL="457200" indent="-457200">
              <a:defRPr>
                <a:solidFill>
                  <a:schemeClr val="tx1"/>
                </a:solidFill>
                <a:latin typeface="Arial" panose="020B0604020202020204" pitchFamily="34" charset="0"/>
                <a:ea typeface="宋体" panose="02010600030101010101" pitchFamily="2" charset="-122"/>
              </a:defRPr>
            </a:lvl5pPr>
            <a:lvl6pPr marL="9144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13716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18288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2860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en-US" altLang="zh-CN" sz="3200" b="1">
                <a:solidFill>
                  <a:srgbClr val="003366"/>
                </a:solidFill>
                <a:latin typeface="宋体" panose="02010600030101010101" pitchFamily="2" charset="-122"/>
              </a:rPr>
              <a:t>D</a:t>
            </a:r>
          </a:p>
        </p:txBody>
      </p:sp>
      <p:sp>
        <p:nvSpPr>
          <p:cNvPr id="13324" name="Rectangle 12"/>
          <p:cNvSpPr>
            <a:spLocks noChangeArrowheads="1"/>
          </p:cNvSpPr>
          <p:nvPr/>
        </p:nvSpPr>
        <p:spPr bwMode="auto">
          <a:xfrm>
            <a:off x="4953000" y="5153025"/>
            <a:ext cx="45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457200" indent="-457200">
              <a:defRPr>
                <a:solidFill>
                  <a:schemeClr val="tx1"/>
                </a:solidFill>
                <a:latin typeface="Arial" panose="020B0604020202020204" pitchFamily="34" charset="0"/>
                <a:ea typeface="宋体" panose="02010600030101010101" pitchFamily="2" charset="-122"/>
              </a:defRPr>
            </a:lvl3pPr>
            <a:lvl4pPr marL="457200" indent="-457200">
              <a:defRPr>
                <a:solidFill>
                  <a:schemeClr val="tx1"/>
                </a:solidFill>
                <a:latin typeface="Arial" panose="020B0604020202020204" pitchFamily="34" charset="0"/>
                <a:ea typeface="宋体" panose="02010600030101010101" pitchFamily="2" charset="-122"/>
              </a:defRPr>
            </a:lvl4pPr>
            <a:lvl5pPr marL="457200" indent="-457200">
              <a:defRPr>
                <a:solidFill>
                  <a:schemeClr val="tx1"/>
                </a:solidFill>
                <a:latin typeface="Arial" panose="020B0604020202020204" pitchFamily="34" charset="0"/>
                <a:ea typeface="宋体" panose="02010600030101010101" pitchFamily="2" charset="-122"/>
              </a:defRPr>
            </a:lvl5pPr>
            <a:lvl6pPr marL="9144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13716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18288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2860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en-US" altLang="zh-CN" sz="3200" b="1">
                <a:solidFill>
                  <a:srgbClr val="003366"/>
                </a:solidFill>
                <a:latin typeface="宋体" panose="02010600030101010101" pitchFamily="2" charset="-122"/>
              </a:rPr>
              <a:t>E</a:t>
            </a:r>
          </a:p>
        </p:txBody>
      </p:sp>
      <p:sp>
        <p:nvSpPr>
          <p:cNvPr id="13325" name="Rectangle 13"/>
          <p:cNvSpPr>
            <a:spLocks noChangeArrowheads="1"/>
          </p:cNvSpPr>
          <p:nvPr/>
        </p:nvSpPr>
        <p:spPr bwMode="auto">
          <a:xfrm>
            <a:off x="6400800" y="3019425"/>
            <a:ext cx="45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457200" indent="-457200">
              <a:defRPr>
                <a:solidFill>
                  <a:schemeClr val="tx1"/>
                </a:solidFill>
                <a:latin typeface="Arial" panose="020B0604020202020204" pitchFamily="34" charset="0"/>
                <a:ea typeface="宋体" panose="02010600030101010101" pitchFamily="2" charset="-122"/>
              </a:defRPr>
            </a:lvl3pPr>
            <a:lvl4pPr marL="457200" indent="-457200">
              <a:defRPr>
                <a:solidFill>
                  <a:schemeClr val="tx1"/>
                </a:solidFill>
                <a:latin typeface="Arial" panose="020B0604020202020204" pitchFamily="34" charset="0"/>
                <a:ea typeface="宋体" panose="02010600030101010101" pitchFamily="2" charset="-122"/>
              </a:defRPr>
            </a:lvl4pPr>
            <a:lvl5pPr marL="457200" indent="-457200">
              <a:defRPr>
                <a:solidFill>
                  <a:schemeClr val="tx1"/>
                </a:solidFill>
                <a:latin typeface="Arial" panose="020B0604020202020204" pitchFamily="34" charset="0"/>
                <a:ea typeface="宋体" panose="02010600030101010101" pitchFamily="2" charset="-122"/>
              </a:defRPr>
            </a:lvl5pPr>
            <a:lvl6pPr marL="9144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13716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18288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2860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en-US" altLang="zh-CN" sz="3200" b="1">
                <a:solidFill>
                  <a:srgbClr val="003366"/>
                </a:solidFill>
                <a:latin typeface="宋体" panose="02010600030101010101" pitchFamily="2" charset="-122"/>
              </a:rPr>
              <a:t>F</a:t>
            </a:r>
          </a:p>
        </p:txBody>
      </p:sp>
      <p:sp>
        <p:nvSpPr>
          <p:cNvPr id="13326" name="Rectangle 14"/>
          <p:cNvSpPr>
            <a:spLocks noChangeArrowheads="1"/>
          </p:cNvSpPr>
          <p:nvPr/>
        </p:nvSpPr>
        <p:spPr bwMode="auto">
          <a:xfrm>
            <a:off x="6096000" y="4238625"/>
            <a:ext cx="457200" cy="533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a:solidFill>
                  <a:schemeClr val="tx1"/>
                </a:solidFill>
                <a:latin typeface="Arial" panose="020B0604020202020204" pitchFamily="34" charset="0"/>
                <a:ea typeface="宋体" panose="02010600030101010101" pitchFamily="2" charset="-122"/>
              </a:defRPr>
            </a:lvl1pPr>
            <a:lvl2pPr indent="-457200">
              <a:defRPr>
                <a:solidFill>
                  <a:schemeClr val="tx1"/>
                </a:solidFill>
                <a:latin typeface="Arial" panose="020B0604020202020204" pitchFamily="34" charset="0"/>
                <a:ea typeface="宋体" panose="02010600030101010101" pitchFamily="2" charset="-122"/>
              </a:defRPr>
            </a:lvl2pPr>
            <a:lvl3pPr marL="457200" indent="-457200">
              <a:defRPr>
                <a:solidFill>
                  <a:schemeClr val="tx1"/>
                </a:solidFill>
                <a:latin typeface="Arial" panose="020B0604020202020204" pitchFamily="34" charset="0"/>
                <a:ea typeface="宋体" panose="02010600030101010101" pitchFamily="2" charset="-122"/>
              </a:defRPr>
            </a:lvl3pPr>
            <a:lvl4pPr marL="457200" indent="-457200">
              <a:defRPr>
                <a:solidFill>
                  <a:schemeClr val="tx1"/>
                </a:solidFill>
                <a:latin typeface="Arial" panose="020B0604020202020204" pitchFamily="34" charset="0"/>
                <a:ea typeface="宋体" panose="02010600030101010101" pitchFamily="2" charset="-122"/>
              </a:defRPr>
            </a:lvl4pPr>
            <a:lvl5pPr marL="457200" indent="-457200">
              <a:defRPr>
                <a:solidFill>
                  <a:schemeClr val="tx1"/>
                </a:solidFill>
                <a:latin typeface="Arial" panose="020B0604020202020204" pitchFamily="34" charset="0"/>
                <a:ea typeface="宋体" panose="02010600030101010101" pitchFamily="2" charset="-122"/>
              </a:defRPr>
            </a:lvl5pPr>
            <a:lvl6pPr marL="9144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13716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18288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2286000" indent="-4572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0"/>
              </a:spcBef>
              <a:spcAft>
                <a:spcPct val="0"/>
              </a:spcAft>
            </a:pPr>
            <a:r>
              <a:rPr lang="en-US" altLang="zh-CN" sz="3200" b="1">
                <a:solidFill>
                  <a:srgbClr val="003366"/>
                </a:solidFill>
                <a:latin typeface="宋体" panose="02010600030101010101" pitchFamily="2" charset="-122"/>
              </a:rPr>
              <a:t>G</a:t>
            </a:r>
          </a:p>
        </p:txBody>
      </p:sp>
    </p:spTree>
    <p:extLst>
      <p:ext uri="{BB962C8B-B14F-4D97-AF65-F5344CB8AC3E}">
        <p14:creationId xmlns:p14="http://schemas.microsoft.com/office/powerpoint/2010/main" val="809411108"/>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3320"/>
                                        </p:tgtEl>
                                        <p:attrNameLst>
                                          <p:attrName>style.visibility</p:attrName>
                                        </p:attrNameLst>
                                      </p:cBhvr>
                                      <p:to>
                                        <p:strVal val="visible"/>
                                      </p:to>
                                    </p:set>
                                    <p:anim calcmode="lin" valueType="num">
                                      <p:cBhvr additive="base">
                                        <p:cTn id="7" dur="500" fill="hold"/>
                                        <p:tgtEl>
                                          <p:spTgt spid="13320"/>
                                        </p:tgtEl>
                                        <p:attrNameLst>
                                          <p:attrName>ppt_x</p:attrName>
                                        </p:attrNameLst>
                                      </p:cBhvr>
                                      <p:tavLst>
                                        <p:tav tm="0">
                                          <p:val>
                                            <p:strVal val="#ppt_x"/>
                                          </p:val>
                                        </p:tav>
                                        <p:tav tm="100000">
                                          <p:val>
                                            <p:strVal val="#ppt_x"/>
                                          </p:val>
                                        </p:tav>
                                      </p:tavLst>
                                    </p:anim>
                                    <p:anim calcmode="lin" valueType="num">
                                      <p:cBhvr additive="base">
                                        <p:cTn id="8" dur="500" fill="hold"/>
                                        <p:tgtEl>
                                          <p:spTgt spid="13320"/>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grpId="0" nodeType="clickEffect">
                                  <p:stCondLst>
                                    <p:cond delay="0"/>
                                  </p:stCondLst>
                                  <p:childTnLst>
                                    <p:set>
                                      <p:cBhvr>
                                        <p:cTn id="12" dur="1" fill="hold">
                                          <p:stCondLst>
                                            <p:cond delay="499"/>
                                          </p:stCondLst>
                                        </p:cTn>
                                        <p:tgtEl>
                                          <p:spTgt spid="13321"/>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4" fill="hold" grpId="0" nodeType="clickEffect">
                                  <p:stCondLst>
                                    <p:cond delay="0"/>
                                  </p:stCondLst>
                                  <p:childTnLst>
                                    <p:set>
                                      <p:cBhvr>
                                        <p:cTn id="16" dur="1" fill="hold">
                                          <p:stCondLst>
                                            <p:cond delay="0"/>
                                          </p:stCondLst>
                                        </p:cTn>
                                        <p:tgtEl>
                                          <p:spTgt spid="13322"/>
                                        </p:tgtEl>
                                        <p:attrNameLst>
                                          <p:attrName>style.visibility</p:attrName>
                                        </p:attrNameLst>
                                      </p:cBhvr>
                                      <p:to>
                                        <p:strVal val="visible"/>
                                      </p:to>
                                    </p:set>
                                    <p:animEffect transition="in" filter="slide(fromBottom)">
                                      <p:cBhvr>
                                        <p:cTn id="17" dur="500"/>
                                        <p:tgtEl>
                                          <p:spTgt spid="133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grpId="0" nodeType="clickEffect">
                                  <p:stCondLst>
                                    <p:cond delay="0"/>
                                  </p:stCondLst>
                                  <p:childTnLst>
                                    <p:set>
                                      <p:cBhvr>
                                        <p:cTn id="21" dur="1" fill="hold">
                                          <p:stCondLst>
                                            <p:cond delay="499"/>
                                          </p:stCondLst>
                                        </p:cTn>
                                        <p:tgtEl>
                                          <p:spTgt spid="13323"/>
                                        </p:tgtEl>
                                        <p:attrNameLst>
                                          <p:attrName>style.visibility</p:attrName>
                                        </p:attrNameLst>
                                      </p:cBhvr>
                                      <p:to>
                                        <p:strVal val="visible"/>
                                      </p:to>
                                    </p:set>
                                  </p:childTnLst>
                                </p:cTn>
                              </p:par>
                            </p:childTnLst>
                          </p:cTn>
                        </p:par>
                      </p:childTnLst>
                    </p:cTn>
                  </p:par>
                  <p:par>
                    <p:cTn id="22" fill="hold" nodeType="clickPar">
                      <p:stCondLst>
                        <p:cond delay="indefinite"/>
                      </p:stCondLst>
                      <p:childTnLst>
                        <p:par>
                          <p:cTn id="23" fill="hold" nodeType="withGroup">
                            <p:stCondLst>
                              <p:cond delay="0"/>
                            </p:stCondLst>
                            <p:childTnLst>
                              <p:par>
                                <p:cTn id="24" presetID="9" presetClass="entr" presetSubtype="0" fill="hold" grpId="0" nodeType="clickEffect">
                                  <p:stCondLst>
                                    <p:cond delay="0"/>
                                  </p:stCondLst>
                                  <p:childTnLst>
                                    <p:set>
                                      <p:cBhvr>
                                        <p:cTn id="25" dur="1" fill="hold">
                                          <p:stCondLst>
                                            <p:cond delay="0"/>
                                          </p:stCondLst>
                                        </p:cTn>
                                        <p:tgtEl>
                                          <p:spTgt spid="13324"/>
                                        </p:tgtEl>
                                        <p:attrNameLst>
                                          <p:attrName>style.visibility</p:attrName>
                                        </p:attrNameLst>
                                      </p:cBhvr>
                                      <p:to>
                                        <p:strVal val="visible"/>
                                      </p:to>
                                    </p:set>
                                    <p:animEffect transition="in" filter="dissolve">
                                      <p:cBhvr>
                                        <p:cTn id="26" dur="500"/>
                                        <p:tgtEl>
                                          <p:spTgt spid="13324"/>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13325"/>
                                        </p:tgtEl>
                                        <p:attrNameLst>
                                          <p:attrName>style.visibility</p:attrName>
                                        </p:attrNameLst>
                                      </p:cBhvr>
                                      <p:to>
                                        <p:strVal val="visible"/>
                                      </p:to>
                                    </p:set>
                                    <p:animEffect transition="in" filter="box(in)">
                                      <p:cBhvr>
                                        <p:cTn id="31" dur="500"/>
                                        <p:tgtEl>
                                          <p:spTgt spid="13325"/>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5" presetClass="entr" presetSubtype="0" fill="hold" grpId="0" nodeType="clickEffect">
                                  <p:stCondLst>
                                    <p:cond delay="0"/>
                                  </p:stCondLst>
                                  <p:childTnLst>
                                    <p:set>
                                      <p:cBhvr>
                                        <p:cTn id="35" dur="1" fill="hold">
                                          <p:stCondLst>
                                            <p:cond delay="0"/>
                                          </p:stCondLst>
                                        </p:cTn>
                                        <p:tgtEl>
                                          <p:spTgt spid="13326"/>
                                        </p:tgtEl>
                                        <p:attrNameLst>
                                          <p:attrName>style.visibility</p:attrName>
                                        </p:attrNameLst>
                                      </p:cBhvr>
                                      <p:to>
                                        <p:strVal val="visible"/>
                                      </p:to>
                                    </p:set>
                                    <p:anim calcmode="lin" valueType="num">
                                      <p:cBhvr>
                                        <p:cTn id="36" dur="1000" fill="hold"/>
                                        <p:tgtEl>
                                          <p:spTgt spid="13326"/>
                                        </p:tgtEl>
                                        <p:attrNameLst>
                                          <p:attrName>ppt_w</p:attrName>
                                        </p:attrNameLst>
                                      </p:cBhvr>
                                      <p:tavLst>
                                        <p:tav tm="0">
                                          <p:val>
                                            <p:fltVal val="0"/>
                                          </p:val>
                                        </p:tav>
                                        <p:tav tm="100000">
                                          <p:val>
                                            <p:strVal val="#ppt_w"/>
                                          </p:val>
                                        </p:tav>
                                      </p:tavLst>
                                    </p:anim>
                                    <p:anim calcmode="lin" valueType="num">
                                      <p:cBhvr>
                                        <p:cTn id="37" dur="1000" fill="hold"/>
                                        <p:tgtEl>
                                          <p:spTgt spid="13326"/>
                                        </p:tgtEl>
                                        <p:attrNameLst>
                                          <p:attrName>ppt_h</p:attrName>
                                        </p:attrNameLst>
                                      </p:cBhvr>
                                      <p:tavLst>
                                        <p:tav tm="0">
                                          <p:val>
                                            <p:fltVal val="0"/>
                                          </p:val>
                                        </p:tav>
                                        <p:tav tm="100000">
                                          <p:val>
                                            <p:strVal val="#ppt_h"/>
                                          </p:val>
                                        </p:tav>
                                      </p:tavLst>
                                    </p:anim>
                                    <p:anim calcmode="lin" valueType="num">
                                      <p:cBhvr>
                                        <p:cTn id="38" dur="1000" fill="hold"/>
                                        <p:tgtEl>
                                          <p:spTgt spid="13326"/>
                                        </p:tgtEl>
                                        <p:attrNameLst>
                                          <p:attrName>ppt_x</p:attrName>
                                        </p:attrNameLst>
                                      </p:cBhvr>
                                      <p:tavLst>
                                        <p:tav tm="0" fmla="#ppt_x+(cos(-2*pi*(1-$))*-#ppt_x-sin(-2*pi*(1-$))*(1-#ppt_y))*(1-$)">
                                          <p:val>
                                            <p:fltVal val="0"/>
                                          </p:val>
                                        </p:tav>
                                        <p:tav tm="100000">
                                          <p:val>
                                            <p:fltVal val="1"/>
                                          </p:val>
                                        </p:tav>
                                      </p:tavLst>
                                    </p:anim>
                                    <p:anim calcmode="lin" valueType="num">
                                      <p:cBhvr>
                                        <p:cTn id="39" dur="1000" fill="hold"/>
                                        <p:tgtEl>
                                          <p:spTgt spid="13326"/>
                                        </p:tgtEl>
                                        <p:attrNameLst>
                                          <p:attrName>ppt_y</p:attrName>
                                        </p:attrNameLst>
                                      </p:cBhvr>
                                      <p:tavLst>
                                        <p:tav tm="0" fmla="#ppt_y+(sin(-2*pi*(1-$))*-#ppt_x+cos(-2*pi*(1-$))*(1-#ppt_y))*(1-$)">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20" grpId="0" autoUpdateAnimBg="0"/>
      <p:bldP spid="13321" grpId="0" autoUpdateAnimBg="0"/>
      <p:bldP spid="13322" grpId="0" autoUpdateAnimBg="0"/>
      <p:bldP spid="13323" grpId="0" autoUpdateAnimBg="0"/>
      <p:bldP spid="13324" grpId="0" autoUpdateAnimBg="0"/>
      <p:bldP spid="13325" grpId="0" autoUpdateAnimBg="0"/>
      <p:bldP spid="13326" grpId="0" autoUpdateAnimBg="0"/>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p:nvPr>
        </p:nvSpPr>
        <p:spPr>
          <a:xfrm>
            <a:off x="2133600" y="152400"/>
            <a:ext cx="7620000" cy="762000"/>
          </a:xfrm>
        </p:spPr>
        <p:txBody>
          <a:bodyPr/>
          <a:lstStyle/>
          <a:p>
            <a:pPr eaLnBrk="1" hangingPunct="1"/>
            <a:r>
              <a:rPr lang="zh-CN" altLang="en-AU" b="1" smtClean="0">
                <a:solidFill>
                  <a:srgbClr val="000000"/>
                </a:solidFill>
                <a:latin typeface="Times New Roman" panose="02020603050405020304" pitchFamily="18" charset="0"/>
              </a:rPr>
              <a:t>需求的层次</a:t>
            </a:r>
            <a:endParaRPr lang="zh-CN" altLang="en-US" b="1" smtClean="0">
              <a:solidFill>
                <a:srgbClr val="000000"/>
              </a:solidFill>
              <a:latin typeface="Times New Roman" panose="02020603050405020304" pitchFamily="18" charset="0"/>
            </a:endParaRPr>
          </a:p>
        </p:txBody>
      </p:sp>
      <p:sp>
        <p:nvSpPr>
          <p:cNvPr id="28675" name="Oval 3"/>
          <p:cNvSpPr>
            <a:spLocks noChangeArrowheads="1"/>
          </p:cNvSpPr>
          <p:nvPr/>
        </p:nvSpPr>
        <p:spPr bwMode="auto">
          <a:xfrm>
            <a:off x="1774825" y="1125538"/>
            <a:ext cx="1371600" cy="762000"/>
          </a:xfrm>
          <a:prstGeom prst="ellipse">
            <a:avLst/>
          </a:prstGeom>
          <a:solidFill>
            <a:srgbClr val="FFFFFF"/>
          </a:solidFill>
          <a:ln w="19050">
            <a:solidFill>
              <a:srgbClr val="000066"/>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pPr>
            <a:r>
              <a:rPr lang="zh-CN" altLang="en-US" sz="2000" b="1">
                <a:solidFill>
                  <a:srgbClr val="0000CC"/>
                </a:solidFill>
                <a:latin typeface="Times New Roman" panose="02020603050405020304" pitchFamily="18" charset="0"/>
              </a:rPr>
              <a:t>业务需求</a:t>
            </a:r>
          </a:p>
        </p:txBody>
      </p:sp>
      <p:sp>
        <p:nvSpPr>
          <p:cNvPr id="28676" name="AutoShape 4"/>
          <p:cNvSpPr>
            <a:spLocks noChangeArrowheads="1"/>
          </p:cNvSpPr>
          <p:nvPr/>
        </p:nvSpPr>
        <p:spPr bwMode="auto">
          <a:xfrm>
            <a:off x="3863975" y="1204913"/>
            <a:ext cx="2057400" cy="609600"/>
          </a:xfrm>
          <a:prstGeom prst="flowChartPredefinedProcess">
            <a:avLst/>
          </a:prstGeom>
          <a:noFill/>
          <a:ln w="19050">
            <a:solidFill>
              <a:srgbClr val="000066"/>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pPr>
            <a:r>
              <a:rPr lang="zh-CN" altLang="en-US" sz="1800" b="1">
                <a:solidFill>
                  <a:srgbClr val="0000CC"/>
                </a:solidFill>
                <a:latin typeface="Times New Roman" panose="02020603050405020304" pitchFamily="18" charset="0"/>
              </a:rPr>
              <a:t>项目视图与</a:t>
            </a:r>
          </a:p>
          <a:p>
            <a:pPr algn="ctr" eaLnBrk="0" fontAlgn="base" hangingPunct="0">
              <a:spcBef>
                <a:spcPct val="0"/>
              </a:spcBef>
              <a:spcAft>
                <a:spcPct val="0"/>
              </a:spcAft>
              <a:buNone/>
            </a:pPr>
            <a:r>
              <a:rPr lang="zh-CN" altLang="en-US" sz="1800" b="1">
                <a:solidFill>
                  <a:srgbClr val="0000CC"/>
                </a:solidFill>
                <a:latin typeface="Times New Roman" panose="02020603050405020304" pitchFamily="18" charset="0"/>
              </a:rPr>
              <a:t>范围文档</a:t>
            </a:r>
          </a:p>
        </p:txBody>
      </p:sp>
      <p:sp>
        <p:nvSpPr>
          <p:cNvPr id="28677" name="Oval 5"/>
          <p:cNvSpPr>
            <a:spLocks noChangeArrowheads="1"/>
          </p:cNvSpPr>
          <p:nvPr/>
        </p:nvSpPr>
        <p:spPr bwMode="auto">
          <a:xfrm>
            <a:off x="4495800" y="2209800"/>
            <a:ext cx="1295400" cy="762000"/>
          </a:xfrm>
          <a:prstGeom prst="ellipse">
            <a:avLst/>
          </a:prstGeom>
          <a:solidFill>
            <a:srgbClr val="FFFFCC"/>
          </a:solidFill>
          <a:ln w="19050">
            <a:solidFill>
              <a:srgbClr val="000066"/>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pPr>
            <a:r>
              <a:rPr lang="zh-CN" altLang="en-US" sz="2000" b="1">
                <a:solidFill>
                  <a:srgbClr val="0000CC"/>
                </a:solidFill>
                <a:latin typeface="Times New Roman" panose="02020603050405020304" pitchFamily="18" charset="0"/>
              </a:rPr>
              <a:t>用户需求</a:t>
            </a:r>
          </a:p>
        </p:txBody>
      </p:sp>
      <p:sp>
        <p:nvSpPr>
          <p:cNvPr id="28678" name="Line 6"/>
          <p:cNvSpPr>
            <a:spLocks noChangeShapeType="1"/>
          </p:cNvSpPr>
          <p:nvPr/>
        </p:nvSpPr>
        <p:spPr bwMode="auto">
          <a:xfrm>
            <a:off x="5181600" y="2971800"/>
            <a:ext cx="0" cy="381000"/>
          </a:xfrm>
          <a:prstGeom prst="line">
            <a:avLst/>
          </a:prstGeom>
          <a:noFill/>
          <a:ln w="19050">
            <a:solidFill>
              <a:srgbClr val="000066"/>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8679" name="Line 8"/>
          <p:cNvSpPr>
            <a:spLocks noChangeShapeType="1"/>
          </p:cNvSpPr>
          <p:nvPr/>
        </p:nvSpPr>
        <p:spPr bwMode="auto">
          <a:xfrm>
            <a:off x="4800600" y="1787525"/>
            <a:ext cx="287338" cy="431800"/>
          </a:xfrm>
          <a:prstGeom prst="line">
            <a:avLst/>
          </a:prstGeom>
          <a:noFill/>
          <a:ln w="19050">
            <a:solidFill>
              <a:srgbClr val="000066"/>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8680" name="Line 9"/>
          <p:cNvSpPr>
            <a:spLocks noChangeShapeType="1"/>
          </p:cNvSpPr>
          <p:nvPr/>
        </p:nvSpPr>
        <p:spPr bwMode="auto">
          <a:xfrm flipH="1">
            <a:off x="6705600" y="3886200"/>
            <a:ext cx="457200" cy="1676400"/>
          </a:xfrm>
          <a:prstGeom prst="line">
            <a:avLst/>
          </a:prstGeom>
          <a:noFill/>
          <a:ln w="19050">
            <a:solidFill>
              <a:srgbClr val="000066"/>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8681" name="Oval 10"/>
          <p:cNvSpPr>
            <a:spLocks noChangeArrowheads="1"/>
          </p:cNvSpPr>
          <p:nvPr/>
        </p:nvSpPr>
        <p:spPr bwMode="auto">
          <a:xfrm>
            <a:off x="6477000" y="3124200"/>
            <a:ext cx="1295400" cy="762000"/>
          </a:xfrm>
          <a:prstGeom prst="ellipse">
            <a:avLst/>
          </a:prstGeom>
          <a:noFill/>
          <a:ln w="19050">
            <a:solidFill>
              <a:srgbClr val="000066"/>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pPr>
            <a:r>
              <a:rPr lang="zh-CN" altLang="en-US" sz="2000" b="1">
                <a:solidFill>
                  <a:srgbClr val="0000CC"/>
                </a:solidFill>
                <a:latin typeface="Times New Roman" panose="02020603050405020304" pitchFamily="18" charset="0"/>
              </a:rPr>
              <a:t>质量属性</a:t>
            </a:r>
          </a:p>
        </p:txBody>
      </p:sp>
      <p:sp>
        <p:nvSpPr>
          <p:cNvPr id="28682" name="AutoShape 11"/>
          <p:cNvSpPr>
            <a:spLocks noChangeArrowheads="1"/>
          </p:cNvSpPr>
          <p:nvPr/>
        </p:nvSpPr>
        <p:spPr bwMode="auto">
          <a:xfrm>
            <a:off x="4110038" y="3352800"/>
            <a:ext cx="2057400" cy="457200"/>
          </a:xfrm>
          <a:prstGeom prst="flowChartPredefinedProcess">
            <a:avLst/>
          </a:prstGeom>
          <a:noFill/>
          <a:ln w="19050">
            <a:solidFill>
              <a:srgbClr val="000066"/>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pPr>
            <a:r>
              <a:rPr lang="zh-CN" altLang="en-US" sz="1800" b="1">
                <a:solidFill>
                  <a:srgbClr val="0000CC"/>
                </a:solidFill>
                <a:latin typeface="Times New Roman" panose="02020603050405020304" pitchFamily="18" charset="0"/>
              </a:rPr>
              <a:t>使用实例文档</a:t>
            </a:r>
          </a:p>
        </p:txBody>
      </p:sp>
      <p:sp>
        <p:nvSpPr>
          <p:cNvPr id="28683" name="Oval 12"/>
          <p:cNvSpPr>
            <a:spLocks noChangeArrowheads="1"/>
          </p:cNvSpPr>
          <p:nvPr/>
        </p:nvSpPr>
        <p:spPr bwMode="auto">
          <a:xfrm>
            <a:off x="2541588" y="4191000"/>
            <a:ext cx="1295400" cy="762000"/>
          </a:xfrm>
          <a:prstGeom prst="ellipse">
            <a:avLst/>
          </a:prstGeom>
          <a:solidFill>
            <a:srgbClr val="FFFF99"/>
          </a:solidFill>
          <a:ln w="19050">
            <a:solidFill>
              <a:srgbClr val="000066"/>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pPr>
            <a:r>
              <a:rPr lang="zh-CN" altLang="en-US" sz="2000" b="1">
                <a:solidFill>
                  <a:srgbClr val="0000CC"/>
                </a:solidFill>
                <a:latin typeface="Times New Roman" panose="02020603050405020304" pitchFamily="18" charset="0"/>
              </a:rPr>
              <a:t>系统需求</a:t>
            </a:r>
          </a:p>
        </p:txBody>
      </p:sp>
      <p:sp>
        <p:nvSpPr>
          <p:cNvPr id="28684" name="Oval 13"/>
          <p:cNvSpPr>
            <a:spLocks noChangeArrowheads="1"/>
          </p:cNvSpPr>
          <p:nvPr/>
        </p:nvSpPr>
        <p:spPr bwMode="auto">
          <a:xfrm>
            <a:off x="4598988" y="4191000"/>
            <a:ext cx="1295400" cy="762000"/>
          </a:xfrm>
          <a:prstGeom prst="ellipse">
            <a:avLst/>
          </a:prstGeom>
          <a:solidFill>
            <a:srgbClr val="CCFFFF"/>
          </a:solidFill>
          <a:ln w="19050">
            <a:solidFill>
              <a:srgbClr val="000066"/>
            </a:solidFill>
            <a:round/>
            <a:headEnd type="none" w="sm" len="sm"/>
            <a:tailEnd type="none" w="sm" len="sm"/>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pPr>
            <a:r>
              <a:rPr lang="zh-CN" altLang="en-US" sz="2000" b="1">
                <a:solidFill>
                  <a:srgbClr val="0000CC"/>
                </a:solidFill>
                <a:latin typeface="Times New Roman" panose="02020603050405020304" pitchFamily="18" charset="0"/>
              </a:rPr>
              <a:t>功能需求</a:t>
            </a:r>
          </a:p>
        </p:txBody>
      </p:sp>
      <p:sp>
        <p:nvSpPr>
          <p:cNvPr id="28685" name="Oval 14"/>
          <p:cNvSpPr>
            <a:spLocks noChangeArrowheads="1"/>
          </p:cNvSpPr>
          <p:nvPr/>
        </p:nvSpPr>
        <p:spPr bwMode="auto">
          <a:xfrm>
            <a:off x="7848600" y="3657600"/>
            <a:ext cx="1447800" cy="914400"/>
          </a:xfrm>
          <a:prstGeom prst="ellipse">
            <a:avLst/>
          </a:prstGeom>
          <a:noFill/>
          <a:ln w="19050">
            <a:solidFill>
              <a:srgbClr val="000066"/>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pPr>
            <a:r>
              <a:rPr lang="zh-CN" altLang="en-US" sz="2000" b="1">
                <a:solidFill>
                  <a:srgbClr val="0000CC"/>
                </a:solidFill>
                <a:latin typeface="Times New Roman" panose="02020603050405020304" pitchFamily="18" charset="0"/>
              </a:rPr>
              <a:t>其它非功</a:t>
            </a:r>
          </a:p>
          <a:p>
            <a:pPr algn="ctr" eaLnBrk="0" fontAlgn="base" hangingPunct="0">
              <a:spcBef>
                <a:spcPct val="0"/>
              </a:spcBef>
              <a:spcAft>
                <a:spcPct val="0"/>
              </a:spcAft>
              <a:buNone/>
            </a:pPr>
            <a:r>
              <a:rPr lang="zh-CN" altLang="en-US" sz="2000" b="1">
                <a:solidFill>
                  <a:srgbClr val="0000CC"/>
                </a:solidFill>
                <a:latin typeface="Times New Roman" panose="02020603050405020304" pitchFamily="18" charset="0"/>
              </a:rPr>
              <a:t>能需求</a:t>
            </a:r>
          </a:p>
        </p:txBody>
      </p:sp>
      <p:sp>
        <p:nvSpPr>
          <p:cNvPr id="28686" name="Oval 15"/>
          <p:cNvSpPr>
            <a:spLocks noChangeArrowheads="1"/>
          </p:cNvSpPr>
          <p:nvPr/>
        </p:nvSpPr>
        <p:spPr bwMode="auto">
          <a:xfrm>
            <a:off x="8458200" y="4953000"/>
            <a:ext cx="1295400" cy="762000"/>
          </a:xfrm>
          <a:prstGeom prst="ellipse">
            <a:avLst/>
          </a:prstGeom>
          <a:noFill/>
          <a:ln w="19050">
            <a:solidFill>
              <a:srgbClr val="000066"/>
            </a:solidFill>
            <a:round/>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pPr>
            <a:r>
              <a:rPr lang="zh-CN" altLang="en-US" sz="2000" b="1">
                <a:solidFill>
                  <a:srgbClr val="0000CC"/>
                </a:solidFill>
                <a:latin typeface="Times New Roman" panose="02020603050405020304" pitchFamily="18" charset="0"/>
              </a:rPr>
              <a:t>约束条件</a:t>
            </a:r>
          </a:p>
        </p:txBody>
      </p:sp>
      <p:sp>
        <p:nvSpPr>
          <p:cNvPr id="28687" name="AutoShape 16"/>
          <p:cNvSpPr>
            <a:spLocks noChangeArrowheads="1"/>
          </p:cNvSpPr>
          <p:nvPr/>
        </p:nvSpPr>
        <p:spPr bwMode="auto">
          <a:xfrm>
            <a:off x="4267200" y="5562600"/>
            <a:ext cx="3429000" cy="914400"/>
          </a:xfrm>
          <a:prstGeom prst="flowChartPredefinedProcess">
            <a:avLst/>
          </a:prstGeom>
          <a:noFill/>
          <a:ln w="19050">
            <a:solidFill>
              <a:srgbClr val="000066"/>
            </a:solidFill>
            <a:miter lim="800000"/>
            <a:headEnd type="none" w="sm" len="sm"/>
            <a:tailEnd type="none" w="sm" len="sm"/>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lvl1pPr>
              <a:spcBef>
                <a:spcPct val="20000"/>
              </a:spcBef>
              <a:buChar char="•"/>
              <a:defRPr sz="3200">
                <a:solidFill>
                  <a:schemeClr val="tx1"/>
                </a:solidFill>
                <a:latin typeface="Arial" panose="020B0604020202020204" pitchFamily="34" charset="0"/>
                <a:ea typeface="宋体"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宋体"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宋体"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宋体"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宋体" panose="02010600030101010101" pitchFamily="2" charset="-122"/>
              </a:defRPr>
            </a:lvl9pPr>
          </a:lstStyle>
          <a:p>
            <a:pPr algn="ctr" eaLnBrk="0" fontAlgn="base" hangingPunct="0">
              <a:spcBef>
                <a:spcPct val="0"/>
              </a:spcBef>
              <a:spcAft>
                <a:spcPct val="0"/>
              </a:spcAft>
              <a:buNone/>
            </a:pPr>
            <a:r>
              <a:rPr lang="zh-CN" altLang="en-US" sz="2400" b="1">
                <a:solidFill>
                  <a:srgbClr val="0000CC"/>
                </a:solidFill>
                <a:latin typeface="Times New Roman" panose="02020603050405020304" pitchFamily="18" charset="0"/>
              </a:rPr>
              <a:t>软件需求规格说明</a:t>
            </a:r>
          </a:p>
          <a:p>
            <a:pPr algn="ctr" eaLnBrk="0" fontAlgn="base" hangingPunct="0">
              <a:spcBef>
                <a:spcPct val="0"/>
              </a:spcBef>
              <a:spcAft>
                <a:spcPct val="0"/>
              </a:spcAft>
              <a:buNone/>
            </a:pPr>
            <a:r>
              <a:rPr lang="en-US" altLang="zh-CN" sz="2400" b="1">
                <a:solidFill>
                  <a:srgbClr val="0000CC"/>
                </a:solidFill>
                <a:latin typeface="Times New Roman" panose="02020603050405020304" pitchFamily="18" charset="0"/>
              </a:rPr>
              <a:t>SRS</a:t>
            </a:r>
          </a:p>
        </p:txBody>
      </p:sp>
      <p:sp>
        <p:nvSpPr>
          <p:cNvPr id="28688" name="Line 17"/>
          <p:cNvSpPr>
            <a:spLocks noChangeShapeType="1"/>
          </p:cNvSpPr>
          <p:nvPr/>
        </p:nvSpPr>
        <p:spPr bwMode="auto">
          <a:xfrm flipH="1">
            <a:off x="7239000" y="4572000"/>
            <a:ext cx="1143000" cy="990600"/>
          </a:xfrm>
          <a:prstGeom prst="line">
            <a:avLst/>
          </a:prstGeom>
          <a:noFill/>
          <a:ln w="19050">
            <a:solidFill>
              <a:srgbClr val="000066"/>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8689" name="Line 18"/>
          <p:cNvSpPr>
            <a:spLocks noChangeShapeType="1"/>
          </p:cNvSpPr>
          <p:nvPr/>
        </p:nvSpPr>
        <p:spPr bwMode="auto">
          <a:xfrm flipH="1">
            <a:off x="7696200" y="5486400"/>
            <a:ext cx="838200" cy="533400"/>
          </a:xfrm>
          <a:prstGeom prst="line">
            <a:avLst/>
          </a:prstGeom>
          <a:noFill/>
          <a:ln w="19050">
            <a:solidFill>
              <a:srgbClr val="000066"/>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8690" name="Line 19"/>
          <p:cNvSpPr>
            <a:spLocks noChangeShapeType="1"/>
          </p:cNvSpPr>
          <p:nvPr/>
        </p:nvSpPr>
        <p:spPr bwMode="auto">
          <a:xfrm>
            <a:off x="3836988" y="4572000"/>
            <a:ext cx="762000" cy="0"/>
          </a:xfrm>
          <a:prstGeom prst="line">
            <a:avLst/>
          </a:prstGeom>
          <a:noFill/>
          <a:ln w="19050">
            <a:solidFill>
              <a:srgbClr val="000066"/>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8691" name="Line 20"/>
          <p:cNvSpPr>
            <a:spLocks noChangeShapeType="1"/>
          </p:cNvSpPr>
          <p:nvPr/>
        </p:nvSpPr>
        <p:spPr bwMode="auto">
          <a:xfrm flipH="1">
            <a:off x="5232400" y="3789363"/>
            <a:ext cx="0" cy="431800"/>
          </a:xfrm>
          <a:prstGeom prst="line">
            <a:avLst/>
          </a:prstGeom>
          <a:noFill/>
          <a:ln w="19050">
            <a:solidFill>
              <a:srgbClr val="000066"/>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8692" name="Line 21"/>
          <p:cNvSpPr>
            <a:spLocks noChangeShapeType="1"/>
          </p:cNvSpPr>
          <p:nvPr/>
        </p:nvSpPr>
        <p:spPr bwMode="auto">
          <a:xfrm>
            <a:off x="5275263" y="4953000"/>
            <a:ext cx="0" cy="609600"/>
          </a:xfrm>
          <a:prstGeom prst="line">
            <a:avLst/>
          </a:prstGeom>
          <a:noFill/>
          <a:ln w="19050">
            <a:solidFill>
              <a:srgbClr val="000066"/>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8693" name="Line 22"/>
          <p:cNvSpPr>
            <a:spLocks noChangeShapeType="1"/>
          </p:cNvSpPr>
          <p:nvPr/>
        </p:nvSpPr>
        <p:spPr bwMode="auto">
          <a:xfrm>
            <a:off x="5715000" y="2819400"/>
            <a:ext cx="914400" cy="457200"/>
          </a:xfrm>
          <a:prstGeom prst="line">
            <a:avLst/>
          </a:prstGeom>
          <a:noFill/>
          <a:ln w="19050">
            <a:solidFill>
              <a:srgbClr val="000066"/>
            </a:solidFill>
            <a:round/>
            <a:headEnd type="none" w="sm" len="sm"/>
            <a:tailEnd type="triangle"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
        <p:nvSpPr>
          <p:cNvPr id="28694" name="Line 23"/>
          <p:cNvSpPr>
            <a:spLocks noChangeShapeType="1"/>
          </p:cNvSpPr>
          <p:nvPr/>
        </p:nvSpPr>
        <p:spPr bwMode="auto">
          <a:xfrm>
            <a:off x="3143251" y="1484313"/>
            <a:ext cx="720725" cy="0"/>
          </a:xfrm>
          <a:prstGeom prst="line">
            <a:avLst/>
          </a:prstGeom>
          <a:noFill/>
          <a:ln w="31750">
            <a:solidFill>
              <a:schemeClr val="tx1"/>
            </a:solidFill>
            <a:round/>
            <a:headEnd/>
            <a:tailEnd type="stealth" w="lg"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pPr eaLnBrk="0" fontAlgn="base" hangingPunct="0">
              <a:spcBef>
                <a:spcPct val="0"/>
              </a:spcBef>
              <a:spcAft>
                <a:spcPct val="0"/>
              </a:spcAft>
            </a:pPr>
            <a:endParaRPr lang="zh-CN" altLang="en-US">
              <a:solidFill>
                <a:srgbClr val="000000"/>
              </a:solidFill>
              <a:latin typeface="Arial" panose="020B0604020202020204" pitchFamily="34" charset="0"/>
              <a:ea typeface="宋体" panose="02010600030101010101" pitchFamily="2" charset="-122"/>
            </a:endParaRPr>
          </a:p>
        </p:txBody>
      </p:sp>
    </p:spTree>
    <p:extLst>
      <p:ext uri="{BB962C8B-B14F-4D97-AF65-F5344CB8AC3E}">
        <p14:creationId xmlns:p14="http://schemas.microsoft.com/office/powerpoint/2010/main" val="2188072022"/>
      </p:ext>
    </p:extLst>
  </p:cSld>
  <p:clrMapOvr>
    <a:masterClrMapping/>
  </p:clrMapOvr>
  <p:transition/>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2"/>
          <p:cNvSpPr>
            <a:spLocks noGrp="1" noChangeArrowheads="1"/>
          </p:cNvSpPr>
          <p:nvPr>
            <p:ph type="title"/>
          </p:nvPr>
        </p:nvSpPr>
        <p:spPr/>
        <p:txBody>
          <a:bodyPr/>
          <a:lstStyle/>
          <a:p>
            <a:pPr eaLnBrk="1" hangingPunct="1"/>
            <a:r>
              <a:rPr lang="en-US" altLang="zh-CN" b="1" smtClean="0"/>
              <a:t>4. </a:t>
            </a:r>
            <a:r>
              <a:rPr lang="zh-CN" altLang="en-US" b="1" smtClean="0"/>
              <a:t>软件需求的分类</a:t>
            </a:r>
          </a:p>
        </p:txBody>
      </p:sp>
      <p:sp>
        <p:nvSpPr>
          <p:cNvPr id="30723" name="Rectangle 3"/>
          <p:cNvSpPr>
            <a:spLocks noGrp="1" noChangeArrowheads="1"/>
          </p:cNvSpPr>
          <p:nvPr>
            <p:ph type="body" idx="1"/>
          </p:nvPr>
        </p:nvSpPr>
        <p:spPr/>
        <p:txBody>
          <a:bodyPr/>
          <a:lstStyle/>
          <a:p>
            <a:pPr marL="609600" indent="-609600" eaLnBrk="1" hangingPunct="1">
              <a:buFont typeface="Wingdings" panose="05000000000000000000" pitchFamily="2" charset="2"/>
              <a:buAutoNum type="circleNumDbPlain"/>
            </a:pPr>
            <a:r>
              <a:rPr lang="zh-CN" altLang="en-US" sz="3600" b="1" u="sng"/>
              <a:t>业务需求</a:t>
            </a:r>
            <a:endParaRPr lang="zh-CN" altLang="en-US" sz="3600" b="1" u="sng">
              <a:latin typeface="宋体" panose="02010600030101010101" pitchFamily="2" charset="-122"/>
            </a:endParaRPr>
          </a:p>
          <a:p>
            <a:pPr marL="609600" indent="-609600" eaLnBrk="1" hangingPunct="1">
              <a:buNone/>
            </a:pPr>
            <a:r>
              <a:rPr lang="zh-CN" altLang="en-US" sz="3300" b="1">
                <a:latin typeface="宋体" panose="02010600030101010101" pitchFamily="2" charset="-122"/>
              </a:rPr>
              <a:t>	业务需求</a:t>
            </a:r>
            <a:r>
              <a:rPr lang="en-US" altLang="zh-CN" sz="3300" b="1">
                <a:latin typeface="宋体" panose="02010600030101010101" pitchFamily="2" charset="-122"/>
              </a:rPr>
              <a:t>(business requirement)</a:t>
            </a:r>
            <a:r>
              <a:rPr lang="zh-CN" altLang="en-US" sz="3300" b="1">
                <a:latin typeface="宋体" panose="02010600030101010101" pitchFamily="2" charset="-122"/>
              </a:rPr>
              <a:t>反映了组织机构或客户对系统、产品高层次的目标要求，它们在项目视图和范围文档中予以说明</a:t>
            </a:r>
          </a:p>
          <a:p>
            <a:pPr marL="609600" indent="-609600" eaLnBrk="1" hangingPunct="1">
              <a:buNone/>
            </a:pPr>
            <a:endParaRPr lang="zh-CN" altLang="en-US" sz="3300" b="1">
              <a:latin typeface="宋体" panose="02010600030101010101" pitchFamily="2" charset="-122"/>
            </a:endParaRPr>
          </a:p>
          <a:p>
            <a:pPr marL="609600" indent="-609600" eaLnBrk="1" hangingPunct="1">
              <a:buNone/>
            </a:pPr>
            <a:r>
              <a:rPr lang="zh-CN" altLang="en-US" sz="3300" b="1">
                <a:latin typeface="宋体" panose="02010600030101010101" pitchFamily="2" charset="-122"/>
              </a:rPr>
              <a:t>	</a:t>
            </a:r>
            <a:r>
              <a:rPr lang="zh-CN" altLang="en-US" sz="3300" b="1">
                <a:solidFill>
                  <a:srgbClr val="3333CC"/>
                </a:solidFill>
                <a:latin typeface="宋体" panose="02010600030101010101" pitchFamily="2" charset="-122"/>
              </a:rPr>
              <a:t>例如某运营商对定位系统的业务需求</a:t>
            </a:r>
          </a:p>
        </p:txBody>
      </p:sp>
    </p:spTree>
    <p:extLst>
      <p:ext uri="{BB962C8B-B14F-4D97-AF65-F5344CB8AC3E}">
        <p14:creationId xmlns:p14="http://schemas.microsoft.com/office/powerpoint/2010/main" val="415260620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Rectangle 2"/>
          <p:cNvSpPr>
            <a:spLocks noGrp="1" noChangeArrowheads="1"/>
          </p:cNvSpPr>
          <p:nvPr>
            <p:ph type="title"/>
          </p:nvPr>
        </p:nvSpPr>
        <p:spPr/>
        <p:txBody>
          <a:bodyPr/>
          <a:lstStyle/>
          <a:p>
            <a:pPr eaLnBrk="1" hangingPunct="1"/>
            <a:r>
              <a:rPr lang="en-US" altLang="zh-CN" b="1" smtClean="0"/>
              <a:t>4. </a:t>
            </a:r>
            <a:r>
              <a:rPr lang="zh-CN" altLang="en-US" b="1" smtClean="0"/>
              <a:t>软件需求的分类</a:t>
            </a:r>
          </a:p>
        </p:txBody>
      </p:sp>
      <p:sp>
        <p:nvSpPr>
          <p:cNvPr id="31747" name="Rectangle 3"/>
          <p:cNvSpPr>
            <a:spLocks noGrp="1" noChangeArrowheads="1"/>
          </p:cNvSpPr>
          <p:nvPr>
            <p:ph type="body" idx="1"/>
          </p:nvPr>
        </p:nvSpPr>
        <p:spPr/>
        <p:txBody>
          <a:bodyPr/>
          <a:lstStyle/>
          <a:p>
            <a:pPr marL="609600" indent="-609600" eaLnBrk="1" hangingPunct="1">
              <a:buFont typeface="Wingdings" panose="05000000000000000000" pitchFamily="2" charset="2"/>
              <a:buAutoNum type="circleNumDbPlain" startAt="2"/>
            </a:pPr>
            <a:r>
              <a:rPr lang="zh-CN" altLang="en-US" sz="4000" b="1" u="sng"/>
              <a:t>用户需求</a:t>
            </a:r>
            <a:endParaRPr lang="zh-CN" altLang="en-US" sz="4000" b="1" u="sng">
              <a:latin typeface="宋体" panose="02010600030101010101" pitchFamily="2" charset="-122"/>
            </a:endParaRPr>
          </a:p>
          <a:p>
            <a:pPr marL="609600" indent="-609600" eaLnBrk="1" hangingPunct="1">
              <a:buNone/>
            </a:pPr>
            <a:r>
              <a:rPr lang="zh-CN" altLang="en-US" sz="3700" b="1">
                <a:latin typeface="宋体" panose="02010600030101010101" pitchFamily="2" charset="-122"/>
              </a:rPr>
              <a:t>	用户需求</a:t>
            </a:r>
            <a:r>
              <a:rPr lang="en-US" altLang="zh-CN" sz="3700" b="1">
                <a:latin typeface="宋体" panose="02010600030101010101" pitchFamily="2" charset="-122"/>
              </a:rPr>
              <a:t>(user requirement)</a:t>
            </a:r>
            <a:r>
              <a:rPr lang="zh-CN" altLang="en-US" sz="3700" b="1">
                <a:latin typeface="宋体" panose="02010600030101010101" pitchFamily="2" charset="-122"/>
              </a:rPr>
              <a:t>描述了用户使用产品必须要完成的任务，它们在使用实例</a:t>
            </a:r>
            <a:r>
              <a:rPr lang="en-US" altLang="zh-CN" sz="3700" b="1">
                <a:latin typeface="宋体" panose="02010600030101010101" pitchFamily="2" charset="-122"/>
              </a:rPr>
              <a:t>(use case)</a:t>
            </a:r>
            <a:r>
              <a:rPr lang="zh-CN" altLang="en-US" sz="3700" b="1">
                <a:latin typeface="宋体" panose="02010600030101010101" pitchFamily="2" charset="-122"/>
              </a:rPr>
              <a:t>和情景描述</a:t>
            </a:r>
            <a:r>
              <a:rPr lang="en-US" altLang="zh-CN" sz="3700" b="1">
                <a:latin typeface="宋体" panose="02010600030101010101" pitchFamily="2" charset="-122"/>
              </a:rPr>
              <a:t>(scenario)</a:t>
            </a:r>
            <a:r>
              <a:rPr lang="zh-CN" altLang="en-US" sz="3700" b="1">
                <a:latin typeface="宋体" panose="02010600030101010101" pitchFamily="2" charset="-122"/>
              </a:rPr>
              <a:t>文档中予以说明</a:t>
            </a:r>
          </a:p>
        </p:txBody>
      </p:sp>
    </p:spTree>
    <p:extLst>
      <p:ext uri="{BB962C8B-B14F-4D97-AF65-F5344CB8AC3E}">
        <p14:creationId xmlns:p14="http://schemas.microsoft.com/office/powerpoint/2010/main" val="2006454000"/>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p:txBody>
          <a:bodyPr/>
          <a:lstStyle/>
          <a:p>
            <a:pPr eaLnBrk="1" hangingPunct="1"/>
            <a:r>
              <a:rPr lang="en-US" altLang="zh-CN" b="1" smtClean="0"/>
              <a:t>4. </a:t>
            </a:r>
            <a:r>
              <a:rPr lang="zh-CN" altLang="en-US" b="1" smtClean="0"/>
              <a:t>软件需求的分类</a:t>
            </a:r>
          </a:p>
        </p:txBody>
      </p:sp>
      <p:sp>
        <p:nvSpPr>
          <p:cNvPr id="32771" name="Rectangle 3"/>
          <p:cNvSpPr>
            <a:spLocks noGrp="1" noChangeArrowheads="1"/>
          </p:cNvSpPr>
          <p:nvPr>
            <p:ph type="body" idx="1"/>
          </p:nvPr>
        </p:nvSpPr>
        <p:spPr/>
        <p:txBody>
          <a:bodyPr/>
          <a:lstStyle/>
          <a:p>
            <a:pPr marL="609600" indent="-609600" eaLnBrk="1" hangingPunct="1">
              <a:lnSpc>
                <a:spcPct val="90000"/>
              </a:lnSpc>
              <a:buFont typeface="Wingdings" panose="05000000000000000000" pitchFamily="2" charset="2"/>
              <a:buAutoNum type="circleNumDbPlain" startAt="3"/>
            </a:pPr>
            <a:r>
              <a:rPr lang="zh-CN" altLang="en-US" sz="3600" b="1" u="sng"/>
              <a:t>功能需求</a:t>
            </a:r>
          </a:p>
          <a:p>
            <a:pPr marL="609600" indent="-609600" eaLnBrk="1" hangingPunct="1">
              <a:lnSpc>
                <a:spcPct val="90000"/>
              </a:lnSpc>
              <a:buNone/>
            </a:pPr>
            <a:r>
              <a:rPr lang="zh-CN" altLang="en-US" sz="2800" b="1">
                <a:latin typeface="宋体" panose="02010600030101010101" pitchFamily="2" charset="-122"/>
              </a:rPr>
              <a:t>	</a:t>
            </a:r>
            <a:r>
              <a:rPr lang="zh-CN" altLang="en-US" sz="2800" b="1"/>
              <a:t>“</a:t>
            </a:r>
            <a:r>
              <a:rPr lang="zh-CN" altLang="en-US" sz="2800" b="1">
                <a:latin typeface="宋体" panose="02010600030101010101" pitchFamily="2" charset="-122"/>
              </a:rPr>
              <a:t>一般</a:t>
            </a:r>
            <a:r>
              <a:rPr lang="zh-CN" altLang="en-US" sz="2800" b="1"/>
              <a:t>”</a:t>
            </a:r>
            <a:r>
              <a:rPr lang="zh-CN" altLang="en-US" sz="2800" b="1">
                <a:latin typeface="宋体" panose="02010600030101010101" pitchFamily="2" charset="-122"/>
              </a:rPr>
              <a:t>意义的需求指的是功能或行为需求，这样的需求通常是和解系统的适当行为</a:t>
            </a:r>
            <a:r>
              <a:rPr lang="en-US" altLang="zh-CN" sz="2800" b="1">
                <a:latin typeface="宋体" panose="02010600030101010101" pitchFamily="2" charset="-122"/>
              </a:rPr>
              <a:t>(</a:t>
            </a:r>
            <a:r>
              <a:rPr lang="zh-CN" altLang="en-US" sz="2800" b="1">
                <a:latin typeface="宋体" panose="02010600030101010101" pitchFamily="2" charset="-122"/>
              </a:rPr>
              <a:t>用户需求</a:t>
            </a:r>
            <a:r>
              <a:rPr lang="en-US" altLang="zh-CN" sz="2800" b="1">
                <a:latin typeface="宋体" panose="02010600030101010101" pitchFamily="2" charset="-122"/>
              </a:rPr>
              <a:t>)</a:t>
            </a:r>
            <a:r>
              <a:rPr lang="zh-CN" altLang="en-US" sz="2800" b="1">
                <a:latin typeface="宋体" panose="02010600030101010101" pitchFamily="2" charset="-122"/>
              </a:rPr>
              <a:t>相关联，是开发人员必须实现的软件功能。功能需求可以在多种不同的抽象层次上来表达，这使得导出需求过程比较复杂和困难：</a:t>
            </a:r>
          </a:p>
          <a:p>
            <a:pPr marL="609600" indent="-609600" eaLnBrk="1" hangingPunct="1">
              <a:lnSpc>
                <a:spcPct val="90000"/>
              </a:lnSpc>
              <a:buNone/>
            </a:pPr>
            <a:r>
              <a:rPr lang="zh-CN" altLang="en-US" sz="2800" b="1">
                <a:solidFill>
                  <a:srgbClr val="3333CC"/>
                </a:solidFill>
                <a:latin typeface="宋体" panose="02010600030101010101" pitchFamily="2" charset="-122"/>
              </a:rPr>
              <a:t>	</a:t>
            </a:r>
            <a:r>
              <a:rPr lang="en-US" altLang="zh-CN" sz="2800" b="1">
                <a:solidFill>
                  <a:srgbClr val="3333CC"/>
                </a:solidFill>
                <a:latin typeface="宋体" panose="02010600030101010101" pitchFamily="2" charset="-122"/>
              </a:rPr>
              <a:t>a)</a:t>
            </a:r>
            <a:r>
              <a:rPr lang="en-US" altLang="zh-CN" sz="2800" b="1">
                <a:latin typeface="宋体" panose="02010600030101010101" pitchFamily="2" charset="-122"/>
              </a:rPr>
              <a:t> </a:t>
            </a:r>
            <a:r>
              <a:rPr lang="en-US" altLang="zh-CN" sz="2800" b="1">
                <a:solidFill>
                  <a:srgbClr val="3333CC"/>
                </a:solidFill>
                <a:latin typeface="宋体" panose="02010600030101010101" pitchFamily="2" charset="-122"/>
              </a:rPr>
              <a:t>Physical behavior</a:t>
            </a:r>
          </a:p>
          <a:p>
            <a:pPr marL="609600" indent="-609600" eaLnBrk="1" hangingPunct="1">
              <a:lnSpc>
                <a:spcPct val="90000"/>
              </a:lnSpc>
              <a:buNone/>
            </a:pPr>
            <a:r>
              <a:rPr lang="en-US" altLang="zh-CN" sz="2800" b="1">
                <a:solidFill>
                  <a:srgbClr val="3333CC"/>
                </a:solidFill>
                <a:latin typeface="宋体" panose="02010600030101010101" pitchFamily="2" charset="-122"/>
              </a:rPr>
              <a:t>	b) Input-output relationship</a:t>
            </a:r>
          </a:p>
          <a:p>
            <a:pPr marL="609600" indent="-609600" eaLnBrk="1" hangingPunct="1">
              <a:lnSpc>
                <a:spcPct val="90000"/>
              </a:lnSpc>
              <a:buNone/>
            </a:pPr>
            <a:r>
              <a:rPr lang="en-US" altLang="zh-CN" sz="2800" b="1">
                <a:solidFill>
                  <a:srgbClr val="3333CC"/>
                </a:solidFill>
                <a:latin typeface="宋体" panose="02010600030101010101" pitchFamily="2" charset="-122"/>
              </a:rPr>
              <a:t>	c) Observable states</a:t>
            </a:r>
          </a:p>
          <a:p>
            <a:pPr marL="609600" indent="-609600" eaLnBrk="1" hangingPunct="1">
              <a:lnSpc>
                <a:spcPct val="90000"/>
              </a:lnSpc>
              <a:buNone/>
            </a:pPr>
            <a:r>
              <a:rPr lang="en-US" altLang="zh-CN" sz="2800" b="1">
                <a:solidFill>
                  <a:srgbClr val="3333CC"/>
                </a:solidFill>
                <a:latin typeface="宋体" panose="02010600030101010101" pitchFamily="2" charset="-122"/>
              </a:rPr>
              <a:t>	d) User interface</a:t>
            </a:r>
          </a:p>
        </p:txBody>
      </p:sp>
    </p:spTree>
    <p:extLst>
      <p:ext uri="{BB962C8B-B14F-4D97-AF65-F5344CB8AC3E}">
        <p14:creationId xmlns:p14="http://schemas.microsoft.com/office/powerpoint/2010/main" val="4100690475"/>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p:txBody>
          <a:bodyPr/>
          <a:lstStyle/>
          <a:p>
            <a:pPr eaLnBrk="1" hangingPunct="1"/>
            <a:r>
              <a:rPr lang="en-US" altLang="zh-CN" b="1" smtClean="0"/>
              <a:t>4. </a:t>
            </a:r>
            <a:r>
              <a:rPr lang="zh-CN" altLang="en-US" b="1" smtClean="0"/>
              <a:t>软件需求的分类</a:t>
            </a:r>
          </a:p>
        </p:txBody>
      </p:sp>
      <p:sp>
        <p:nvSpPr>
          <p:cNvPr id="20483" name="Rectangle 3"/>
          <p:cNvSpPr>
            <a:spLocks noGrp="1" noChangeArrowheads="1"/>
          </p:cNvSpPr>
          <p:nvPr>
            <p:ph type="body" idx="1"/>
          </p:nvPr>
        </p:nvSpPr>
        <p:spPr/>
        <p:txBody>
          <a:bodyPr/>
          <a:lstStyle/>
          <a:p>
            <a:pPr marL="609600" indent="-609600" eaLnBrk="1" hangingPunct="1">
              <a:lnSpc>
                <a:spcPct val="90000"/>
              </a:lnSpc>
              <a:buFont typeface="Wingdings" panose="05000000000000000000" pitchFamily="2" charset="2"/>
              <a:buAutoNum type="circleNumDbPlain" startAt="4"/>
              <a:defRPr/>
            </a:pPr>
            <a:r>
              <a:rPr lang="zh-CN" altLang="en-US" sz="3600" b="1" u="sng"/>
              <a:t>非功能需求</a:t>
            </a:r>
          </a:p>
          <a:p>
            <a:pPr marL="609600" indent="-609600" eaLnBrk="1" hangingPunct="1">
              <a:lnSpc>
                <a:spcPct val="90000"/>
              </a:lnSpc>
              <a:buNone/>
              <a:defRPr/>
            </a:pPr>
            <a:r>
              <a:rPr lang="zh-CN" altLang="en-US" sz="2800" b="1">
                <a:latin typeface="宋体" panose="02010600030101010101" pitchFamily="2" charset="-122"/>
              </a:rPr>
              <a:t>	非功能需求是功能需求的补充，它描述了系统完成功能实现的补充和约束条件。如产品必须遵从的标准、国际规范和合约；外部界面的规范；性能需求如：系统运行速度</a:t>
            </a:r>
            <a:r>
              <a:rPr lang="en-US" altLang="zh-CN" sz="2800" b="1">
                <a:latin typeface="宋体" panose="02010600030101010101" pitchFamily="2" charset="-122"/>
              </a:rPr>
              <a:t>(Speed)</a:t>
            </a:r>
            <a:r>
              <a:rPr lang="zh-CN" altLang="en-US" sz="2800" b="1">
                <a:latin typeface="宋体" panose="02010600030101010101" pitchFamily="2" charset="-122"/>
              </a:rPr>
              <a:t>，可靠性</a:t>
            </a:r>
            <a:r>
              <a:rPr lang="en-US" altLang="zh-CN" sz="2800" b="1">
                <a:latin typeface="宋体" panose="02010600030101010101" pitchFamily="2" charset="-122"/>
              </a:rPr>
              <a:t>(Reliability)</a:t>
            </a:r>
            <a:r>
              <a:rPr lang="zh-CN" altLang="en-US" sz="2800" b="1">
                <a:latin typeface="宋体" panose="02010600030101010101" pitchFamily="2" charset="-122"/>
              </a:rPr>
              <a:t>，容量</a:t>
            </a:r>
            <a:r>
              <a:rPr lang="en-US" altLang="zh-CN" sz="2800" b="1">
                <a:latin typeface="宋体" panose="02010600030101010101" pitchFamily="2" charset="-122"/>
              </a:rPr>
              <a:t>(Capacity)</a:t>
            </a:r>
            <a:r>
              <a:rPr lang="zh-CN" altLang="en-US" sz="2800" b="1">
                <a:latin typeface="宋体" panose="02010600030101010101" pitchFamily="2" charset="-122"/>
              </a:rPr>
              <a:t>，可用性</a:t>
            </a:r>
            <a:r>
              <a:rPr lang="en-US" altLang="zh-CN" sz="2800" b="1">
                <a:latin typeface="宋体" panose="02010600030101010101" pitchFamily="2" charset="-122"/>
              </a:rPr>
              <a:t>(Availability),</a:t>
            </a:r>
            <a:r>
              <a:rPr lang="zh-CN" altLang="en-US" sz="2800" b="1">
                <a:latin typeface="宋体" panose="02010600030101010101" pitchFamily="2" charset="-122"/>
              </a:rPr>
              <a:t>可使用性</a:t>
            </a:r>
            <a:r>
              <a:rPr lang="en-US" altLang="zh-CN" sz="2800" b="1">
                <a:latin typeface="宋体" panose="02010600030101010101" pitchFamily="2" charset="-122"/>
              </a:rPr>
              <a:t>(Usability)</a:t>
            </a:r>
            <a:r>
              <a:rPr lang="zh-CN" altLang="en-US" sz="2800" b="1">
                <a:latin typeface="宋体" panose="02010600030101010101" pitchFamily="2" charset="-122"/>
              </a:rPr>
              <a:t>；其它质量属性如：</a:t>
            </a:r>
            <a:r>
              <a:rPr lang="zh-CN" altLang="en-AU" sz="2800" b="1">
                <a:latin typeface="宋体" panose="02010600030101010101" pitchFamily="2" charset="-122"/>
              </a:rPr>
              <a:t>快捷性、简易性、直觉性、健壮性等。</a:t>
            </a:r>
            <a:r>
              <a:rPr lang="zh-CN" altLang="en-US" sz="2800" b="1">
                <a:effectLst>
                  <a:outerShdw blurRad="38100" dist="38100" dir="2700000" algn="tl">
                    <a:srgbClr val="C0C0C0"/>
                  </a:outerShdw>
                </a:effectLst>
                <a:latin typeface="PMingLiU" pitchFamily="18" charset="-120"/>
              </a:rPr>
              <a:t>在具体操作时，关于可靠性和可用性的规范最为困难，但又是客户最为关心的</a:t>
            </a:r>
          </a:p>
        </p:txBody>
      </p:sp>
    </p:spTree>
    <p:extLst>
      <p:ext uri="{BB962C8B-B14F-4D97-AF65-F5344CB8AC3E}">
        <p14:creationId xmlns:p14="http://schemas.microsoft.com/office/powerpoint/2010/main" val="1367877874"/>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p:txBody>
          <a:bodyPr/>
          <a:lstStyle/>
          <a:p>
            <a:pPr eaLnBrk="1" hangingPunct="1"/>
            <a:r>
              <a:rPr lang="en-US" altLang="zh-CN" b="1" smtClean="0"/>
              <a:t>4. </a:t>
            </a:r>
            <a:r>
              <a:rPr lang="zh-CN" altLang="en-US" b="1" smtClean="0"/>
              <a:t>软件需求的分类</a:t>
            </a:r>
          </a:p>
        </p:txBody>
      </p:sp>
      <p:sp>
        <p:nvSpPr>
          <p:cNvPr id="21507" name="Rectangle 3"/>
          <p:cNvSpPr>
            <a:spLocks noGrp="1" noChangeArrowheads="1"/>
          </p:cNvSpPr>
          <p:nvPr>
            <p:ph type="body" idx="1"/>
          </p:nvPr>
        </p:nvSpPr>
        <p:spPr/>
        <p:txBody>
          <a:bodyPr/>
          <a:lstStyle/>
          <a:p>
            <a:pPr marL="609600" indent="-609600" eaLnBrk="1" hangingPunct="1">
              <a:lnSpc>
                <a:spcPct val="90000"/>
              </a:lnSpc>
              <a:buFont typeface="Wingdings" panose="05000000000000000000" pitchFamily="2" charset="2"/>
              <a:buAutoNum type="circleNumDbPlain" startAt="4"/>
              <a:defRPr/>
            </a:pPr>
            <a:r>
              <a:rPr lang="zh-CN" altLang="en-US" sz="3600" b="1" u="sng"/>
              <a:t>非功能需求</a:t>
            </a:r>
          </a:p>
          <a:p>
            <a:pPr marL="609600" indent="-609600" eaLnBrk="1" hangingPunct="1">
              <a:lnSpc>
                <a:spcPct val="90000"/>
              </a:lnSpc>
              <a:buNone/>
              <a:defRPr/>
            </a:pPr>
            <a:r>
              <a:rPr lang="zh-CN" altLang="en-US" sz="2800" b="1">
                <a:latin typeface="宋体" panose="02010600030101010101" pitchFamily="2" charset="-122"/>
              </a:rPr>
              <a:t>	</a:t>
            </a:r>
            <a:r>
              <a:rPr lang="en-US" altLang="zh-CN" sz="2800" b="1">
                <a:solidFill>
                  <a:srgbClr val="3333CC"/>
                </a:solidFill>
                <a:latin typeface="宋体" panose="02010600030101010101" pitchFamily="2" charset="-122"/>
              </a:rPr>
              <a:t>a) Response</a:t>
            </a:r>
          </a:p>
          <a:p>
            <a:pPr marL="609600" indent="-609600" eaLnBrk="1" hangingPunct="1">
              <a:lnSpc>
                <a:spcPct val="90000"/>
              </a:lnSpc>
              <a:buNone/>
              <a:defRPr/>
            </a:pPr>
            <a:r>
              <a:rPr lang="en-US" altLang="zh-CN" sz="2800" b="1">
                <a:solidFill>
                  <a:srgbClr val="3333CC"/>
                </a:solidFill>
                <a:latin typeface="宋体" panose="02010600030101010101" pitchFamily="2" charset="-122"/>
              </a:rPr>
              <a:t>	b) Accuracy</a:t>
            </a:r>
          </a:p>
          <a:p>
            <a:pPr marL="609600" indent="-609600" eaLnBrk="1" hangingPunct="1">
              <a:lnSpc>
                <a:spcPct val="90000"/>
              </a:lnSpc>
              <a:buNone/>
              <a:defRPr/>
            </a:pPr>
            <a:r>
              <a:rPr lang="en-US" altLang="zh-CN" sz="2800" b="1">
                <a:solidFill>
                  <a:srgbClr val="3333CC"/>
                </a:solidFill>
                <a:latin typeface="宋体" panose="02010600030101010101" pitchFamily="2" charset="-122"/>
              </a:rPr>
              <a:t>	c) Frequency</a:t>
            </a:r>
          </a:p>
          <a:p>
            <a:pPr marL="609600" indent="-609600" eaLnBrk="1" hangingPunct="1">
              <a:lnSpc>
                <a:spcPct val="90000"/>
              </a:lnSpc>
              <a:buNone/>
              <a:defRPr/>
            </a:pPr>
            <a:r>
              <a:rPr lang="en-US" altLang="zh-CN" sz="2800" b="1">
                <a:solidFill>
                  <a:srgbClr val="3333CC"/>
                </a:solidFill>
                <a:latin typeface="宋体" panose="02010600030101010101" pitchFamily="2" charset="-122"/>
              </a:rPr>
              <a:t>	d) Capacity</a:t>
            </a:r>
          </a:p>
          <a:p>
            <a:pPr marL="609600" indent="-609600" eaLnBrk="1" hangingPunct="1">
              <a:lnSpc>
                <a:spcPct val="90000"/>
              </a:lnSpc>
              <a:buNone/>
              <a:defRPr/>
            </a:pPr>
            <a:r>
              <a:rPr lang="en-US" altLang="zh-CN" sz="2800" b="1">
                <a:solidFill>
                  <a:srgbClr val="3333CC"/>
                </a:solidFill>
                <a:latin typeface="宋体" panose="02010600030101010101" pitchFamily="2" charset="-122"/>
              </a:rPr>
              <a:t>	e) Throughput</a:t>
            </a:r>
          </a:p>
          <a:p>
            <a:pPr marL="609600" indent="-609600" eaLnBrk="1" hangingPunct="1">
              <a:lnSpc>
                <a:spcPct val="90000"/>
              </a:lnSpc>
              <a:buNone/>
              <a:defRPr/>
            </a:pPr>
            <a:r>
              <a:rPr lang="en-US" altLang="zh-CN" sz="2800" b="1">
                <a:solidFill>
                  <a:srgbClr val="3333CC"/>
                </a:solidFill>
                <a:latin typeface="宋体" panose="02010600030101010101" pitchFamily="2" charset="-122"/>
              </a:rPr>
              <a:t>	f) Defect rates</a:t>
            </a:r>
          </a:p>
          <a:p>
            <a:pPr marL="609600" indent="-609600" eaLnBrk="1" hangingPunct="1">
              <a:lnSpc>
                <a:spcPct val="90000"/>
              </a:lnSpc>
              <a:buNone/>
              <a:defRPr/>
            </a:pPr>
            <a:r>
              <a:rPr lang="en-US" altLang="zh-CN" sz="2800" b="1">
                <a:solidFill>
                  <a:srgbClr val="3333CC"/>
                </a:solidFill>
                <a:latin typeface="宋体" panose="02010600030101010101" pitchFamily="2" charset="-122"/>
              </a:rPr>
              <a:t>	g) Modifiability</a:t>
            </a:r>
          </a:p>
          <a:p>
            <a:pPr marL="609600" indent="-609600" eaLnBrk="1" hangingPunct="1">
              <a:lnSpc>
                <a:spcPct val="90000"/>
              </a:lnSpc>
              <a:buNone/>
              <a:defRPr/>
            </a:pPr>
            <a:r>
              <a:rPr lang="en-US" altLang="zh-CN" sz="2800" b="1">
                <a:solidFill>
                  <a:srgbClr val="3333CC"/>
                </a:solidFill>
                <a:latin typeface="宋体" panose="02010600030101010101" pitchFamily="2" charset="-122"/>
              </a:rPr>
              <a:t>	h) Supportability</a:t>
            </a:r>
            <a:endParaRPr lang="en-US" altLang="zh-CN" sz="2800" b="1">
              <a:effectLst>
                <a:outerShdw blurRad="38100" dist="38100" dir="2700000" algn="tl">
                  <a:srgbClr val="C0C0C0"/>
                </a:outerShdw>
              </a:effectLst>
              <a:latin typeface="PMingLiU" pitchFamily="18" charset="-120"/>
            </a:endParaRPr>
          </a:p>
        </p:txBody>
      </p:sp>
    </p:spTree>
    <p:extLst>
      <p:ext uri="{BB962C8B-B14F-4D97-AF65-F5344CB8AC3E}">
        <p14:creationId xmlns:p14="http://schemas.microsoft.com/office/powerpoint/2010/main" val="395294138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p:txBody>
          <a:bodyPr/>
          <a:lstStyle/>
          <a:p>
            <a:pPr eaLnBrk="1" hangingPunct="1"/>
            <a:r>
              <a:rPr lang="en-US" altLang="zh-CN" b="1" smtClean="0"/>
              <a:t>4. </a:t>
            </a:r>
            <a:r>
              <a:rPr lang="zh-CN" altLang="en-US" b="1" smtClean="0"/>
              <a:t>软件需求的分类</a:t>
            </a:r>
          </a:p>
        </p:txBody>
      </p:sp>
      <p:sp>
        <p:nvSpPr>
          <p:cNvPr id="35843" name="Rectangle 3"/>
          <p:cNvSpPr>
            <a:spLocks noGrp="1" noChangeArrowheads="1"/>
          </p:cNvSpPr>
          <p:nvPr>
            <p:ph type="body" idx="1"/>
          </p:nvPr>
        </p:nvSpPr>
        <p:spPr>
          <a:xfrm>
            <a:off x="1992313" y="1412876"/>
            <a:ext cx="8229600" cy="4525963"/>
          </a:xfrm>
        </p:spPr>
        <p:txBody>
          <a:bodyPr/>
          <a:lstStyle/>
          <a:p>
            <a:pPr marL="609600" indent="-609600" eaLnBrk="1" hangingPunct="1">
              <a:lnSpc>
                <a:spcPct val="80000"/>
              </a:lnSpc>
              <a:buFont typeface="Wingdings" panose="05000000000000000000" pitchFamily="2" charset="2"/>
              <a:buAutoNum type="circleNumDbPlain" startAt="5"/>
            </a:pPr>
            <a:r>
              <a:rPr lang="zh-CN" altLang="en-US" sz="3600" b="1" u="sng"/>
              <a:t>设计约束</a:t>
            </a:r>
          </a:p>
          <a:p>
            <a:pPr marL="609600" indent="-609600" eaLnBrk="1" hangingPunct="1">
              <a:lnSpc>
                <a:spcPct val="80000"/>
              </a:lnSpc>
              <a:buNone/>
            </a:pPr>
            <a:r>
              <a:rPr lang="zh-CN" altLang="en-US" sz="2400" b="1">
                <a:latin typeface="宋体" panose="02010600030101010101" pitchFamily="2" charset="-122"/>
              </a:rPr>
              <a:t>	设计约束是真正意义上的非功能约束，它们约束系统怎样被构建而不是系统做什么。设计约束的一般内容为</a:t>
            </a:r>
          </a:p>
          <a:p>
            <a:pPr marL="990600" lvl="1" indent="-533400" eaLnBrk="1" hangingPunct="1">
              <a:lnSpc>
                <a:spcPct val="80000"/>
              </a:lnSpc>
            </a:pPr>
            <a:r>
              <a:rPr lang="zh-CN" altLang="en-US" sz="2400" b="1">
                <a:latin typeface="宋体" panose="02010600030101010101" pitchFamily="2" charset="-122"/>
              </a:rPr>
              <a:t>解系统将在其上运行的目标机器</a:t>
            </a:r>
          </a:p>
          <a:p>
            <a:pPr marL="990600" lvl="1" indent="-533400" eaLnBrk="1" hangingPunct="1">
              <a:lnSpc>
                <a:spcPct val="80000"/>
              </a:lnSpc>
            </a:pPr>
            <a:r>
              <a:rPr lang="zh-CN" altLang="en-US" sz="2400" b="1">
                <a:latin typeface="宋体" panose="02010600030101010101" pitchFamily="2" charset="-122"/>
              </a:rPr>
              <a:t>底层的体系结构 </a:t>
            </a:r>
            <a:r>
              <a:rPr lang="en-US" altLang="zh-CN" sz="2400" b="1">
                <a:latin typeface="宋体" panose="02010600030101010101" pitchFamily="2" charset="-122"/>
              </a:rPr>
              <a:t>- </a:t>
            </a:r>
            <a:r>
              <a:rPr lang="zh-CN" altLang="en-US" sz="2400" b="1">
                <a:latin typeface="宋体" panose="02010600030101010101" pitchFamily="2" charset="-122"/>
              </a:rPr>
              <a:t>分布式的或本地的</a:t>
            </a:r>
          </a:p>
          <a:p>
            <a:pPr marL="990600" lvl="1" indent="-533400" eaLnBrk="1" hangingPunct="1">
              <a:lnSpc>
                <a:spcPct val="80000"/>
              </a:lnSpc>
            </a:pPr>
            <a:r>
              <a:rPr lang="zh-CN" altLang="en-US" sz="2400" b="1">
                <a:latin typeface="宋体" panose="02010600030101010101" pitchFamily="2" charset="-122"/>
              </a:rPr>
              <a:t>系统运行的内存大小</a:t>
            </a:r>
          </a:p>
          <a:p>
            <a:pPr marL="990600" lvl="1" indent="-533400" eaLnBrk="1" hangingPunct="1">
              <a:lnSpc>
                <a:spcPct val="80000"/>
              </a:lnSpc>
            </a:pPr>
            <a:r>
              <a:rPr lang="zh-CN" altLang="en-US" sz="2400" b="1">
                <a:latin typeface="宋体" panose="02010600030101010101" pitchFamily="2" charset="-122"/>
              </a:rPr>
              <a:t>应当采用的任何前端图形用户界面</a:t>
            </a:r>
            <a:r>
              <a:rPr lang="en-US" altLang="zh-CN" sz="2400" b="1">
                <a:latin typeface="宋体" panose="02010600030101010101" pitchFamily="2" charset="-122"/>
              </a:rPr>
              <a:t>(GUI)</a:t>
            </a:r>
            <a:r>
              <a:rPr lang="zh-CN" altLang="en-US" sz="2400" b="1">
                <a:latin typeface="宋体" panose="02010600030101010101" pitchFamily="2" charset="-122"/>
              </a:rPr>
              <a:t>程序包</a:t>
            </a:r>
          </a:p>
          <a:p>
            <a:pPr marL="990600" lvl="1" indent="-533400" eaLnBrk="1" hangingPunct="1">
              <a:lnSpc>
                <a:spcPct val="80000"/>
              </a:lnSpc>
            </a:pPr>
            <a:r>
              <a:rPr lang="zh-CN" altLang="en-US" sz="2400" b="1">
                <a:latin typeface="宋体" panose="02010600030101010101" pitchFamily="2" charset="-122"/>
              </a:rPr>
              <a:t>系统运行的操作系统</a:t>
            </a:r>
          </a:p>
          <a:p>
            <a:pPr marL="990600" lvl="1" indent="-533400" eaLnBrk="1" hangingPunct="1">
              <a:lnSpc>
                <a:spcPct val="80000"/>
              </a:lnSpc>
            </a:pPr>
            <a:r>
              <a:rPr lang="zh-CN" altLang="en-US" sz="2400" b="1">
                <a:latin typeface="宋体" panose="02010600030101010101" pitchFamily="2" charset="-122"/>
              </a:rPr>
              <a:t>应当使用的编程语言</a:t>
            </a:r>
          </a:p>
          <a:p>
            <a:pPr marL="990600" lvl="1" indent="-533400" eaLnBrk="1" hangingPunct="1">
              <a:lnSpc>
                <a:spcPct val="80000"/>
              </a:lnSpc>
            </a:pPr>
            <a:r>
              <a:rPr lang="zh-CN" altLang="en-US" sz="2400" b="1">
                <a:latin typeface="宋体" panose="02010600030101010101" pitchFamily="2" charset="-122"/>
              </a:rPr>
              <a:t>其它应集成的软件包如数据库管理系统</a:t>
            </a:r>
            <a:r>
              <a:rPr lang="en-US" altLang="zh-CN" sz="2400" b="1">
                <a:latin typeface="宋体" panose="02010600030101010101" pitchFamily="2" charset="-122"/>
              </a:rPr>
              <a:t>(DBMS)</a:t>
            </a:r>
          </a:p>
          <a:p>
            <a:pPr marL="990600" lvl="1" indent="-533400" eaLnBrk="1" hangingPunct="1">
              <a:lnSpc>
                <a:spcPct val="80000"/>
              </a:lnSpc>
            </a:pPr>
            <a:r>
              <a:rPr lang="zh-CN" altLang="en-US" sz="2400" b="1">
                <a:latin typeface="宋体" panose="02010600030101010101" pitchFamily="2" charset="-122"/>
              </a:rPr>
              <a:t>必须应用的开发标准</a:t>
            </a:r>
          </a:p>
          <a:p>
            <a:pPr marL="990600" lvl="1" indent="-533400" eaLnBrk="1" hangingPunct="1">
              <a:lnSpc>
                <a:spcPct val="80000"/>
              </a:lnSpc>
            </a:pPr>
            <a:r>
              <a:rPr lang="zh-CN" altLang="en-US" sz="2400" b="1">
                <a:latin typeface="宋体" panose="02010600030101010101" pitchFamily="2" charset="-122"/>
              </a:rPr>
              <a:t>应采用的设计方法等等</a:t>
            </a:r>
          </a:p>
        </p:txBody>
      </p:sp>
    </p:spTree>
    <p:extLst>
      <p:ext uri="{BB962C8B-B14F-4D97-AF65-F5344CB8AC3E}">
        <p14:creationId xmlns:p14="http://schemas.microsoft.com/office/powerpoint/2010/main" val="21312098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ChangeArrowheads="1"/>
          </p:cNvSpPr>
          <p:nvPr>
            <p:ph type="title"/>
          </p:nvPr>
        </p:nvSpPr>
        <p:spPr/>
        <p:txBody>
          <a:bodyPr/>
          <a:lstStyle/>
          <a:p>
            <a:pPr eaLnBrk="1" hangingPunct="1"/>
            <a:r>
              <a:rPr lang="en-US" altLang="zh-CN" b="1" smtClean="0"/>
              <a:t>4. </a:t>
            </a:r>
            <a:r>
              <a:rPr lang="zh-CN" altLang="en-US" b="1" smtClean="0"/>
              <a:t>软件需求的分类</a:t>
            </a:r>
          </a:p>
        </p:txBody>
      </p:sp>
      <p:sp>
        <p:nvSpPr>
          <p:cNvPr id="36867" name="Rectangle 3"/>
          <p:cNvSpPr>
            <a:spLocks noGrp="1" noChangeArrowheads="1"/>
          </p:cNvSpPr>
          <p:nvPr>
            <p:ph type="body" idx="1"/>
          </p:nvPr>
        </p:nvSpPr>
        <p:spPr>
          <a:xfrm>
            <a:off x="1992313" y="1412876"/>
            <a:ext cx="8229600" cy="4525963"/>
          </a:xfrm>
        </p:spPr>
        <p:txBody>
          <a:bodyPr/>
          <a:lstStyle/>
          <a:p>
            <a:pPr marL="609600" indent="-609600" eaLnBrk="1" hangingPunct="1">
              <a:lnSpc>
                <a:spcPct val="80000"/>
              </a:lnSpc>
              <a:buFont typeface="Wingdings" panose="05000000000000000000" pitchFamily="2" charset="2"/>
              <a:buAutoNum type="circleNumDbPlain" startAt="5"/>
            </a:pPr>
            <a:r>
              <a:rPr lang="zh-CN" altLang="en-US" sz="3600" b="1" u="sng"/>
              <a:t>设计约束</a:t>
            </a:r>
          </a:p>
          <a:p>
            <a:pPr marL="609600" indent="-609600" eaLnBrk="1" hangingPunct="1">
              <a:lnSpc>
                <a:spcPct val="80000"/>
              </a:lnSpc>
              <a:buNone/>
            </a:pPr>
            <a:r>
              <a:rPr lang="zh-CN" altLang="en-US" sz="2400" b="1">
                <a:latin typeface="宋体" panose="02010600030101010101" pitchFamily="2" charset="-122"/>
              </a:rPr>
              <a:t>	</a:t>
            </a:r>
            <a:r>
              <a:rPr lang="en-US" altLang="zh-CN" sz="2800" b="1">
                <a:solidFill>
                  <a:srgbClr val="3333CC"/>
                </a:solidFill>
                <a:latin typeface="宋体" panose="02010600030101010101" pitchFamily="2" charset="-122"/>
              </a:rPr>
              <a:t>a) Language</a:t>
            </a:r>
          </a:p>
          <a:p>
            <a:pPr marL="609600" indent="-609600" eaLnBrk="1" hangingPunct="1">
              <a:lnSpc>
                <a:spcPct val="80000"/>
              </a:lnSpc>
              <a:buNone/>
            </a:pPr>
            <a:r>
              <a:rPr lang="en-US" altLang="zh-CN" sz="2800" b="1">
                <a:solidFill>
                  <a:srgbClr val="3333CC"/>
                </a:solidFill>
                <a:latin typeface="宋体" panose="02010600030101010101" pitchFamily="2" charset="-122"/>
              </a:rPr>
              <a:t>	b) OS</a:t>
            </a:r>
          </a:p>
          <a:p>
            <a:pPr marL="609600" indent="-609600" eaLnBrk="1" hangingPunct="1">
              <a:lnSpc>
                <a:spcPct val="80000"/>
              </a:lnSpc>
              <a:buNone/>
            </a:pPr>
            <a:r>
              <a:rPr lang="en-US" altLang="zh-CN" sz="2800" b="1">
                <a:solidFill>
                  <a:srgbClr val="3333CC"/>
                </a:solidFill>
                <a:latin typeface="宋体" panose="02010600030101010101" pitchFamily="2" charset="-122"/>
              </a:rPr>
              <a:t>	c) SW to HW interface</a:t>
            </a:r>
          </a:p>
          <a:p>
            <a:pPr marL="609600" indent="-609600" eaLnBrk="1" hangingPunct="1">
              <a:lnSpc>
                <a:spcPct val="80000"/>
              </a:lnSpc>
              <a:buNone/>
            </a:pPr>
            <a:r>
              <a:rPr lang="en-US" altLang="zh-CN" sz="2800" b="1">
                <a:solidFill>
                  <a:srgbClr val="3333CC"/>
                </a:solidFill>
                <a:latin typeface="宋体" panose="02010600030101010101" pitchFamily="2" charset="-122"/>
              </a:rPr>
              <a:t>	d) Algorithm</a:t>
            </a:r>
          </a:p>
          <a:p>
            <a:pPr marL="609600" indent="-609600" eaLnBrk="1" hangingPunct="1">
              <a:lnSpc>
                <a:spcPct val="80000"/>
              </a:lnSpc>
              <a:buNone/>
            </a:pPr>
            <a:r>
              <a:rPr lang="en-US" altLang="zh-CN" sz="2800" b="1">
                <a:solidFill>
                  <a:srgbClr val="3333CC"/>
                </a:solidFill>
                <a:latin typeface="宋体" panose="02010600030101010101" pitchFamily="2" charset="-122"/>
              </a:rPr>
              <a:t>	e) Power</a:t>
            </a:r>
          </a:p>
          <a:p>
            <a:pPr marL="609600" indent="-609600" eaLnBrk="1" hangingPunct="1">
              <a:lnSpc>
                <a:spcPct val="80000"/>
              </a:lnSpc>
              <a:buNone/>
            </a:pPr>
            <a:r>
              <a:rPr lang="en-US" altLang="zh-CN" sz="2800" b="1">
                <a:solidFill>
                  <a:srgbClr val="3333CC"/>
                </a:solidFill>
                <a:latin typeface="宋体" panose="02010600030101010101" pitchFamily="2" charset="-122"/>
              </a:rPr>
              <a:t>	f) Timing</a:t>
            </a:r>
          </a:p>
          <a:p>
            <a:pPr marL="609600" indent="-609600" eaLnBrk="1" hangingPunct="1">
              <a:lnSpc>
                <a:spcPct val="80000"/>
              </a:lnSpc>
              <a:buNone/>
            </a:pPr>
            <a:r>
              <a:rPr lang="en-US" altLang="zh-CN" sz="2800" b="1">
                <a:solidFill>
                  <a:srgbClr val="3333CC"/>
                </a:solidFill>
                <a:latin typeface="宋体" panose="02010600030101010101" pitchFamily="2" charset="-122"/>
              </a:rPr>
              <a:t>	g) Memory</a:t>
            </a:r>
          </a:p>
          <a:p>
            <a:pPr marL="609600" indent="-609600" eaLnBrk="1" hangingPunct="1">
              <a:lnSpc>
                <a:spcPct val="80000"/>
              </a:lnSpc>
              <a:buNone/>
            </a:pPr>
            <a:r>
              <a:rPr lang="en-US" altLang="zh-CN" sz="2800" b="1">
                <a:solidFill>
                  <a:srgbClr val="3333CC"/>
                </a:solidFill>
                <a:latin typeface="宋体" panose="02010600030101010101" pitchFamily="2" charset="-122"/>
              </a:rPr>
              <a:t>	h) Processor utilization</a:t>
            </a:r>
          </a:p>
          <a:p>
            <a:pPr marL="609600" indent="-609600" eaLnBrk="1" hangingPunct="1">
              <a:lnSpc>
                <a:spcPct val="80000"/>
              </a:lnSpc>
              <a:buNone/>
            </a:pPr>
            <a:r>
              <a:rPr lang="en-US" altLang="zh-CN" sz="2800" b="1">
                <a:solidFill>
                  <a:srgbClr val="3333CC"/>
                </a:solidFill>
                <a:latin typeface="宋体" panose="02010600030101010101" pitchFamily="2" charset="-122"/>
              </a:rPr>
              <a:t>	I) Weight etc</a:t>
            </a:r>
          </a:p>
        </p:txBody>
      </p:sp>
    </p:spTree>
    <p:extLst>
      <p:ext uri="{BB962C8B-B14F-4D97-AF65-F5344CB8AC3E}">
        <p14:creationId xmlns:p14="http://schemas.microsoft.com/office/powerpoint/2010/main" val="3263678206"/>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p:nvPr>
        </p:nvSpPr>
        <p:spPr/>
        <p:txBody>
          <a:bodyPr/>
          <a:lstStyle/>
          <a:p>
            <a:pPr eaLnBrk="1" hangingPunct="1"/>
            <a:r>
              <a:rPr lang="en-US" altLang="zh-CN" b="1" smtClean="0"/>
              <a:t>4. </a:t>
            </a:r>
            <a:r>
              <a:rPr lang="zh-CN" altLang="en-US" b="1" smtClean="0"/>
              <a:t>软件需求的分类</a:t>
            </a:r>
          </a:p>
        </p:txBody>
      </p:sp>
      <p:sp>
        <p:nvSpPr>
          <p:cNvPr id="37891" name="Rectangle 3"/>
          <p:cNvSpPr>
            <a:spLocks noGrp="1" noChangeArrowheads="1"/>
          </p:cNvSpPr>
          <p:nvPr>
            <p:ph type="body" idx="1"/>
          </p:nvPr>
        </p:nvSpPr>
        <p:spPr>
          <a:xfrm>
            <a:off x="1992313" y="1412876"/>
            <a:ext cx="8229600" cy="4525963"/>
          </a:xfrm>
        </p:spPr>
        <p:txBody>
          <a:bodyPr/>
          <a:lstStyle/>
          <a:p>
            <a:pPr marL="609600" indent="-609600" eaLnBrk="1" hangingPunct="1">
              <a:lnSpc>
                <a:spcPct val="90000"/>
              </a:lnSpc>
              <a:buFont typeface="Wingdings" panose="05000000000000000000" pitchFamily="2" charset="2"/>
              <a:buAutoNum type="circleNumDbPlain" startAt="6"/>
            </a:pPr>
            <a:r>
              <a:rPr lang="zh-CN" altLang="en-US" sz="3600" b="1" u="sng"/>
              <a:t>商业约束</a:t>
            </a:r>
          </a:p>
          <a:p>
            <a:pPr marL="990600" lvl="1" indent="-533400" eaLnBrk="1" hangingPunct="1">
              <a:lnSpc>
                <a:spcPct val="90000"/>
              </a:lnSpc>
              <a:buFont typeface="Wingdings" panose="05000000000000000000" pitchFamily="2" charset="2"/>
              <a:buChar char="Ø"/>
            </a:pPr>
            <a:r>
              <a:rPr lang="zh-CN" altLang="en-US" sz="2400" b="1">
                <a:latin typeface="宋体" panose="02010600030101010101" pitchFamily="2" charset="-122"/>
              </a:rPr>
              <a:t>商业约束通常关注的是软件产品完成的时间以及开发费用问题，是客户最为关心的问题。</a:t>
            </a:r>
          </a:p>
          <a:p>
            <a:pPr marL="990600" lvl="1" indent="-533400" eaLnBrk="1" hangingPunct="1">
              <a:lnSpc>
                <a:spcPct val="90000"/>
              </a:lnSpc>
              <a:buFont typeface="Wingdings" panose="05000000000000000000" pitchFamily="2" charset="2"/>
              <a:buChar char="Ø"/>
            </a:pPr>
            <a:r>
              <a:rPr lang="zh-CN" altLang="en-US" sz="2400" b="1">
                <a:latin typeface="宋体" panose="02010600030101010101" pitchFamily="2" charset="-122"/>
              </a:rPr>
              <a:t>解系统的开发时间和费用与系统功能性、可靠性、可用性等关键需求性能有着必然与复杂的关系。是项目需求与项目管理的结合点。</a:t>
            </a:r>
          </a:p>
          <a:p>
            <a:pPr marL="990600" lvl="1" indent="-533400" eaLnBrk="1" hangingPunct="1">
              <a:lnSpc>
                <a:spcPct val="90000"/>
              </a:lnSpc>
              <a:buFont typeface="Wingdings" panose="05000000000000000000" pitchFamily="2" charset="2"/>
              <a:buChar char="Ø"/>
            </a:pPr>
            <a:r>
              <a:rPr lang="zh-CN" altLang="en-US" sz="2400" b="1">
                <a:latin typeface="宋体" panose="02010600030101010101" pitchFamily="2" charset="-122"/>
              </a:rPr>
              <a:t>商业约束通常是和需求工程过程同步的，即商业约束是在调查其它需求的同时获得，而且易于识别，不存在技术上的困惑，但却是管理上的难点。</a:t>
            </a:r>
          </a:p>
          <a:p>
            <a:pPr marL="990600" lvl="1" indent="-533400" eaLnBrk="1" hangingPunct="1">
              <a:lnSpc>
                <a:spcPct val="90000"/>
              </a:lnSpc>
              <a:buFont typeface="Wingdings" panose="05000000000000000000" pitchFamily="2" charset="2"/>
              <a:buChar char="Ø"/>
            </a:pPr>
            <a:r>
              <a:rPr lang="zh-CN" altLang="en-US" sz="2400" b="1">
                <a:latin typeface="宋体" panose="02010600030101010101" pitchFamily="2" charset="-122"/>
              </a:rPr>
              <a:t>商业约束如果不存在一个独立文档，则会出现在业务需求描述中。</a:t>
            </a:r>
          </a:p>
        </p:txBody>
      </p:sp>
    </p:spTree>
    <p:extLst>
      <p:ext uri="{BB962C8B-B14F-4D97-AF65-F5344CB8AC3E}">
        <p14:creationId xmlns:p14="http://schemas.microsoft.com/office/powerpoint/2010/main" val="2639388645"/>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p:nvPr>
        </p:nvSpPr>
        <p:spPr/>
        <p:txBody>
          <a:bodyPr/>
          <a:lstStyle/>
          <a:p>
            <a:pPr eaLnBrk="1" hangingPunct="1"/>
            <a:r>
              <a:rPr lang="en-US" altLang="zh-CN" b="1" smtClean="0"/>
              <a:t>4. </a:t>
            </a:r>
            <a:r>
              <a:rPr lang="zh-CN" altLang="en-US" b="1" smtClean="0"/>
              <a:t>软件需求的分类</a:t>
            </a:r>
          </a:p>
        </p:txBody>
      </p:sp>
      <p:sp>
        <p:nvSpPr>
          <p:cNvPr id="38915" name="Rectangle 3"/>
          <p:cNvSpPr>
            <a:spLocks noGrp="1" noChangeArrowheads="1"/>
          </p:cNvSpPr>
          <p:nvPr>
            <p:ph type="body" idx="1"/>
          </p:nvPr>
        </p:nvSpPr>
        <p:spPr>
          <a:xfrm>
            <a:off x="1992313" y="1412876"/>
            <a:ext cx="8229600" cy="4525963"/>
          </a:xfrm>
        </p:spPr>
        <p:txBody>
          <a:bodyPr/>
          <a:lstStyle/>
          <a:p>
            <a:pPr marL="609600" indent="-609600" eaLnBrk="1" hangingPunct="1">
              <a:lnSpc>
                <a:spcPct val="90000"/>
              </a:lnSpc>
              <a:buFont typeface="Wingdings" panose="05000000000000000000" pitchFamily="2" charset="2"/>
              <a:buAutoNum type="circleNumDbPlain" startAt="7"/>
            </a:pPr>
            <a:r>
              <a:rPr lang="zh-CN" altLang="en-US" sz="3600" b="1" u="sng"/>
              <a:t>系统需求</a:t>
            </a:r>
          </a:p>
          <a:p>
            <a:pPr marL="609600" indent="-609600" eaLnBrk="1" hangingPunct="1">
              <a:lnSpc>
                <a:spcPct val="90000"/>
              </a:lnSpc>
              <a:buNone/>
            </a:pPr>
            <a:r>
              <a:rPr lang="zh-CN" altLang="en-US" sz="2800" b="1">
                <a:latin typeface="宋体" panose="02010600030101010101" pitchFamily="2" charset="-122"/>
              </a:rPr>
              <a:t>	对于一个复杂的系统或产品，软件功能需求只是系统需求的一个子集，需要从系统需求中剥离出来。系统需求描述了系统中各个方面的需求，可能包含硬件、软件、其它关联系统，而且系统的功能及非功能描述并不依赖于物理层次，如软件和硬件的划分。系统和软件需求分析人员需要将软件需求部分独立出来。在</a:t>
            </a:r>
            <a:r>
              <a:rPr lang="en-US" altLang="zh-CN" sz="2800" b="1">
                <a:latin typeface="宋体" panose="02010600030101010101" pitchFamily="2" charset="-122"/>
              </a:rPr>
              <a:t>CMM</a:t>
            </a:r>
            <a:r>
              <a:rPr lang="zh-CN" altLang="en-US" sz="2800" b="1">
                <a:latin typeface="宋体" panose="02010600030101010101" pitchFamily="2" charset="-122"/>
              </a:rPr>
              <a:t>中这部分工作称为需求分配</a:t>
            </a:r>
            <a:r>
              <a:rPr lang="en-US" altLang="zh-CN" sz="2800" b="1">
                <a:latin typeface="宋体" panose="02010600030101010101" pitchFamily="2" charset="-122"/>
              </a:rPr>
              <a:t>(requirement allocation)</a:t>
            </a:r>
          </a:p>
        </p:txBody>
      </p:sp>
    </p:spTree>
    <p:extLst>
      <p:ext uri="{BB962C8B-B14F-4D97-AF65-F5344CB8AC3E}">
        <p14:creationId xmlns:p14="http://schemas.microsoft.com/office/powerpoint/2010/main" val="269111716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p:txBody>
          <a:bodyPr/>
          <a:lstStyle/>
          <a:p>
            <a:pPr eaLnBrk="1" hangingPunct="1"/>
            <a:r>
              <a:rPr lang="en-US" altLang="zh-CN" b="1" smtClean="0"/>
              <a:t>4. </a:t>
            </a:r>
            <a:r>
              <a:rPr lang="zh-CN" altLang="en-US" b="1" smtClean="0"/>
              <a:t>软件需求的分类</a:t>
            </a:r>
          </a:p>
        </p:txBody>
      </p:sp>
      <p:sp>
        <p:nvSpPr>
          <p:cNvPr id="39939" name="Rectangle 3"/>
          <p:cNvSpPr>
            <a:spLocks noGrp="1" noChangeArrowheads="1"/>
          </p:cNvSpPr>
          <p:nvPr>
            <p:ph type="body" idx="1"/>
          </p:nvPr>
        </p:nvSpPr>
        <p:spPr>
          <a:xfrm>
            <a:off x="1847851" y="1412876"/>
            <a:ext cx="8569325" cy="4525963"/>
          </a:xfrm>
        </p:spPr>
        <p:txBody>
          <a:bodyPr/>
          <a:lstStyle/>
          <a:p>
            <a:pPr marL="609600" indent="-609600" eaLnBrk="1" hangingPunct="1">
              <a:lnSpc>
                <a:spcPct val="90000"/>
              </a:lnSpc>
              <a:buFont typeface="Wingdings" panose="05000000000000000000" pitchFamily="2" charset="2"/>
              <a:buAutoNum type="circleNumDbPlain" startAt="8"/>
            </a:pPr>
            <a:r>
              <a:rPr lang="zh-CN" altLang="en-US" sz="3600" b="1" u="sng"/>
              <a:t>开发过程需求</a:t>
            </a:r>
            <a:r>
              <a:rPr lang="en-US" altLang="zh-CN" sz="3600" b="1" u="sng"/>
              <a:t>(Process Requirements)</a:t>
            </a:r>
          </a:p>
          <a:p>
            <a:pPr marL="609600" indent="-609600" eaLnBrk="1" hangingPunct="1">
              <a:lnSpc>
                <a:spcPct val="90000"/>
              </a:lnSpc>
              <a:buNone/>
            </a:pPr>
            <a:r>
              <a:rPr lang="en-US" altLang="zh-CN" sz="2800" b="1">
                <a:latin typeface="宋体" panose="02010600030101010101" pitchFamily="2" charset="-122"/>
              </a:rPr>
              <a:t>	</a:t>
            </a:r>
            <a:r>
              <a:rPr lang="en-US" altLang="zh-CN" sz="2800" b="1">
                <a:latin typeface="Arial Narrow" panose="020B0606020202030204" pitchFamily="34" charset="0"/>
              </a:rPr>
              <a:t>A requirements that specifies a need or constraint about how a product well be designed, produced, delivered, or maintained; e.g., the specification of a methodology, manufacturing process, or delivery constraint. Process requirements are distinguished from product requirements. Process requirements often appear in a Statement of Work rather than in a requirements document.</a:t>
            </a:r>
          </a:p>
        </p:txBody>
      </p:sp>
    </p:spTree>
    <p:extLst>
      <p:ext uri="{BB962C8B-B14F-4D97-AF65-F5344CB8AC3E}">
        <p14:creationId xmlns:p14="http://schemas.microsoft.com/office/powerpoint/2010/main" val="4139385910"/>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p:txBody>
          <a:bodyPr/>
          <a:lstStyle/>
          <a:p>
            <a:pPr eaLnBrk="1" hangingPunct="1"/>
            <a:r>
              <a:rPr lang="en-US" altLang="zh-CN" b="1" smtClean="0"/>
              <a:t>4. </a:t>
            </a:r>
            <a:r>
              <a:rPr lang="zh-CN" altLang="en-US" b="1" smtClean="0"/>
              <a:t>软件需求的分类</a:t>
            </a:r>
          </a:p>
        </p:txBody>
      </p:sp>
      <p:sp>
        <p:nvSpPr>
          <p:cNvPr id="40963" name="Rectangle 3"/>
          <p:cNvSpPr>
            <a:spLocks noGrp="1" noChangeArrowheads="1"/>
          </p:cNvSpPr>
          <p:nvPr>
            <p:ph type="body" idx="1"/>
          </p:nvPr>
        </p:nvSpPr>
        <p:spPr>
          <a:xfrm>
            <a:off x="1992313" y="1557338"/>
            <a:ext cx="8229600" cy="4525962"/>
          </a:xfrm>
        </p:spPr>
        <p:txBody>
          <a:bodyPr/>
          <a:lstStyle/>
          <a:p>
            <a:pPr marL="609600" indent="-609600" eaLnBrk="1" hangingPunct="1">
              <a:lnSpc>
                <a:spcPct val="80000"/>
              </a:lnSpc>
              <a:buFont typeface="Wingdings" panose="05000000000000000000" pitchFamily="2" charset="2"/>
              <a:buAutoNum type="circleNumDbPlain" startAt="8"/>
            </a:pPr>
            <a:r>
              <a:rPr lang="zh-CN" altLang="en-US" b="1" u="sng" smtClean="0"/>
              <a:t>开发过程需求</a:t>
            </a:r>
            <a:r>
              <a:rPr lang="en-US" altLang="zh-CN" b="1" u="sng" smtClean="0"/>
              <a:t>(Process Requirements)</a:t>
            </a:r>
          </a:p>
          <a:p>
            <a:pPr marL="609600" indent="-609600" eaLnBrk="1" hangingPunct="1">
              <a:lnSpc>
                <a:spcPct val="80000"/>
              </a:lnSpc>
              <a:buNone/>
            </a:pPr>
            <a:r>
              <a:rPr lang="en-US" altLang="zh-CN" sz="2800" b="1">
                <a:latin typeface="宋体" panose="02010600030101010101" pitchFamily="2" charset="-122"/>
              </a:rPr>
              <a:t>	a) Configuuration Management</a:t>
            </a:r>
          </a:p>
          <a:p>
            <a:pPr marL="609600" indent="-609600" eaLnBrk="1" hangingPunct="1">
              <a:lnSpc>
                <a:spcPct val="80000"/>
              </a:lnSpc>
              <a:buNone/>
            </a:pPr>
            <a:r>
              <a:rPr lang="en-US" altLang="zh-CN" sz="2800" b="1">
                <a:latin typeface="宋体" panose="02010600030101010101" pitchFamily="2" charset="-122"/>
              </a:rPr>
              <a:t>  	b) Deployment </a:t>
            </a:r>
          </a:p>
          <a:p>
            <a:pPr marL="609600" indent="-609600" eaLnBrk="1" hangingPunct="1">
              <a:lnSpc>
                <a:spcPct val="80000"/>
              </a:lnSpc>
              <a:buNone/>
            </a:pPr>
            <a:r>
              <a:rPr lang="en-US" altLang="zh-CN" sz="2800" b="1">
                <a:latin typeface="宋体" panose="02010600030101010101" pitchFamily="2" charset="-122"/>
              </a:rPr>
              <a:t>  	c) Development Methods</a:t>
            </a:r>
          </a:p>
          <a:p>
            <a:pPr marL="609600" indent="-609600" eaLnBrk="1" hangingPunct="1">
              <a:lnSpc>
                <a:spcPct val="80000"/>
              </a:lnSpc>
              <a:buNone/>
            </a:pPr>
            <a:r>
              <a:rPr lang="en-US" altLang="zh-CN" sz="2800" b="1">
                <a:latin typeface="宋体" panose="02010600030101010101" pitchFamily="2" charset="-122"/>
              </a:rPr>
              <a:t>  	d) Docummentation</a:t>
            </a:r>
          </a:p>
          <a:p>
            <a:pPr marL="609600" indent="-609600" eaLnBrk="1" hangingPunct="1">
              <a:lnSpc>
                <a:spcPct val="80000"/>
              </a:lnSpc>
              <a:buNone/>
            </a:pPr>
            <a:r>
              <a:rPr lang="en-US" altLang="zh-CN" sz="2800" b="1">
                <a:latin typeface="宋体" panose="02010600030101010101" pitchFamily="2" charset="-122"/>
              </a:rPr>
              <a:t>  	e) Manufacturing Methods</a:t>
            </a:r>
          </a:p>
          <a:p>
            <a:pPr marL="609600" indent="-609600" eaLnBrk="1" hangingPunct="1">
              <a:lnSpc>
                <a:spcPct val="80000"/>
              </a:lnSpc>
              <a:buNone/>
            </a:pPr>
            <a:r>
              <a:rPr lang="en-US" altLang="zh-CN" sz="2800" b="1">
                <a:latin typeface="宋体" panose="02010600030101010101" pitchFamily="2" charset="-122"/>
              </a:rPr>
              <a:t>  	f) Metrics</a:t>
            </a:r>
          </a:p>
          <a:p>
            <a:pPr marL="609600" indent="-609600" eaLnBrk="1" hangingPunct="1">
              <a:lnSpc>
                <a:spcPct val="80000"/>
              </a:lnSpc>
              <a:buNone/>
            </a:pPr>
            <a:r>
              <a:rPr lang="en-US" altLang="zh-CN" sz="2800" b="1">
                <a:latin typeface="宋体" panose="02010600030101010101" pitchFamily="2" charset="-122"/>
              </a:rPr>
              <a:t>  	g) Quality Assurance</a:t>
            </a:r>
          </a:p>
          <a:p>
            <a:pPr marL="609600" indent="-609600" eaLnBrk="1" hangingPunct="1">
              <a:lnSpc>
                <a:spcPct val="80000"/>
              </a:lnSpc>
              <a:buNone/>
            </a:pPr>
            <a:r>
              <a:rPr lang="en-US" altLang="zh-CN" sz="2800" b="1">
                <a:latin typeface="宋体" panose="02010600030101010101" pitchFamily="2" charset="-122"/>
              </a:rPr>
              <a:t>  	h) Review processes</a:t>
            </a:r>
          </a:p>
          <a:p>
            <a:pPr marL="609600" indent="-609600" eaLnBrk="1" hangingPunct="1">
              <a:lnSpc>
                <a:spcPct val="80000"/>
              </a:lnSpc>
              <a:buNone/>
            </a:pPr>
            <a:r>
              <a:rPr lang="en-US" altLang="zh-CN" sz="2800" b="1">
                <a:latin typeface="宋体" panose="02010600030101010101" pitchFamily="2" charset="-122"/>
              </a:rPr>
              <a:t>  	I) Verification Standards </a:t>
            </a:r>
          </a:p>
        </p:txBody>
      </p:sp>
    </p:spTree>
    <p:extLst>
      <p:ext uri="{BB962C8B-B14F-4D97-AF65-F5344CB8AC3E}">
        <p14:creationId xmlns:p14="http://schemas.microsoft.com/office/powerpoint/2010/main" val="474583074"/>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p:nvPr>
        </p:nvSpPr>
        <p:spPr/>
        <p:txBody>
          <a:bodyPr/>
          <a:lstStyle/>
          <a:p>
            <a:pPr eaLnBrk="1" hangingPunct="1"/>
            <a:r>
              <a:rPr lang="en-US" altLang="zh-CN" b="1" smtClean="0"/>
              <a:t>5.</a:t>
            </a:r>
            <a:r>
              <a:rPr lang="zh-CN" altLang="en-US" b="1" smtClean="0"/>
              <a:t>客户</a:t>
            </a:r>
            <a:r>
              <a:rPr lang="en-US" altLang="zh-CN" b="1" smtClean="0"/>
              <a:t>/</a:t>
            </a:r>
            <a:r>
              <a:rPr lang="zh-CN" altLang="en-US" b="1" smtClean="0"/>
              <a:t>用户</a:t>
            </a:r>
            <a:r>
              <a:rPr lang="en-US" altLang="zh-CN" b="1" smtClean="0"/>
              <a:t>/</a:t>
            </a:r>
            <a:r>
              <a:rPr lang="zh-CN" altLang="en-US" b="1" smtClean="0"/>
              <a:t>开发者的需求观</a:t>
            </a:r>
          </a:p>
        </p:txBody>
      </p:sp>
      <p:sp>
        <p:nvSpPr>
          <p:cNvPr id="41987" name="Rectangle 3"/>
          <p:cNvSpPr>
            <a:spLocks noGrp="1" noChangeArrowheads="1"/>
          </p:cNvSpPr>
          <p:nvPr>
            <p:ph type="body" idx="1"/>
          </p:nvPr>
        </p:nvSpPr>
        <p:spPr/>
        <p:txBody>
          <a:bodyPr/>
          <a:lstStyle/>
          <a:p>
            <a:pPr eaLnBrk="1" hangingPunct="1"/>
            <a:r>
              <a:rPr lang="zh-CN" altLang="en-US" b="1" smtClean="0">
                <a:latin typeface="隶书" panose="02010509060101010101" pitchFamily="49" charset="-122"/>
              </a:rPr>
              <a:t>客户的需求观在一个比较高的层次上，为产品提供宏观的描述和指导性的框架，是项目的基础；</a:t>
            </a:r>
          </a:p>
          <a:p>
            <a:pPr eaLnBrk="1" hangingPunct="1"/>
            <a:r>
              <a:rPr lang="zh-CN" altLang="en-US" b="1" smtClean="0">
                <a:latin typeface="隶书" panose="02010509060101010101" pitchFamily="49" charset="-122"/>
              </a:rPr>
              <a:t>用户的需求观往往代表了产品应该完成的任务及其具有的特性，细节，真实性；</a:t>
            </a:r>
          </a:p>
          <a:p>
            <a:pPr eaLnBrk="1" hangingPunct="1"/>
            <a:r>
              <a:rPr lang="zh-CN" altLang="en-US" b="1" smtClean="0">
                <a:latin typeface="隶书" panose="02010509060101010101" pitchFamily="49" charset="-122"/>
              </a:rPr>
              <a:t>开发者的需求观则应是使产品最大限度的满足需求，并最大程度的理解用户的需求。</a:t>
            </a:r>
          </a:p>
        </p:txBody>
      </p:sp>
    </p:spTree>
    <p:extLst>
      <p:ext uri="{BB962C8B-B14F-4D97-AF65-F5344CB8AC3E}">
        <p14:creationId xmlns:p14="http://schemas.microsoft.com/office/powerpoint/2010/main" val="1843182406"/>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2"/>
          <p:cNvSpPr>
            <a:spLocks noGrp="1" noChangeArrowheads="1"/>
          </p:cNvSpPr>
          <p:nvPr>
            <p:ph type="title"/>
          </p:nvPr>
        </p:nvSpPr>
        <p:spPr/>
        <p:txBody>
          <a:bodyPr/>
          <a:lstStyle/>
          <a:p>
            <a:pPr eaLnBrk="1" hangingPunct="1"/>
            <a:r>
              <a:rPr lang="en-US" altLang="zh-CN" b="1" smtClean="0"/>
              <a:t>6. </a:t>
            </a:r>
            <a:r>
              <a:rPr lang="zh-CN" altLang="en-US" b="1" smtClean="0"/>
              <a:t>不合格的需求派生的问题</a:t>
            </a:r>
          </a:p>
        </p:txBody>
      </p:sp>
      <p:sp>
        <p:nvSpPr>
          <p:cNvPr id="43011" name="Rectangle 3"/>
          <p:cNvSpPr>
            <a:spLocks noGrp="1" noChangeArrowheads="1"/>
          </p:cNvSpPr>
          <p:nvPr>
            <p:ph type="body" idx="1"/>
          </p:nvPr>
        </p:nvSpPr>
        <p:spPr/>
        <p:txBody>
          <a:bodyPr/>
          <a:lstStyle/>
          <a:p>
            <a:pPr eaLnBrk="1" hangingPunct="1"/>
            <a:r>
              <a:rPr lang="zh-CN" altLang="en-US" sz="3600" b="1">
                <a:latin typeface="隶书" panose="02010509060101010101" pitchFamily="49" charset="-122"/>
              </a:rPr>
              <a:t>如果项目初始的需求分析不合理，会导致客户和开发人员之间的目标不一致，这意味着客户对产品的期望和目标得不到准确的理解，很可能在开发过程中或移交产品后发现产品不能符合客户实际的需求，从而导致项目的失败。</a:t>
            </a:r>
          </a:p>
        </p:txBody>
      </p:sp>
    </p:spTree>
    <p:extLst>
      <p:ext uri="{BB962C8B-B14F-4D97-AF65-F5344CB8AC3E}">
        <p14:creationId xmlns:p14="http://schemas.microsoft.com/office/powerpoint/2010/main" val="2759169841"/>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pPr eaLnBrk="1" hangingPunct="1"/>
            <a:r>
              <a:rPr lang="zh-CN" altLang="en-US" b="1" dirty="0" smtClean="0"/>
              <a:t>不适当的需求引起的一些风险</a:t>
            </a:r>
          </a:p>
        </p:txBody>
      </p:sp>
      <p:sp>
        <p:nvSpPr>
          <p:cNvPr id="44035" name="Rectangle 3"/>
          <p:cNvSpPr>
            <a:spLocks noGrp="1" noChangeArrowheads="1"/>
          </p:cNvSpPr>
          <p:nvPr>
            <p:ph type="body" idx="1"/>
          </p:nvPr>
        </p:nvSpPr>
        <p:spPr>
          <a:xfrm>
            <a:off x="1981200" y="1600201"/>
            <a:ext cx="8578850" cy="4525963"/>
          </a:xfrm>
        </p:spPr>
        <p:txBody>
          <a:bodyPr/>
          <a:lstStyle/>
          <a:p>
            <a:pPr marL="609600" indent="-609600" eaLnBrk="1" hangingPunct="1">
              <a:lnSpc>
                <a:spcPct val="90000"/>
              </a:lnSpc>
              <a:buFont typeface="Wingdings" panose="05000000000000000000" pitchFamily="2" charset="2"/>
              <a:buAutoNum type="arabicPeriod"/>
            </a:pPr>
            <a:r>
              <a:rPr lang="zh-CN" altLang="en-US" sz="2400" b="1" u="sng" dirty="0">
                <a:latin typeface="宋体" panose="02010600030101010101" pitchFamily="2" charset="-122"/>
              </a:rPr>
              <a:t>无足够用户参与</a:t>
            </a:r>
            <a:r>
              <a:rPr lang="zh-CN" altLang="en-US" sz="2400" b="1" dirty="0">
                <a:latin typeface="宋体" panose="02010600030101010101" pitchFamily="2" charset="-122"/>
              </a:rPr>
              <a:t> </a:t>
            </a:r>
            <a:r>
              <a:rPr lang="en-US" altLang="zh-CN" sz="2400" b="1" dirty="0"/>
              <a:t>–</a:t>
            </a:r>
            <a:r>
              <a:rPr lang="en-US" altLang="zh-CN" sz="2400" b="1" dirty="0">
                <a:latin typeface="宋体" panose="02010600030101010101" pitchFamily="2" charset="-122"/>
              </a:rPr>
              <a:t> </a:t>
            </a:r>
            <a:r>
              <a:rPr lang="zh-CN" altLang="en-US" sz="2400" b="1" dirty="0">
                <a:latin typeface="宋体" panose="02010600030101010101" pitchFamily="2" charset="-122"/>
              </a:rPr>
              <a:t>用户参与不多会导致产品无法被接受</a:t>
            </a:r>
          </a:p>
          <a:p>
            <a:pPr marL="609600" indent="-609600" eaLnBrk="1" hangingPunct="1">
              <a:lnSpc>
                <a:spcPct val="90000"/>
              </a:lnSpc>
              <a:buFont typeface="Wingdings" panose="05000000000000000000" pitchFamily="2" charset="2"/>
              <a:buAutoNum type="arabicPeriod"/>
            </a:pPr>
            <a:r>
              <a:rPr lang="zh-CN" altLang="en-US" sz="2400" b="1" u="sng" dirty="0">
                <a:latin typeface="宋体" panose="02010600030101010101" pitchFamily="2" charset="-122"/>
              </a:rPr>
              <a:t>用户需求的不断增加</a:t>
            </a:r>
            <a:r>
              <a:rPr lang="zh-CN" altLang="en-US" sz="2400" b="1" dirty="0">
                <a:latin typeface="宋体" panose="02010600030101010101" pitchFamily="2" charset="-122"/>
              </a:rPr>
              <a:t> </a:t>
            </a:r>
            <a:r>
              <a:rPr lang="en-US" altLang="zh-CN" sz="2400" b="1" dirty="0"/>
              <a:t>–</a:t>
            </a:r>
            <a:r>
              <a:rPr lang="en-US" altLang="zh-CN" sz="2400" b="1" dirty="0">
                <a:latin typeface="宋体" panose="02010600030101010101" pitchFamily="2" charset="-122"/>
              </a:rPr>
              <a:t> </a:t>
            </a:r>
            <a:r>
              <a:rPr lang="zh-CN" altLang="en-US" sz="2400" b="1" dirty="0">
                <a:latin typeface="宋体" panose="02010600030101010101" pitchFamily="2" charset="-122"/>
              </a:rPr>
              <a:t>用户需求的增加带来过度的耗费和产品质量的降低</a:t>
            </a:r>
          </a:p>
          <a:p>
            <a:pPr marL="609600" indent="-609600" eaLnBrk="1" hangingPunct="1">
              <a:lnSpc>
                <a:spcPct val="90000"/>
              </a:lnSpc>
              <a:buFont typeface="Wingdings" panose="05000000000000000000" pitchFamily="2" charset="2"/>
              <a:buAutoNum type="arabicPeriod"/>
            </a:pPr>
            <a:r>
              <a:rPr lang="zh-CN" altLang="en-US" sz="2400" b="1" u="sng" dirty="0">
                <a:latin typeface="宋体" panose="02010600030101010101" pitchFamily="2" charset="-122"/>
              </a:rPr>
              <a:t>模棱两可的需求说明</a:t>
            </a:r>
            <a:r>
              <a:rPr lang="zh-CN" altLang="en-US" sz="2400" b="1" dirty="0">
                <a:latin typeface="宋体" panose="02010600030101010101" pitchFamily="2" charset="-122"/>
              </a:rPr>
              <a:t> </a:t>
            </a:r>
            <a:r>
              <a:rPr lang="en-US" altLang="zh-CN" sz="2400" b="1" dirty="0"/>
              <a:t>–</a:t>
            </a:r>
            <a:r>
              <a:rPr lang="en-US" altLang="zh-CN" sz="2400" b="1" dirty="0">
                <a:latin typeface="宋体" panose="02010600030101010101" pitchFamily="2" charset="-122"/>
              </a:rPr>
              <a:t> </a:t>
            </a:r>
            <a:r>
              <a:rPr lang="zh-CN" altLang="en-US" sz="2400" b="1" dirty="0">
                <a:latin typeface="宋体" panose="02010600030101010101" pitchFamily="2" charset="-122"/>
              </a:rPr>
              <a:t>将导致时间的浪费和返工</a:t>
            </a:r>
          </a:p>
          <a:p>
            <a:pPr marL="609600" indent="-609600" eaLnBrk="1" hangingPunct="1">
              <a:lnSpc>
                <a:spcPct val="90000"/>
              </a:lnSpc>
              <a:buFont typeface="Wingdings" panose="05000000000000000000" pitchFamily="2" charset="2"/>
              <a:buAutoNum type="arabicPeriod"/>
            </a:pPr>
            <a:r>
              <a:rPr lang="zh-CN" altLang="en-US" sz="2400" b="1" u="sng" dirty="0">
                <a:latin typeface="宋体" panose="02010600030101010101" pitchFamily="2" charset="-122"/>
              </a:rPr>
              <a:t>不必要的特性</a:t>
            </a:r>
            <a:r>
              <a:rPr lang="zh-CN" altLang="en-US" sz="2400" b="1" dirty="0">
                <a:latin typeface="宋体" panose="02010600030101010101" pitchFamily="2" charset="-122"/>
              </a:rPr>
              <a:t> </a:t>
            </a:r>
            <a:r>
              <a:rPr lang="en-US" altLang="zh-CN" sz="2400" b="1" dirty="0"/>
              <a:t>–</a:t>
            </a:r>
            <a:r>
              <a:rPr lang="en-US" altLang="zh-CN" sz="2400" b="1" dirty="0">
                <a:latin typeface="宋体" panose="02010600030101010101" pitchFamily="2" charset="-122"/>
              </a:rPr>
              <a:t> </a:t>
            </a:r>
            <a:r>
              <a:rPr lang="zh-CN" altLang="en-US" sz="2400" b="1" dirty="0">
                <a:latin typeface="宋体" panose="02010600030101010101" pitchFamily="2" charset="-122"/>
              </a:rPr>
              <a:t>用户增加一些不必要的特性和开发人员画蛇添足</a:t>
            </a:r>
          </a:p>
          <a:p>
            <a:pPr marL="609600" indent="-609600" eaLnBrk="1" hangingPunct="1">
              <a:lnSpc>
                <a:spcPct val="90000"/>
              </a:lnSpc>
              <a:buFont typeface="Wingdings" panose="05000000000000000000" pitchFamily="2" charset="2"/>
              <a:buAutoNum type="arabicPeriod"/>
            </a:pPr>
            <a:r>
              <a:rPr lang="zh-CN" altLang="en-US" sz="2400" b="1" u="sng" dirty="0">
                <a:latin typeface="宋体" panose="02010600030101010101" pitchFamily="2" charset="-122"/>
              </a:rPr>
              <a:t>过分精简的规格说明</a:t>
            </a:r>
            <a:r>
              <a:rPr lang="zh-CN" altLang="en-US" sz="2400" b="1" dirty="0">
                <a:latin typeface="宋体" panose="02010600030101010101" pitchFamily="2" charset="-122"/>
              </a:rPr>
              <a:t> </a:t>
            </a:r>
            <a:r>
              <a:rPr lang="en-US" altLang="zh-CN" sz="2400" b="1" dirty="0"/>
              <a:t>–</a:t>
            </a:r>
            <a:r>
              <a:rPr lang="en-US" altLang="zh-CN" sz="2400" b="1" dirty="0">
                <a:latin typeface="宋体" panose="02010600030101010101" pitchFamily="2" charset="-122"/>
              </a:rPr>
              <a:t> </a:t>
            </a:r>
            <a:r>
              <a:rPr lang="zh-CN" altLang="en-US" sz="2400" b="1" dirty="0">
                <a:latin typeface="宋体" panose="02010600030101010101" pitchFamily="2" charset="-122"/>
              </a:rPr>
              <a:t>过分简略的需求说明以致遗漏某些关键需求</a:t>
            </a:r>
          </a:p>
          <a:p>
            <a:pPr marL="609600" indent="-609600" eaLnBrk="1" hangingPunct="1">
              <a:lnSpc>
                <a:spcPct val="90000"/>
              </a:lnSpc>
              <a:buFont typeface="Wingdings" panose="05000000000000000000" pitchFamily="2" charset="2"/>
              <a:buAutoNum type="arabicPeriod"/>
            </a:pPr>
            <a:r>
              <a:rPr lang="zh-CN" altLang="en-US" sz="2400" b="1" u="sng" dirty="0">
                <a:latin typeface="宋体" panose="02010600030101010101" pitchFamily="2" charset="-122"/>
              </a:rPr>
              <a:t>忽略用户分类</a:t>
            </a:r>
            <a:r>
              <a:rPr lang="zh-CN" altLang="en-US" sz="2400" b="1" dirty="0">
                <a:latin typeface="宋体" panose="02010600030101010101" pitchFamily="2" charset="-122"/>
              </a:rPr>
              <a:t> </a:t>
            </a:r>
            <a:r>
              <a:rPr lang="en-US" altLang="zh-CN" sz="2400" b="1" dirty="0"/>
              <a:t>–</a:t>
            </a:r>
            <a:r>
              <a:rPr lang="en-US" altLang="zh-CN" sz="2400" b="1" dirty="0">
                <a:latin typeface="宋体" panose="02010600030101010101" pitchFamily="2" charset="-122"/>
              </a:rPr>
              <a:t> </a:t>
            </a:r>
            <a:r>
              <a:rPr lang="zh-CN" altLang="en-US" sz="2400" b="1" dirty="0">
                <a:latin typeface="宋体" panose="02010600030101010101" pitchFamily="2" charset="-122"/>
              </a:rPr>
              <a:t>忽略某类用户的需求将导致众多客户的不满</a:t>
            </a:r>
          </a:p>
          <a:p>
            <a:pPr marL="609600" indent="-609600" eaLnBrk="1" hangingPunct="1">
              <a:lnSpc>
                <a:spcPct val="90000"/>
              </a:lnSpc>
              <a:buFont typeface="Wingdings" panose="05000000000000000000" pitchFamily="2" charset="2"/>
              <a:buAutoNum type="arabicPeriod"/>
            </a:pPr>
            <a:r>
              <a:rPr lang="zh-CN" altLang="en-US" sz="2400" b="1" u="sng" dirty="0">
                <a:latin typeface="宋体" panose="02010600030101010101" pitchFamily="2" charset="-122"/>
              </a:rPr>
              <a:t>不准确的计划</a:t>
            </a:r>
            <a:r>
              <a:rPr lang="zh-CN" altLang="en-US" sz="2400" b="1" dirty="0">
                <a:latin typeface="宋体" panose="02010600030101010101" pitchFamily="2" charset="-122"/>
              </a:rPr>
              <a:t> </a:t>
            </a:r>
            <a:r>
              <a:rPr lang="en-US" altLang="zh-CN" sz="2400" b="1" dirty="0"/>
              <a:t>–</a:t>
            </a:r>
            <a:r>
              <a:rPr lang="en-US" altLang="zh-CN" sz="2400" b="1" dirty="0">
                <a:latin typeface="宋体" panose="02010600030101010101" pitchFamily="2" charset="-122"/>
              </a:rPr>
              <a:t> </a:t>
            </a:r>
            <a:r>
              <a:rPr lang="zh-CN" altLang="en-US" sz="2400" b="1" dirty="0">
                <a:latin typeface="宋体" panose="02010600030101010101" pitchFamily="2" charset="-122"/>
              </a:rPr>
              <a:t>不完善的需求说明使得项目计划和跟踪无法准确进行</a:t>
            </a:r>
            <a:endParaRPr lang="zh-CN" altLang="en-US" sz="2400" dirty="0"/>
          </a:p>
        </p:txBody>
      </p:sp>
    </p:spTree>
    <p:extLst>
      <p:ext uri="{BB962C8B-B14F-4D97-AF65-F5344CB8AC3E}">
        <p14:creationId xmlns:p14="http://schemas.microsoft.com/office/powerpoint/2010/main" val="4202914760"/>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p:cNvSpPr>
            <a:spLocks noGrp="1" noChangeArrowheads="1"/>
          </p:cNvSpPr>
          <p:nvPr>
            <p:ph type="title"/>
          </p:nvPr>
        </p:nvSpPr>
        <p:spPr>
          <a:xfrm>
            <a:off x="2279650" y="69850"/>
            <a:ext cx="7696200" cy="838200"/>
          </a:xfrm>
        </p:spPr>
        <p:txBody>
          <a:bodyPr/>
          <a:lstStyle/>
          <a:p>
            <a:pPr eaLnBrk="1" hangingPunct="1"/>
            <a:r>
              <a:rPr lang="zh-CN" altLang="en-US" b="1" smtClean="0"/>
              <a:t>不适当的需求引起的一些风险</a:t>
            </a:r>
          </a:p>
        </p:txBody>
      </p:sp>
      <p:sp>
        <p:nvSpPr>
          <p:cNvPr id="45059" name="Rectangle 3"/>
          <p:cNvSpPr>
            <a:spLocks noGrp="1" noChangeArrowheads="1"/>
          </p:cNvSpPr>
          <p:nvPr>
            <p:ph type="body" idx="1"/>
          </p:nvPr>
        </p:nvSpPr>
        <p:spPr>
          <a:xfrm>
            <a:off x="1905000" y="990600"/>
            <a:ext cx="8534400" cy="5334000"/>
          </a:xfrm>
          <a:noFill/>
        </p:spPr>
        <p:txBody>
          <a:bodyPr/>
          <a:lstStyle/>
          <a:p>
            <a:pPr marL="457200" indent="-457200" eaLnBrk="1" hangingPunct="1">
              <a:buFont typeface="Wingdings" panose="05000000000000000000" pitchFamily="2" charset="2"/>
              <a:buAutoNum type="arabicPeriod"/>
            </a:pPr>
            <a:r>
              <a:rPr lang="zh-CN" altLang="en-US" sz="3600" b="1" u="sng">
                <a:latin typeface="宋体" panose="02010600030101010101" pitchFamily="2" charset="-122"/>
              </a:rPr>
              <a:t>无足够用户参与</a:t>
            </a:r>
            <a:r>
              <a:rPr lang="zh-CN" altLang="en-US" sz="3600" b="1">
                <a:latin typeface="宋体" panose="02010600030101010101" pitchFamily="2" charset="-122"/>
              </a:rPr>
              <a:t> </a:t>
            </a:r>
          </a:p>
          <a:p>
            <a:pPr marL="457200" indent="-457200" eaLnBrk="1" hangingPunct="1">
              <a:buNone/>
            </a:pPr>
            <a:r>
              <a:rPr lang="zh-CN" altLang="en-US" sz="3600" b="1">
                <a:latin typeface="宋体" panose="02010600030101010101" pitchFamily="2" charset="-122"/>
              </a:rPr>
              <a:t>	客户经常不明白为什么收集需求和确保需求质量需花费那么多工夫，开发人员可能也不重视用户的参与。很多情况下，开发人员觉得已经完全明白了用户的需求，甚至想当然地设计了一些用户并不认可的使用实例。尽管原因是多方面的，尽早让具有代表性的用户参与是可以避免一定的风险的</a:t>
            </a:r>
          </a:p>
        </p:txBody>
      </p:sp>
    </p:spTree>
    <p:extLst>
      <p:ext uri="{BB962C8B-B14F-4D97-AF65-F5344CB8AC3E}">
        <p14:creationId xmlns:p14="http://schemas.microsoft.com/office/powerpoint/2010/main" val="3966085474"/>
      </p:ext>
    </p:extLst>
  </p:cSld>
  <p:clrMapOvr>
    <a:masterClrMapping/>
  </p:clrMapOvr>
  <p:transition/>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p:cNvSpPr>
            <a:spLocks noGrp="1" noChangeArrowheads="1"/>
          </p:cNvSpPr>
          <p:nvPr>
            <p:ph type="title"/>
          </p:nvPr>
        </p:nvSpPr>
        <p:spPr>
          <a:xfrm>
            <a:off x="2279650" y="0"/>
            <a:ext cx="7696200" cy="838200"/>
          </a:xfrm>
        </p:spPr>
        <p:txBody>
          <a:bodyPr/>
          <a:lstStyle/>
          <a:p>
            <a:pPr eaLnBrk="1" hangingPunct="1"/>
            <a:r>
              <a:rPr lang="zh-CN" altLang="en-US" b="1" smtClean="0"/>
              <a:t>不适当的需求引起的一些风险</a:t>
            </a:r>
          </a:p>
        </p:txBody>
      </p:sp>
      <p:sp>
        <p:nvSpPr>
          <p:cNvPr id="46083" name="Rectangle 3"/>
          <p:cNvSpPr>
            <a:spLocks noGrp="1" noChangeArrowheads="1"/>
          </p:cNvSpPr>
          <p:nvPr>
            <p:ph type="body" idx="1"/>
          </p:nvPr>
        </p:nvSpPr>
        <p:spPr>
          <a:xfrm>
            <a:off x="1905000" y="990600"/>
            <a:ext cx="8534400" cy="5334000"/>
          </a:xfrm>
          <a:noFill/>
        </p:spPr>
        <p:txBody>
          <a:bodyPr/>
          <a:lstStyle/>
          <a:p>
            <a:pPr marL="457200" indent="-457200" eaLnBrk="1" hangingPunct="1">
              <a:buFont typeface="Wingdings" panose="05000000000000000000" pitchFamily="2" charset="2"/>
              <a:buAutoNum type="arabicPeriod" startAt="2"/>
            </a:pPr>
            <a:r>
              <a:rPr lang="zh-CN" altLang="en-US" sz="2800" b="1" u="sng">
                <a:latin typeface="宋体" panose="02010600030101010101" pitchFamily="2" charset="-122"/>
              </a:rPr>
              <a:t>用户需求的不断增加</a:t>
            </a:r>
            <a:r>
              <a:rPr lang="zh-CN" altLang="en-US" sz="2800" b="1">
                <a:latin typeface="宋体" panose="02010600030101010101" pitchFamily="2" charset="-122"/>
              </a:rPr>
              <a:t> </a:t>
            </a:r>
          </a:p>
          <a:p>
            <a:pPr marL="457200" indent="-457200" eaLnBrk="1" hangingPunct="1">
              <a:buNone/>
            </a:pPr>
            <a:r>
              <a:rPr lang="zh-CN" altLang="en-US" sz="2800" b="1">
                <a:latin typeface="宋体" panose="02010600030101010101" pitchFamily="2" charset="-122"/>
              </a:rPr>
              <a:t>	在开发过程中，若不断地补充需求，项目就会越来越大直到超出计划和预算范围。这是软件开发中极其普遍的问题，也是软件需求管理中重点涉及的问题。</a:t>
            </a:r>
          </a:p>
          <a:p>
            <a:pPr marL="457200" indent="-457200" eaLnBrk="1" hangingPunct="1">
              <a:buNone/>
            </a:pPr>
            <a:r>
              <a:rPr lang="zh-CN" altLang="en-US" sz="2800" b="1">
                <a:latin typeface="宋体" panose="02010600030101010101" pitchFamily="2" charset="-122"/>
              </a:rPr>
              <a:t>	如果变更发生在设计编码以后，这样的变更会使软件结构日渐紊乱，补丁代码使模块违背强内聚、低耦合的设计原则，使程序越来越难以理解和维护。</a:t>
            </a:r>
          </a:p>
          <a:p>
            <a:pPr marL="457200" indent="-457200" eaLnBrk="1" hangingPunct="1">
              <a:buNone/>
            </a:pPr>
            <a:r>
              <a:rPr lang="zh-CN" altLang="en-US" sz="2800" b="1">
                <a:latin typeface="宋体" panose="02010600030101010101" pitchFamily="2" charset="-122"/>
              </a:rPr>
              <a:t>	要想把变更范围控制到最小，必须一开始就对项目视图、范围、目标、约束和成功标准给予明确说明，并作为今后需求变更处理时的参考框架。</a:t>
            </a:r>
          </a:p>
        </p:txBody>
      </p:sp>
    </p:spTree>
    <p:extLst>
      <p:ext uri="{BB962C8B-B14F-4D97-AF65-F5344CB8AC3E}">
        <p14:creationId xmlns:p14="http://schemas.microsoft.com/office/powerpoint/2010/main" val="2248278410"/>
      </p:ext>
    </p:extLst>
  </p:cSld>
  <p:clrMapOvr>
    <a:masterClrMapping/>
  </p:clrMapOvr>
  <p:transition/>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p:nvPr>
        </p:nvSpPr>
        <p:spPr>
          <a:xfrm>
            <a:off x="2286000" y="0"/>
            <a:ext cx="7696200" cy="838200"/>
          </a:xfrm>
        </p:spPr>
        <p:txBody>
          <a:bodyPr/>
          <a:lstStyle/>
          <a:p>
            <a:pPr eaLnBrk="1" hangingPunct="1"/>
            <a:r>
              <a:rPr lang="zh-CN" altLang="en-US" b="1" smtClean="0"/>
              <a:t>不适当的需求引起的一些风险</a:t>
            </a:r>
          </a:p>
        </p:txBody>
      </p:sp>
      <p:sp>
        <p:nvSpPr>
          <p:cNvPr id="47107" name="Rectangle 3"/>
          <p:cNvSpPr>
            <a:spLocks noGrp="1" noChangeArrowheads="1"/>
          </p:cNvSpPr>
          <p:nvPr>
            <p:ph type="body" idx="1"/>
          </p:nvPr>
        </p:nvSpPr>
        <p:spPr>
          <a:xfrm>
            <a:off x="1905000" y="990600"/>
            <a:ext cx="8534400" cy="5334000"/>
          </a:xfrm>
          <a:noFill/>
        </p:spPr>
        <p:txBody>
          <a:bodyPr/>
          <a:lstStyle/>
          <a:p>
            <a:pPr marL="457200" indent="-457200" eaLnBrk="1" hangingPunct="1">
              <a:buFont typeface="Wingdings" panose="05000000000000000000" pitchFamily="2" charset="2"/>
              <a:buAutoNum type="arabicPeriod" startAt="3"/>
            </a:pPr>
            <a:r>
              <a:rPr lang="zh-CN" altLang="en-US" sz="2800" b="1" u="sng">
                <a:latin typeface="宋体" panose="02010600030101010101" pitchFamily="2" charset="-122"/>
              </a:rPr>
              <a:t>模棱两可的需求说明</a:t>
            </a:r>
          </a:p>
          <a:p>
            <a:pPr marL="457200" indent="-457200" eaLnBrk="1" hangingPunct="1">
              <a:buNone/>
            </a:pPr>
            <a:r>
              <a:rPr lang="zh-CN" altLang="en-US" sz="2800" b="1">
                <a:latin typeface="宋体" panose="02010600030101010101" pitchFamily="2" charset="-122"/>
              </a:rPr>
              <a:t>	模棱两可，也就是需求的</a:t>
            </a:r>
            <a:r>
              <a:rPr lang="zh-CN" altLang="en-US" sz="2800" b="1"/>
              <a:t>“</a:t>
            </a:r>
            <a:r>
              <a:rPr lang="zh-CN" altLang="en-US" sz="2800" b="1">
                <a:latin typeface="宋体" panose="02010600030101010101" pitchFamily="2" charset="-122"/>
              </a:rPr>
              <a:t>二义性</a:t>
            </a:r>
            <a:r>
              <a:rPr lang="zh-CN" altLang="en-US" sz="2800" b="1"/>
              <a:t>”</a:t>
            </a:r>
            <a:r>
              <a:rPr lang="zh-CN" altLang="en-US" sz="2800" b="1">
                <a:latin typeface="宋体" panose="02010600030101010101" pitchFamily="2" charset="-122"/>
              </a:rPr>
              <a:t>，是需求说明中最可怕的问题。</a:t>
            </a:r>
          </a:p>
          <a:p>
            <a:pPr marL="457200" indent="-457200" eaLnBrk="1" hangingPunct="1">
              <a:buNone/>
            </a:pPr>
            <a:r>
              <a:rPr lang="zh-CN" altLang="en-US" sz="2800" b="1">
                <a:latin typeface="宋体" panose="02010600030101010101" pitchFamily="2" charset="-122"/>
              </a:rPr>
              <a:t>	模棱两可的需求风险承担者产生不同的期望，使开发人员产生错误的设计，使测试人员编写不匹配的测试用例。</a:t>
            </a:r>
          </a:p>
          <a:p>
            <a:pPr marL="457200" indent="-457200" eaLnBrk="1" hangingPunct="1">
              <a:buNone/>
            </a:pPr>
            <a:r>
              <a:rPr lang="zh-CN" altLang="en-US" sz="2800" b="1">
                <a:latin typeface="宋体" panose="02010600030101010101" pitchFamily="2" charset="-122"/>
              </a:rPr>
              <a:t>	模棱两可的需求直接的后果就是返工。根据统计，返工会耗费总开发费用的</a:t>
            </a:r>
            <a:r>
              <a:rPr lang="en-US" altLang="zh-CN" sz="2800" b="1">
                <a:latin typeface="宋体" panose="02010600030101010101" pitchFamily="2" charset="-122"/>
              </a:rPr>
              <a:t>40%</a:t>
            </a:r>
            <a:r>
              <a:rPr lang="zh-CN" altLang="en-US" sz="2800" b="1">
                <a:latin typeface="宋体" panose="02010600030101010101" pitchFamily="2" charset="-122"/>
              </a:rPr>
              <a:t>，其中</a:t>
            </a:r>
            <a:r>
              <a:rPr lang="en-US" altLang="zh-CN" sz="2800" b="1">
                <a:latin typeface="宋体" panose="02010600030101010101" pitchFamily="2" charset="-122"/>
              </a:rPr>
              <a:t>70%</a:t>
            </a:r>
            <a:r>
              <a:rPr lang="zh-CN" altLang="en-US" sz="2800" b="1">
                <a:latin typeface="宋体" panose="02010600030101010101" pitchFamily="2" charset="-122"/>
              </a:rPr>
              <a:t>～</a:t>
            </a:r>
            <a:r>
              <a:rPr lang="en-US" altLang="zh-CN" sz="2800" b="1">
                <a:latin typeface="宋体" panose="02010600030101010101" pitchFamily="2" charset="-122"/>
              </a:rPr>
              <a:t>80%</a:t>
            </a:r>
            <a:r>
              <a:rPr lang="zh-CN" altLang="en-US" sz="2800" b="1">
                <a:latin typeface="宋体" panose="02010600030101010101" pitchFamily="2" charset="-122"/>
              </a:rPr>
              <a:t>是由需求方面的错误造成的。</a:t>
            </a:r>
          </a:p>
          <a:p>
            <a:pPr marL="457200" indent="-457200" eaLnBrk="1" hangingPunct="1">
              <a:buNone/>
            </a:pPr>
            <a:r>
              <a:rPr lang="zh-CN" altLang="en-US" sz="2800" b="1">
                <a:latin typeface="宋体" panose="02010600030101010101" pitchFamily="2" charset="-122"/>
              </a:rPr>
              <a:t>	认真、高质量的需求评审可以消除大部分的模棱两可型的错误。</a:t>
            </a:r>
          </a:p>
        </p:txBody>
      </p:sp>
    </p:spTree>
    <p:extLst>
      <p:ext uri="{BB962C8B-B14F-4D97-AF65-F5344CB8AC3E}">
        <p14:creationId xmlns:p14="http://schemas.microsoft.com/office/powerpoint/2010/main" val="806930600"/>
      </p:ext>
    </p:extLst>
  </p:cSld>
  <p:clrMapOvr>
    <a:masterClrMapping/>
  </p:clrMapOvr>
  <p:transition/>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2"/>
          <p:cNvSpPr>
            <a:spLocks noGrp="1" noChangeArrowheads="1"/>
          </p:cNvSpPr>
          <p:nvPr>
            <p:ph type="title"/>
          </p:nvPr>
        </p:nvSpPr>
        <p:spPr>
          <a:xfrm>
            <a:off x="2286000" y="0"/>
            <a:ext cx="7696200" cy="838200"/>
          </a:xfrm>
        </p:spPr>
        <p:txBody>
          <a:bodyPr/>
          <a:lstStyle/>
          <a:p>
            <a:pPr eaLnBrk="1" hangingPunct="1"/>
            <a:r>
              <a:rPr lang="zh-CN" altLang="en-US" b="1" smtClean="0"/>
              <a:t>不适当的需求引起的一些风险</a:t>
            </a:r>
          </a:p>
        </p:txBody>
      </p:sp>
      <p:sp>
        <p:nvSpPr>
          <p:cNvPr id="48131" name="Rectangle 3"/>
          <p:cNvSpPr>
            <a:spLocks noGrp="1" noChangeArrowheads="1"/>
          </p:cNvSpPr>
          <p:nvPr>
            <p:ph type="body" idx="1"/>
          </p:nvPr>
        </p:nvSpPr>
        <p:spPr>
          <a:xfrm>
            <a:off x="1905000" y="990600"/>
            <a:ext cx="8534400" cy="5334000"/>
          </a:xfrm>
          <a:noFill/>
        </p:spPr>
        <p:txBody>
          <a:bodyPr/>
          <a:lstStyle/>
          <a:p>
            <a:pPr marL="457200" indent="-457200" eaLnBrk="1" hangingPunct="1">
              <a:buFont typeface="Wingdings" panose="05000000000000000000" pitchFamily="2" charset="2"/>
              <a:buAutoNum type="arabicPeriod" startAt="4"/>
            </a:pPr>
            <a:r>
              <a:rPr lang="zh-CN" altLang="en-US" sz="2800" b="1" u="sng">
                <a:latin typeface="宋体" panose="02010600030101010101" pitchFamily="2" charset="-122"/>
              </a:rPr>
              <a:t>不必要的特性</a:t>
            </a:r>
          </a:p>
          <a:p>
            <a:pPr marL="457200" indent="-457200" eaLnBrk="1" hangingPunct="1">
              <a:buNone/>
            </a:pPr>
            <a:r>
              <a:rPr lang="zh-CN" altLang="en-US" sz="2800" b="1">
                <a:latin typeface="宋体" panose="02010600030101010101" pitchFamily="2" charset="-122"/>
              </a:rPr>
              <a:t>	</a:t>
            </a:r>
            <a:r>
              <a:rPr lang="zh-CN" altLang="en-US" sz="2800" b="1"/>
              <a:t>“</a:t>
            </a:r>
            <a:r>
              <a:rPr lang="zh-CN" altLang="en-US" sz="2800" b="1">
                <a:latin typeface="宋体" panose="02010600030101010101" pitchFamily="2" charset="-122"/>
              </a:rPr>
              <a:t>画蛇添足</a:t>
            </a:r>
            <a:r>
              <a:rPr lang="zh-CN" altLang="en-US" sz="2800" b="1"/>
              <a:t>”</a:t>
            </a:r>
            <a:r>
              <a:rPr lang="zh-CN" altLang="en-US" sz="2800" b="1">
                <a:latin typeface="宋体" panose="02010600030101010101" pitchFamily="2" charset="-122"/>
              </a:rPr>
              <a:t>是指开发人员力图增加一些</a:t>
            </a:r>
            <a:r>
              <a:rPr lang="zh-CN" altLang="en-US" sz="2800" b="1"/>
              <a:t>“</a:t>
            </a:r>
            <a:r>
              <a:rPr lang="zh-CN" altLang="en-US" sz="2800" b="1">
                <a:latin typeface="宋体" panose="02010600030101010101" pitchFamily="2" charset="-122"/>
              </a:rPr>
              <a:t>用户可能欣赏</a:t>
            </a:r>
            <a:r>
              <a:rPr lang="zh-CN" altLang="en-US" sz="2800" b="1"/>
              <a:t>”</a:t>
            </a:r>
            <a:r>
              <a:rPr lang="zh-CN" altLang="en-US" sz="2800" b="1">
                <a:latin typeface="宋体" panose="02010600030101010101" pitchFamily="2" charset="-122"/>
              </a:rPr>
              <a:t>，但需求规格中并未涉及的新功能；这类新功能可能很花哨但用户并不认为很有用，但实现却耗费可观。相反的情况也存在，即客户会提出这些花哨的但缺乏实用价值的需求，需求分析人员应做的是去说服客户避免将资源浪费在这些无关紧要的功能上。</a:t>
            </a:r>
          </a:p>
          <a:p>
            <a:pPr marL="457200" indent="-457200" eaLnBrk="1" hangingPunct="1">
              <a:buNone/>
            </a:pPr>
            <a:r>
              <a:rPr lang="zh-CN" altLang="en-US" sz="2800" b="1">
                <a:latin typeface="宋体" panose="02010600030101010101" pitchFamily="2" charset="-122"/>
              </a:rPr>
              <a:t>	与此相关的做法是，在可能的情况下，为客户提供新的解决方案，在允许的资源和技术可行性之间求得平衡。</a:t>
            </a:r>
          </a:p>
        </p:txBody>
      </p:sp>
    </p:spTree>
    <p:extLst>
      <p:ext uri="{BB962C8B-B14F-4D97-AF65-F5344CB8AC3E}">
        <p14:creationId xmlns:p14="http://schemas.microsoft.com/office/powerpoint/2010/main" val="42810223"/>
      </p:ext>
    </p:extLst>
  </p:cSld>
  <p:clrMapOvr>
    <a:masterClrMapping/>
  </p:clrMapOvr>
  <p:transition/>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p:nvPr>
        </p:nvSpPr>
        <p:spPr>
          <a:xfrm>
            <a:off x="2286000" y="142875"/>
            <a:ext cx="7696200" cy="838200"/>
          </a:xfrm>
        </p:spPr>
        <p:txBody>
          <a:bodyPr/>
          <a:lstStyle/>
          <a:p>
            <a:pPr eaLnBrk="1" hangingPunct="1"/>
            <a:r>
              <a:rPr lang="zh-CN" altLang="en-US" b="1" smtClean="0"/>
              <a:t>不适当的需求引起的一些风险</a:t>
            </a:r>
          </a:p>
        </p:txBody>
      </p:sp>
      <p:sp>
        <p:nvSpPr>
          <p:cNvPr id="49155" name="Rectangle 3"/>
          <p:cNvSpPr>
            <a:spLocks noGrp="1" noChangeArrowheads="1"/>
          </p:cNvSpPr>
          <p:nvPr>
            <p:ph type="body" idx="1"/>
          </p:nvPr>
        </p:nvSpPr>
        <p:spPr>
          <a:xfrm>
            <a:off x="1919288" y="1341438"/>
            <a:ext cx="8534400" cy="3744912"/>
          </a:xfrm>
          <a:noFill/>
        </p:spPr>
        <p:txBody>
          <a:bodyPr/>
          <a:lstStyle/>
          <a:p>
            <a:pPr marL="457200" indent="-457200" eaLnBrk="1" hangingPunct="1">
              <a:buFont typeface="Wingdings" panose="05000000000000000000" pitchFamily="2" charset="2"/>
              <a:buAutoNum type="arabicPeriod" startAt="5"/>
            </a:pPr>
            <a:r>
              <a:rPr lang="zh-CN" altLang="en-US" sz="2800" b="1" u="sng">
                <a:latin typeface="宋体" panose="02010600030101010101" pitchFamily="2" charset="-122"/>
              </a:rPr>
              <a:t>过分精简的规格说明</a:t>
            </a:r>
            <a:r>
              <a:rPr lang="zh-CN" altLang="en-US" sz="2800" b="1">
                <a:latin typeface="宋体" panose="02010600030101010101" pitchFamily="2" charset="-122"/>
              </a:rPr>
              <a:t> </a:t>
            </a:r>
          </a:p>
          <a:p>
            <a:pPr marL="457200" indent="-457200" eaLnBrk="1" hangingPunct="1">
              <a:buNone/>
            </a:pPr>
            <a:r>
              <a:rPr lang="zh-CN" altLang="en-US" sz="2800" b="1">
                <a:latin typeface="宋体" panose="02010600030101010101" pitchFamily="2" charset="-122"/>
              </a:rPr>
              <a:t>	有时客户并不明白需求分析如此重要，于是只作一份简略之至的规格说明。仅涉及产品的某些概念，其它让开发人员在项目进展中去完善，结果是为了管理上的某种要求，开发人员先建立产品结构、甚至是完成编码，然后再补充需求说明。大多数情况下，这会增加开发过程的迂回、返工。</a:t>
            </a:r>
          </a:p>
        </p:txBody>
      </p:sp>
    </p:spTree>
    <p:extLst>
      <p:ext uri="{BB962C8B-B14F-4D97-AF65-F5344CB8AC3E}">
        <p14:creationId xmlns:p14="http://schemas.microsoft.com/office/powerpoint/2010/main" val="3185952489"/>
      </p:ext>
    </p:extLst>
  </p:cSld>
  <p:clrMapOvr>
    <a:masterClrMapping/>
  </p:clrMapOvr>
  <p:transition/>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Rectangle 2"/>
          <p:cNvSpPr>
            <a:spLocks noGrp="1" noChangeArrowheads="1"/>
          </p:cNvSpPr>
          <p:nvPr>
            <p:ph type="title"/>
          </p:nvPr>
        </p:nvSpPr>
        <p:spPr>
          <a:xfrm>
            <a:off x="2208213" y="476250"/>
            <a:ext cx="7696200" cy="838200"/>
          </a:xfrm>
        </p:spPr>
        <p:txBody>
          <a:bodyPr/>
          <a:lstStyle/>
          <a:p>
            <a:pPr eaLnBrk="1" hangingPunct="1"/>
            <a:r>
              <a:rPr lang="zh-CN" altLang="en-US" b="1" smtClean="0"/>
              <a:t>不适当的需求引起的一些风险</a:t>
            </a:r>
          </a:p>
        </p:txBody>
      </p:sp>
      <p:sp>
        <p:nvSpPr>
          <p:cNvPr id="50179" name="Rectangle 3"/>
          <p:cNvSpPr>
            <a:spLocks noGrp="1" noChangeArrowheads="1"/>
          </p:cNvSpPr>
          <p:nvPr>
            <p:ph type="body" idx="1"/>
          </p:nvPr>
        </p:nvSpPr>
        <p:spPr>
          <a:xfrm>
            <a:off x="1847850" y="2133601"/>
            <a:ext cx="8534400" cy="2798763"/>
          </a:xfrm>
          <a:noFill/>
        </p:spPr>
        <p:txBody>
          <a:bodyPr/>
          <a:lstStyle/>
          <a:p>
            <a:pPr marL="457200" indent="-457200" eaLnBrk="1" hangingPunct="1">
              <a:buFont typeface="Wingdings" panose="05000000000000000000" pitchFamily="2" charset="2"/>
              <a:buAutoNum type="arabicPeriod" startAt="6"/>
            </a:pPr>
            <a:r>
              <a:rPr lang="zh-CN" altLang="en-US" sz="2800" b="1" u="sng">
                <a:latin typeface="宋体" panose="02010600030101010101" pitchFamily="2" charset="-122"/>
              </a:rPr>
              <a:t>忽略用户分类</a:t>
            </a:r>
            <a:r>
              <a:rPr lang="zh-CN" altLang="en-US" sz="2800" b="1">
                <a:latin typeface="宋体" panose="02010600030101010101" pitchFamily="2" charset="-122"/>
              </a:rPr>
              <a:t> </a:t>
            </a:r>
          </a:p>
          <a:p>
            <a:pPr marL="457200" indent="-457200" eaLnBrk="1" hangingPunct="1">
              <a:buNone/>
            </a:pPr>
            <a:r>
              <a:rPr lang="zh-CN" altLang="en-US" sz="2800" b="1">
                <a:latin typeface="宋体" panose="02010600030101010101" pitchFamily="2" charset="-122"/>
              </a:rPr>
              <a:t>	多数产品是由不同的人使用不同的特性，使用频繁程度、受教育程度、经验水平也不相同。如果产品功能设计不能满足某些关键用户需求，会大大影响产品的用户接受度。</a:t>
            </a:r>
          </a:p>
        </p:txBody>
      </p:sp>
    </p:spTree>
    <p:extLst>
      <p:ext uri="{BB962C8B-B14F-4D97-AF65-F5344CB8AC3E}">
        <p14:creationId xmlns:p14="http://schemas.microsoft.com/office/powerpoint/2010/main" val="2261575961"/>
      </p:ext>
    </p:extLst>
  </p:cSld>
  <p:clrMapOvr>
    <a:masterClrMapping/>
  </p:clrMapOvr>
  <p:transition/>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p:cNvSpPr>
            <a:spLocks noGrp="1" noChangeArrowheads="1"/>
          </p:cNvSpPr>
          <p:nvPr>
            <p:ph type="title"/>
          </p:nvPr>
        </p:nvSpPr>
        <p:spPr>
          <a:xfrm>
            <a:off x="2286000" y="142875"/>
            <a:ext cx="7696200" cy="838200"/>
          </a:xfrm>
        </p:spPr>
        <p:txBody>
          <a:bodyPr/>
          <a:lstStyle/>
          <a:p>
            <a:pPr eaLnBrk="1" hangingPunct="1"/>
            <a:r>
              <a:rPr lang="zh-CN" altLang="en-US" b="1" smtClean="0"/>
              <a:t>不适当的需求引起的一些风险</a:t>
            </a:r>
          </a:p>
        </p:txBody>
      </p:sp>
      <p:sp>
        <p:nvSpPr>
          <p:cNvPr id="51203" name="Rectangle 3"/>
          <p:cNvSpPr>
            <a:spLocks noGrp="1" noChangeArrowheads="1"/>
          </p:cNvSpPr>
          <p:nvPr>
            <p:ph type="body" idx="1"/>
          </p:nvPr>
        </p:nvSpPr>
        <p:spPr>
          <a:xfrm>
            <a:off x="1905000" y="1335088"/>
            <a:ext cx="8534400" cy="5334000"/>
          </a:xfrm>
          <a:noFill/>
        </p:spPr>
        <p:txBody>
          <a:bodyPr/>
          <a:lstStyle/>
          <a:p>
            <a:pPr marL="457200" indent="-457200" eaLnBrk="1" hangingPunct="1">
              <a:buFont typeface="Wingdings" panose="05000000000000000000" pitchFamily="2" charset="2"/>
              <a:buAutoNum type="arabicPeriod" startAt="7"/>
            </a:pPr>
            <a:r>
              <a:rPr lang="zh-CN" altLang="en-US" sz="2800" b="1" u="sng">
                <a:latin typeface="宋体" panose="02010600030101010101" pitchFamily="2" charset="-122"/>
              </a:rPr>
              <a:t>不准确的计划</a:t>
            </a:r>
            <a:r>
              <a:rPr lang="zh-CN" altLang="en-US" sz="2800" b="1">
                <a:latin typeface="宋体" panose="02010600030101010101" pitchFamily="2" charset="-122"/>
              </a:rPr>
              <a:t> </a:t>
            </a:r>
          </a:p>
          <a:p>
            <a:pPr marL="457200" indent="-457200" eaLnBrk="1" hangingPunct="1">
              <a:buNone/>
            </a:pPr>
            <a:r>
              <a:rPr lang="zh-CN" altLang="en-US" sz="2800" b="1">
                <a:latin typeface="宋体" panose="02010600030101010101" pitchFamily="2" charset="-122"/>
              </a:rPr>
              <a:t>	需求分析不充分和缺乏理解会导致计划的乐观估计；导致需求过程中软件成本估计极不准确的主要原因为：</a:t>
            </a:r>
          </a:p>
          <a:p>
            <a:pPr marL="876300" lvl="1" indent="-419100" eaLnBrk="1" hangingPunct="1">
              <a:buFont typeface="Wingdings" panose="05000000000000000000" pitchFamily="2" charset="2"/>
              <a:buAutoNum type="alphaLcParenR"/>
            </a:pPr>
            <a:r>
              <a:rPr lang="zh-CN" altLang="en-US" b="1" smtClean="0">
                <a:latin typeface="宋体" panose="02010600030101010101" pitchFamily="2" charset="-122"/>
              </a:rPr>
              <a:t>频繁的需求变更；</a:t>
            </a:r>
          </a:p>
          <a:p>
            <a:pPr marL="876300" lvl="1" indent="-419100" eaLnBrk="1" hangingPunct="1">
              <a:buFont typeface="Wingdings" panose="05000000000000000000" pitchFamily="2" charset="2"/>
              <a:buAutoNum type="alphaLcParenR"/>
            </a:pPr>
            <a:r>
              <a:rPr lang="zh-CN" altLang="en-US" b="1" smtClean="0">
                <a:latin typeface="宋体" panose="02010600030101010101" pitchFamily="2" charset="-122"/>
              </a:rPr>
              <a:t>遗漏的需求；</a:t>
            </a:r>
          </a:p>
          <a:p>
            <a:pPr marL="876300" lvl="1" indent="-419100" eaLnBrk="1" hangingPunct="1">
              <a:buFont typeface="Wingdings" panose="05000000000000000000" pitchFamily="2" charset="2"/>
              <a:buAutoNum type="alphaLcParenR"/>
            </a:pPr>
            <a:r>
              <a:rPr lang="zh-CN" altLang="en-US" b="1" smtClean="0">
                <a:latin typeface="宋体" panose="02010600030101010101" pitchFamily="2" charset="-122"/>
              </a:rPr>
              <a:t>与用户交流不够；</a:t>
            </a:r>
          </a:p>
          <a:p>
            <a:pPr marL="876300" lvl="1" indent="-419100" eaLnBrk="1" hangingPunct="1">
              <a:buFont typeface="Wingdings" panose="05000000000000000000" pitchFamily="2" charset="2"/>
              <a:buAutoNum type="alphaLcParenR"/>
            </a:pPr>
            <a:r>
              <a:rPr lang="zh-CN" altLang="en-US" b="1" smtClean="0">
                <a:latin typeface="宋体" panose="02010600030101010101" pitchFamily="2" charset="-122"/>
              </a:rPr>
              <a:t>质量低下的需求规格说明；</a:t>
            </a:r>
          </a:p>
          <a:p>
            <a:pPr marL="876300" lvl="1" indent="-419100" eaLnBrk="1" hangingPunct="1">
              <a:buFont typeface="Wingdings" panose="05000000000000000000" pitchFamily="2" charset="2"/>
              <a:buAutoNum type="alphaLcParenR"/>
            </a:pPr>
            <a:r>
              <a:rPr lang="zh-CN" altLang="en-US" b="1" smtClean="0">
                <a:latin typeface="宋体" panose="02010600030101010101" pitchFamily="2" charset="-122"/>
              </a:rPr>
              <a:t>不完善的需求分析。</a:t>
            </a:r>
          </a:p>
        </p:txBody>
      </p:sp>
    </p:spTree>
    <p:extLst>
      <p:ext uri="{BB962C8B-B14F-4D97-AF65-F5344CB8AC3E}">
        <p14:creationId xmlns:p14="http://schemas.microsoft.com/office/powerpoint/2010/main" val="910499238"/>
      </p:ext>
    </p:extLst>
  </p:cSld>
  <p:clrMapOvr>
    <a:masterClrMapping/>
  </p:clrMapOvr>
  <p:transition/>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p:nvPr>
        </p:nvSpPr>
        <p:spPr/>
        <p:txBody>
          <a:bodyPr/>
          <a:lstStyle/>
          <a:p>
            <a:pPr eaLnBrk="1" hangingPunct="1"/>
            <a:r>
              <a:rPr lang="en-US" altLang="zh-CN" b="1" dirty="0" smtClean="0"/>
              <a:t>7. </a:t>
            </a:r>
            <a:r>
              <a:rPr lang="zh-CN" altLang="en-US" b="1" dirty="0" smtClean="0"/>
              <a:t>高质量的需求带来的好处</a:t>
            </a:r>
          </a:p>
        </p:txBody>
      </p:sp>
      <p:sp>
        <p:nvSpPr>
          <p:cNvPr id="52227" name="Rectangle 3"/>
          <p:cNvSpPr>
            <a:spLocks noGrp="1" noChangeArrowheads="1"/>
          </p:cNvSpPr>
          <p:nvPr>
            <p:ph type="body" idx="1"/>
          </p:nvPr>
        </p:nvSpPr>
        <p:spPr/>
        <p:txBody>
          <a:bodyPr/>
          <a:lstStyle/>
          <a:p>
            <a:pPr eaLnBrk="1" hangingPunct="1"/>
            <a:r>
              <a:rPr lang="zh-CN" altLang="en-US" sz="3600" b="1" dirty="0">
                <a:latin typeface="隶书" panose="02010509060101010101" pitchFamily="49" charset="-122"/>
              </a:rPr>
              <a:t>实行有效的需求工程管理的组织能获得多方面的好处。最大的好处是在开发后期和整个维护阶段重做的工作大大减少了。这使得整个开发过程少走了许多弯路，并在开始阶段就为整个产品开发过程指明了方向。</a:t>
            </a:r>
          </a:p>
          <a:p>
            <a:pPr eaLnBrk="1" hangingPunct="1"/>
            <a:endParaRPr lang="en-US" altLang="zh-CN" dirty="0" smtClean="0"/>
          </a:p>
        </p:txBody>
      </p:sp>
    </p:spTree>
    <p:extLst>
      <p:ext uri="{BB962C8B-B14F-4D97-AF65-F5344CB8AC3E}">
        <p14:creationId xmlns:p14="http://schemas.microsoft.com/office/powerpoint/2010/main" val="1087488685"/>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p:nvPr>
        </p:nvSpPr>
        <p:spPr>
          <a:xfrm>
            <a:off x="1981200" y="115888"/>
            <a:ext cx="8229600" cy="1143000"/>
          </a:xfrm>
        </p:spPr>
        <p:txBody>
          <a:bodyPr/>
          <a:lstStyle/>
          <a:p>
            <a:pPr marL="838200" indent="-838200" eaLnBrk="1" hangingPunct="1"/>
            <a:r>
              <a:rPr lang="en-US" altLang="zh-CN" b="1" smtClean="0"/>
              <a:t>8. </a:t>
            </a:r>
            <a:r>
              <a:rPr lang="zh-CN" altLang="en-US" b="1" smtClean="0"/>
              <a:t>优秀需求所具有的特征</a:t>
            </a:r>
          </a:p>
        </p:txBody>
      </p:sp>
      <p:sp>
        <p:nvSpPr>
          <p:cNvPr id="53251" name="Rectangle 3"/>
          <p:cNvSpPr>
            <a:spLocks noGrp="1" noChangeArrowheads="1"/>
          </p:cNvSpPr>
          <p:nvPr>
            <p:ph type="body" idx="1"/>
          </p:nvPr>
        </p:nvSpPr>
        <p:spPr>
          <a:xfrm>
            <a:off x="1992313" y="1268414"/>
            <a:ext cx="8229600" cy="5184775"/>
          </a:xfrm>
        </p:spPr>
        <p:txBody>
          <a:bodyPr/>
          <a:lstStyle/>
          <a:p>
            <a:pPr marL="990600" lvl="1" indent="-533400" eaLnBrk="1" hangingPunct="1">
              <a:buFont typeface="Wingdings" panose="05000000000000000000" pitchFamily="2" charset="2"/>
              <a:buAutoNum type="arabicPeriod"/>
            </a:pPr>
            <a:r>
              <a:rPr lang="zh-CN" altLang="en-US" b="1" dirty="0" smtClean="0">
                <a:latin typeface="宋体" panose="02010600030101010101" pitchFamily="2" charset="-122"/>
              </a:rPr>
              <a:t>完整性</a:t>
            </a:r>
            <a:r>
              <a:rPr lang="en-US" altLang="zh-CN" b="1" dirty="0" smtClean="0">
                <a:latin typeface="宋体" panose="02010600030101010101" pitchFamily="2" charset="-122"/>
              </a:rPr>
              <a:t>(Complete)</a:t>
            </a:r>
          </a:p>
          <a:p>
            <a:pPr marL="990600" lvl="1" indent="-533400" eaLnBrk="1" hangingPunct="1">
              <a:buFont typeface="Wingdings" panose="05000000000000000000" pitchFamily="2" charset="2"/>
              <a:buAutoNum type="arabicPeriod"/>
            </a:pPr>
            <a:r>
              <a:rPr lang="zh-CN" altLang="en-US" b="1" dirty="0" smtClean="0">
                <a:latin typeface="宋体" panose="02010600030101010101" pitchFamily="2" charset="-122"/>
              </a:rPr>
              <a:t>正确性</a:t>
            </a:r>
            <a:r>
              <a:rPr lang="en-US" altLang="zh-CN" b="1" dirty="0" smtClean="0">
                <a:latin typeface="宋体" panose="02010600030101010101" pitchFamily="2" charset="-122"/>
              </a:rPr>
              <a:t>(Correct)</a:t>
            </a:r>
          </a:p>
          <a:p>
            <a:pPr marL="990600" lvl="1" indent="-533400" eaLnBrk="1" hangingPunct="1">
              <a:buFont typeface="Wingdings" panose="05000000000000000000" pitchFamily="2" charset="2"/>
              <a:buAutoNum type="arabicPeriod"/>
            </a:pPr>
            <a:r>
              <a:rPr lang="zh-CN" altLang="en-US" b="1" dirty="0" smtClean="0">
                <a:latin typeface="宋体" panose="02010600030101010101" pitchFamily="2" charset="-122"/>
              </a:rPr>
              <a:t>可行性</a:t>
            </a:r>
            <a:r>
              <a:rPr lang="en-US" altLang="zh-CN" b="1" dirty="0" smtClean="0">
                <a:latin typeface="宋体" panose="02010600030101010101" pitchFamily="2" charset="-122"/>
              </a:rPr>
              <a:t>(Feasible)</a:t>
            </a:r>
          </a:p>
          <a:p>
            <a:pPr marL="990600" lvl="1" indent="-533400" eaLnBrk="1" hangingPunct="1">
              <a:buFont typeface="Wingdings" panose="05000000000000000000" pitchFamily="2" charset="2"/>
              <a:buAutoNum type="arabicPeriod"/>
            </a:pPr>
            <a:r>
              <a:rPr lang="zh-CN" altLang="en-US" b="1" dirty="0" smtClean="0">
                <a:latin typeface="宋体" panose="02010600030101010101" pitchFamily="2" charset="-122"/>
              </a:rPr>
              <a:t>必要性</a:t>
            </a:r>
            <a:r>
              <a:rPr lang="en-US" altLang="zh-CN" b="1" dirty="0" smtClean="0">
                <a:latin typeface="宋体" panose="02010600030101010101" pitchFamily="2" charset="-122"/>
              </a:rPr>
              <a:t>(Necessary)</a:t>
            </a:r>
          </a:p>
          <a:p>
            <a:pPr marL="990600" lvl="1" indent="-533400" eaLnBrk="1" hangingPunct="1">
              <a:buFont typeface="Wingdings" panose="05000000000000000000" pitchFamily="2" charset="2"/>
              <a:buAutoNum type="arabicPeriod"/>
            </a:pPr>
            <a:r>
              <a:rPr lang="zh-CN" altLang="en-US" b="1" dirty="0" smtClean="0">
                <a:latin typeface="宋体" panose="02010600030101010101" pitchFamily="2" charset="-122"/>
              </a:rPr>
              <a:t>与实现无关性</a:t>
            </a:r>
            <a:r>
              <a:rPr lang="en-US" altLang="zh-CN" b="1" dirty="0" smtClean="0">
                <a:latin typeface="宋体" panose="02010600030101010101" pitchFamily="2" charset="-122"/>
              </a:rPr>
              <a:t>(Implementation Independent)</a:t>
            </a:r>
          </a:p>
          <a:p>
            <a:pPr marL="990600" lvl="1" indent="-533400" eaLnBrk="1" hangingPunct="1">
              <a:buFont typeface="Wingdings" panose="05000000000000000000" pitchFamily="2" charset="2"/>
              <a:buAutoNum type="arabicPeriod"/>
            </a:pPr>
            <a:r>
              <a:rPr lang="zh-CN" altLang="en-US" b="1" dirty="0" smtClean="0">
                <a:latin typeface="宋体" panose="02010600030101010101" pitchFamily="2" charset="-122"/>
              </a:rPr>
              <a:t>划分优先级 </a:t>
            </a:r>
            <a:r>
              <a:rPr lang="en-US" altLang="zh-CN" b="1" dirty="0" smtClean="0">
                <a:latin typeface="宋体" panose="02010600030101010101" pitchFamily="2" charset="-122"/>
              </a:rPr>
              <a:t>(Prioritized, Future and trade-offs)</a:t>
            </a:r>
          </a:p>
          <a:p>
            <a:pPr marL="990600" lvl="1" indent="-533400" eaLnBrk="1" hangingPunct="1">
              <a:buFont typeface="Wingdings" panose="05000000000000000000" pitchFamily="2" charset="2"/>
              <a:buAutoNum type="arabicPeriod"/>
            </a:pPr>
            <a:r>
              <a:rPr lang="zh-CN" altLang="en-US" b="1" dirty="0" smtClean="0">
                <a:latin typeface="宋体" panose="02010600030101010101" pitchFamily="2" charset="-122"/>
              </a:rPr>
              <a:t>无二义性</a:t>
            </a:r>
            <a:r>
              <a:rPr lang="en-US" altLang="zh-CN" b="1" dirty="0" smtClean="0">
                <a:latin typeface="宋体" panose="02010600030101010101" pitchFamily="2" charset="-122"/>
              </a:rPr>
              <a:t>(Unique)</a:t>
            </a:r>
          </a:p>
          <a:p>
            <a:pPr marL="990600" lvl="1" indent="-533400" eaLnBrk="1" hangingPunct="1">
              <a:buFont typeface="Wingdings" panose="05000000000000000000" pitchFamily="2" charset="2"/>
              <a:buAutoNum type="arabicPeriod"/>
            </a:pPr>
            <a:r>
              <a:rPr lang="zh-CN" altLang="en-US" b="1" dirty="0" smtClean="0">
                <a:latin typeface="宋体" panose="02010600030101010101" pitchFamily="2" charset="-122"/>
              </a:rPr>
              <a:t>可验证性</a:t>
            </a:r>
            <a:r>
              <a:rPr lang="en-US" altLang="zh-CN" b="1" dirty="0" smtClean="0">
                <a:latin typeface="宋体" panose="02010600030101010101" pitchFamily="2" charset="-122"/>
              </a:rPr>
              <a:t>(Verifiable)</a:t>
            </a:r>
          </a:p>
          <a:p>
            <a:pPr marL="990600" lvl="1" indent="-533400" eaLnBrk="1" hangingPunct="1">
              <a:buFont typeface="Wingdings" panose="05000000000000000000" pitchFamily="2" charset="2"/>
              <a:buAutoNum type="arabicPeriod"/>
            </a:pPr>
            <a:r>
              <a:rPr lang="zh-CN" altLang="en-US" b="1" dirty="0" smtClean="0">
                <a:latin typeface="宋体" panose="02010600030101010101" pitchFamily="2" charset="-122"/>
              </a:rPr>
              <a:t>正确的详细层次</a:t>
            </a:r>
            <a:r>
              <a:rPr lang="en-US" altLang="zh-CN" b="1" dirty="0" smtClean="0">
                <a:latin typeface="宋体" panose="02010600030101010101" pitchFamily="2" charset="-122"/>
              </a:rPr>
              <a:t>(Right level of details)</a:t>
            </a:r>
            <a:endParaRPr lang="en-US" altLang="zh-CN" b="1" dirty="0" smtClean="0">
              <a:latin typeface="隶书" panose="02010509060101010101" pitchFamily="49" charset="-122"/>
            </a:endParaRPr>
          </a:p>
        </p:txBody>
      </p:sp>
    </p:spTree>
    <p:extLst>
      <p:ext uri="{BB962C8B-B14F-4D97-AF65-F5344CB8AC3E}">
        <p14:creationId xmlns:p14="http://schemas.microsoft.com/office/powerpoint/2010/main" val="1769096249"/>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a:xfrm>
            <a:off x="1981200" y="188913"/>
            <a:ext cx="8229600" cy="1143000"/>
          </a:xfrm>
        </p:spPr>
        <p:txBody>
          <a:bodyPr/>
          <a:lstStyle/>
          <a:p>
            <a:pPr eaLnBrk="1" hangingPunct="1"/>
            <a:r>
              <a:rPr lang="en-US" altLang="zh-CN" b="1" smtClean="0"/>
              <a:t>8. </a:t>
            </a:r>
            <a:r>
              <a:rPr lang="zh-CN" altLang="en-US" b="1" smtClean="0"/>
              <a:t>优秀需求所具有的特征</a:t>
            </a:r>
          </a:p>
        </p:txBody>
      </p:sp>
      <p:sp>
        <p:nvSpPr>
          <p:cNvPr id="54275" name="Rectangle 3"/>
          <p:cNvSpPr>
            <a:spLocks noGrp="1" noChangeArrowheads="1"/>
          </p:cNvSpPr>
          <p:nvPr>
            <p:ph type="body" idx="1"/>
          </p:nvPr>
        </p:nvSpPr>
        <p:spPr>
          <a:xfrm>
            <a:off x="1981200" y="1341438"/>
            <a:ext cx="8229600" cy="5111750"/>
          </a:xfrm>
        </p:spPr>
        <p:txBody>
          <a:bodyPr/>
          <a:lstStyle/>
          <a:p>
            <a:pPr marL="609600" indent="-609600" eaLnBrk="1" hangingPunct="1">
              <a:lnSpc>
                <a:spcPct val="90000"/>
              </a:lnSpc>
              <a:buFont typeface="Wingdings" panose="05000000000000000000" pitchFamily="2" charset="2"/>
              <a:buAutoNum type="circleNumDbPlain"/>
            </a:pPr>
            <a:r>
              <a:rPr lang="zh-CN" altLang="en-US" sz="3600" b="1">
                <a:latin typeface="宋体" panose="02010600030101010101" pitchFamily="2" charset="-122"/>
              </a:rPr>
              <a:t>完整性</a:t>
            </a:r>
            <a:r>
              <a:rPr lang="en-US" altLang="zh-CN" sz="3600" b="1">
                <a:latin typeface="宋体" panose="02010600030101010101" pitchFamily="2" charset="-122"/>
              </a:rPr>
              <a:t>(Complete)</a:t>
            </a:r>
          </a:p>
          <a:p>
            <a:pPr marL="990600" lvl="1" indent="-533400" eaLnBrk="1" hangingPunct="1">
              <a:lnSpc>
                <a:spcPct val="90000"/>
              </a:lnSpc>
              <a:buFont typeface="Wingdings" panose="05000000000000000000" pitchFamily="2" charset="2"/>
              <a:buChar char="Ø"/>
            </a:pPr>
            <a:r>
              <a:rPr lang="zh-CN" altLang="en-US" sz="3200" b="1">
                <a:latin typeface="宋体" panose="02010600030101010101" pitchFamily="2" charset="-122"/>
              </a:rPr>
              <a:t>每一项需求都必须将所要实现的功能描述清楚</a:t>
            </a:r>
            <a:r>
              <a:rPr lang="en-US" altLang="zh-CN" sz="3200" b="1">
                <a:latin typeface="宋体" panose="02010600030101010101" pitchFamily="2" charset="-122"/>
              </a:rPr>
              <a:t>,</a:t>
            </a:r>
            <a:r>
              <a:rPr lang="zh-CN" altLang="en-US" sz="3200" b="1">
                <a:latin typeface="宋体" panose="02010600030101010101" pitchFamily="2" charset="-122"/>
              </a:rPr>
              <a:t>以使开发人员获得设计和实现这些功能所需的所有必要信息。</a:t>
            </a:r>
          </a:p>
          <a:p>
            <a:pPr marL="609600" indent="-609600" eaLnBrk="1" hangingPunct="1">
              <a:lnSpc>
                <a:spcPct val="90000"/>
              </a:lnSpc>
              <a:buFont typeface="Wingdings" panose="05000000000000000000" pitchFamily="2" charset="2"/>
              <a:buAutoNum type="circleNumDbPlain" startAt="2"/>
            </a:pPr>
            <a:r>
              <a:rPr lang="zh-CN" altLang="en-US" sz="3600" b="1">
                <a:latin typeface="宋体" panose="02010600030101010101" pitchFamily="2" charset="-122"/>
              </a:rPr>
              <a:t>正确性</a:t>
            </a:r>
            <a:r>
              <a:rPr lang="en-US" altLang="zh-CN" sz="3600" b="1">
                <a:latin typeface="宋体" panose="02010600030101010101" pitchFamily="2" charset="-122"/>
              </a:rPr>
              <a:t>(Correctness)</a:t>
            </a:r>
          </a:p>
          <a:p>
            <a:pPr marL="609600" indent="-609600" eaLnBrk="1" hangingPunct="1">
              <a:lnSpc>
                <a:spcPct val="90000"/>
              </a:lnSpc>
              <a:buNone/>
            </a:pPr>
            <a:r>
              <a:rPr lang="en-US" altLang="zh-CN" sz="3300" b="1">
                <a:latin typeface="宋体" panose="02010600030101010101" pitchFamily="2" charset="-122"/>
              </a:rPr>
              <a:t>	</a:t>
            </a:r>
            <a:r>
              <a:rPr lang="zh-CN" altLang="en-US" b="1" smtClean="0">
                <a:latin typeface="宋体" panose="02010600030101010101" pitchFamily="2" charset="-122"/>
              </a:rPr>
              <a:t>每一项需求都必须准确地陈述所要开发的功能。其判别标准是是否符合需求的来源，如用户需求和系统需求。其检验标准就是通过用例和场景分析验证是否满足用户或客户的真实需要。</a:t>
            </a:r>
            <a:endParaRPr lang="zh-CN" altLang="en-US" sz="2800"/>
          </a:p>
        </p:txBody>
      </p:sp>
    </p:spTree>
    <p:extLst>
      <p:ext uri="{BB962C8B-B14F-4D97-AF65-F5344CB8AC3E}">
        <p14:creationId xmlns:p14="http://schemas.microsoft.com/office/powerpoint/2010/main" val="1080708123"/>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p:cNvSpPr>
            <a:spLocks noGrp="1" noChangeArrowheads="1"/>
          </p:cNvSpPr>
          <p:nvPr>
            <p:ph type="title"/>
          </p:nvPr>
        </p:nvSpPr>
        <p:spPr>
          <a:xfrm>
            <a:off x="1981200" y="115888"/>
            <a:ext cx="8229600" cy="1143000"/>
          </a:xfrm>
        </p:spPr>
        <p:txBody>
          <a:bodyPr/>
          <a:lstStyle/>
          <a:p>
            <a:pPr eaLnBrk="1" hangingPunct="1"/>
            <a:r>
              <a:rPr lang="en-US" altLang="zh-CN" b="1" smtClean="0"/>
              <a:t>8. </a:t>
            </a:r>
            <a:r>
              <a:rPr lang="zh-CN" altLang="en-US" b="1" smtClean="0"/>
              <a:t>优秀需求所具有的特征</a:t>
            </a:r>
          </a:p>
        </p:txBody>
      </p:sp>
      <p:sp>
        <p:nvSpPr>
          <p:cNvPr id="55299" name="Rectangle 3"/>
          <p:cNvSpPr>
            <a:spLocks noGrp="1" noChangeArrowheads="1"/>
          </p:cNvSpPr>
          <p:nvPr>
            <p:ph type="body" idx="1"/>
          </p:nvPr>
        </p:nvSpPr>
        <p:spPr>
          <a:xfrm>
            <a:off x="1981200" y="1341438"/>
            <a:ext cx="8229600" cy="5327650"/>
          </a:xfrm>
        </p:spPr>
        <p:txBody>
          <a:bodyPr/>
          <a:lstStyle/>
          <a:p>
            <a:pPr marL="609600" indent="-609600" eaLnBrk="1" hangingPunct="1">
              <a:lnSpc>
                <a:spcPct val="80000"/>
              </a:lnSpc>
              <a:buFont typeface="Wingdings" panose="05000000000000000000" pitchFamily="2" charset="2"/>
              <a:buAutoNum type="circleNumDbPlain" startAt="3"/>
            </a:pPr>
            <a:r>
              <a:rPr lang="zh-CN" altLang="en-US" sz="3600" b="1">
                <a:latin typeface="宋体" panose="02010600030101010101" pitchFamily="2" charset="-122"/>
              </a:rPr>
              <a:t>可行性</a:t>
            </a:r>
            <a:r>
              <a:rPr lang="en-US" altLang="zh-CN" sz="3600" b="1">
                <a:latin typeface="宋体" panose="02010600030101010101" pitchFamily="2" charset="-122"/>
              </a:rPr>
              <a:t>(Feasible)</a:t>
            </a:r>
          </a:p>
          <a:p>
            <a:pPr marL="609600" indent="-609600" eaLnBrk="1" hangingPunct="1">
              <a:lnSpc>
                <a:spcPct val="80000"/>
              </a:lnSpc>
              <a:buNone/>
            </a:pPr>
            <a:r>
              <a:rPr lang="en-US" altLang="zh-CN" sz="3300" b="1">
                <a:latin typeface="宋体" panose="02010600030101010101" pitchFamily="2" charset="-122"/>
              </a:rPr>
              <a:t>	</a:t>
            </a:r>
            <a:r>
              <a:rPr lang="zh-CN" altLang="en-US" b="1" smtClean="0">
                <a:latin typeface="宋体" panose="02010600030101010101" pitchFamily="2" charset="-122"/>
              </a:rPr>
              <a:t>每一项需求都必须在已知系统和环境的技术、资源等限制范围内是可以实施的。做到这一点，需要多方人员参与检查其可行性，这些人员包括：开发软件工程师，系统工程师，市场人员等。</a:t>
            </a:r>
          </a:p>
          <a:p>
            <a:pPr marL="609600" indent="-609600" eaLnBrk="1" hangingPunct="1">
              <a:lnSpc>
                <a:spcPct val="80000"/>
              </a:lnSpc>
              <a:buFont typeface="Wingdings" panose="05000000000000000000" pitchFamily="2" charset="2"/>
              <a:buAutoNum type="circleNumDbPlain" startAt="4"/>
            </a:pPr>
            <a:r>
              <a:rPr lang="zh-CN" altLang="en-US" sz="3600" b="1">
                <a:latin typeface="宋体" panose="02010600030101010101" pitchFamily="2" charset="-122"/>
              </a:rPr>
              <a:t>必要性</a:t>
            </a:r>
            <a:r>
              <a:rPr lang="en-US" altLang="zh-CN" sz="3600" b="1">
                <a:latin typeface="宋体" panose="02010600030101010101" pitchFamily="2" charset="-122"/>
              </a:rPr>
              <a:t>(Necessary)</a:t>
            </a:r>
          </a:p>
          <a:p>
            <a:pPr marL="990600" lvl="1" indent="-533400" eaLnBrk="1" hangingPunct="1">
              <a:lnSpc>
                <a:spcPct val="80000"/>
              </a:lnSpc>
              <a:buFont typeface="Wingdings" panose="05000000000000000000" pitchFamily="2" charset="2"/>
              <a:buChar char="Ø"/>
            </a:pPr>
            <a:r>
              <a:rPr lang="zh-CN" altLang="en-US" sz="3200" b="1">
                <a:latin typeface="宋体" panose="02010600030101010101" pitchFamily="2" charset="-122"/>
              </a:rPr>
              <a:t>每一项需求都必须和某项真正用户需求，如使用实例或某项高层系统需求，相关联。</a:t>
            </a:r>
          </a:p>
          <a:p>
            <a:pPr marL="990600" lvl="1" indent="-533400" eaLnBrk="1" hangingPunct="1">
              <a:lnSpc>
                <a:spcPct val="80000"/>
              </a:lnSpc>
              <a:buFont typeface="Wingdings" panose="05000000000000000000" pitchFamily="2" charset="2"/>
              <a:buChar char="Ø"/>
            </a:pPr>
            <a:r>
              <a:rPr lang="en-US" altLang="zh-CN" sz="2900">
                <a:latin typeface="Comic Sans MS" panose="030F0702030302020204" pitchFamily="66" charset="0"/>
              </a:rPr>
              <a:t>It specifies what must be done and only what must be done</a:t>
            </a:r>
            <a:endParaRPr lang="en-US" altLang="zh-CN" sz="2000" b="1">
              <a:latin typeface="宋体" panose="02010600030101010101" pitchFamily="2" charset="-122"/>
            </a:endParaRPr>
          </a:p>
        </p:txBody>
      </p:sp>
    </p:spTree>
    <p:extLst>
      <p:ext uri="{BB962C8B-B14F-4D97-AF65-F5344CB8AC3E}">
        <p14:creationId xmlns:p14="http://schemas.microsoft.com/office/powerpoint/2010/main" val="904202833"/>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p:nvPr>
        </p:nvSpPr>
        <p:spPr/>
        <p:txBody>
          <a:bodyPr/>
          <a:lstStyle/>
          <a:p>
            <a:pPr eaLnBrk="1" hangingPunct="1"/>
            <a:r>
              <a:rPr lang="en-US" altLang="zh-CN" b="1" smtClean="0"/>
              <a:t>8. </a:t>
            </a:r>
            <a:r>
              <a:rPr lang="zh-CN" altLang="en-US" b="1" smtClean="0"/>
              <a:t>优秀需求所具有的特征</a:t>
            </a:r>
          </a:p>
        </p:txBody>
      </p:sp>
      <p:sp>
        <p:nvSpPr>
          <p:cNvPr id="56323" name="Rectangle 3"/>
          <p:cNvSpPr>
            <a:spLocks noGrp="1" noChangeArrowheads="1"/>
          </p:cNvSpPr>
          <p:nvPr>
            <p:ph type="body" idx="1"/>
          </p:nvPr>
        </p:nvSpPr>
        <p:spPr>
          <a:xfrm>
            <a:off x="1981200" y="1412876"/>
            <a:ext cx="8229600" cy="5184775"/>
          </a:xfrm>
        </p:spPr>
        <p:txBody>
          <a:bodyPr/>
          <a:lstStyle/>
          <a:p>
            <a:pPr marL="609600" indent="-609600" eaLnBrk="1" hangingPunct="1">
              <a:lnSpc>
                <a:spcPct val="90000"/>
              </a:lnSpc>
              <a:buFont typeface="Wingdings" panose="05000000000000000000" pitchFamily="2" charset="2"/>
              <a:buAutoNum type="circleNumDbPlain" startAt="5"/>
            </a:pPr>
            <a:r>
              <a:rPr lang="zh-CN" altLang="en-US" sz="4000" b="1">
                <a:latin typeface="宋体" panose="02010600030101010101" pitchFamily="2" charset="-122"/>
              </a:rPr>
              <a:t>与实现无关性</a:t>
            </a:r>
          </a:p>
          <a:p>
            <a:pPr marL="609600" indent="-609600" eaLnBrk="1" hangingPunct="1">
              <a:lnSpc>
                <a:spcPct val="90000"/>
              </a:lnSpc>
              <a:buNone/>
            </a:pPr>
            <a:r>
              <a:rPr lang="zh-CN" altLang="en-US" sz="3700" b="1">
                <a:latin typeface="宋体" panose="02010600030101010101" pitchFamily="2" charset="-122"/>
              </a:rPr>
              <a:t>	</a:t>
            </a:r>
            <a:r>
              <a:rPr lang="zh-CN" altLang="en-US" b="1" smtClean="0">
                <a:latin typeface="宋体" panose="02010600030101010101" pitchFamily="2" charset="-122"/>
              </a:rPr>
              <a:t>需求关注的是系统将要做些什么，其后的阶段如设计，关注该系统将怎样来实现。如果一项需求与实现密切相关，这会限制设计人员优化、合理设计系统的自由度。</a:t>
            </a:r>
          </a:p>
          <a:p>
            <a:pPr marL="609600" indent="-609600" eaLnBrk="1" hangingPunct="1">
              <a:lnSpc>
                <a:spcPct val="90000"/>
              </a:lnSpc>
              <a:buFont typeface="Wingdings" panose="05000000000000000000" pitchFamily="2" charset="2"/>
              <a:buAutoNum type="circleNumDbPlain" startAt="6"/>
            </a:pPr>
            <a:r>
              <a:rPr lang="zh-CN" altLang="en-US" sz="4000" b="1">
                <a:latin typeface="宋体" panose="02010600030101010101" pitchFamily="2" charset="-122"/>
              </a:rPr>
              <a:t>划分优先级</a:t>
            </a:r>
          </a:p>
          <a:p>
            <a:pPr marL="609600" indent="-609600" eaLnBrk="1" hangingPunct="1">
              <a:lnSpc>
                <a:spcPct val="90000"/>
              </a:lnSpc>
              <a:buNone/>
            </a:pPr>
            <a:r>
              <a:rPr lang="zh-CN" altLang="en-US" sz="3700" b="1">
                <a:latin typeface="宋体" panose="02010600030101010101" pitchFamily="2" charset="-122"/>
              </a:rPr>
              <a:t>	</a:t>
            </a:r>
            <a:r>
              <a:rPr lang="zh-CN" altLang="en-US" b="1" smtClean="0">
                <a:latin typeface="宋体" panose="02010600030101010101" pitchFamily="2" charset="-122"/>
              </a:rPr>
              <a:t>给每项需求分配一个可实施的优先级以指明其在产品中的重要程度。如果所有的需求都同等重要，项目管理者在节省预算或调度中就会无从选择。</a:t>
            </a:r>
            <a:endParaRPr lang="zh-CN" altLang="en-US" sz="2800"/>
          </a:p>
        </p:txBody>
      </p:sp>
    </p:spTree>
    <p:extLst>
      <p:ext uri="{BB962C8B-B14F-4D97-AF65-F5344CB8AC3E}">
        <p14:creationId xmlns:p14="http://schemas.microsoft.com/office/powerpoint/2010/main" val="1941660594"/>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Grp="1" noChangeArrowheads="1"/>
          </p:cNvSpPr>
          <p:nvPr>
            <p:ph type="title"/>
          </p:nvPr>
        </p:nvSpPr>
        <p:spPr/>
        <p:txBody>
          <a:bodyPr/>
          <a:lstStyle/>
          <a:p>
            <a:pPr eaLnBrk="1" hangingPunct="1"/>
            <a:r>
              <a:rPr lang="en-US" altLang="zh-CN" b="1" smtClean="0"/>
              <a:t>8. </a:t>
            </a:r>
            <a:r>
              <a:rPr lang="zh-CN" altLang="en-US" b="1" smtClean="0"/>
              <a:t>优秀需求所具有的特征</a:t>
            </a:r>
          </a:p>
        </p:txBody>
      </p:sp>
      <p:sp>
        <p:nvSpPr>
          <p:cNvPr id="57347" name="Rectangle 3"/>
          <p:cNvSpPr>
            <a:spLocks noGrp="1" noChangeArrowheads="1"/>
          </p:cNvSpPr>
          <p:nvPr>
            <p:ph type="body" idx="1"/>
          </p:nvPr>
        </p:nvSpPr>
        <p:spPr>
          <a:xfrm>
            <a:off x="1992313" y="1557339"/>
            <a:ext cx="8229600" cy="4968875"/>
          </a:xfrm>
        </p:spPr>
        <p:txBody>
          <a:bodyPr/>
          <a:lstStyle/>
          <a:p>
            <a:pPr marL="609600" indent="-609600" eaLnBrk="1" hangingPunct="1">
              <a:lnSpc>
                <a:spcPct val="90000"/>
              </a:lnSpc>
              <a:buFont typeface="Wingdings" panose="05000000000000000000" pitchFamily="2" charset="2"/>
              <a:buAutoNum type="circleNumDbPlain" startAt="7"/>
            </a:pPr>
            <a:r>
              <a:rPr lang="zh-CN" altLang="en-US" b="1" smtClean="0">
                <a:latin typeface="宋体" panose="02010600030101010101" pitchFamily="2" charset="-122"/>
              </a:rPr>
              <a:t>无二义性</a:t>
            </a:r>
            <a:r>
              <a:rPr lang="en-US" altLang="zh-CN" b="1" smtClean="0">
                <a:latin typeface="宋体" panose="02010600030101010101" pitchFamily="2" charset="-122"/>
              </a:rPr>
              <a:t>(Unique</a:t>
            </a:r>
            <a:r>
              <a:rPr lang="zh-CN" altLang="en-US" b="1" smtClean="0">
                <a:latin typeface="宋体" panose="02010600030101010101" pitchFamily="2" charset="-122"/>
              </a:rPr>
              <a:t>，</a:t>
            </a:r>
            <a:r>
              <a:rPr lang="en-US" altLang="zh-CN" b="1" smtClean="0">
                <a:latin typeface="宋体" panose="02010600030101010101" pitchFamily="2" charset="-122"/>
              </a:rPr>
              <a:t>Unambiguous)</a:t>
            </a:r>
          </a:p>
          <a:p>
            <a:pPr marL="609600" indent="-609600" eaLnBrk="1" hangingPunct="1">
              <a:lnSpc>
                <a:spcPct val="90000"/>
              </a:lnSpc>
              <a:buNone/>
            </a:pPr>
            <a:r>
              <a:rPr lang="en-US" altLang="zh-CN" sz="2900" b="1">
                <a:latin typeface="宋体" panose="02010600030101010101" pitchFamily="2" charset="-122"/>
              </a:rPr>
              <a:t>	</a:t>
            </a:r>
            <a:r>
              <a:rPr lang="zh-CN" altLang="en-US" sz="2800" b="1">
                <a:latin typeface="宋体" panose="02010600030101010101" pitchFamily="2" charset="-122"/>
              </a:rPr>
              <a:t>每项需求对所有相关的读者只能有一个明确统一的解释。由于自然语言极易导致二义性，应尽量把每项需求用简明的用户语言表达出来。避免二义性的有效方法包括对需求文档的正规审查，编写测试用例，开发原型等。</a:t>
            </a:r>
          </a:p>
          <a:p>
            <a:pPr marL="609600" indent="-609600" eaLnBrk="1" hangingPunct="1">
              <a:lnSpc>
                <a:spcPct val="90000"/>
              </a:lnSpc>
              <a:buFont typeface="Wingdings" panose="05000000000000000000" pitchFamily="2" charset="2"/>
              <a:buAutoNum type="circleNumDbPlain" startAt="8"/>
            </a:pPr>
            <a:r>
              <a:rPr lang="zh-CN" altLang="en-US" b="1" smtClean="0">
                <a:latin typeface="宋体" panose="02010600030101010101" pitchFamily="2" charset="-122"/>
              </a:rPr>
              <a:t>可验证性</a:t>
            </a:r>
            <a:r>
              <a:rPr lang="en-US" altLang="zh-CN" b="1" smtClean="0">
                <a:latin typeface="宋体" panose="02010600030101010101" pitchFamily="2" charset="-122"/>
              </a:rPr>
              <a:t>(Verifiable)</a:t>
            </a:r>
          </a:p>
          <a:p>
            <a:pPr marL="609600" indent="-609600" eaLnBrk="1" hangingPunct="1">
              <a:lnSpc>
                <a:spcPct val="90000"/>
              </a:lnSpc>
              <a:buNone/>
            </a:pPr>
            <a:r>
              <a:rPr lang="en-US" altLang="zh-CN" sz="2900" b="1">
                <a:latin typeface="宋体" panose="02010600030101010101" pitchFamily="2" charset="-122"/>
              </a:rPr>
              <a:t>	</a:t>
            </a:r>
            <a:r>
              <a:rPr lang="zh-CN" altLang="en-US" sz="2800" b="1">
                <a:latin typeface="宋体" panose="02010600030101010101" pitchFamily="2" charset="-122"/>
              </a:rPr>
              <a:t>每项需求都应能够被人或机器加以验证，否则将无法确定该项需求是否实现正确。验证方法主要为测试用例，场景符合性分析，正规审查，原型演示。</a:t>
            </a:r>
            <a:endParaRPr lang="zh-CN" altLang="en-US" sz="2800"/>
          </a:p>
        </p:txBody>
      </p:sp>
    </p:spTree>
    <p:extLst>
      <p:ext uri="{BB962C8B-B14F-4D97-AF65-F5344CB8AC3E}">
        <p14:creationId xmlns:p14="http://schemas.microsoft.com/office/powerpoint/2010/main" val="231986064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p:nvPr>
        </p:nvSpPr>
        <p:spPr/>
        <p:txBody>
          <a:bodyPr/>
          <a:lstStyle/>
          <a:p>
            <a:pPr eaLnBrk="1" hangingPunct="1"/>
            <a:r>
              <a:rPr lang="en-US" altLang="zh-CN" b="1" smtClean="0"/>
              <a:t>8. </a:t>
            </a:r>
            <a:r>
              <a:rPr lang="zh-CN" altLang="en-US" b="1" smtClean="0"/>
              <a:t>优秀需求所具有的特征</a:t>
            </a:r>
          </a:p>
        </p:txBody>
      </p:sp>
      <p:sp>
        <p:nvSpPr>
          <p:cNvPr id="58371" name="Rectangle 3"/>
          <p:cNvSpPr>
            <a:spLocks noGrp="1" noChangeArrowheads="1"/>
          </p:cNvSpPr>
          <p:nvPr>
            <p:ph type="body" idx="1"/>
          </p:nvPr>
        </p:nvSpPr>
        <p:spPr>
          <a:xfrm>
            <a:off x="1992313" y="1773238"/>
            <a:ext cx="8424862" cy="4525962"/>
          </a:xfrm>
        </p:spPr>
        <p:txBody>
          <a:bodyPr/>
          <a:lstStyle/>
          <a:p>
            <a:pPr marL="609600" indent="-609600" eaLnBrk="1" hangingPunct="1">
              <a:buFont typeface="Wingdings" panose="05000000000000000000" pitchFamily="2" charset="2"/>
              <a:buAutoNum type="circleNumDbPlain" startAt="9"/>
            </a:pPr>
            <a:r>
              <a:rPr lang="zh-CN" altLang="en-US" sz="3600" b="1">
                <a:latin typeface="宋体" panose="02010600030101010101" pitchFamily="2" charset="-122"/>
              </a:rPr>
              <a:t>正确的详细层次</a:t>
            </a:r>
            <a:r>
              <a:rPr lang="en-US" altLang="zh-CN" sz="3600" b="1">
                <a:latin typeface="宋体" panose="02010600030101010101" pitchFamily="2" charset="-122"/>
              </a:rPr>
              <a:t>(Right level of detail)</a:t>
            </a:r>
          </a:p>
          <a:p>
            <a:pPr marL="609600" indent="-609600" eaLnBrk="1" hangingPunct="1">
              <a:buNone/>
            </a:pPr>
            <a:r>
              <a:rPr lang="en-US" altLang="zh-CN" sz="3700" b="1">
                <a:latin typeface="宋体" panose="02010600030101010101" pitchFamily="2" charset="-122"/>
              </a:rPr>
              <a:t>	</a:t>
            </a:r>
            <a:r>
              <a:rPr lang="zh-CN" altLang="en-US" b="1" smtClean="0">
                <a:latin typeface="宋体" panose="02010600030101010101" pitchFamily="2" charset="-122"/>
              </a:rPr>
              <a:t>每项需求或者一组需求都应包含相应的层面信息，以便据此足以导出下一层产品需求或设计，但不应提供对下一层活动如设计不必要的限制</a:t>
            </a:r>
            <a:endParaRPr lang="zh-CN" altLang="en-US" b="1" smtClean="0">
              <a:solidFill>
                <a:srgbClr val="009900"/>
              </a:solidFill>
              <a:latin typeface="Arial Narrow" panose="020B0606020202030204" pitchFamily="34" charset="0"/>
            </a:endParaRPr>
          </a:p>
          <a:p>
            <a:pPr marL="609600" indent="-609600" eaLnBrk="1" hangingPunct="1"/>
            <a:endParaRPr lang="en-US" altLang="zh-CN" smtClean="0"/>
          </a:p>
        </p:txBody>
      </p:sp>
    </p:spTree>
    <p:extLst>
      <p:ext uri="{BB962C8B-B14F-4D97-AF65-F5344CB8AC3E}">
        <p14:creationId xmlns:p14="http://schemas.microsoft.com/office/powerpoint/2010/main" val="3623306095"/>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p:nvPr>
        </p:nvSpPr>
        <p:spPr>
          <a:xfrm>
            <a:off x="2279650" y="333375"/>
            <a:ext cx="7696200" cy="838200"/>
          </a:xfrm>
        </p:spPr>
        <p:txBody>
          <a:bodyPr/>
          <a:lstStyle/>
          <a:p>
            <a:pPr eaLnBrk="1" hangingPunct="1"/>
            <a:r>
              <a:rPr lang="zh-CN" altLang="en-US" b="1" dirty="0" smtClean="0"/>
              <a:t>优秀需求具有的特性</a:t>
            </a:r>
          </a:p>
        </p:txBody>
      </p:sp>
      <p:sp>
        <p:nvSpPr>
          <p:cNvPr id="59395" name="Rectangle 3"/>
          <p:cNvSpPr>
            <a:spLocks noGrp="1" noChangeArrowheads="1"/>
          </p:cNvSpPr>
          <p:nvPr>
            <p:ph type="body" idx="1"/>
          </p:nvPr>
        </p:nvSpPr>
        <p:spPr>
          <a:xfrm>
            <a:off x="2209800" y="1600201"/>
            <a:ext cx="7848600" cy="4371975"/>
          </a:xfrm>
          <a:noFill/>
        </p:spPr>
        <p:txBody>
          <a:bodyPr/>
          <a:lstStyle/>
          <a:p>
            <a:pPr marL="457200" indent="-457200" eaLnBrk="1" hangingPunct="1"/>
            <a:r>
              <a:rPr lang="zh-CN" altLang="en-US" sz="4000" b="1" dirty="0">
                <a:latin typeface="宋体" panose="02010600030101010101" pitchFamily="2" charset="-122"/>
              </a:rPr>
              <a:t>需求规格说明的特征</a:t>
            </a:r>
          </a:p>
          <a:p>
            <a:pPr marL="876300" lvl="1" indent="-419100" eaLnBrk="1" hangingPunct="1">
              <a:buFont typeface="Wingdings" panose="05000000000000000000" pitchFamily="2" charset="2"/>
              <a:buAutoNum type="arabicPeriod"/>
            </a:pPr>
            <a:r>
              <a:rPr lang="zh-CN" altLang="en-US" sz="3600" b="1" dirty="0">
                <a:latin typeface="宋体" panose="02010600030101010101" pitchFamily="2" charset="-122"/>
              </a:rPr>
              <a:t>完整性</a:t>
            </a:r>
            <a:r>
              <a:rPr lang="en-US" altLang="zh-CN" sz="3600" b="1" dirty="0">
                <a:latin typeface="宋体" panose="02010600030101010101" pitchFamily="2" charset="-122"/>
              </a:rPr>
              <a:t>(Complete)</a:t>
            </a:r>
          </a:p>
          <a:p>
            <a:pPr marL="876300" lvl="1" indent="-419100" eaLnBrk="1" hangingPunct="1">
              <a:buFont typeface="Wingdings" panose="05000000000000000000" pitchFamily="2" charset="2"/>
              <a:buAutoNum type="arabicPeriod"/>
            </a:pPr>
            <a:r>
              <a:rPr lang="zh-CN" altLang="en-US" sz="3600" b="1" dirty="0">
                <a:latin typeface="宋体" panose="02010600030101010101" pitchFamily="2" charset="-122"/>
              </a:rPr>
              <a:t>一致性</a:t>
            </a:r>
            <a:r>
              <a:rPr lang="en-US" altLang="zh-CN" sz="3600" b="1" dirty="0">
                <a:latin typeface="宋体" panose="02010600030101010101" pitchFamily="2" charset="-122"/>
              </a:rPr>
              <a:t>(Consistent)</a:t>
            </a:r>
          </a:p>
          <a:p>
            <a:pPr marL="876300" lvl="1" indent="-419100" eaLnBrk="1" hangingPunct="1">
              <a:buFont typeface="Wingdings" panose="05000000000000000000" pitchFamily="2" charset="2"/>
              <a:buAutoNum type="arabicPeriod"/>
            </a:pPr>
            <a:r>
              <a:rPr lang="zh-CN" altLang="en-US" sz="3600" b="1" dirty="0">
                <a:latin typeface="宋体" panose="02010600030101010101" pitchFamily="2" charset="-122"/>
              </a:rPr>
              <a:t>简洁明了</a:t>
            </a:r>
            <a:r>
              <a:rPr lang="en-US" altLang="zh-CN" sz="3600" b="1" dirty="0">
                <a:latin typeface="宋体" panose="02010600030101010101" pitchFamily="2" charset="-122"/>
              </a:rPr>
              <a:t>(Concise)</a:t>
            </a:r>
          </a:p>
          <a:p>
            <a:pPr marL="876300" lvl="1" indent="-419100" eaLnBrk="1" hangingPunct="1">
              <a:buFont typeface="Wingdings" panose="05000000000000000000" pitchFamily="2" charset="2"/>
              <a:buAutoNum type="arabicPeriod"/>
            </a:pPr>
            <a:r>
              <a:rPr lang="zh-CN" altLang="en-US" sz="3600" b="1" dirty="0">
                <a:latin typeface="宋体" panose="02010600030101010101" pitchFamily="2" charset="-122"/>
              </a:rPr>
              <a:t>可修改性</a:t>
            </a:r>
            <a:r>
              <a:rPr lang="en-US" altLang="zh-CN" sz="3600" b="1" dirty="0">
                <a:latin typeface="宋体" panose="02010600030101010101" pitchFamily="2" charset="-122"/>
              </a:rPr>
              <a:t>(Modifiable)</a:t>
            </a:r>
          </a:p>
          <a:p>
            <a:pPr marL="876300" lvl="1" indent="-419100" eaLnBrk="1" hangingPunct="1">
              <a:buFont typeface="Wingdings" panose="05000000000000000000" pitchFamily="2" charset="2"/>
              <a:buAutoNum type="arabicPeriod"/>
            </a:pPr>
            <a:r>
              <a:rPr lang="zh-CN" altLang="en-US" sz="3600" b="1" dirty="0">
                <a:latin typeface="宋体" panose="02010600030101010101" pitchFamily="2" charset="-122"/>
              </a:rPr>
              <a:t>可跟踪性</a:t>
            </a:r>
            <a:r>
              <a:rPr lang="en-US" altLang="zh-CN" sz="3600" b="1" dirty="0">
                <a:latin typeface="宋体" panose="02010600030101010101" pitchFamily="2" charset="-122"/>
              </a:rPr>
              <a:t>(Traceable)</a:t>
            </a:r>
          </a:p>
        </p:txBody>
      </p:sp>
    </p:spTree>
    <p:extLst>
      <p:ext uri="{BB962C8B-B14F-4D97-AF65-F5344CB8AC3E}">
        <p14:creationId xmlns:p14="http://schemas.microsoft.com/office/powerpoint/2010/main" val="1876572967"/>
      </p:ext>
    </p:extLst>
  </p:cSld>
  <p:clrMapOvr>
    <a:masterClrMapping/>
  </p:clrMapOvr>
  <p:transition/>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a:xfrm>
            <a:off x="2279650" y="333375"/>
            <a:ext cx="7696200" cy="838200"/>
          </a:xfrm>
        </p:spPr>
        <p:txBody>
          <a:bodyPr/>
          <a:lstStyle/>
          <a:p>
            <a:pPr eaLnBrk="1" hangingPunct="1"/>
            <a:r>
              <a:rPr lang="zh-CN" altLang="en-US" b="1" smtClean="0"/>
              <a:t>优秀需求规格说明的特性</a:t>
            </a:r>
          </a:p>
        </p:txBody>
      </p:sp>
      <p:sp>
        <p:nvSpPr>
          <p:cNvPr id="60419" name="Rectangle 3"/>
          <p:cNvSpPr>
            <a:spLocks noGrp="1" noChangeArrowheads="1"/>
          </p:cNvSpPr>
          <p:nvPr>
            <p:ph type="body" idx="1"/>
          </p:nvPr>
        </p:nvSpPr>
        <p:spPr>
          <a:xfrm>
            <a:off x="2135188" y="1628776"/>
            <a:ext cx="7924800" cy="4176713"/>
          </a:xfrm>
          <a:noFill/>
        </p:spPr>
        <p:txBody>
          <a:bodyPr/>
          <a:lstStyle/>
          <a:p>
            <a:pPr marL="812800" indent="-812800" eaLnBrk="1" hangingPunct="1">
              <a:buFont typeface="Wingdings" panose="05000000000000000000" pitchFamily="2" charset="2"/>
              <a:buAutoNum type="circleNumDbPlain"/>
            </a:pPr>
            <a:r>
              <a:rPr lang="zh-CN" altLang="en-US" sz="4000" b="1">
                <a:latin typeface="宋体" panose="02010600030101010101" pitchFamily="2" charset="-122"/>
              </a:rPr>
              <a:t>完整性</a:t>
            </a:r>
            <a:r>
              <a:rPr lang="en-US" altLang="zh-CN" sz="4000" b="1">
                <a:latin typeface="宋体" panose="02010600030101010101" pitchFamily="2" charset="-122"/>
              </a:rPr>
              <a:t>(Complete)</a:t>
            </a:r>
          </a:p>
          <a:p>
            <a:pPr marL="812800" indent="-812800" eaLnBrk="1" hangingPunct="1">
              <a:buNone/>
            </a:pPr>
            <a:r>
              <a:rPr lang="en-US" altLang="zh-CN" sz="3700" b="1">
                <a:latin typeface="宋体" panose="02010600030101010101" pitchFamily="2" charset="-122"/>
              </a:rPr>
              <a:t>	</a:t>
            </a:r>
            <a:r>
              <a:rPr lang="zh-CN" altLang="en-US" sz="4000" b="1">
                <a:latin typeface="宋体" panose="02010600030101010101" pitchFamily="2" charset="-122"/>
              </a:rPr>
              <a:t>需求规格说明完整性是指不能遗漏任何必要的信息，这里不仅仅指需求本身，还包括相关的参考信息，如基于的国际标准，高层需求信息等。</a:t>
            </a:r>
          </a:p>
        </p:txBody>
      </p:sp>
    </p:spTree>
    <p:extLst>
      <p:ext uri="{BB962C8B-B14F-4D97-AF65-F5344CB8AC3E}">
        <p14:creationId xmlns:p14="http://schemas.microsoft.com/office/powerpoint/2010/main" val="2289897594"/>
      </p:ext>
    </p:extLst>
  </p:cSld>
  <p:clrMapOvr>
    <a:masterClrMapping/>
  </p:clrMapOvr>
  <p:transition/>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p:nvPr>
        </p:nvSpPr>
        <p:spPr>
          <a:xfrm>
            <a:off x="2279650" y="115888"/>
            <a:ext cx="7696200" cy="838200"/>
          </a:xfrm>
        </p:spPr>
        <p:txBody>
          <a:bodyPr/>
          <a:lstStyle/>
          <a:p>
            <a:pPr eaLnBrk="1" hangingPunct="1"/>
            <a:r>
              <a:rPr lang="zh-CN" altLang="en-US" b="1" smtClean="0"/>
              <a:t>优秀需求规格说明的特性</a:t>
            </a:r>
          </a:p>
        </p:txBody>
      </p:sp>
      <p:sp>
        <p:nvSpPr>
          <p:cNvPr id="61443" name="Rectangle 3"/>
          <p:cNvSpPr>
            <a:spLocks noGrp="1" noChangeArrowheads="1"/>
          </p:cNvSpPr>
          <p:nvPr>
            <p:ph type="body" idx="1"/>
          </p:nvPr>
        </p:nvSpPr>
        <p:spPr>
          <a:xfrm>
            <a:off x="2063750" y="1052513"/>
            <a:ext cx="7924800" cy="5486400"/>
          </a:xfrm>
          <a:noFill/>
        </p:spPr>
        <p:txBody>
          <a:bodyPr/>
          <a:lstStyle/>
          <a:p>
            <a:pPr marL="812800" indent="-812800" eaLnBrk="1" hangingPunct="1">
              <a:lnSpc>
                <a:spcPct val="90000"/>
              </a:lnSpc>
              <a:buFont typeface="Wingdings" panose="05000000000000000000" pitchFamily="2" charset="2"/>
              <a:buAutoNum type="circleNumDbPlain" startAt="2"/>
            </a:pPr>
            <a:r>
              <a:rPr lang="zh-CN" altLang="en-US" sz="4000" b="1">
                <a:latin typeface="宋体" panose="02010600030101010101" pitchFamily="2" charset="-122"/>
              </a:rPr>
              <a:t>一致性</a:t>
            </a:r>
            <a:r>
              <a:rPr lang="en-US" altLang="zh-CN" sz="4000" b="1">
                <a:latin typeface="宋体" panose="02010600030101010101" pitchFamily="2" charset="-122"/>
              </a:rPr>
              <a:t>(Consistent)</a:t>
            </a:r>
          </a:p>
          <a:p>
            <a:pPr marL="812800" indent="-812800" eaLnBrk="1" hangingPunct="1">
              <a:lnSpc>
                <a:spcPct val="90000"/>
              </a:lnSpc>
              <a:buNone/>
            </a:pPr>
            <a:r>
              <a:rPr lang="en-US" altLang="zh-CN" sz="3700" b="1">
                <a:latin typeface="宋体" panose="02010600030101010101" pitchFamily="2" charset="-122"/>
              </a:rPr>
              <a:t>	</a:t>
            </a:r>
            <a:r>
              <a:rPr lang="zh-CN" altLang="en-US" sz="4000" b="1">
                <a:latin typeface="宋体" panose="02010600030101010101" pitchFamily="2" charset="-122"/>
              </a:rPr>
              <a:t>需求规格说明一致性是指软件需求不能与其它需求如系统需求、业务需求相矛盾。正规的文档审查和基于实例和场景分析的验证是保证一致性的通用做法。</a:t>
            </a:r>
          </a:p>
          <a:p>
            <a:pPr marL="1168400" lvl="1" indent="-711200" eaLnBrk="1" hangingPunct="1">
              <a:lnSpc>
                <a:spcPct val="90000"/>
              </a:lnSpc>
            </a:pPr>
            <a:r>
              <a:rPr lang="en-US" altLang="zh-CN" sz="3600" b="1">
                <a:latin typeface="宋体" panose="02010600030101010101" pitchFamily="2" charset="-122"/>
              </a:rPr>
              <a:t>Internally consistent</a:t>
            </a:r>
          </a:p>
          <a:p>
            <a:pPr marL="1168400" lvl="1" indent="-711200" eaLnBrk="1" hangingPunct="1">
              <a:lnSpc>
                <a:spcPct val="90000"/>
              </a:lnSpc>
            </a:pPr>
            <a:r>
              <a:rPr lang="en-US" altLang="zh-CN" sz="3600" b="1">
                <a:latin typeface="宋体" panose="02010600030101010101" pitchFamily="2" charset="-122"/>
              </a:rPr>
              <a:t>Externally consistent</a:t>
            </a:r>
          </a:p>
        </p:txBody>
      </p:sp>
    </p:spTree>
    <p:extLst>
      <p:ext uri="{BB962C8B-B14F-4D97-AF65-F5344CB8AC3E}">
        <p14:creationId xmlns:p14="http://schemas.microsoft.com/office/powerpoint/2010/main" val="1228381052"/>
      </p:ext>
    </p:extLst>
  </p:cSld>
  <p:clrMapOvr>
    <a:masterClrMapping/>
  </p:clrMapOvr>
  <p:transition/>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p:cNvSpPr>
            <a:spLocks noGrp="1" noChangeArrowheads="1"/>
          </p:cNvSpPr>
          <p:nvPr>
            <p:ph type="title"/>
          </p:nvPr>
        </p:nvSpPr>
        <p:spPr>
          <a:xfrm>
            <a:off x="2208213" y="260350"/>
            <a:ext cx="7696200" cy="838200"/>
          </a:xfrm>
        </p:spPr>
        <p:txBody>
          <a:bodyPr/>
          <a:lstStyle/>
          <a:p>
            <a:pPr eaLnBrk="1" hangingPunct="1"/>
            <a:r>
              <a:rPr lang="zh-CN" altLang="en-US" b="1" smtClean="0"/>
              <a:t>优秀需求规格说明的特性</a:t>
            </a:r>
          </a:p>
        </p:txBody>
      </p:sp>
      <p:sp>
        <p:nvSpPr>
          <p:cNvPr id="62467" name="Rectangle 3"/>
          <p:cNvSpPr>
            <a:spLocks noGrp="1" noChangeArrowheads="1"/>
          </p:cNvSpPr>
          <p:nvPr>
            <p:ph type="body" idx="1"/>
          </p:nvPr>
        </p:nvSpPr>
        <p:spPr>
          <a:xfrm>
            <a:off x="2135188" y="1557339"/>
            <a:ext cx="7924800" cy="4319587"/>
          </a:xfrm>
          <a:noFill/>
        </p:spPr>
        <p:txBody>
          <a:bodyPr/>
          <a:lstStyle/>
          <a:p>
            <a:pPr marL="609600" indent="-609600" eaLnBrk="1" hangingPunct="1">
              <a:buFont typeface="Wingdings" panose="05000000000000000000" pitchFamily="2" charset="2"/>
              <a:buAutoNum type="circleNumDbPlain" startAt="3"/>
            </a:pPr>
            <a:r>
              <a:rPr lang="zh-CN" altLang="en-US" sz="4000" b="1">
                <a:latin typeface="宋体" panose="02010600030101010101" pitchFamily="2" charset="-122"/>
              </a:rPr>
              <a:t>简洁明了</a:t>
            </a:r>
            <a:r>
              <a:rPr lang="en-US" altLang="zh-CN" sz="4000" b="1">
                <a:latin typeface="宋体" panose="02010600030101010101" pitchFamily="2" charset="-122"/>
              </a:rPr>
              <a:t>(Concise)</a:t>
            </a:r>
          </a:p>
          <a:p>
            <a:pPr marL="609600" indent="-609600" eaLnBrk="1" hangingPunct="1">
              <a:buNone/>
            </a:pPr>
            <a:r>
              <a:rPr lang="en-US" altLang="zh-CN" sz="4000" b="1">
                <a:latin typeface="宋体" panose="02010600030101010101" pitchFamily="2" charset="-122"/>
              </a:rPr>
              <a:t>	</a:t>
            </a:r>
            <a:r>
              <a:rPr lang="zh-CN" altLang="en-US" sz="4000" b="1">
                <a:latin typeface="宋体" panose="02010600030101010101" pitchFamily="2" charset="-122"/>
              </a:rPr>
              <a:t>每一需求都应清晰地对应某一系统功能或用户需要，它能够容易地被所有风险承担者阅读和理解并能够容易地映射到某一使用实例或场景。</a:t>
            </a:r>
          </a:p>
          <a:p>
            <a:pPr marL="609600" indent="-609600" eaLnBrk="1" hangingPunct="1">
              <a:buNone/>
            </a:pPr>
            <a:endParaRPr lang="en-US" altLang="zh-CN" sz="2800" b="1">
              <a:latin typeface="宋体" panose="02010600030101010101" pitchFamily="2" charset="-122"/>
            </a:endParaRPr>
          </a:p>
        </p:txBody>
      </p:sp>
    </p:spTree>
    <p:extLst>
      <p:ext uri="{BB962C8B-B14F-4D97-AF65-F5344CB8AC3E}">
        <p14:creationId xmlns:p14="http://schemas.microsoft.com/office/powerpoint/2010/main" val="3562695605"/>
      </p:ext>
    </p:extLst>
  </p:cSld>
  <p:clrMapOvr>
    <a:masterClrMapping/>
  </p:clrMapOvr>
  <p:transition/>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2"/>
          <p:cNvSpPr>
            <a:spLocks noGrp="1" noChangeArrowheads="1"/>
          </p:cNvSpPr>
          <p:nvPr>
            <p:ph type="title"/>
          </p:nvPr>
        </p:nvSpPr>
        <p:spPr>
          <a:xfrm>
            <a:off x="2286000" y="0"/>
            <a:ext cx="7696200" cy="838200"/>
          </a:xfrm>
        </p:spPr>
        <p:txBody>
          <a:bodyPr/>
          <a:lstStyle/>
          <a:p>
            <a:pPr eaLnBrk="1" hangingPunct="1"/>
            <a:r>
              <a:rPr lang="zh-CN" altLang="en-US" b="1" smtClean="0"/>
              <a:t>优秀需求具有的特性</a:t>
            </a:r>
          </a:p>
        </p:txBody>
      </p:sp>
      <p:sp>
        <p:nvSpPr>
          <p:cNvPr id="63491" name="Rectangle 3"/>
          <p:cNvSpPr>
            <a:spLocks noGrp="1" noChangeArrowheads="1"/>
          </p:cNvSpPr>
          <p:nvPr>
            <p:ph type="body" idx="1"/>
          </p:nvPr>
        </p:nvSpPr>
        <p:spPr>
          <a:xfrm>
            <a:off x="1981200" y="762000"/>
            <a:ext cx="8001000" cy="2895600"/>
          </a:xfrm>
          <a:noFill/>
        </p:spPr>
        <p:txBody>
          <a:bodyPr/>
          <a:lstStyle/>
          <a:p>
            <a:pPr marL="457200" indent="-457200" eaLnBrk="1" hangingPunct="1">
              <a:buNone/>
            </a:pPr>
            <a:r>
              <a:rPr lang="en-US" altLang="zh-CN" sz="3600" b="1">
                <a:latin typeface="宋体" panose="02010600030101010101" pitchFamily="2" charset="-122"/>
              </a:rPr>
              <a:t>	</a:t>
            </a:r>
            <a:r>
              <a:rPr lang="en-US" altLang="zh-CN" sz="3600" b="1" u="sng">
                <a:solidFill>
                  <a:srgbClr val="CC0000"/>
                </a:solidFill>
                <a:latin typeface="Arial Narrow" panose="020B0606020202030204" pitchFamily="34" charset="0"/>
              </a:rPr>
              <a:t>Original:</a:t>
            </a:r>
          </a:p>
          <a:p>
            <a:pPr marL="457200" indent="-457200" eaLnBrk="1" hangingPunct="1">
              <a:buNone/>
            </a:pPr>
            <a:r>
              <a:rPr lang="en-US" altLang="zh-CN" sz="3600" b="1">
                <a:solidFill>
                  <a:srgbClr val="CC0000"/>
                </a:solidFill>
                <a:latin typeface="Arial Narrow" panose="020B0606020202030204" pitchFamily="34" charset="0"/>
              </a:rPr>
              <a:t>	All satelite images in the database shall be made available at the workstation upon request in those presentations defined in 8.8 (15 pages long)</a:t>
            </a:r>
          </a:p>
        </p:txBody>
      </p:sp>
      <p:sp>
        <p:nvSpPr>
          <p:cNvPr id="52228" name="Rectangle 4"/>
          <p:cNvSpPr>
            <a:spLocks noChangeArrowheads="1"/>
          </p:cNvSpPr>
          <p:nvPr/>
        </p:nvSpPr>
        <p:spPr bwMode="auto">
          <a:xfrm>
            <a:off x="1981200" y="3733800"/>
            <a:ext cx="8077200" cy="2743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457200" indent="-457200">
              <a:defRPr>
                <a:solidFill>
                  <a:schemeClr val="tx1"/>
                </a:solidFill>
                <a:latin typeface="Arial" panose="020B0604020202020204" pitchFamily="34" charset="0"/>
                <a:ea typeface="宋体" panose="02010600030101010101" pitchFamily="2" charset="-122"/>
              </a:defRPr>
            </a:lvl1pPr>
            <a:lvl2pPr marL="876300" indent="-419100">
              <a:defRPr>
                <a:solidFill>
                  <a:schemeClr val="tx1"/>
                </a:solidFill>
                <a:latin typeface="Arial" panose="020B0604020202020204" pitchFamily="34" charset="0"/>
                <a:ea typeface="宋体" panose="02010600030101010101" pitchFamily="2" charset="-122"/>
              </a:defRPr>
            </a:lvl2pPr>
            <a:lvl3pPr marL="1295400" indent="-381000">
              <a:defRPr>
                <a:solidFill>
                  <a:schemeClr val="tx1"/>
                </a:solidFill>
                <a:latin typeface="Arial" panose="020B0604020202020204" pitchFamily="34" charset="0"/>
                <a:ea typeface="宋体" panose="02010600030101010101" pitchFamily="2" charset="-122"/>
              </a:defRPr>
            </a:lvl3pPr>
            <a:lvl4pPr marL="1714500" indent="-342900">
              <a:defRPr>
                <a:solidFill>
                  <a:schemeClr val="tx1"/>
                </a:solidFill>
                <a:latin typeface="Arial" panose="020B0604020202020204" pitchFamily="34" charset="0"/>
                <a:ea typeface="宋体" panose="02010600030101010101" pitchFamily="2" charset="-122"/>
              </a:defRPr>
            </a:lvl4pPr>
            <a:lvl5pPr marL="2133600" indent="-304800">
              <a:defRPr>
                <a:solidFill>
                  <a:schemeClr val="tx1"/>
                </a:solidFill>
                <a:latin typeface="Arial" panose="020B0604020202020204" pitchFamily="34" charset="0"/>
                <a:ea typeface="宋体" panose="02010600030101010101" pitchFamily="2" charset="-122"/>
              </a:defRPr>
            </a:lvl5pPr>
            <a:lvl6pPr marL="2590800" indent="-304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3048000" indent="-304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505200" indent="-304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962400" indent="-3048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0" fontAlgn="base" hangingPunct="0">
              <a:spcBef>
                <a:spcPct val="20000"/>
              </a:spcBef>
              <a:spcAft>
                <a:spcPct val="0"/>
              </a:spcAft>
              <a:buClr>
                <a:srgbClr val="003366"/>
              </a:buClr>
            </a:pPr>
            <a:r>
              <a:rPr lang="en-US" altLang="zh-CN" sz="2900" b="1">
                <a:solidFill>
                  <a:srgbClr val="000000"/>
                </a:solidFill>
                <a:latin typeface="宋体" panose="02010600030101010101" pitchFamily="2" charset="-122"/>
              </a:rPr>
              <a:t>	</a:t>
            </a:r>
            <a:r>
              <a:rPr lang="en-US" altLang="zh-CN" sz="3200" b="1" u="sng">
                <a:solidFill>
                  <a:srgbClr val="009900"/>
                </a:solidFill>
                <a:latin typeface="Arial Narrow" panose="020B0606020202030204" pitchFamily="34" charset="0"/>
              </a:rPr>
              <a:t>Improved:</a:t>
            </a:r>
          </a:p>
          <a:p>
            <a:pPr eaLnBrk="0" fontAlgn="base" hangingPunct="0">
              <a:spcBef>
                <a:spcPct val="0"/>
              </a:spcBef>
              <a:spcAft>
                <a:spcPct val="0"/>
              </a:spcAft>
            </a:pPr>
            <a:r>
              <a:rPr lang="en-US" altLang="zh-CN" sz="3200" b="1">
                <a:solidFill>
                  <a:srgbClr val="CC0000"/>
                </a:solidFill>
                <a:latin typeface="Arial Narrow" panose="020B0606020202030204" pitchFamily="34" charset="0"/>
              </a:rPr>
              <a:t>	</a:t>
            </a:r>
            <a:r>
              <a:rPr lang="en-US" altLang="zh-CN" sz="3200" b="1">
                <a:solidFill>
                  <a:srgbClr val="009900"/>
                </a:solidFill>
                <a:latin typeface="Arial Narrow" panose="020B0606020202030204" pitchFamily="34" charset="0"/>
              </a:rPr>
              <a:t>All satelite images in the database shall be made available at the workstation upon request in those presentations defined in 8.8.6 (contain 2 pages instruction)</a:t>
            </a:r>
          </a:p>
        </p:txBody>
      </p:sp>
    </p:spTree>
    <p:extLst>
      <p:ext uri="{BB962C8B-B14F-4D97-AF65-F5344CB8AC3E}">
        <p14:creationId xmlns:p14="http://schemas.microsoft.com/office/powerpoint/2010/main" val="3148052491"/>
      </p:ext>
    </p:extLst>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2228"/>
                                        </p:tgtEl>
                                        <p:attrNameLst>
                                          <p:attrName>style.visibility</p:attrName>
                                        </p:attrNameLst>
                                      </p:cBhvr>
                                      <p:to>
                                        <p:strVal val="visible"/>
                                      </p:to>
                                    </p:set>
                                    <p:anim calcmode="lin" valueType="num">
                                      <p:cBhvr additive="base">
                                        <p:cTn id="7" dur="500" fill="hold"/>
                                        <p:tgtEl>
                                          <p:spTgt spid="52228"/>
                                        </p:tgtEl>
                                        <p:attrNameLst>
                                          <p:attrName>ppt_x</p:attrName>
                                        </p:attrNameLst>
                                      </p:cBhvr>
                                      <p:tavLst>
                                        <p:tav tm="0">
                                          <p:val>
                                            <p:strVal val="#ppt_x"/>
                                          </p:val>
                                        </p:tav>
                                        <p:tav tm="100000">
                                          <p:val>
                                            <p:strVal val="#ppt_x"/>
                                          </p:val>
                                        </p:tav>
                                      </p:tavLst>
                                    </p:anim>
                                    <p:anim calcmode="lin" valueType="num">
                                      <p:cBhvr additive="base">
                                        <p:cTn id="8" dur="500" fill="hold"/>
                                        <p:tgtEl>
                                          <p:spTgt spid="522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228"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p:nvPr>
        </p:nvSpPr>
        <p:spPr>
          <a:xfrm>
            <a:off x="2279650" y="260350"/>
            <a:ext cx="7696200" cy="838200"/>
          </a:xfrm>
        </p:spPr>
        <p:txBody>
          <a:bodyPr/>
          <a:lstStyle/>
          <a:p>
            <a:pPr eaLnBrk="1" hangingPunct="1"/>
            <a:r>
              <a:rPr lang="zh-CN" altLang="en-US" b="1" smtClean="0"/>
              <a:t>优秀需求规格说明的特性</a:t>
            </a:r>
          </a:p>
        </p:txBody>
      </p:sp>
      <p:sp>
        <p:nvSpPr>
          <p:cNvPr id="64515" name="Rectangle 3"/>
          <p:cNvSpPr>
            <a:spLocks noGrp="1" noChangeArrowheads="1"/>
          </p:cNvSpPr>
          <p:nvPr>
            <p:ph type="body" idx="1"/>
          </p:nvPr>
        </p:nvSpPr>
        <p:spPr>
          <a:xfrm>
            <a:off x="2208214" y="1484313"/>
            <a:ext cx="8135937" cy="4946650"/>
          </a:xfrm>
          <a:noFill/>
        </p:spPr>
        <p:txBody>
          <a:bodyPr/>
          <a:lstStyle/>
          <a:p>
            <a:pPr marL="609600" indent="-609600" eaLnBrk="1" hangingPunct="1">
              <a:lnSpc>
                <a:spcPct val="90000"/>
              </a:lnSpc>
              <a:buFont typeface="Wingdings" panose="05000000000000000000" pitchFamily="2" charset="2"/>
              <a:buAutoNum type="circleNumDbPlain" startAt="4"/>
            </a:pPr>
            <a:r>
              <a:rPr lang="zh-CN" altLang="en-US" sz="2800" b="1">
                <a:latin typeface="宋体" panose="02010600030101010101" pitchFamily="2" charset="-122"/>
              </a:rPr>
              <a:t>可修改性</a:t>
            </a:r>
            <a:r>
              <a:rPr lang="en-US" altLang="zh-CN" sz="2800" b="1">
                <a:latin typeface="宋体" panose="02010600030101010101" pitchFamily="2" charset="-122"/>
              </a:rPr>
              <a:t>(Modifiable)</a:t>
            </a:r>
          </a:p>
          <a:p>
            <a:pPr marL="990600" lvl="1" indent="-533400" eaLnBrk="1" hangingPunct="1">
              <a:lnSpc>
                <a:spcPct val="90000"/>
              </a:lnSpc>
              <a:buFont typeface="Wingdings" panose="05000000000000000000" pitchFamily="2" charset="2"/>
              <a:buChar char="§"/>
            </a:pPr>
            <a:r>
              <a:rPr lang="zh-CN" altLang="en-US" b="1" smtClean="0">
                <a:latin typeface="宋体" panose="02010600030101010101" pitchFamily="2" charset="-122"/>
              </a:rPr>
              <a:t>涉及同类主题的需求应该有组织地放在一起。</a:t>
            </a:r>
          </a:p>
          <a:p>
            <a:pPr marL="990600" lvl="1" indent="-533400" eaLnBrk="1" hangingPunct="1">
              <a:lnSpc>
                <a:spcPct val="90000"/>
              </a:lnSpc>
              <a:buFont typeface="Wingdings" panose="05000000000000000000" pitchFamily="2" charset="2"/>
              <a:buChar char="§"/>
            </a:pPr>
            <a:r>
              <a:rPr lang="zh-CN" altLang="en-US" b="1" smtClean="0">
                <a:latin typeface="宋体" panose="02010600030101010101" pitchFamily="2" charset="-122"/>
              </a:rPr>
              <a:t>为维护每一需求变更历史纪录时，应该修订</a:t>
            </a:r>
            <a:r>
              <a:rPr lang="en-US" altLang="zh-CN" b="1" smtClean="0">
                <a:latin typeface="宋体" panose="02010600030101010101" pitchFamily="2" charset="-122"/>
              </a:rPr>
              <a:t>SRS</a:t>
            </a:r>
            <a:r>
              <a:rPr lang="zh-CN" altLang="en-US" b="1" smtClean="0">
                <a:latin typeface="宋体" panose="02010600030101010101" pitchFamily="2" charset="-122"/>
              </a:rPr>
              <a:t>。</a:t>
            </a:r>
          </a:p>
          <a:p>
            <a:pPr marL="990600" lvl="1" indent="-533400" eaLnBrk="1" hangingPunct="1">
              <a:lnSpc>
                <a:spcPct val="90000"/>
              </a:lnSpc>
              <a:buFont typeface="Wingdings" panose="05000000000000000000" pitchFamily="2" charset="2"/>
              <a:buChar char="§"/>
            </a:pPr>
            <a:r>
              <a:rPr lang="zh-CN" altLang="en-US" b="1" smtClean="0">
                <a:latin typeface="宋体" panose="02010600030101010101" pitchFamily="2" charset="-122"/>
              </a:rPr>
              <a:t>这就要求每项需求要独立标出，并与别的需求区别开来，从而无二义性。</a:t>
            </a:r>
          </a:p>
          <a:p>
            <a:pPr marL="990600" lvl="1" indent="-533400" eaLnBrk="1" hangingPunct="1">
              <a:lnSpc>
                <a:spcPct val="90000"/>
              </a:lnSpc>
              <a:buFont typeface="Wingdings" panose="05000000000000000000" pitchFamily="2" charset="2"/>
              <a:buChar char="§"/>
            </a:pPr>
            <a:r>
              <a:rPr lang="zh-CN" altLang="en-US" b="1" smtClean="0">
                <a:latin typeface="宋体" panose="02010600030101010101" pitchFamily="2" charset="-122"/>
              </a:rPr>
              <a:t>每项需求只应在</a:t>
            </a:r>
            <a:r>
              <a:rPr lang="en-US" altLang="zh-CN" b="1" smtClean="0">
                <a:latin typeface="宋体" panose="02010600030101010101" pitchFamily="2" charset="-122"/>
              </a:rPr>
              <a:t>SRS</a:t>
            </a:r>
            <a:r>
              <a:rPr lang="zh-CN" altLang="en-US" b="1" smtClean="0">
                <a:latin typeface="宋体" panose="02010600030101010101" pitchFamily="2" charset="-122"/>
              </a:rPr>
              <a:t>中出现一次。这样更改时易于保持一致性。</a:t>
            </a:r>
          </a:p>
          <a:p>
            <a:pPr marL="990600" lvl="1" indent="-533400" eaLnBrk="1" hangingPunct="1">
              <a:lnSpc>
                <a:spcPct val="90000"/>
              </a:lnSpc>
              <a:buFont typeface="Wingdings" panose="05000000000000000000" pitchFamily="2" charset="2"/>
              <a:buChar char="§"/>
            </a:pPr>
            <a:r>
              <a:rPr lang="zh-CN" altLang="en-US" b="1" smtClean="0">
                <a:latin typeface="宋体" panose="02010600030101010101" pitchFamily="2" charset="-122"/>
              </a:rPr>
              <a:t>另外，使用目录表、索引和相互参照列表方法将使软件需求说明更容易修改，并在修改时能自动保持一致</a:t>
            </a:r>
          </a:p>
        </p:txBody>
      </p:sp>
    </p:spTree>
    <p:extLst>
      <p:ext uri="{BB962C8B-B14F-4D97-AF65-F5344CB8AC3E}">
        <p14:creationId xmlns:p14="http://schemas.microsoft.com/office/powerpoint/2010/main" val="4020497701"/>
      </p:ext>
    </p:extLst>
  </p:cSld>
  <p:clrMapOvr>
    <a:masterClrMapping/>
  </p:clrMapOvr>
  <p:transition/>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p:cNvSpPr>
            <a:spLocks noGrp="1" noChangeArrowheads="1"/>
          </p:cNvSpPr>
          <p:nvPr>
            <p:ph type="title"/>
          </p:nvPr>
        </p:nvSpPr>
        <p:spPr>
          <a:xfrm>
            <a:off x="2279650" y="260350"/>
            <a:ext cx="7696200" cy="838200"/>
          </a:xfrm>
        </p:spPr>
        <p:txBody>
          <a:bodyPr/>
          <a:lstStyle/>
          <a:p>
            <a:pPr eaLnBrk="1" hangingPunct="1"/>
            <a:r>
              <a:rPr lang="zh-CN" altLang="en-US" b="1" smtClean="0"/>
              <a:t>优秀需求规格说明的特性</a:t>
            </a:r>
          </a:p>
        </p:txBody>
      </p:sp>
      <p:sp>
        <p:nvSpPr>
          <p:cNvPr id="65539" name="Rectangle 3"/>
          <p:cNvSpPr>
            <a:spLocks noGrp="1" noChangeArrowheads="1"/>
          </p:cNvSpPr>
          <p:nvPr>
            <p:ph type="body" idx="1"/>
          </p:nvPr>
        </p:nvSpPr>
        <p:spPr>
          <a:xfrm>
            <a:off x="2135188" y="1628775"/>
            <a:ext cx="7924800" cy="4103688"/>
          </a:xfrm>
          <a:noFill/>
        </p:spPr>
        <p:txBody>
          <a:bodyPr/>
          <a:lstStyle/>
          <a:p>
            <a:pPr marL="609600" indent="-609600" eaLnBrk="1" hangingPunct="1">
              <a:buFont typeface="Wingdings" panose="05000000000000000000" pitchFamily="2" charset="2"/>
              <a:buAutoNum type="circleNumDbPlain" startAt="5"/>
            </a:pPr>
            <a:r>
              <a:rPr lang="zh-CN" altLang="en-US" sz="4000" b="1">
                <a:latin typeface="宋体" panose="02010600030101010101" pitchFamily="2" charset="-122"/>
              </a:rPr>
              <a:t>可跟踪性</a:t>
            </a:r>
            <a:r>
              <a:rPr lang="en-US" altLang="zh-CN" sz="4000" b="1">
                <a:latin typeface="宋体" panose="02010600030101010101" pitchFamily="2" charset="-122"/>
              </a:rPr>
              <a:t>(Traceable)</a:t>
            </a:r>
          </a:p>
          <a:p>
            <a:pPr marL="609600" indent="-609600" eaLnBrk="1" hangingPunct="1">
              <a:buNone/>
            </a:pPr>
            <a:r>
              <a:rPr lang="en-US" altLang="zh-CN" sz="4000" b="1">
                <a:latin typeface="宋体" panose="02010600030101010101" pitchFamily="2" charset="-122"/>
              </a:rPr>
              <a:t>	</a:t>
            </a:r>
            <a:r>
              <a:rPr lang="zh-CN" altLang="en-US" b="1" smtClean="0">
                <a:latin typeface="宋体" panose="02010600030101010101" pitchFamily="2" charset="-122"/>
              </a:rPr>
              <a:t>应能在每项软件需求与它的根源和设计元素、源代码、测试用例之间建立起连接链，这种可跟踪性要求每项需求以一种结构化的、粒度好（</a:t>
            </a:r>
            <a:r>
              <a:rPr lang="en-US" altLang="zh-CN" b="1" smtClean="0">
                <a:latin typeface="宋体" panose="02010600030101010101" pitchFamily="2" charset="-122"/>
              </a:rPr>
              <a:t>fine-grained</a:t>
            </a:r>
            <a:r>
              <a:rPr lang="zh-CN" altLang="en-US" b="1" smtClean="0">
                <a:latin typeface="宋体" panose="02010600030101010101" pitchFamily="2" charset="-122"/>
              </a:rPr>
              <a:t>）的方式编写并单独表明，而不是大段大段的叙述。</a:t>
            </a:r>
          </a:p>
        </p:txBody>
      </p:sp>
    </p:spTree>
    <p:extLst>
      <p:ext uri="{BB962C8B-B14F-4D97-AF65-F5344CB8AC3E}">
        <p14:creationId xmlns:p14="http://schemas.microsoft.com/office/powerpoint/2010/main" val="1559380803"/>
      </p:ext>
    </p:extLst>
  </p:cSld>
  <p:clrMapOvr>
    <a:masterClrMapping/>
  </p:clrMapOvr>
  <p:transition/>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p:nvPr>
        </p:nvSpPr>
        <p:spPr/>
        <p:txBody>
          <a:bodyPr/>
          <a:lstStyle/>
          <a:p>
            <a:pPr eaLnBrk="1" hangingPunct="1"/>
            <a:endParaRPr lang="zh-CN" altLang="zh-CN" b="1" smtClean="0"/>
          </a:p>
        </p:txBody>
      </p:sp>
      <p:sp>
        <p:nvSpPr>
          <p:cNvPr id="66563" name="Rectangle 3"/>
          <p:cNvSpPr>
            <a:spLocks noGrp="1" noChangeArrowheads="1"/>
          </p:cNvSpPr>
          <p:nvPr>
            <p:ph type="body" idx="1"/>
          </p:nvPr>
        </p:nvSpPr>
        <p:spPr/>
        <p:txBody>
          <a:bodyPr/>
          <a:lstStyle/>
          <a:p>
            <a:pPr marL="609600" indent="-609600" eaLnBrk="1" hangingPunct="1"/>
            <a:r>
              <a:rPr lang="en-US" altLang="zh-CN" sz="7200"/>
              <a:t>Q &amp;</a:t>
            </a:r>
            <a:r>
              <a:rPr lang="zh-CN" altLang="en-US" sz="7200">
                <a:ea typeface="Arial Unicode MS" pitchFamily="34" charset="-122"/>
              </a:rPr>
              <a:t>Ａ？</a:t>
            </a:r>
            <a:endParaRPr lang="zh-CN" altLang="en-US" sz="7200"/>
          </a:p>
        </p:txBody>
      </p:sp>
    </p:spTree>
    <p:extLst>
      <p:ext uri="{BB962C8B-B14F-4D97-AF65-F5344CB8AC3E}">
        <p14:creationId xmlns:p14="http://schemas.microsoft.com/office/powerpoint/2010/main" val="480275022"/>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7"/>
  <p:tag name="KSO_WM_TAG_VERSION" val="1.0"/>
  <p:tag name="KSO_WM_SLIDE_ID" val="custom160337_27"/>
  <p:tag name="KSO_WM_SLIDE_INDEX" val="27"/>
  <p:tag name="KSO_WM_SLIDE_ITEM_CNT" val="1"/>
  <p:tag name="KSO_WM_SLIDE_LAYOUT" val="a_f"/>
  <p:tag name="KSO_WM_SLIDE_LAYOUT_CNT" val="1_1"/>
  <p:tag name="KSO_WM_SLIDE_TYPE" val="text"/>
  <p:tag name="KSO_WM_BEAUTIFY_FLAG" val="#wm#"/>
  <p:tag name="KSO_WM_SLIDE_POSITION" val="134*129"/>
  <p:tag name="KSO_WM_SLIDE_SIZE" val="692*298"/>
</p:tagLst>
</file>

<file path=ppt/tags/tag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f"/>
  <p:tag name="KSO_WM_UNIT_INDEX" val="1"/>
  <p:tag name="KSO_WM_UNIT_ID" val="custom160337_27*f*1"/>
  <p:tag name="KSO_WM_UNIT_CLEAR" val="1"/>
  <p:tag name="KSO_WM_UNIT_LAYERLEVEL" val="1"/>
  <p:tag name="KSO_WM_UNIT_VALUE" val="342"/>
  <p:tag name="KSO_WM_UNIT_HIGHLIGHT" val="0"/>
  <p:tag name="KSO_WM_UNIT_COMPATIBLE" val="0"/>
  <p:tag name="KSO_WM_UNIT_PRESET_TEXT_INDEX" val="5"/>
  <p:tag name="KSO_WM_UNIT_PRESET_TEXT_LEN" val="232"/>
</p:tagLst>
</file>

<file path=ppt/tags/tag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27*a*1"/>
  <p:tag name="KSO_WM_UNIT_CLEAR" val="1"/>
  <p:tag name="KSO_WM_UNIT_LAYERLEVEL" val="1"/>
  <p:tag name="KSO_WM_UNIT_VALUE" val="42"/>
  <p:tag name="KSO_WM_UNIT_ISCONTENTSTITLE" val="0"/>
  <p:tag name="KSO_WM_UNIT_HIGHLIGHT" val="0"/>
  <p:tag name="KSO_WM_UNIT_COMPATIBLE" val="0"/>
  <p:tag name="KSO_WM_UNIT_PRESET_TEXT_INDEX" val="3"/>
  <p:tag name="KSO_WM_UNIT_PRESET_TEXT_LEN" val="17"/>
</p:tagLst>
</file>

<file path=ppt/tags/tag4.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7"/>
  <p:tag name="KSO_WM_TAG_VERSION" val="1.0"/>
  <p:tag name="KSO_WM_SLIDE_ID" val="custom160337_5"/>
  <p:tag name="KSO_WM_SLIDE_INDEX" val="5"/>
  <p:tag name="KSO_WM_SLIDE_ITEM_CNT" val="3"/>
  <p:tag name="KSO_WM_SLIDE_LAYOUT" val="a_f_d"/>
  <p:tag name="KSO_WM_SLIDE_LAYOUT_CNT" val="1_1_1"/>
  <p:tag name="KSO_WM_SLIDE_TYPE" val="text"/>
  <p:tag name="KSO_WM_BEAUTIFY_FLAG" val="#wm#"/>
  <p:tag name="KSO_WM_SLIDE_POSITION" val="122*90"/>
  <p:tag name="KSO_WM_SLIDE_SIZE" val="715*418"/>
</p:tagLst>
</file>

<file path=ppt/tags/tag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5*a*1"/>
  <p:tag name="KSO_WM_UNIT_CLEAR" val="1"/>
  <p:tag name="KSO_WM_UNIT_LAYERLEVEL" val="1"/>
  <p:tag name="KSO_WM_UNIT_VALUE" val="21"/>
  <p:tag name="KSO_WM_UNIT_ISCONTENTSTITLE" val="0"/>
  <p:tag name="KSO_WM_UNIT_HIGHLIGHT" val="0"/>
  <p:tag name="KSO_WM_UNIT_COMPATIBLE" val="0"/>
  <p:tag name="KSO_WM_UNIT_PRESET_TEXT_INDEX" val="3"/>
  <p:tag name="KSO_WM_UNIT_PRESET_TEXT_LEN" val="17"/>
</p:tagLst>
</file>

<file path=ppt/tags/tag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7"/>
  <p:tag name="KSO_WM_TAG_VERSION" val="1.0"/>
  <p:tag name="KSO_WM_SLIDE_ID" val="custom160337_27"/>
  <p:tag name="KSO_WM_SLIDE_INDEX" val="27"/>
  <p:tag name="KSO_WM_SLIDE_ITEM_CNT" val="1"/>
  <p:tag name="KSO_WM_SLIDE_LAYOUT" val="a_f"/>
  <p:tag name="KSO_WM_SLIDE_LAYOUT_CNT" val="1_1"/>
  <p:tag name="KSO_WM_SLIDE_TYPE" val="text"/>
  <p:tag name="KSO_WM_BEAUTIFY_FLAG" val="#wm#"/>
  <p:tag name="KSO_WM_SLIDE_POSITION" val="134*129"/>
  <p:tag name="KSO_WM_SLIDE_SIZE" val="692*298"/>
</p:tagLst>
</file>

<file path=ppt/tags/tag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f"/>
  <p:tag name="KSO_WM_UNIT_INDEX" val="1"/>
  <p:tag name="KSO_WM_UNIT_ID" val="custom160337_27*f*1"/>
  <p:tag name="KSO_WM_UNIT_CLEAR" val="1"/>
  <p:tag name="KSO_WM_UNIT_LAYERLEVEL" val="1"/>
  <p:tag name="KSO_WM_UNIT_VALUE" val="342"/>
  <p:tag name="KSO_WM_UNIT_HIGHLIGHT" val="0"/>
  <p:tag name="KSO_WM_UNIT_COMPATIBLE" val="0"/>
  <p:tag name="KSO_WM_UNIT_PRESET_TEXT_INDEX" val="5"/>
  <p:tag name="KSO_WM_UNIT_PRESET_TEXT_LEN" val="232"/>
</p:tagLst>
</file>

<file path=ppt/tags/tag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27*a*1"/>
  <p:tag name="KSO_WM_UNIT_CLEAR" val="1"/>
  <p:tag name="KSO_WM_UNIT_LAYERLEVEL" val="1"/>
  <p:tag name="KSO_WM_UNIT_VALUE" val="42"/>
  <p:tag name="KSO_WM_UNIT_ISCONTENTSTITLE" val="0"/>
  <p:tag name="KSO_WM_UNIT_HIGHLIGHT" val="0"/>
  <p:tag name="KSO_WM_UNIT_COMPATIBLE" val="0"/>
  <p:tag name="KSO_WM_UNIT_PRESET_TEXT_INDEX" val="3"/>
  <p:tag name="KSO_WM_UNIT_PRESET_TEXT_LEN" val="17"/>
</p:tagLst>
</file>

<file path=ppt/tags/tag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7"/>
  <p:tag name="KSO_WM_TAG_VERSION" val="1.0"/>
  <p:tag name="KSO_WM_SLIDE_ID" val="custom160337_2"/>
  <p:tag name="KSO_WM_SLIDE_INDEX" val="2"/>
  <p:tag name="KSO_WM_SLIDE_ITEM_CNT" val="1"/>
  <p:tag name="KSO_WM_SLIDE_LAYOUT" val="a_f"/>
  <p:tag name="KSO_WM_SLIDE_LAYOUT_CNT" val="1_1"/>
  <p:tag name="KSO_WM_SLIDE_TYPE" val="text"/>
  <p:tag name="KSO_WM_BEAUTIFY_FLAG" val="#wm#"/>
  <p:tag name="KSO_WM_SLIDE_POSITION" val="49*89"/>
  <p:tag name="KSO_WM_SLIDE_SIZE" val="864*386"/>
</p:tagLst>
</file>

<file path=ppt/tags/tag1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2*a*1"/>
  <p:tag name="KSO_WM_UNIT_CLEAR" val="1"/>
  <p:tag name="KSO_WM_UNIT_LAYERLEVEL" val="1"/>
  <p:tag name="KSO_WM_UNIT_VALUE" val="42"/>
  <p:tag name="KSO_WM_UNIT_ISCONTENTSTITLE" val="0"/>
  <p:tag name="KSO_WM_UNIT_HIGHLIGHT" val="0"/>
  <p:tag name="KSO_WM_UNIT_COMPATIBLE" val="0"/>
  <p:tag name="KSO_WM_UNIT_PRESET_TEXT_INDEX" val="3"/>
  <p:tag name="KSO_WM_UNIT_PRESET_TEXT_LEN" val="17"/>
</p:tagLst>
</file>

<file path=ppt/tags/tag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f"/>
  <p:tag name="KSO_WM_UNIT_INDEX" val="1"/>
  <p:tag name="KSO_WM_UNIT_ID" val="custom160337_2*f*1"/>
  <p:tag name="KSO_WM_UNIT_CLEAR" val="1"/>
  <p:tag name="KSO_WM_UNIT_LAYERLEVEL" val="1"/>
  <p:tag name="KSO_WM_UNIT_VALUE" val="455"/>
  <p:tag name="KSO_WM_UNIT_HIGHLIGHT" val="0"/>
  <p:tag name="KSO_WM_UNIT_COMPATIBLE" val="0"/>
  <p:tag name="KSO_WM_UNIT_PRESET_TEXT_INDEX" val="5"/>
  <p:tag name="KSO_WM_UNIT_PRESET_TEXT_LEN" val="232"/>
</p:tagLst>
</file>

<file path=ppt/tags/tag12.xml><?xml version="1.0" encoding="utf-8"?>
<p:tagLst xmlns:a="http://schemas.openxmlformats.org/drawingml/2006/main" xmlns:r="http://schemas.openxmlformats.org/officeDocument/2006/relationships" xmlns:p="http://schemas.openxmlformats.org/presentationml/2006/main">
  <p:tag name="KSO_WM_SLIDE_ID" val="diagram160171_3"/>
  <p:tag name="KSO_WM_SLIDE_INDEX" val="3"/>
  <p:tag name="KSO_WM_SLIDE_ITEM_CNT" val="4"/>
  <p:tag name="KSO_WM_SLIDE_LAYOUT" val="g_l"/>
  <p:tag name="KSO_WM_SLIDE_LAYOUT_CNT" val="1_1"/>
  <p:tag name="KSO_WM_SLIDE_TYPE" val="text"/>
  <p:tag name="KSO_WM_BEAUTIFY_FLAG" val="#wm#"/>
  <p:tag name="KSO_WM_SLIDE_POSITION" val="203*44"/>
  <p:tag name="KSO_WM_SLIDE_SIZE" val="554*456"/>
  <p:tag name="KSO_WM_TEMPLATE_CATEGORY" val="diagram"/>
  <p:tag name="KSO_WM_TEMPLATE_INDEX" val="160171"/>
  <p:tag name="KSO_WM_TAG_VERSION" val="1.0"/>
  <p:tag name="KSO_WM_DIAGRAM_GROUP_CODE" val="l1-1"/>
</p:tagLst>
</file>

<file path=ppt/tags/tag1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g"/>
  <p:tag name="KSO_WM_UNIT_INDEX" val="1"/>
  <p:tag name="KSO_WM_UNIT_ID" val="258*g*1"/>
  <p:tag name="KSO_WM_UNIT_CLEAR" val="1"/>
  <p:tag name="KSO_WM_UNIT_LAYERLEVEL" val="1"/>
  <p:tag name="KSO_WM_UNIT_VALUE" val="22"/>
  <p:tag name="KSO_WM_UNIT_HIGHLIGHT" val="0"/>
  <p:tag name="KSO_WM_UNIT_COMPATIBLE" val="1"/>
  <p:tag name="KSO_WM_UNIT_RELATE_UNITID" val="diagram160171_3*l*1"/>
  <p:tag name="KSO_WM_UNIT_PRESET_TEXT_INDEX" val="3"/>
  <p:tag name="KSO_WM_UNIT_PRESET_TEXT_LEN" val="17"/>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h_a"/>
  <p:tag name="KSO_WM_UNIT_INDEX" val="1_2_1"/>
  <p:tag name="KSO_WM_UNIT_ID" val="258*l_h_a*1_2_1"/>
  <p:tag name="KSO_WM_UNIT_CLEAR" val="1"/>
  <p:tag name="KSO_WM_UNIT_LAYERLEVEL" val="1_1_1"/>
  <p:tag name="KSO_WM_UNIT_VALUE" val="12"/>
  <p:tag name="KSO_WM_UNIT_HIGHLIGHT" val="0"/>
  <p:tag name="KSO_WM_UNIT_COMPATIBLE" val="0"/>
  <p:tag name="KSO_WM_UNIT_PRESET_TEXT" val="LOREM"/>
  <p:tag name="KSO_WM_BEAUTIFY_FLAG" val="#wm#"/>
  <p:tag name="KSO_WM_DIAGRAM_GROUP_CODE" val="l1-1"/>
</p:tagLst>
</file>

<file path=ppt/tags/tag1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h_a"/>
  <p:tag name="KSO_WM_UNIT_INDEX" val="1_1_1"/>
  <p:tag name="KSO_WM_UNIT_ID" val="258*l_h_a*1_1_1"/>
  <p:tag name="KSO_WM_UNIT_CLEAR" val="1"/>
  <p:tag name="KSO_WM_UNIT_LAYERLEVEL" val="1_1_1"/>
  <p:tag name="KSO_WM_UNIT_VALUE" val="35"/>
  <p:tag name="KSO_WM_UNIT_HIGHLIGHT" val="0"/>
  <p:tag name="KSO_WM_UNIT_COMPATIBLE" val="0"/>
  <p:tag name="KSO_WM_UNIT_PRESET_TEXT" val="LOREM"/>
  <p:tag name="KSO_WM_BEAUTIFY_FLAG" val="#wm#"/>
  <p:tag name="KSO_WM_DIAGRAM_GROUP_CODE" val="l1-1"/>
</p:tagLst>
</file>

<file path=ppt/tags/tag1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h_a"/>
  <p:tag name="KSO_WM_UNIT_INDEX" val="1_4_1"/>
  <p:tag name="KSO_WM_UNIT_ID" val="258*l_h_a*1_4_1"/>
  <p:tag name="KSO_WM_UNIT_CLEAR" val="1"/>
  <p:tag name="KSO_WM_UNIT_LAYERLEVEL" val="1_1_1"/>
  <p:tag name="KSO_WM_UNIT_VALUE" val="35"/>
  <p:tag name="KSO_WM_UNIT_HIGHLIGHT" val="0"/>
  <p:tag name="KSO_WM_UNIT_COMPATIBLE" val="0"/>
  <p:tag name="KSO_WM_UNIT_PRESET_TEXT_INDEX" val="3"/>
  <p:tag name="KSO_WM_UNIT_PRESET_TEXT_LEN" val="5"/>
  <p:tag name="KSO_WM_BEAUTIFY_FLAG" val="#wm#"/>
  <p:tag name="KSO_WM_DIAGRAM_GROUP_CODE" val="l1-1"/>
</p:tagLst>
</file>

<file path=ppt/tags/tag1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h_a"/>
  <p:tag name="KSO_WM_UNIT_INDEX" val="1_3_1"/>
  <p:tag name="KSO_WM_UNIT_ID" val="258*l_h_a*1_3_1"/>
  <p:tag name="KSO_WM_UNIT_CLEAR" val="1"/>
  <p:tag name="KSO_WM_UNIT_LAYERLEVEL" val="1_1_1"/>
  <p:tag name="KSO_WM_UNIT_VALUE" val="15"/>
  <p:tag name="KSO_WM_UNIT_HIGHLIGHT" val="0"/>
  <p:tag name="KSO_WM_UNIT_COMPATIBLE" val="0"/>
  <p:tag name="KSO_WM_UNIT_PRESET_TEXT" val="LOREM"/>
  <p:tag name="KSO_WM_BEAUTIFY_FLAG" val="#wm#"/>
  <p:tag name="KSO_WM_DIAGRAM_GROUP_CODE" val="l1-1"/>
</p:tagLst>
</file>

<file path=ppt/tags/tag1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i"/>
  <p:tag name="KSO_WM_UNIT_INDEX" val="1_1"/>
  <p:tag name="KSO_WM_UNIT_ID" val="258*l_i*1_1"/>
  <p:tag name="KSO_WM_UNIT_CLEAR" val="1"/>
  <p:tag name="KSO_WM_UNIT_LAYERLEVEL" val="1_1"/>
  <p:tag name="KSO_WM_BEAUTIFY_FLAG" val="#wm#"/>
  <p:tag name="KSO_WM_DIAGRAM_GROUP_CODE" val="l1-1"/>
</p:tagLst>
</file>

<file path=ppt/tags/tag1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i"/>
  <p:tag name="KSO_WM_UNIT_INDEX" val="1_2"/>
  <p:tag name="KSO_WM_UNIT_ID" val="258*l_i*1_2"/>
  <p:tag name="KSO_WM_UNIT_CLEAR" val="1"/>
  <p:tag name="KSO_WM_UNIT_LAYERLEVEL" val="1_1"/>
  <p:tag name="KSO_WM_BEAUTIFY_FLAG" val="#wm#"/>
  <p:tag name="KSO_WM_DIAGRAM_GROUP_CODE" val="l1-1"/>
</p:tagLst>
</file>

<file path=ppt/tags/tag20.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i"/>
  <p:tag name="KSO_WM_UNIT_INDEX" val="1_3"/>
  <p:tag name="KSO_WM_UNIT_ID" val="258*l_i*1_3"/>
  <p:tag name="KSO_WM_UNIT_CLEAR" val="1"/>
  <p:tag name="KSO_WM_UNIT_LAYERLEVEL" val="1_1"/>
  <p:tag name="KSO_WM_BEAUTIFY_FLAG" val="#wm#"/>
  <p:tag name="KSO_WM_DIAGRAM_GROUP_CODE" val="l1-1"/>
</p:tagLst>
</file>

<file path=ppt/tags/tag21.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i"/>
  <p:tag name="KSO_WM_UNIT_INDEX" val="1_4"/>
  <p:tag name="KSO_WM_UNIT_ID" val="258*l_i*1_4"/>
  <p:tag name="KSO_WM_UNIT_CLEAR" val="1"/>
  <p:tag name="KSO_WM_UNIT_LAYERLEVEL" val="1_1"/>
  <p:tag name="KSO_WM_BEAUTIFY_FLAG" val="#wm#"/>
  <p:tag name="KSO_WM_DIAGRAM_GROUP_CODE" val="l1-1"/>
</p:tagLst>
</file>

<file path=ppt/tags/tag22.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i"/>
  <p:tag name="KSO_WM_UNIT_INDEX" val="1_5"/>
  <p:tag name="KSO_WM_UNIT_ID" val="258*l_i*1_5"/>
  <p:tag name="KSO_WM_UNIT_CLEAR" val="1"/>
  <p:tag name="KSO_WM_UNIT_LAYERLEVEL" val="1_1"/>
  <p:tag name="KSO_WM_BEAUTIFY_FLAG" val="#wm#"/>
  <p:tag name="KSO_WM_DIAGRAM_GROUP_CODE" val="l1-1"/>
</p:tagLst>
</file>

<file path=ppt/tags/tag23.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i"/>
  <p:tag name="KSO_WM_UNIT_INDEX" val="1_6"/>
  <p:tag name="KSO_WM_UNIT_ID" val="258*l_i*1_6"/>
  <p:tag name="KSO_WM_UNIT_CLEAR" val="1"/>
  <p:tag name="KSO_WM_UNIT_LAYERLEVEL" val="1_1"/>
  <p:tag name="KSO_WM_BEAUTIFY_FLAG" val="#wm#"/>
  <p:tag name="KSO_WM_DIAGRAM_GROUP_CODE" val="l1-1"/>
</p:tagLst>
</file>

<file path=ppt/tags/tag24.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i"/>
  <p:tag name="KSO_WM_UNIT_INDEX" val="1_7"/>
  <p:tag name="KSO_WM_UNIT_ID" val="258*l_i*1_7"/>
  <p:tag name="KSO_WM_UNIT_CLEAR" val="1"/>
  <p:tag name="KSO_WM_UNIT_LAYERLEVEL" val="1_1"/>
  <p:tag name="KSO_WM_BEAUTIFY_FLAG" val="#wm#"/>
  <p:tag name="KSO_WM_DIAGRAM_GROUP_CODE" val="l1-1"/>
</p:tagLst>
</file>

<file path=ppt/tags/tag25.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i"/>
  <p:tag name="KSO_WM_UNIT_INDEX" val="1_8"/>
  <p:tag name="KSO_WM_UNIT_ID" val="258*l_i*1_8"/>
  <p:tag name="KSO_WM_UNIT_CLEAR" val="1"/>
  <p:tag name="KSO_WM_UNIT_LAYERLEVEL" val="1_1"/>
  <p:tag name="KSO_WM_BEAUTIFY_FLAG" val="#wm#"/>
  <p:tag name="KSO_WM_DIAGRAM_GROUP_CODE" val="l1-1"/>
</p:tagLst>
</file>

<file path=ppt/tags/tag26.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h_f"/>
  <p:tag name="KSO_WM_UNIT_INDEX" val="1_1_1"/>
  <p:tag name="KSO_WM_UNIT_ID" val="258*l_h_f*1_1_1"/>
  <p:tag name="KSO_WM_UNIT_CLEAR" val="1"/>
  <p:tag name="KSO_WM_UNIT_LAYERLEVEL" val="1_1_1"/>
  <p:tag name="KSO_WM_UNIT_VALUE" val="21"/>
  <p:tag name="KSO_WM_UNIT_HIGHLIGHT" val="0"/>
  <p:tag name="KSO_WM_UNIT_COMPATIBLE" val="0"/>
  <p:tag name="KSO_WM_UNIT_PRESET_TEXT" val="LOREM IPSUM DOLOR SIT AMET"/>
  <p:tag name="KSO_WM_BEAUTIFY_FLAG" val="#wm#"/>
  <p:tag name="KSO_WM_DIAGRAM_GROUP_CODE" val="l1-1"/>
</p:tagLst>
</file>

<file path=ppt/tags/tag27.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h_f"/>
  <p:tag name="KSO_WM_UNIT_INDEX" val="1_2_1"/>
  <p:tag name="KSO_WM_UNIT_ID" val="258*l_h_f*1_2_1"/>
  <p:tag name="KSO_WM_UNIT_CLEAR" val="1"/>
  <p:tag name="KSO_WM_UNIT_LAYERLEVEL" val="1_1_1"/>
  <p:tag name="KSO_WM_UNIT_VALUE" val="21"/>
  <p:tag name="KSO_WM_UNIT_HIGHLIGHT" val="0"/>
  <p:tag name="KSO_WM_UNIT_COMPATIBLE" val="0"/>
  <p:tag name="KSO_WM_UNIT_PRESET_TEXT" val="LOREM IPSUM DOLOR SIT AMET"/>
  <p:tag name="KSO_WM_BEAUTIFY_FLAG" val="#wm#"/>
  <p:tag name="KSO_WM_DIAGRAM_GROUP_CODE" val="l1-1"/>
</p:tagLst>
</file>

<file path=ppt/tags/tag28.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h_f"/>
  <p:tag name="KSO_WM_UNIT_INDEX" val="1_3_1"/>
  <p:tag name="KSO_WM_UNIT_ID" val="258*l_h_f*1_3_1"/>
  <p:tag name="KSO_WM_UNIT_CLEAR" val="1"/>
  <p:tag name="KSO_WM_UNIT_LAYERLEVEL" val="1_1_1"/>
  <p:tag name="KSO_WM_UNIT_VALUE" val="21"/>
  <p:tag name="KSO_WM_UNIT_HIGHLIGHT" val="0"/>
  <p:tag name="KSO_WM_UNIT_COMPATIBLE" val="0"/>
  <p:tag name="KSO_WM_UNIT_PRESET_TEXT" val="LOREM IPSUM DOLOR SIT AMET"/>
  <p:tag name="KSO_WM_BEAUTIFY_FLAG" val="#wm#"/>
  <p:tag name="KSO_WM_DIAGRAM_GROUP_CODE" val="l1-1"/>
</p:tagLst>
</file>

<file path=ppt/tags/tag29.xml><?xml version="1.0" encoding="utf-8"?>
<p:tagLst xmlns:a="http://schemas.openxmlformats.org/drawingml/2006/main" xmlns:r="http://schemas.openxmlformats.org/officeDocument/2006/relationships" xmlns:p="http://schemas.openxmlformats.org/presentationml/2006/main">
  <p:tag name="KSO_WM_TAG_VERSION" val="1.0"/>
  <p:tag name="KSO_WM_TEMPLATE_CATEGORY" val="diagram"/>
  <p:tag name="KSO_WM_TEMPLATE_INDEX" val="160171"/>
  <p:tag name="KSO_WM_UNIT_TYPE" val="l_h_f"/>
  <p:tag name="KSO_WM_UNIT_INDEX" val="1_4_1"/>
  <p:tag name="KSO_WM_UNIT_ID" val="258*l_h_f*1_4_1"/>
  <p:tag name="KSO_WM_UNIT_CLEAR" val="1"/>
  <p:tag name="KSO_WM_UNIT_LAYERLEVEL" val="1_1_1"/>
  <p:tag name="KSO_WM_UNIT_VALUE" val="21"/>
  <p:tag name="KSO_WM_UNIT_HIGHLIGHT" val="0"/>
  <p:tag name="KSO_WM_UNIT_COMPATIBLE" val="0"/>
  <p:tag name="KSO_WM_UNIT_PRESET_TEXT" val="LOREM IPSUM DOLOR SIT AMET"/>
  <p:tag name="KSO_WM_BEAUTIFY_FLAG" val="#wm#"/>
  <p:tag name="KSO_WM_DIAGRAM_GROUP_CODE" val="l1-1"/>
</p:tagLst>
</file>

<file path=ppt/tags/tag3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187308"/>
</p:tagLst>
</file>

<file path=ppt/tags/tag31.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7"/>
  <p:tag name="KSO_WM_TAG_VERSION" val="1.0"/>
  <p:tag name="KSO_WM_SLIDE_ID" val="custom160337_15"/>
  <p:tag name="KSO_WM_SLIDE_INDEX" val="15"/>
  <p:tag name="KSO_WM_SLIDE_ITEM_CNT" val="3"/>
  <p:tag name="KSO_WM_SLIDE_LAYOUT" val="a_l"/>
  <p:tag name="KSO_WM_SLIDE_LAYOUT_CNT" val="1_1"/>
  <p:tag name="KSO_WM_SLIDE_TYPE" val="text"/>
  <p:tag name="KSO_WM_BEAUTIFY_FLAG" val="#wm#"/>
  <p:tag name="KSO_WM_SLIDE_POSITION" val="184*141"/>
  <p:tag name="KSO_WM_SLIDE_SIZE" val="585*312"/>
  <p:tag name="KSO_WM_DIAGRAM_GROUP_CODE" val="l1-2"/>
</p:tagLst>
</file>

<file path=ppt/tags/tag3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i"/>
  <p:tag name="KSO_WM_UNIT_INDEX" val="1_1"/>
  <p:tag name="KSO_WM_UNIT_ID" val="custom160337_15*l_i*1_1"/>
  <p:tag name="KSO_WM_UNIT_CLEAR" val="1"/>
  <p:tag name="KSO_WM_UNIT_LAYERLEVEL" val="1_1"/>
  <p:tag name="KSO_WM_DIAGRAM_GROUP_CODE" val="l1-2"/>
</p:tagLst>
</file>

<file path=ppt/tags/tag3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337_15*i*1"/>
  <p:tag name="KSO_WM_TEMPLATE_CATEGORY" val="custom"/>
  <p:tag name="KSO_WM_TEMPLATE_INDEX" val="160337"/>
</p:tagLst>
</file>

<file path=ppt/tags/tag3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337_15*i*10"/>
  <p:tag name="KSO_WM_TEMPLATE_CATEGORY" val="custom"/>
  <p:tag name="KSO_WM_TEMPLATE_INDEX" val="160337"/>
</p:tagLst>
</file>

<file path=ppt/tags/tag3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337_15*i*19"/>
  <p:tag name="KSO_WM_TEMPLATE_CATEGORY" val="custom"/>
  <p:tag name="KSO_WM_TEMPLATE_INDEX" val="160337"/>
</p:tagLst>
</file>

<file path=ppt/tags/tag3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15*a*1"/>
  <p:tag name="KSO_WM_UNIT_CLEAR" val="1"/>
  <p:tag name="KSO_WM_UNIT_LAYERLEVEL" val="1"/>
  <p:tag name="KSO_WM_UNIT_VALUE" val="42"/>
  <p:tag name="KSO_WM_UNIT_ISCONTENTSTITLE" val="0"/>
  <p:tag name="KSO_WM_UNIT_HIGHLIGHT" val="0"/>
  <p:tag name="KSO_WM_UNIT_COMPATIBLE" val="0"/>
  <p:tag name="KSO_WM_UNIT_PRESET_TEXT_INDEX" val="3"/>
  <p:tag name="KSO_WM_UNIT_PRESET_TEXT_LEN" val="17"/>
</p:tagLst>
</file>

<file path=ppt/tags/tag3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i"/>
  <p:tag name="KSO_WM_UNIT_INDEX" val="1_8"/>
  <p:tag name="KSO_WM_UNIT_ID" val="custom160337_15*l_i*1_8"/>
  <p:tag name="KSO_WM_UNIT_CLEAR" val="1"/>
  <p:tag name="KSO_WM_UNIT_LAYERLEVEL" val="1_1"/>
  <p:tag name="KSO_WM_DIAGRAM_GROUP_CODE" val="l1-2"/>
</p:tagLst>
</file>

<file path=ppt/tags/tag3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i"/>
  <p:tag name="KSO_WM_UNIT_INDEX" val="1_9"/>
  <p:tag name="KSO_WM_UNIT_ID" val="custom160337_15*l_i*1_9"/>
  <p:tag name="KSO_WM_UNIT_CLEAR" val="1"/>
  <p:tag name="KSO_WM_UNIT_LAYERLEVEL" val="1_1"/>
  <p:tag name="KSO_WM_DIAGRAM_GROUP_CODE" val="l1-2"/>
</p:tagLst>
</file>

<file path=ppt/tags/tag3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i"/>
  <p:tag name="KSO_WM_UNIT_INDEX" val="1_10"/>
  <p:tag name="KSO_WM_UNIT_ID" val="custom160337_15*l_i*1_10"/>
  <p:tag name="KSO_WM_UNIT_CLEAR" val="1"/>
  <p:tag name="KSO_WM_UNIT_LAYERLEVEL" val="1_1"/>
  <p:tag name="KSO_WM_DIAGRAM_GROUP_CODE" val="l1-2"/>
</p:tagLst>
</file>

<file path=ppt/tags/tag4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h_f"/>
  <p:tag name="KSO_WM_UNIT_INDEX" val="1_3_1"/>
  <p:tag name="KSO_WM_UNIT_ID" val="custom160337_15*l_h_f*1_3_1"/>
  <p:tag name="KSO_WM_UNIT_CLEAR" val="1"/>
  <p:tag name="KSO_WM_UNIT_LAYERLEVEL" val="1_1_1"/>
  <p:tag name="KSO_WM_UNIT_VALUE" val="21"/>
  <p:tag name="KSO_WM_UNIT_HIGHLIGHT" val="0"/>
  <p:tag name="KSO_WM_UNIT_COMPATIBLE" val="0"/>
  <p:tag name="KSO_WM_UNIT_PRESET_TEXT_INDEX" val="4"/>
  <p:tag name="KSO_WM_UNIT_PRESET_TEXT_LEN" val="26"/>
  <p:tag name="KSO_WM_DIAGRAM_GROUP_CODE" val="l1-2"/>
</p:tagLst>
</file>

<file path=ppt/tags/tag4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i"/>
  <p:tag name="KSO_WM_UNIT_INDEX" val="1_5"/>
  <p:tag name="KSO_WM_UNIT_ID" val="custom160337_15*l_i*1_5"/>
  <p:tag name="KSO_WM_UNIT_CLEAR" val="1"/>
  <p:tag name="KSO_WM_UNIT_LAYERLEVEL" val="1_1"/>
  <p:tag name="KSO_WM_DIAGRAM_GROUP_CODE" val="l1-2"/>
</p:tagLst>
</file>

<file path=ppt/tags/tag4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i"/>
  <p:tag name="KSO_WM_UNIT_INDEX" val="1_6"/>
  <p:tag name="KSO_WM_UNIT_ID" val="custom160337_15*l_i*1_6"/>
  <p:tag name="KSO_WM_UNIT_CLEAR" val="1"/>
  <p:tag name="KSO_WM_UNIT_LAYERLEVEL" val="1_1"/>
  <p:tag name="KSO_WM_DIAGRAM_GROUP_CODE" val="l1-2"/>
</p:tagLst>
</file>

<file path=ppt/tags/tag4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i"/>
  <p:tag name="KSO_WM_UNIT_INDEX" val="1_7"/>
  <p:tag name="KSO_WM_UNIT_ID" val="custom160337_15*l_i*1_7"/>
  <p:tag name="KSO_WM_UNIT_CLEAR" val="1"/>
  <p:tag name="KSO_WM_UNIT_LAYERLEVEL" val="1_1"/>
  <p:tag name="KSO_WM_DIAGRAM_GROUP_CODE" val="l1-2"/>
</p:tagLst>
</file>

<file path=ppt/tags/tag4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h_f"/>
  <p:tag name="KSO_WM_UNIT_INDEX" val="1_2_1"/>
  <p:tag name="KSO_WM_UNIT_ID" val="custom160337_15*l_h_f*1_2_1"/>
  <p:tag name="KSO_WM_UNIT_CLEAR" val="1"/>
  <p:tag name="KSO_WM_UNIT_LAYERLEVEL" val="1_1_1"/>
  <p:tag name="KSO_WM_UNIT_VALUE" val="21"/>
  <p:tag name="KSO_WM_UNIT_HIGHLIGHT" val="0"/>
  <p:tag name="KSO_WM_UNIT_COMPATIBLE" val="0"/>
  <p:tag name="KSO_WM_UNIT_PRESET_TEXT_INDEX" val="4"/>
  <p:tag name="KSO_WM_UNIT_PRESET_TEXT_LEN" val="26"/>
  <p:tag name="KSO_WM_DIAGRAM_GROUP_CODE" val="l1-2"/>
</p:tagLst>
</file>

<file path=ppt/tags/tag4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i"/>
  <p:tag name="KSO_WM_UNIT_INDEX" val="1_2"/>
  <p:tag name="KSO_WM_UNIT_ID" val="custom160337_15*l_i*1_2"/>
  <p:tag name="KSO_WM_UNIT_CLEAR" val="1"/>
  <p:tag name="KSO_WM_UNIT_LAYERLEVEL" val="1_1"/>
  <p:tag name="KSO_WM_DIAGRAM_GROUP_CODE" val="l1-2"/>
</p:tagLst>
</file>

<file path=ppt/tags/tag4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i"/>
  <p:tag name="KSO_WM_UNIT_INDEX" val="1_3"/>
  <p:tag name="KSO_WM_UNIT_ID" val="custom160337_15*l_i*1_3"/>
  <p:tag name="KSO_WM_UNIT_CLEAR" val="1"/>
  <p:tag name="KSO_WM_UNIT_LAYERLEVEL" val="1_1"/>
  <p:tag name="KSO_WM_DIAGRAM_GROUP_CODE" val="l1-2"/>
</p:tagLst>
</file>

<file path=ppt/tags/tag4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i"/>
  <p:tag name="KSO_WM_UNIT_INDEX" val="1_4"/>
  <p:tag name="KSO_WM_UNIT_ID" val="custom160337_15*l_i*1_4"/>
  <p:tag name="KSO_WM_UNIT_CLEAR" val="1"/>
  <p:tag name="KSO_WM_UNIT_LAYERLEVEL" val="1_1"/>
  <p:tag name="KSO_WM_DIAGRAM_GROUP_CODE" val="l1-2"/>
</p:tagLst>
</file>

<file path=ppt/tags/tag4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l_h_f"/>
  <p:tag name="KSO_WM_UNIT_INDEX" val="1_1_1"/>
  <p:tag name="KSO_WM_UNIT_ID" val="custom160337_15*l_h_f*1_1_1"/>
  <p:tag name="KSO_WM_UNIT_CLEAR" val="1"/>
  <p:tag name="KSO_WM_UNIT_LAYERLEVEL" val="1_1_1"/>
  <p:tag name="KSO_WM_UNIT_VALUE" val="21"/>
  <p:tag name="KSO_WM_UNIT_HIGHLIGHT" val="0"/>
  <p:tag name="KSO_WM_UNIT_COMPATIBLE" val="0"/>
  <p:tag name="KSO_WM_UNIT_PRESET_TEXT_INDEX" val="4"/>
  <p:tag name="KSO_WM_UNIT_PRESET_TEXT_LEN" val="26"/>
  <p:tag name="KSO_WM_DIAGRAM_GROUP_CODE" val="l1-2"/>
</p:tagLst>
</file>

<file path=ppt/tags/tag49.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7"/>
  <p:tag name="KSO_WM_TAG_VERSION" val="1.0"/>
  <p:tag name="KSO_WM_SLIDE_ID" val="custom160337_4"/>
  <p:tag name="KSO_WM_SLIDE_INDEX" val="4"/>
  <p:tag name="KSO_WM_SLIDE_ITEM_CNT" val="3"/>
  <p:tag name="KSO_WM_SLIDE_LAYOUT" val="a_f_d"/>
  <p:tag name="KSO_WM_SLIDE_LAYOUT_CNT" val="1_1_1"/>
  <p:tag name="KSO_WM_SLIDE_TYPE" val="text"/>
  <p:tag name="KSO_WM_BEAUTIFY_FLAG" val="#wm#"/>
  <p:tag name="KSO_WM_SLIDE_POSITION" val="63*64"/>
  <p:tag name="KSO_WM_SLIDE_SIZE" val="840*426"/>
</p:tagLst>
</file>

<file path=ppt/tags/tag5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f"/>
  <p:tag name="KSO_WM_UNIT_INDEX" val="1"/>
  <p:tag name="KSO_WM_UNIT_ID" val="custom160337_4*f*1"/>
  <p:tag name="KSO_WM_UNIT_CLEAR" val="1"/>
  <p:tag name="KSO_WM_UNIT_LAYERLEVEL" val="1"/>
  <p:tag name="KSO_WM_UNIT_VALUE" val="99"/>
  <p:tag name="KSO_WM_UNIT_HIGHLIGHT" val="0"/>
  <p:tag name="KSO_WM_UNIT_COMPATIBLE" val="0"/>
  <p:tag name="KSO_WM_UNIT_PRESET_TEXT_INDEX" val="5"/>
  <p:tag name="KSO_WM_UNIT_PRESET_TEXT_LEN" val="150"/>
</p:tagLst>
</file>

<file path=ppt/tags/tag5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4*a*1"/>
  <p:tag name="KSO_WM_UNIT_CLEAR" val="1"/>
  <p:tag name="KSO_WM_UNIT_LAYERLEVEL" val="1"/>
  <p:tag name="KSO_WM_UNIT_VALUE" val="24"/>
  <p:tag name="KSO_WM_UNIT_ISCONTENTSTITLE" val="0"/>
  <p:tag name="KSO_WM_UNIT_HIGHLIGHT" val="0"/>
  <p:tag name="KSO_WM_UNIT_COMPATIBLE" val="0"/>
  <p:tag name="KSO_WM_UNIT_PRESET_TEXT_INDEX" val="3"/>
  <p:tag name="KSO_WM_UNIT_PRESET_TEXT_LEN" val="17"/>
</p:tagLst>
</file>

<file path=ppt/tags/tag52.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7"/>
  <p:tag name="KSO_WM_TAG_VERSION" val="1.0"/>
  <p:tag name="KSO_WM_SLIDE_ID" val="custom160337_12"/>
  <p:tag name="KSO_WM_SLIDE_INDEX" val="12"/>
  <p:tag name="KSO_WM_SLIDE_ITEM_CNT" val="1"/>
  <p:tag name="KSO_WM_SLIDE_LAYOUT" val="a_e"/>
  <p:tag name="KSO_WM_SLIDE_LAYOUT_CNT" val="1_1"/>
  <p:tag name="KSO_WM_SLIDE_TYPE" val="sectionTitle"/>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12*a*1"/>
  <p:tag name="KSO_WM_UNIT_CLEAR" val="1"/>
  <p:tag name="KSO_WM_UNIT_LAYERLEVEL" val="1"/>
  <p:tag name="KSO_WM_UNIT_VALUE" val="17"/>
  <p:tag name="KSO_WM_UNIT_ISCONTENTSTITLE" val="0"/>
  <p:tag name="KSO_WM_UNIT_HIGHLIGHT" val="0"/>
  <p:tag name="KSO_WM_UNIT_COMPATIBLE" val="0"/>
  <p:tag name="KSO_WM_UNIT_PRESET_TEXT_INDEX" val="3"/>
  <p:tag name="KSO_WM_UNIT_PRESET_TEXT_LEN" val="17"/>
</p:tagLst>
</file>

<file path=ppt/tags/tag5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e"/>
  <p:tag name="KSO_WM_UNIT_INDEX" val="1"/>
  <p:tag name="KSO_WM_UNIT_ID" val="custom160337_12*e*1"/>
  <p:tag name="KSO_WM_UNIT_CLEAR" val="1"/>
  <p:tag name="KSO_WM_UNIT_LAYERLEVEL" val="1"/>
  <p:tag name="KSO_WM_UNIT_VALUE" val="1"/>
  <p:tag name="KSO_WM_UNIT_HIGHLIGHT" val="0"/>
  <p:tag name="KSO_WM_UNIT_COMPATIBLE" val="1"/>
  <p:tag name="KSO_WM_UNIT_PRESET_TEXT" val="1"/>
</p:tagLst>
</file>

<file path=ppt/tags/tag5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337_12*i*2"/>
  <p:tag name="KSO_WM_TEMPLATE_CATEGORY" val="custom"/>
  <p:tag name="KSO_WM_TEMPLATE_INDEX" val="160337"/>
</p:tagLst>
</file>

<file path=ppt/tags/tag5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7"/>
  <p:tag name="KSO_WM_TAG_VERSION" val="1.0"/>
  <p:tag name="KSO_WM_SLIDE_ID" val="custom160337_21"/>
  <p:tag name="KSO_WM_SLIDE_INDEX" val="21"/>
  <p:tag name="KSO_WM_SLIDE_ITEM_CNT" val="3"/>
  <p:tag name="KSO_WM_SLIDE_LAYOUT" val="a_m"/>
  <p:tag name="KSO_WM_SLIDE_LAYOUT_CNT" val="1_1"/>
  <p:tag name="KSO_WM_SLIDE_TYPE" val="text"/>
  <p:tag name="KSO_WM_BEAUTIFY_FLAG" val="#wm#"/>
  <p:tag name="KSO_WM_SLIDE_POSITION" val="120*134"/>
  <p:tag name="KSO_WM_SLIDE_SIZE" val="720*312"/>
  <p:tag name="KSO_WM_DIAGRAM_GROUP_CODE" val="m1-1"/>
</p:tagLst>
</file>

<file path=ppt/tags/tag5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m_i"/>
  <p:tag name="KSO_WM_UNIT_INDEX" val="1_1"/>
  <p:tag name="KSO_WM_UNIT_ID" val="custom160337_21*m_i*1_1"/>
  <p:tag name="KSO_WM_UNIT_CLEAR" val="1"/>
  <p:tag name="KSO_WM_UNIT_LAYERLEVEL" val="1_1"/>
  <p:tag name="KSO_WM_DIAGRAM_GROUP_CODE" val="m1-1"/>
</p:tagLst>
</file>

<file path=ppt/tags/tag5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337_21*i*1"/>
  <p:tag name="KSO_WM_TEMPLATE_CATEGORY" val="custom"/>
  <p:tag name="KSO_WM_TEMPLATE_INDEX" val="160337"/>
</p:tagLst>
</file>

<file path=ppt/tags/tag5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337_21*i*6"/>
  <p:tag name="KSO_WM_TEMPLATE_CATEGORY" val="custom"/>
  <p:tag name="KSO_WM_TEMPLATE_INDEX" val="160337"/>
</p:tagLst>
</file>

<file path=ppt/tags/tag6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custom160337_21*i*11"/>
  <p:tag name="KSO_WM_TEMPLATE_CATEGORY" val="custom"/>
  <p:tag name="KSO_WM_TEMPLATE_INDEX" val="160337"/>
</p:tagLst>
</file>

<file path=ppt/tags/tag6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21*a*1"/>
  <p:tag name="KSO_WM_UNIT_CLEAR" val="1"/>
  <p:tag name="KSO_WM_UNIT_LAYERLEVEL" val="1"/>
  <p:tag name="KSO_WM_UNIT_VALUE" val="42"/>
  <p:tag name="KSO_WM_UNIT_ISCONTENTSTITLE" val="0"/>
  <p:tag name="KSO_WM_UNIT_HIGHLIGHT" val="0"/>
  <p:tag name="KSO_WM_UNIT_COMPATIBLE" val="0"/>
  <p:tag name="KSO_WM_UNIT_PRESET_TEXT_INDEX" val="3"/>
  <p:tag name="KSO_WM_UNIT_PRESET_TEXT_LEN" val="17"/>
</p:tagLst>
</file>

<file path=ppt/tags/tag6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m_i"/>
  <p:tag name="KSO_WM_UNIT_INDEX" val="1_4"/>
  <p:tag name="KSO_WM_UNIT_ID" val="custom160337_21*m_i*1_4"/>
  <p:tag name="KSO_WM_UNIT_CLEAR" val="1"/>
  <p:tag name="KSO_WM_UNIT_LAYERLEVEL" val="1_1"/>
  <p:tag name="KSO_WM_DIAGRAM_GROUP_CODE" val="m1-1"/>
</p:tagLst>
</file>

<file path=ppt/tags/tag6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m_h_f"/>
  <p:tag name="KSO_WM_UNIT_INDEX" val="1_2_1"/>
  <p:tag name="KSO_WM_UNIT_ID" val="custom160337_21*m_h_f*1_2_1"/>
  <p:tag name="KSO_WM_UNIT_CLEAR" val="1"/>
  <p:tag name="KSO_WM_UNIT_LAYERLEVEL" val="1_1_1"/>
  <p:tag name="KSO_WM_UNIT_VALUE" val="32"/>
  <p:tag name="KSO_WM_UNIT_HIGHLIGHT" val="0"/>
  <p:tag name="KSO_WM_UNIT_COMPATIBLE" val="0"/>
  <p:tag name="KSO_WM_UNIT_PRESET_TEXT_INDEX" val="4"/>
  <p:tag name="KSO_WM_UNIT_PRESET_TEXT_LEN" val="26"/>
  <p:tag name="KSO_WM_DIAGRAM_GROUP_CODE" val="m1-1"/>
</p:tagLst>
</file>

<file path=ppt/tags/tag6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m_i"/>
  <p:tag name="KSO_WM_UNIT_INDEX" val="1_3"/>
  <p:tag name="KSO_WM_UNIT_ID" val="custom160337_21*m_i*1_3"/>
  <p:tag name="KSO_WM_UNIT_CLEAR" val="1"/>
  <p:tag name="KSO_WM_UNIT_LAYERLEVEL" val="1_1"/>
  <p:tag name="KSO_WM_DIAGRAM_GROUP_CODE" val="m1-1"/>
</p:tagLst>
</file>

<file path=ppt/tags/tag6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m_h_f"/>
  <p:tag name="KSO_WM_UNIT_INDEX" val="1_3_1"/>
  <p:tag name="KSO_WM_UNIT_ID" val="custom160337_21*m_h_f*1_3_1"/>
  <p:tag name="KSO_WM_UNIT_CLEAR" val="1"/>
  <p:tag name="KSO_WM_UNIT_LAYERLEVEL" val="1_1_1"/>
  <p:tag name="KSO_WM_UNIT_VALUE" val="32"/>
  <p:tag name="KSO_WM_UNIT_HIGHLIGHT" val="0"/>
  <p:tag name="KSO_WM_UNIT_COMPATIBLE" val="0"/>
  <p:tag name="KSO_WM_UNIT_PRESET_TEXT_INDEX" val="4"/>
  <p:tag name="KSO_WM_UNIT_PRESET_TEXT_LEN" val="26"/>
  <p:tag name="KSO_WM_DIAGRAM_GROUP_CODE" val="m1-1"/>
</p:tagLst>
</file>

<file path=ppt/tags/tag6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m_i"/>
  <p:tag name="KSO_WM_UNIT_INDEX" val="1_2"/>
  <p:tag name="KSO_WM_UNIT_ID" val="custom160337_21*m_i*1_2"/>
  <p:tag name="KSO_WM_UNIT_CLEAR" val="1"/>
  <p:tag name="KSO_WM_UNIT_LAYERLEVEL" val="1_1"/>
  <p:tag name="KSO_WM_DIAGRAM_GROUP_CODE" val="m1-1"/>
</p:tagLst>
</file>

<file path=ppt/tags/tag6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m_h_f"/>
  <p:tag name="KSO_WM_UNIT_INDEX" val="1_1_1"/>
  <p:tag name="KSO_WM_UNIT_ID" val="custom160337_21*m_h_f*1_1_1"/>
  <p:tag name="KSO_WM_UNIT_CLEAR" val="1"/>
  <p:tag name="KSO_WM_UNIT_LAYERLEVEL" val="1_1_1"/>
  <p:tag name="KSO_WM_UNIT_VALUE" val="32"/>
  <p:tag name="KSO_WM_UNIT_HIGHLIGHT" val="0"/>
  <p:tag name="KSO_WM_UNIT_COMPATIBLE" val="0"/>
  <p:tag name="KSO_WM_UNIT_PRESET_TEXT_INDEX" val="4"/>
  <p:tag name="KSO_WM_UNIT_PRESET_TEXT_LEN" val="26"/>
  <p:tag name="KSO_WM_DIAGRAM_GROUP_CODE" val="m1-1"/>
</p:tagLst>
</file>

<file path=ppt/tags/tag68.xml><?xml version="1.0" encoding="utf-8"?>
<p:tagLst xmlns:a="http://schemas.openxmlformats.org/drawingml/2006/main" xmlns:r="http://schemas.openxmlformats.org/officeDocument/2006/relationships" xmlns:p="http://schemas.openxmlformats.org/presentationml/2006/main">
  <p:tag name="KSO_WM_SLIDE_ID" val="diagram160087_5"/>
  <p:tag name="KSO_WM_SLIDE_INDEX" val="5"/>
  <p:tag name="KSO_WM_SLIDE_ITEM_CNT" val="5"/>
  <p:tag name="KSO_WM_SLIDE_LAYOUT" val="a_m_f"/>
  <p:tag name="KSO_WM_SLIDE_LAYOUT_CNT" val="1_1_1"/>
  <p:tag name="KSO_WM_SLIDE_TYPE" val="text"/>
  <p:tag name="KSO_WM_BEAUTIFY_FLAG" val="#wm#"/>
  <p:tag name="KSO_WM_SLIDE_POSITION" val="47*155"/>
  <p:tag name="KSO_WM_SLIDE_SIZE" val="867*297"/>
  <p:tag name="KSO_WM_TEMPLATE_CATEGORY" val="diagram"/>
  <p:tag name="KSO_WM_TEMPLATE_INDEX" val="160087"/>
  <p:tag name="KSO_WM_TAG_VERSION" val="1.0"/>
  <p:tag name="KSO_WM_DIAGRAM_GROUP_CODE" val="m1-1"/>
</p:tagLst>
</file>

<file path=ppt/tags/tag6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1"/>
  <p:tag name="KSO_WM_UNIT_ID" val="diagram160087_5*m_i*1_1"/>
  <p:tag name="KSO_WM_UNIT_CLEAR" val="1"/>
  <p:tag name="KSO_WM_UNIT_LAYERLEVEL" val="1_1"/>
  <p:tag name="KSO_WM_DIAGRAM_GROUP_CODE" val="m1-1"/>
</p:tagLst>
</file>

<file path=ppt/tags/tag7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87_5*i*1"/>
  <p:tag name="KSO_WM_TEMPLATE_CATEGORY" val="diagram"/>
  <p:tag name="KSO_WM_TEMPLATE_INDEX" val="160087"/>
  <p:tag name="KSO_WM_UNIT_INDEX" val="1"/>
</p:tagLst>
</file>

<file path=ppt/tags/tag7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87_5*i*6"/>
  <p:tag name="KSO_WM_TEMPLATE_CATEGORY" val="diagram"/>
  <p:tag name="KSO_WM_TEMPLATE_INDEX" val="160087"/>
  <p:tag name="KSO_WM_UNIT_INDEX" val="6"/>
</p:tagLst>
</file>

<file path=ppt/tags/tag7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87_5*i*11"/>
  <p:tag name="KSO_WM_TEMPLATE_CATEGORY" val="diagram"/>
  <p:tag name="KSO_WM_TEMPLATE_INDEX" val="160087"/>
  <p:tag name="KSO_WM_UNIT_INDEX" val="11"/>
</p:tagLst>
</file>

<file path=ppt/tags/tag7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5"/>
  <p:tag name="KSO_WM_UNIT_ID" val="diagram160087_5*m_i*1_5"/>
  <p:tag name="KSO_WM_UNIT_CLEAR" val="1"/>
  <p:tag name="KSO_WM_UNIT_LAYERLEVEL" val="1_1"/>
  <p:tag name="KSO_WM_DIAGRAM_GROUP_CODE" val="m1-1"/>
</p:tagLst>
</file>

<file path=ppt/tags/tag7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87_5*i*17"/>
  <p:tag name="KSO_WM_TEMPLATE_CATEGORY" val="diagram"/>
  <p:tag name="KSO_WM_TEMPLATE_INDEX" val="160087"/>
  <p:tag name="KSO_WM_UNIT_INDEX" val="17"/>
</p:tagLst>
</file>

<file path=ppt/tags/tag7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87_5*i*22"/>
  <p:tag name="KSO_WM_TEMPLATE_CATEGORY" val="diagram"/>
  <p:tag name="KSO_WM_TEMPLATE_INDEX" val="160087"/>
  <p:tag name="KSO_WM_UNIT_INDEX" val="22"/>
</p:tagLst>
</file>

<file path=ppt/tags/tag7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f"/>
  <p:tag name="KSO_WM_UNIT_INDEX" val="1"/>
  <p:tag name="KSO_WM_UNIT_ID" val="diagram160087_5*f*1"/>
  <p:tag name="KSO_WM_UNIT_CLEAR" val="1"/>
  <p:tag name="KSO_WM_UNIT_LAYERLEVEL" val="1"/>
  <p:tag name="KSO_WM_UNIT_VALUE" val="47"/>
  <p:tag name="KSO_WM_UNIT_HIGHLIGHT" val="0"/>
  <p:tag name="KSO_WM_UNIT_COMPATIBLE" val="0"/>
  <p:tag name="KSO_WM_UNIT_PRESET_TEXT_INDEX" val="4"/>
  <p:tag name="KSO_WM_UNIT_PRESET_TEXT_LEN" val="80"/>
</p:tagLst>
</file>

<file path=ppt/tags/tag7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7"/>
  <p:tag name="KSO_WM_UNIT_ID" val="diagram160087_5*m_i*1_7"/>
  <p:tag name="KSO_WM_UNIT_CLEAR" val="1"/>
  <p:tag name="KSO_WM_UNIT_LAYERLEVEL" val="1_1"/>
  <p:tag name="KSO_WM_DIAGRAM_GROUP_CODE" val="m1-1"/>
</p:tagLst>
</file>

<file path=ppt/tags/tag7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h_f"/>
  <p:tag name="KSO_WM_UNIT_INDEX" val="1_5_1"/>
  <p:tag name="KSO_WM_UNIT_ID" val="diagram160087_5*m_h_f*1_5_1"/>
  <p:tag name="KSO_WM_UNIT_CLEAR" val="1"/>
  <p:tag name="KSO_WM_UNIT_LAYERLEVEL" val="1_1_1"/>
  <p:tag name="KSO_WM_UNIT_VALUE" val="5"/>
  <p:tag name="KSO_WM_UNIT_HIGHLIGHT" val="0"/>
  <p:tag name="KSO_WM_UNIT_COMPATIBLE" val="0"/>
  <p:tag name="KSO_WM_DIAGRAM_GROUP_CODE" val="m1-1"/>
  <p:tag name="KSO_WM_UNIT_PRESET_TEXT" val="LOREM"/>
</p:tagLst>
</file>

<file path=ppt/tags/tag7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6"/>
  <p:tag name="KSO_WM_UNIT_ID" val="diagram160087_5*m_i*1_6"/>
  <p:tag name="KSO_WM_UNIT_CLEAR" val="1"/>
  <p:tag name="KSO_WM_UNIT_LAYERLEVEL" val="1_1"/>
  <p:tag name="KSO_WM_DIAGRAM_GROUP_CODE" val="m1-1"/>
</p:tagLst>
</file>

<file path=ppt/tags/tag8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h_f"/>
  <p:tag name="KSO_WM_UNIT_INDEX" val="1_4_1"/>
  <p:tag name="KSO_WM_UNIT_ID" val="diagram160087_5*m_h_f*1_4_1"/>
  <p:tag name="KSO_WM_UNIT_CLEAR" val="1"/>
  <p:tag name="KSO_WM_UNIT_LAYERLEVEL" val="1_1_1"/>
  <p:tag name="KSO_WM_UNIT_VALUE" val="5"/>
  <p:tag name="KSO_WM_UNIT_HIGHLIGHT" val="0"/>
  <p:tag name="KSO_WM_UNIT_COMPATIBLE" val="0"/>
  <p:tag name="KSO_WM_DIAGRAM_GROUP_CODE" val="m1-1"/>
  <p:tag name="KSO_WM_UNIT_PRESET_TEXT" val="LOREM"/>
</p:tagLst>
</file>

<file path=ppt/tags/tag8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4"/>
  <p:tag name="KSO_WM_UNIT_ID" val="diagram160087_5*m_i*1_4"/>
  <p:tag name="KSO_WM_UNIT_CLEAR" val="1"/>
  <p:tag name="KSO_WM_UNIT_LAYERLEVEL" val="1_1"/>
  <p:tag name="KSO_WM_DIAGRAM_GROUP_CODE" val="m1-1"/>
</p:tagLst>
</file>

<file path=ppt/tags/tag8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h_f"/>
  <p:tag name="KSO_WM_UNIT_INDEX" val="1_3_1"/>
  <p:tag name="KSO_WM_UNIT_ID" val="diagram160087_5*m_h_f*1_3_1"/>
  <p:tag name="KSO_WM_UNIT_CLEAR" val="1"/>
  <p:tag name="KSO_WM_UNIT_LAYERLEVEL" val="1_1_1"/>
  <p:tag name="KSO_WM_UNIT_VALUE" val="5"/>
  <p:tag name="KSO_WM_UNIT_HIGHLIGHT" val="0"/>
  <p:tag name="KSO_WM_UNIT_COMPATIBLE" val="0"/>
  <p:tag name="KSO_WM_DIAGRAM_GROUP_CODE" val="m1-1"/>
  <p:tag name="KSO_WM_UNIT_PRESET_TEXT" val="LOREM"/>
</p:tagLst>
</file>

<file path=ppt/tags/tag8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3"/>
  <p:tag name="KSO_WM_UNIT_ID" val="diagram160087_5*m_i*1_3"/>
  <p:tag name="KSO_WM_UNIT_CLEAR" val="1"/>
  <p:tag name="KSO_WM_UNIT_LAYERLEVEL" val="1_1"/>
  <p:tag name="KSO_WM_DIAGRAM_GROUP_CODE" val="m1-1"/>
</p:tagLst>
</file>

<file path=ppt/tags/tag8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h_f"/>
  <p:tag name="KSO_WM_UNIT_INDEX" val="1_2_1"/>
  <p:tag name="KSO_WM_UNIT_ID" val="diagram160087_5*m_h_f*1_2_1"/>
  <p:tag name="KSO_WM_UNIT_CLEAR" val="1"/>
  <p:tag name="KSO_WM_UNIT_LAYERLEVEL" val="1_1_1"/>
  <p:tag name="KSO_WM_UNIT_VALUE" val="5"/>
  <p:tag name="KSO_WM_UNIT_HIGHLIGHT" val="0"/>
  <p:tag name="KSO_WM_UNIT_COMPATIBLE" val="0"/>
  <p:tag name="KSO_WM_DIAGRAM_GROUP_CODE" val="m1-1"/>
  <p:tag name="KSO_WM_UNIT_PRESET_TEXT" val="LOREM"/>
</p:tagLst>
</file>

<file path=ppt/tags/tag8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2"/>
  <p:tag name="KSO_WM_UNIT_ID" val="diagram160087_5*m_i*1_2"/>
  <p:tag name="KSO_WM_UNIT_CLEAR" val="1"/>
  <p:tag name="KSO_WM_UNIT_LAYERLEVEL" val="1_1"/>
  <p:tag name="KSO_WM_DIAGRAM_GROUP_CODE" val="m1-1"/>
</p:tagLst>
</file>

<file path=ppt/tags/tag8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h_f"/>
  <p:tag name="KSO_WM_UNIT_INDEX" val="1_1_1"/>
  <p:tag name="KSO_WM_UNIT_ID" val="diagram160087_5*m_h_f*1_1_1"/>
  <p:tag name="KSO_WM_UNIT_CLEAR" val="1"/>
  <p:tag name="KSO_WM_UNIT_LAYERLEVEL" val="1_1_1"/>
  <p:tag name="KSO_WM_UNIT_VALUE" val="5"/>
  <p:tag name="KSO_WM_UNIT_HIGHLIGHT" val="0"/>
  <p:tag name="KSO_WM_UNIT_COMPATIBLE" val="0"/>
  <p:tag name="KSO_WM_DIAGRAM_GROUP_CODE" val="m1-1"/>
  <p:tag name="KSO_WM_UNIT_PRESET_TEXT" val="LOREM"/>
</p:tagLst>
</file>

<file path=ppt/tags/tag87.xml><?xml version="1.0" encoding="utf-8"?>
<p:tagLst xmlns:a="http://schemas.openxmlformats.org/drawingml/2006/main" xmlns:r="http://schemas.openxmlformats.org/officeDocument/2006/relationships" xmlns:p="http://schemas.openxmlformats.org/presentationml/2006/main">
  <p:tag name="KSO_WM_SLIDE_ID" val="diagram160087_5"/>
  <p:tag name="KSO_WM_SLIDE_INDEX" val="5"/>
  <p:tag name="KSO_WM_SLIDE_ITEM_CNT" val="5"/>
  <p:tag name="KSO_WM_SLIDE_LAYOUT" val="a_m_f"/>
  <p:tag name="KSO_WM_SLIDE_LAYOUT_CNT" val="1_1_1"/>
  <p:tag name="KSO_WM_SLIDE_TYPE" val="text"/>
  <p:tag name="KSO_WM_BEAUTIFY_FLAG" val="#wm#"/>
  <p:tag name="KSO_WM_SLIDE_POSITION" val="47*155"/>
  <p:tag name="KSO_WM_SLIDE_SIZE" val="867*297"/>
  <p:tag name="KSO_WM_TEMPLATE_CATEGORY" val="diagram"/>
  <p:tag name="KSO_WM_TEMPLATE_INDEX" val="160087"/>
  <p:tag name="KSO_WM_TAG_VERSION" val="1.0"/>
  <p:tag name="KSO_WM_DIAGRAM_GROUP_CODE" val="m1-1"/>
</p:tagLst>
</file>

<file path=ppt/tags/tag8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1"/>
  <p:tag name="KSO_WM_UNIT_ID" val="diagram160087_5*m_i*1_1"/>
  <p:tag name="KSO_WM_UNIT_CLEAR" val="1"/>
  <p:tag name="KSO_WM_UNIT_LAYERLEVEL" val="1_1"/>
  <p:tag name="KSO_WM_DIAGRAM_GROUP_CODE" val="m1-1"/>
</p:tagLst>
</file>

<file path=ppt/tags/tag8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87_5*i*1"/>
  <p:tag name="KSO_WM_TEMPLATE_CATEGORY" val="diagram"/>
  <p:tag name="KSO_WM_TEMPLATE_INDEX" val="160087"/>
  <p:tag name="KSO_WM_UNIT_INDEX" val="1"/>
</p:tagLst>
</file>

<file path=ppt/tags/tag9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87_5*i*6"/>
  <p:tag name="KSO_WM_TEMPLATE_CATEGORY" val="diagram"/>
  <p:tag name="KSO_WM_TEMPLATE_INDEX" val="160087"/>
  <p:tag name="KSO_WM_UNIT_INDEX" val="6"/>
</p:tagLst>
</file>

<file path=ppt/tags/tag9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87_5*i*11"/>
  <p:tag name="KSO_WM_TEMPLATE_CATEGORY" val="diagram"/>
  <p:tag name="KSO_WM_TEMPLATE_INDEX" val="160087"/>
  <p:tag name="KSO_WM_UNIT_INDEX" val="11"/>
</p:tagLst>
</file>

<file path=ppt/tags/tag9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5"/>
  <p:tag name="KSO_WM_UNIT_ID" val="diagram160087_5*m_i*1_5"/>
  <p:tag name="KSO_WM_UNIT_CLEAR" val="1"/>
  <p:tag name="KSO_WM_UNIT_LAYERLEVEL" val="1_1"/>
  <p:tag name="KSO_WM_DIAGRAM_GROUP_CODE" val="m1-1"/>
</p:tagLst>
</file>

<file path=ppt/tags/tag9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87_5*i*17"/>
  <p:tag name="KSO_WM_TEMPLATE_CATEGORY" val="diagram"/>
  <p:tag name="KSO_WM_TEMPLATE_INDEX" val="160087"/>
  <p:tag name="KSO_WM_UNIT_INDEX" val="17"/>
</p:tagLst>
</file>

<file path=ppt/tags/tag9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UNIT_TYPE" val="i"/>
  <p:tag name="KSO_WM_UNIT_ID" val="diagram160087_5*i*22"/>
  <p:tag name="KSO_WM_TEMPLATE_CATEGORY" val="diagram"/>
  <p:tag name="KSO_WM_TEMPLATE_INDEX" val="160087"/>
  <p:tag name="KSO_WM_UNIT_INDEX" val="22"/>
</p:tagLst>
</file>

<file path=ppt/tags/tag9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f"/>
  <p:tag name="KSO_WM_UNIT_INDEX" val="1"/>
  <p:tag name="KSO_WM_UNIT_ID" val="diagram160087_5*f*1"/>
  <p:tag name="KSO_WM_UNIT_CLEAR" val="1"/>
  <p:tag name="KSO_WM_UNIT_LAYERLEVEL" val="1"/>
  <p:tag name="KSO_WM_UNIT_VALUE" val="47"/>
  <p:tag name="KSO_WM_UNIT_HIGHLIGHT" val="0"/>
  <p:tag name="KSO_WM_UNIT_COMPATIBLE" val="0"/>
  <p:tag name="KSO_WM_UNIT_PRESET_TEXT_INDEX" val="4"/>
  <p:tag name="KSO_WM_UNIT_PRESET_TEXT_LEN" val="80"/>
</p:tagLst>
</file>

<file path=ppt/tags/tag96.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7"/>
  <p:tag name="KSO_WM_UNIT_ID" val="diagram160087_5*m_i*1_7"/>
  <p:tag name="KSO_WM_UNIT_CLEAR" val="1"/>
  <p:tag name="KSO_WM_UNIT_LAYERLEVEL" val="1_1"/>
  <p:tag name="KSO_WM_DIAGRAM_GROUP_CODE" val="m1-1"/>
</p:tagLst>
</file>

<file path=ppt/tags/tag9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h_f"/>
  <p:tag name="KSO_WM_UNIT_INDEX" val="1_5_1"/>
  <p:tag name="KSO_WM_UNIT_ID" val="diagram160087_5*m_h_f*1_5_1"/>
  <p:tag name="KSO_WM_UNIT_CLEAR" val="1"/>
  <p:tag name="KSO_WM_UNIT_LAYERLEVEL" val="1_1_1"/>
  <p:tag name="KSO_WM_UNIT_VALUE" val="5"/>
  <p:tag name="KSO_WM_UNIT_HIGHLIGHT" val="0"/>
  <p:tag name="KSO_WM_UNIT_COMPATIBLE" val="0"/>
  <p:tag name="KSO_WM_DIAGRAM_GROUP_CODE" val="m1-1"/>
  <p:tag name="KSO_WM_UNIT_PRESET_TEXT" val="LOREM"/>
</p:tagLst>
</file>

<file path=ppt/tags/tag9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6"/>
  <p:tag name="KSO_WM_UNIT_ID" val="diagram160087_5*m_i*1_6"/>
  <p:tag name="KSO_WM_UNIT_CLEAR" val="1"/>
  <p:tag name="KSO_WM_UNIT_LAYERLEVEL" val="1_1"/>
  <p:tag name="KSO_WM_DIAGRAM_GROUP_CODE" val="m1-1"/>
</p:tagLst>
</file>

<file path=ppt/tags/tag9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h_f"/>
  <p:tag name="KSO_WM_UNIT_INDEX" val="1_4_1"/>
  <p:tag name="KSO_WM_UNIT_ID" val="diagram160087_5*m_h_f*1_4_1"/>
  <p:tag name="KSO_WM_UNIT_CLEAR" val="1"/>
  <p:tag name="KSO_WM_UNIT_LAYERLEVEL" val="1_1_1"/>
  <p:tag name="KSO_WM_UNIT_VALUE" val="5"/>
  <p:tag name="KSO_WM_UNIT_HIGHLIGHT" val="0"/>
  <p:tag name="KSO_WM_UNIT_COMPATIBLE" val="0"/>
  <p:tag name="KSO_WM_DIAGRAM_GROUP_CODE" val="m1-1"/>
  <p:tag name="KSO_WM_UNIT_PRESET_TEXT" val="LOREM"/>
</p:tagLst>
</file>

<file path=ppt/tags/tag100.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4"/>
  <p:tag name="KSO_WM_UNIT_ID" val="diagram160087_5*m_i*1_4"/>
  <p:tag name="KSO_WM_UNIT_CLEAR" val="1"/>
  <p:tag name="KSO_WM_UNIT_LAYERLEVEL" val="1_1"/>
  <p:tag name="KSO_WM_DIAGRAM_GROUP_CODE" val="m1-1"/>
</p:tagLst>
</file>

<file path=ppt/tags/tag10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h_f"/>
  <p:tag name="KSO_WM_UNIT_INDEX" val="1_3_1"/>
  <p:tag name="KSO_WM_UNIT_ID" val="diagram160087_5*m_h_f*1_3_1"/>
  <p:tag name="KSO_WM_UNIT_CLEAR" val="1"/>
  <p:tag name="KSO_WM_UNIT_LAYERLEVEL" val="1_1_1"/>
  <p:tag name="KSO_WM_UNIT_VALUE" val="5"/>
  <p:tag name="KSO_WM_UNIT_HIGHLIGHT" val="0"/>
  <p:tag name="KSO_WM_UNIT_COMPATIBLE" val="0"/>
  <p:tag name="KSO_WM_DIAGRAM_GROUP_CODE" val="m1-1"/>
  <p:tag name="KSO_WM_UNIT_PRESET_TEXT" val="LOREM"/>
</p:tagLst>
</file>

<file path=ppt/tags/tag10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3"/>
  <p:tag name="KSO_WM_UNIT_ID" val="diagram160087_5*m_i*1_3"/>
  <p:tag name="KSO_WM_UNIT_CLEAR" val="1"/>
  <p:tag name="KSO_WM_UNIT_LAYERLEVEL" val="1_1"/>
  <p:tag name="KSO_WM_DIAGRAM_GROUP_CODE" val="m1-1"/>
</p:tagLst>
</file>

<file path=ppt/tags/tag103.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h_f"/>
  <p:tag name="KSO_WM_UNIT_INDEX" val="1_2_1"/>
  <p:tag name="KSO_WM_UNIT_ID" val="diagram160087_5*m_h_f*1_2_1"/>
  <p:tag name="KSO_WM_UNIT_CLEAR" val="1"/>
  <p:tag name="KSO_WM_UNIT_LAYERLEVEL" val="1_1_1"/>
  <p:tag name="KSO_WM_UNIT_VALUE" val="5"/>
  <p:tag name="KSO_WM_UNIT_HIGHLIGHT" val="0"/>
  <p:tag name="KSO_WM_UNIT_COMPATIBLE" val="0"/>
  <p:tag name="KSO_WM_DIAGRAM_GROUP_CODE" val="m1-1"/>
  <p:tag name="KSO_WM_UNIT_PRESET_TEXT" val="LOREM"/>
</p:tagLst>
</file>

<file path=ppt/tags/tag104.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i"/>
  <p:tag name="KSO_WM_UNIT_INDEX" val="1_2"/>
  <p:tag name="KSO_WM_UNIT_ID" val="diagram160087_5*m_i*1_2"/>
  <p:tag name="KSO_WM_UNIT_CLEAR" val="1"/>
  <p:tag name="KSO_WM_UNIT_LAYERLEVEL" val="1_1"/>
  <p:tag name="KSO_WM_DIAGRAM_GROUP_CODE" val="m1-1"/>
</p:tagLst>
</file>

<file path=ppt/tags/tag105.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diagram"/>
  <p:tag name="KSO_WM_TEMPLATE_INDEX" val="160087"/>
  <p:tag name="KSO_WM_UNIT_TYPE" val="m_h_f"/>
  <p:tag name="KSO_WM_UNIT_INDEX" val="1_1_1"/>
  <p:tag name="KSO_WM_UNIT_ID" val="diagram160087_5*m_h_f*1_1_1"/>
  <p:tag name="KSO_WM_UNIT_CLEAR" val="1"/>
  <p:tag name="KSO_WM_UNIT_LAYERLEVEL" val="1_1_1"/>
  <p:tag name="KSO_WM_UNIT_VALUE" val="5"/>
  <p:tag name="KSO_WM_UNIT_HIGHLIGHT" val="0"/>
  <p:tag name="KSO_WM_UNIT_COMPATIBLE" val="0"/>
  <p:tag name="KSO_WM_DIAGRAM_GROUP_CODE" val="m1-1"/>
  <p:tag name="KSO_WM_UNIT_PRESET_TEXT" val="LOREM"/>
</p:tagLst>
</file>

<file path=ppt/tags/tag106.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7"/>
  <p:tag name="KSO_WM_TAG_VERSION" val="1.0"/>
  <p:tag name="KSO_WM_SLIDE_ID" val="custom160337_3"/>
  <p:tag name="KSO_WM_SLIDE_INDEX" val="3"/>
  <p:tag name="KSO_WM_SLIDE_ITEM_CNT" val="3"/>
  <p:tag name="KSO_WM_SLIDE_LAYOUT" val="a_f"/>
  <p:tag name="KSO_WM_SLIDE_LAYOUT_CNT" val="1_2"/>
  <p:tag name="KSO_WM_SLIDE_TYPE" val="text"/>
  <p:tag name="KSO_WM_BEAUTIFY_FLAG" val="#wm#"/>
  <p:tag name="KSO_WM_SLIDE_POSITION" val="49*106"/>
  <p:tag name="KSO_WM_SLIDE_SIZE" val="864*354"/>
</p:tagLst>
</file>

<file path=ppt/tags/tag107.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3*a*1"/>
  <p:tag name="KSO_WM_UNIT_CLEAR" val="1"/>
  <p:tag name="KSO_WM_UNIT_LAYERLEVEL" val="1"/>
  <p:tag name="KSO_WM_UNIT_VALUE" val="42"/>
  <p:tag name="KSO_WM_UNIT_ISCONTENTSTITLE" val="0"/>
  <p:tag name="KSO_WM_UNIT_HIGHLIGHT" val="0"/>
  <p:tag name="KSO_WM_UNIT_COMPATIBLE" val="0"/>
  <p:tag name="KSO_WM_UNIT_PRESET_TEXT_INDEX" val="3"/>
  <p:tag name="KSO_WM_UNIT_PRESET_TEXT_LEN" val="17"/>
</p:tagLst>
</file>

<file path=ppt/tags/tag108.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f"/>
  <p:tag name="KSO_WM_UNIT_INDEX" val="1"/>
  <p:tag name="KSO_WM_UNIT_ID" val="custom160337_3*f*1"/>
  <p:tag name="KSO_WM_UNIT_CLEAR" val="1"/>
  <p:tag name="KSO_WM_UNIT_LAYERLEVEL" val="1"/>
  <p:tag name="KSO_WM_UNIT_VALUE" val="192"/>
  <p:tag name="KSO_WM_UNIT_HIGHLIGHT" val="0"/>
  <p:tag name="KSO_WM_UNIT_COMPATIBLE" val="0"/>
  <p:tag name="KSO_WM_UNIT_PRESET_TEXT_INDEX" val="5"/>
  <p:tag name="KSO_WM_UNIT_PRESET_TEXT_LEN" val="232"/>
</p:tagLst>
</file>

<file path=ppt/tags/tag109.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f"/>
  <p:tag name="KSO_WM_UNIT_INDEX" val="2"/>
  <p:tag name="KSO_WM_UNIT_ID" val="custom160337_3*f*2"/>
  <p:tag name="KSO_WM_UNIT_CLEAR" val="1"/>
  <p:tag name="KSO_WM_UNIT_LAYERLEVEL" val="1"/>
  <p:tag name="KSO_WM_UNIT_VALUE" val="192"/>
  <p:tag name="KSO_WM_UNIT_HIGHLIGHT" val="0"/>
  <p:tag name="KSO_WM_UNIT_COMPATIBLE" val="0"/>
  <p:tag name="KSO_WM_UNIT_PRESET_TEXT_INDEX" val="5"/>
  <p:tag name="KSO_WM_UNIT_PRESET_TEXT_LEN" val="232"/>
</p:tagLst>
</file>

<file path=ppt/tags/tag110.xml><?xml version="1.0" encoding="utf-8"?>
<p:tagLst xmlns:a="http://schemas.openxmlformats.org/drawingml/2006/main" xmlns:r="http://schemas.openxmlformats.org/officeDocument/2006/relationships" xmlns:p="http://schemas.openxmlformats.org/presentationml/2006/main">
  <p:tag name="KSO_WM_TEMPLATE_CATEGORY" val="custom"/>
  <p:tag name="KSO_WM_TEMPLATE_INDEX" val="160337"/>
  <p:tag name="KSO_WM_TAG_VERSION" val="1.0"/>
  <p:tag name="KSO_WM_SLIDE_ID" val="custom160337_27"/>
  <p:tag name="KSO_WM_SLIDE_INDEX" val="27"/>
  <p:tag name="KSO_WM_SLIDE_ITEM_CNT" val="1"/>
  <p:tag name="KSO_WM_SLIDE_LAYOUT" val="a_f"/>
  <p:tag name="KSO_WM_SLIDE_LAYOUT_CNT" val="1_1"/>
  <p:tag name="KSO_WM_SLIDE_TYPE" val="text"/>
  <p:tag name="KSO_WM_BEAUTIFY_FLAG" val="#wm#"/>
  <p:tag name="KSO_WM_SLIDE_POSITION" val="134*129"/>
  <p:tag name="KSO_WM_SLIDE_SIZE" val="692*298"/>
</p:tagLst>
</file>

<file path=ppt/tags/tag111.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f"/>
  <p:tag name="KSO_WM_UNIT_INDEX" val="1"/>
  <p:tag name="KSO_WM_UNIT_ID" val="custom160337_27*f*1"/>
  <p:tag name="KSO_WM_UNIT_CLEAR" val="1"/>
  <p:tag name="KSO_WM_UNIT_LAYERLEVEL" val="1"/>
  <p:tag name="KSO_WM_UNIT_VALUE" val="342"/>
  <p:tag name="KSO_WM_UNIT_HIGHLIGHT" val="0"/>
  <p:tag name="KSO_WM_UNIT_COMPATIBLE" val="0"/>
  <p:tag name="KSO_WM_UNIT_PRESET_TEXT_INDEX" val="5"/>
  <p:tag name="KSO_WM_UNIT_PRESET_TEXT_LEN" val="232"/>
</p:tagLst>
</file>

<file path=ppt/tags/tag112.xml><?xml version="1.0" encoding="utf-8"?>
<p:tagLst xmlns:a="http://schemas.openxmlformats.org/drawingml/2006/main" xmlns:r="http://schemas.openxmlformats.org/officeDocument/2006/relationships" xmlns:p="http://schemas.openxmlformats.org/presentationml/2006/main">
  <p:tag name="KSO_WM_TAG_VERSION" val="1.0"/>
  <p:tag name="KSO_WM_BEAUTIFY_FLAG" val="#wm#"/>
  <p:tag name="KSO_WM_TEMPLATE_CATEGORY" val="custom"/>
  <p:tag name="KSO_WM_TEMPLATE_INDEX" val="160337"/>
  <p:tag name="KSO_WM_UNIT_TYPE" val="a"/>
  <p:tag name="KSO_WM_UNIT_INDEX" val="1"/>
  <p:tag name="KSO_WM_UNIT_ID" val="custom160337_27*a*1"/>
  <p:tag name="KSO_WM_UNIT_CLEAR" val="1"/>
  <p:tag name="KSO_WM_UNIT_LAYERLEVEL" val="1"/>
  <p:tag name="KSO_WM_UNIT_VALUE" val="42"/>
  <p:tag name="KSO_WM_UNIT_ISCONTENTSTITLE" val="0"/>
  <p:tag name="KSO_WM_UNIT_HIGHLIGHT" val="0"/>
  <p:tag name="KSO_WM_UNIT_COMPATIBLE" val="0"/>
  <p:tag name="KSO_WM_UNIT_PRESET_TEXT_INDEX" val="3"/>
  <p:tag name="KSO_WM_UNIT_PRESET_TEXT_LEN" val="17"/>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A000120141114A22KWBG">
  <a:themeElements>
    <a:clrScheme name="自定义 132">
      <a:dk1>
        <a:srgbClr val="3D3F41"/>
      </a:dk1>
      <a:lt1>
        <a:srgbClr val="FFFFFF"/>
      </a:lt1>
      <a:dk2>
        <a:srgbClr val="3D3F41"/>
      </a:dk2>
      <a:lt2>
        <a:srgbClr val="EAF5FC"/>
      </a:lt2>
      <a:accent1>
        <a:srgbClr val="04AEDA"/>
      </a:accent1>
      <a:accent2>
        <a:srgbClr val="628EE3"/>
      </a:accent2>
      <a:accent3>
        <a:srgbClr val="2BC3B5"/>
      </a:accent3>
      <a:accent4>
        <a:srgbClr val="92D050"/>
      </a:accent4>
      <a:accent5>
        <a:srgbClr val="CEB9A3"/>
      </a:accent5>
      <a:accent6>
        <a:srgbClr val="FFC000"/>
      </a:accent6>
      <a:hlink>
        <a:srgbClr val="00B0F0"/>
      </a:hlink>
      <a:folHlink>
        <a:srgbClr val="AFB2B4"/>
      </a:folHlink>
    </a:clrScheme>
    <a:fontScheme name="自定义 21">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默认设计模板">
  <a:themeElements>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默认设计模板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6449</TotalTime>
  <Words>5541</Words>
  <Application>Microsoft Office PowerPoint</Application>
  <PresentationFormat>宽屏</PresentationFormat>
  <Paragraphs>601</Paragraphs>
  <Slides>90</Slides>
  <Notes>12</Notes>
  <HiddenSlides>0</HiddenSlides>
  <MMClips>0</MMClips>
  <ScaleCrop>false</ScaleCrop>
  <HeadingPairs>
    <vt:vector size="8" baseType="variant">
      <vt:variant>
        <vt:lpstr>已用的字体</vt:lpstr>
      </vt:variant>
      <vt:variant>
        <vt:i4>26</vt:i4>
      </vt:variant>
      <vt:variant>
        <vt:lpstr>主题</vt:lpstr>
      </vt:variant>
      <vt:variant>
        <vt:i4>4</vt:i4>
      </vt:variant>
      <vt:variant>
        <vt:lpstr>嵌入 OLE 服务器</vt:lpstr>
      </vt:variant>
      <vt:variant>
        <vt:i4>2</vt:i4>
      </vt:variant>
      <vt:variant>
        <vt:lpstr>幻灯片标题</vt:lpstr>
      </vt:variant>
      <vt:variant>
        <vt:i4>90</vt:i4>
      </vt:variant>
    </vt:vector>
  </HeadingPairs>
  <TitlesOfParts>
    <vt:vector size="122" baseType="lpstr">
      <vt:lpstr>Arial Unicode MS</vt:lpstr>
      <vt:lpstr>ArialMT</vt:lpstr>
      <vt:lpstr>CG Omega</vt:lpstr>
      <vt:lpstr>Mangal</vt:lpstr>
      <vt:lpstr>PMingLiU</vt:lpstr>
      <vt:lpstr>Simsun</vt:lpstr>
      <vt:lpstr>DengXian</vt:lpstr>
      <vt:lpstr>DengXian</vt:lpstr>
      <vt:lpstr>等线 Light</vt:lpstr>
      <vt:lpstr>方正超粗黑_GBK</vt:lpstr>
      <vt:lpstr>黑体</vt:lpstr>
      <vt:lpstr>华文新魏</vt:lpstr>
      <vt:lpstr>楷体_GB2312</vt:lpstr>
      <vt:lpstr>隶书</vt:lpstr>
      <vt:lpstr>宋体</vt:lpstr>
      <vt:lpstr>宋体-方正超大字符集</vt:lpstr>
      <vt:lpstr>微软雅黑</vt:lpstr>
      <vt:lpstr>Arial</vt:lpstr>
      <vt:lpstr>Arial Black</vt:lpstr>
      <vt:lpstr>Arial Narrow</vt:lpstr>
      <vt:lpstr>Calibri</vt:lpstr>
      <vt:lpstr>Calibri Light</vt:lpstr>
      <vt:lpstr>Comic Sans MS</vt:lpstr>
      <vt:lpstr>Times New Roman</vt:lpstr>
      <vt:lpstr>Webdings</vt:lpstr>
      <vt:lpstr>Wingdings</vt:lpstr>
      <vt:lpstr>Office 主题</vt:lpstr>
      <vt:lpstr>1_A000120141114A22KWBG</vt:lpstr>
      <vt:lpstr>Office 主题​​</vt:lpstr>
      <vt:lpstr>默认设计模板</vt:lpstr>
      <vt:lpstr>BMP 图象</vt:lpstr>
      <vt:lpstr>Document</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需求分析的工作目标</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需求分析的方式</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软件需求工程</vt:lpstr>
      <vt:lpstr>软件缺陷产生的原因</vt:lpstr>
      <vt:lpstr>缺陷纠正得越晚成本越大 </vt:lpstr>
      <vt:lpstr>课程提纲</vt:lpstr>
      <vt:lpstr>PowerPoint 演示文稿</vt:lpstr>
      <vt:lpstr>课程参考书</vt:lpstr>
      <vt:lpstr>PowerPoint 演示文稿</vt:lpstr>
      <vt:lpstr>设计操作案例</vt:lpstr>
      <vt:lpstr>设计操作案例</vt:lpstr>
      <vt:lpstr>设计操作案例</vt:lpstr>
      <vt:lpstr>应对现实世界的复杂性</vt:lpstr>
      <vt:lpstr>应对现实世界的复杂性</vt:lpstr>
      <vt:lpstr>应对现实世界的复杂性</vt:lpstr>
      <vt:lpstr>第一章 软件需求基本理论和概念</vt:lpstr>
      <vt:lpstr>项目失败的原因分析</vt:lpstr>
      <vt:lpstr>错误认识</vt:lpstr>
      <vt:lpstr>1. 软件需求的定义</vt:lpstr>
      <vt:lpstr>2. 需求工程的本质</vt:lpstr>
      <vt:lpstr>3. 问题域(Problem Domain)与 解系统(Solution System) </vt:lpstr>
      <vt:lpstr>问题域 Problem Domain</vt:lpstr>
      <vt:lpstr>问题域的类型</vt:lpstr>
      <vt:lpstr>问题域的类型</vt:lpstr>
      <vt:lpstr>需求的层次</vt:lpstr>
      <vt:lpstr>4. 软件需求的分类</vt:lpstr>
      <vt:lpstr>4. 软件需求的分类</vt:lpstr>
      <vt:lpstr>4. 软件需求的分类</vt:lpstr>
      <vt:lpstr>4. 软件需求的分类</vt:lpstr>
      <vt:lpstr>4. 软件需求的分类</vt:lpstr>
      <vt:lpstr>4. 软件需求的分类</vt:lpstr>
      <vt:lpstr>4. 软件需求的分类</vt:lpstr>
      <vt:lpstr>4. 软件需求的分类</vt:lpstr>
      <vt:lpstr>4. 软件需求的分类</vt:lpstr>
      <vt:lpstr>4. 软件需求的分类</vt:lpstr>
      <vt:lpstr>4. 软件需求的分类</vt:lpstr>
      <vt:lpstr>5.客户/用户/开发者的需求观</vt:lpstr>
      <vt:lpstr>6. 不合格的需求派生的问题</vt:lpstr>
      <vt:lpstr>不适当的需求引起的一些风险</vt:lpstr>
      <vt:lpstr>不适当的需求引起的一些风险</vt:lpstr>
      <vt:lpstr>不适当的需求引起的一些风险</vt:lpstr>
      <vt:lpstr>不适当的需求引起的一些风险</vt:lpstr>
      <vt:lpstr>不适当的需求引起的一些风险</vt:lpstr>
      <vt:lpstr>不适当的需求引起的一些风险</vt:lpstr>
      <vt:lpstr>不适当的需求引起的一些风险</vt:lpstr>
      <vt:lpstr>不适当的需求引起的一些风险</vt:lpstr>
      <vt:lpstr>7. 高质量的需求带来的好处</vt:lpstr>
      <vt:lpstr>8. 优秀需求所具有的特征</vt:lpstr>
      <vt:lpstr>8. 优秀需求所具有的特征</vt:lpstr>
      <vt:lpstr>8. 优秀需求所具有的特征</vt:lpstr>
      <vt:lpstr>8. 优秀需求所具有的特征</vt:lpstr>
      <vt:lpstr>8. 优秀需求所具有的特征</vt:lpstr>
      <vt:lpstr>8. 优秀需求所具有的特征</vt:lpstr>
      <vt:lpstr>优秀需求具有的特性</vt:lpstr>
      <vt:lpstr>优秀需求规格说明的特性</vt:lpstr>
      <vt:lpstr>优秀需求规格说明的特性</vt:lpstr>
      <vt:lpstr>优秀需求规格说明的特性</vt:lpstr>
      <vt:lpstr>优秀需求具有的特性</vt:lpstr>
      <vt:lpstr>优秀需求规格说明的特性</vt:lpstr>
      <vt:lpstr>优秀需求规格说明的特性</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lwl01</dc:creator>
  <cp:lastModifiedBy>nie</cp:lastModifiedBy>
  <cp:revision>142</cp:revision>
  <dcterms:created xsi:type="dcterms:W3CDTF">2016-01-22T02:37:50Z</dcterms:created>
  <dcterms:modified xsi:type="dcterms:W3CDTF">2019-10-22T01:07:08Z</dcterms:modified>
</cp:coreProperties>
</file>