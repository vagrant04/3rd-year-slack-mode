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312" r:id="rId2"/>
    <p:sldId id="313" r:id="rId3"/>
    <p:sldId id="319" r:id="rId4"/>
    <p:sldId id="320" r:id="rId5"/>
    <p:sldId id="322" r:id="rId6"/>
    <p:sldId id="323" r:id="rId7"/>
    <p:sldId id="324" r:id="rId8"/>
    <p:sldId id="321" r:id="rId9"/>
    <p:sldId id="325" r:id="rId10"/>
    <p:sldId id="286" r:id="rId11"/>
  </p:sldIdLst>
  <p:sldSz cx="9144000" cy="6858000" type="screen4x3"/>
  <p:notesSz cx="6797675" cy="9874250"/>
  <p:defaultTextStyle>
    <a:defPPr>
      <a:defRPr lang="zh-CN"/>
    </a:defPPr>
    <a:lvl1pPr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2">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BFBC3E"/>
    <a:srgbClr val="CCFFCC"/>
    <a:srgbClr val="FFFFCC"/>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298" autoAdjust="0"/>
  </p:normalViewPr>
  <p:slideViewPr>
    <p:cSldViewPr>
      <p:cViewPr varScale="1">
        <p:scale>
          <a:sx n="80" d="100"/>
          <a:sy n="80" d="100"/>
        </p:scale>
        <p:origin x="180" y="78"/>
      </p:cViewPr>
      <p:guideLst>
        <p:guide orient="horz" pos="2162"/>
        <p:guide pos="28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28BC3818-33E2-4CBF-86AC-C0FF0478E30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mtClean="0">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NJ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1475A542-FF97-4E94-8C9E-5FD46A7BBE19}" type="datetime1">
              <a:rPr lang="zh-CN" altLang="en-US"/>
              <a:t>2021/11/11</a:t>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p>
          <a:p>
            <a:pPr>
              <a:defRPr/>
            </a:pPr>
            <a:r>
              <a:rPr lang="en-US" altLang="zh-CN"/>
              <a:t>Nanjing University</a:t>
            </a:r>
          </a:p>
        </p:txBody>
      </p:sp>
      <p:sp>
        <p:nvSpPr>
          <p:cNvPr id="13" name="Rectangle 5"/>
          <p:cNvSpPr>
            <a:spLocks noGrp="1" noChangeArrowheads="1"/>
          </p:cNvSpPr>
          <p:nvPr>
            <p:ph type="sldNum" sz="quarter" idx="12"/>
          </p:nvPr>
        </p:nvSpPr>
        <p:spPr/>
        <p:txBody>
          <a:bodyPr/>
          <a:lstStyle>
            <a:lvl1pPr>
              <a:defRPr/>
            </a:lvl1pPr>
          </a:lstStyle>
          <a:p>
            <a:pPr>
              <a:defRPr/>
            </a:pPr>
            <a:fld id="{DB3C08A1-3E05-4455-8A0A-3ABF159E45AC}"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9FD41CD5-89FF-4815-9A8E-C21C31C05EB7}"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B9108D6E-A297-4ADF-9676-E7DF0EB00A91}"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7"/>
          <p:cNvSpPr>
            <a:spLocks noGrp="1" noChangeArrowheads="1"/>
          </p:cNvSpPr>
          <p:nvPr>
            <p:ph type="dt" sz="half" idx="10"/>
          </p:nvPr>
        </p:nvSpPr>
        <p:spPr/>
        <p:txBody>
          <a:bodyPr/>
          <a:lstStyle>
            <a:lvl1pPr>
              <a:defRPr/>
            </a:lvl1pPr>
          </a:lstStyle>
          <a:p>
            <a:pPr>
              <a:defRPr/>
            </a:pPr>
            <a:fld id="{A376EB1E-8A2E-4A6A-AD54-3AE0768AA555}"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F919AA54-8FFA-4A12-B297-594A2E6FA45C}"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4FCD87E6-73D0-47B4-905F-DC815C685E99}"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0340AE11-C2C8-4DD8-9751-9EF7167DEB2C}"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95C88E1D-58DB-465F-989B-9A799DCE91BB}" type="datetime1">
              <a:rPr lang="zh-CN" altLang="en-US"/>
              <a:t>2021/11/11</a:t>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9" name="Rectangle 9"/>
          <p:cNvSpPr>
            <a:spLocks noGrp="1" noChangeArrowheads="1"/>
          </p:cNvSpPr>
          <p:nvPr>
            <p:ph type="sldNum" sz="quarter" idx="12"/>
          </p:nvPr>
        </p:nvSpPr>
        <p:spPr/>
        <p:txBody>
          <a:bodyPr/>
          <a:lstStyle>
            <a:lvl1pPr>
              <a:defRPr/>
            </a:lvl1pPr>
          </a:lstStyle>
          <a:p>
            <a:pPr>
              <a:defRPr/>
            </a:pPr>
            <a:fld id="{1A18A6B2-3671-450D-8213-E332F3334BEC}"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B2A4182F-F80C-47F4-A204-BAC44C2212CC}" type="datetime1">
              <a:rPr lang="zh-CN" altLang="en-US"/>
              <a:t>2021/11/11</a:t>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5" name="Rectangle 9"/>
          <p:cNvSpPr>
            <a:spLocks noGrp="1" noChangeArrowheads="1"/>
          </p:cNvSpPr>
          <p:nvPr>
            <p:ph type="sldNum" sz="quarter" idx="12"/>
          </p:nvPr>
        </p:nvSpPr>
        <p:spPr/>
        <p:txBody>
          <a:bodyPr/>
          <a:lstStyle>
            <a:lvl1pPr>
              <a:defRPr/>
            </a:lvl1pPr>
          </a:lstStyle>
          <a:p>
            <a:pPr>
              <a:defRPr/>
            </a:pPr>
            <a:fld id="{AA45D972-190F-494D-8971-828DD155C2C4}"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A99977D3-D740-4EC6-9A28-CE2400C1D7A0}" type="datetime1">
              <a:rPr lang="zh-CN" altLang="en-US"/>
              <a:t>2021/11/11</a:t>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4" name="Rectangle 9"/>
          <p:cNvSpPr>
            <a:spLocks noGrp="1" noChangeArrowheads="1"/>
          </p:cNvSpPr>
          <p:nvPr>
            <p:ph type="sldNum" sz="quarter" idx="12"/>
          </p:nvPr>
        </p:nvSpPr>
        <p:spPr/>
        <p:txBody>
          <a:bodyPr/>
          <a:lstStyle>
            <a:lvl1pPr>
              <a:defRPr/>
            </a:lvl1pPr>
          </a:lstStyle>
          <a:p>
            <a:pPr>
              <a:defRPr/>
            </a:pPr>
            <a:fld id="{AAA1E598-A757-40C0-A8C3-807FB5EF1D6D}"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020E123C-0239-4C15-BD7B-45CAAD0DEEFB}"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8EEA10C3-A35E-4F9C-9E8D-BE801303C7E6}"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DEDE9E44-D2CC-4A44-B045-974AEDF1F624}"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2C2A0CD2-156D-44D7-A674-82A44BA18C4B}"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B9A93ED9-A663-4E50-BEF4-BC350B72FF91}"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282E679D-2698-4C91-8FCE-2C3EFB0B5865}"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6D1F1FD6-CBF6-495D-8EC6-8E63A46F54DC}"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ACF72455-0FFD-4906-A044-8C4DF4394141}"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pic>
        <p:nvPicPr>
          <p:cNvPr id="1030" name="Picture 6" descr="towe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600">
                <a:latin typeface="+mn-lt"/>
              </a:defRPr>
            </a:lvl1pPr>
          </a:lstStyle>
          <a:p>
            <a:pPr>
              <a:defRPr/>
            </a:pPr>
            <a:fld id="{B81EED3E-5B33-49F9-B6A9-104461501133}" type="datetime1">
              <a:rPr lang="zh-CN" altLang="en-US"/>
              <a:t>2021/11/11</a:t>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600">
                <a:latin typeface="+mn-lt"/>
              </a:defRPr>
            </a:lvl1pPr>
          </a:lstStyle>
          <a:p>
            <a:pPr>
              <a:defRPr/>
            </a:pPr>
            <a:r>
              <a:rPr lang="en-US" altLang="zh-CN"/>
              <a:t> Institute of Computer Software</a:t>
            </a:r>
          </a:p>
          <a:p>
            <a:pPr>
              <a:defRPr/>
            </a:pPr>
            <a:r>
              <a:rPr lang="en-US" altLang="zh-CN"/>
              <a:t>Nanjing University</a:t>
            </a:r>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600">
                <a:latin typeface="Arial" panose="020B0604020202020204" pitchFamily="34" charset="0"/>
              </a:defRPr>
            </a:lvl1pPr>
          </a:lstStyle>
          <a:p>
            <a:pPr>
              <a:defRPr/>
            </a:pPr>
            <a:fld id="{A90CF984-3908-45D5-BC5E-31FD5A405E51}" type="slidenum">
              <a:rPr lang="en-US" altLang="zh-CN"/>
              <a:t>‹#›</a:t>
            </a:fld>
            <a:endParaRPr lang="en-US" altLang="zh-CN"/>
          </a:p>
        </p:txBody>
      </p:sp>
      <p:pic>
        <p:nvPicPr>
          <p:cNvPr id="1034"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descr="校徽"/>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sz="3200">
          <a:solidFill>
            <a:schemeClr val="tx1"/>
          </a:solidFill>
          <a:latin typeface="+mj-lt"/>
          <a:ea typeface="+mj-ea"/>
          <a:cs typeface="+mj-cs"/>
        </a:defRPr>
      </a:lvl1pPr>
      <a:lvl2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40055" algn="l" rtl="0" eaLnBrk="0" fontAlgn="base" hangingPunct="0">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4130" indent="-403225" algn="l" rtl="0" eaLnBrk="0" fontAlgn="base" hangingPunct="0">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480" indent="-386080"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mn-ea"/>
        </a:defRPr>
      </a:lvl4pPr>
      <a:lvl5pPr marL="2070100" indent="-387350" algn="l" rtl="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3"/>
          <p:cNvSpPr>
            <a:spLocks noGrp="1" noChangeArrowheads="1"/>
          </p:cNvSpPr>
          <p:nvPr>
            <p:ph type="subTitle" idx="1"/>
          </p:nvPr>
        </p:nvSpPr>
        <p:spPr/>
        <p:txBody>
          <a:bodyPr/>
          <a:lstStyle/>
          <a:p>
            <a:pPr algn="r"/>
            <a:r>
              <a:rPr lang="zh-CN" altLang="en-US"/>
              <a:t>南京大学计算机科学与技术系</a:t>
            </a:r>
          </a:p>
          <a:p>
            <a:pPr algn="r"/>
            <a:r>
              <a:rPr lang="zh-CN" altLang="en-US"/>
              <a:t>聂长海</a:t>
            </a:r>
          </a:p>
        </p:txBody>
      </p:sp>
      <p:sp>
        <p:nvSpPr>
          <p:cNvPr id="5" name="标题 4"/>
          <p:cNvSpPr>
            <a:spLocks noGrp="1" noChangeArrowheads="1"/>
          </p:cNvSpPr>
          <p:nvPr>
            <p:ph type="ctrTitle"/>
          </p:nvPr>
        </p:nvSpPr>
        <p:spPr/>
        <p:txBody>
          <a:bodyPr/>
          <a:lstStyle/>
          <a:p>
            <a:r>
              <a:rPr lang="zh-CN" altLang="en-US" sz="4800" b="1" dirty="0"/>
              <a:t>软</a:t>
            </a:r>
            <a:r>
              <a:rPr lang="zh-CN" altLang="en-US" sz="4800" b="1" dirty="0" smtClean="0"/>
              <a:t>件</a:t>
            </a:r>
            <a:r>
              <a:rPr lang="en-US" altLang="zh-CN" sz="4800" b="1" dirty="0" smtClean="0"/>
              <a:t>Agent</a:t>
            </a:r>
            <a:endParaRPr lang="zh-CN" altLang="en-US" sz="4800" b="1" dirty="0"/>
          </a:p>
        </p:txBody>
      </p:sp>
      <p:sp>
        <p:nvSpPr>
          <p:cNvPr id="2" name="日期占位符 1"/>
          <p:cNvSpPr>
            <a:spLocks noGrp="1"/>
          </p:cNvSpPr>
          <p:nvPr>
            <p:ph type="dt" sz="half" idx="10"/>
          </p:nvPr>
        </p:nvSpPr>
        <p:spPr/>
        <p:txBody>
          <a:bodyPr/>
          <a:lstStyle/>
          <a:p>
            <a:pPr>
              <a:defRPr/>
            </a:pPr>
            <a:fld id="{A99977D3-D740-4EC6-9A28-CE2400C1D7A0}" type="datetime1">
              <a:rPr lang="zh-CN" altLang="en-US"/>
              <a:t>2021/11/11</a:t>
            </a:fld>
            <a:endParaRPr lang="en-US" altLang="zh-CN"/>
          </a:p>
        </p:txBody>
      </p:sp>
      <p:sp>
        <p:nvSpPr>
          <p:cNvPr id="3" name="灯片编号占位符 2"/>
          <p:cNvSpPr>
            <a:spLocks noGrp="1"/>
          </p:cNvSpPr>
          <p:nvPr>
            <p:ph type="sldNum" sz="quarter" idx="12"/>
          </p:nvPr>
        </p:nvSpPr>
        <p:spPr/>
        <p:txBody>
          <a:bodyPr/>
          <a:lstStyle/>
          <a:p>
            <a:pPr>
              <a:defRPr/>
            </a:pPr>
            <a:fld id="{AAA1E598-A757-40C0-A8C3-807FB5EF1D6D}" type="slidenum">
              <a:rPr lang="en-US" altLang="zh-CN"/>
              <a:t>1</a:t>
            </a:fld>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58888" y="332423"/>
            <a:ext cx="5616575" cy="576262"/>
          </a:xfrm>
        </p:spPr>
        <p:txBody>
          <a:bodyPr/>
          <a:lstStyle/>
          <a:p>
            <a:r>
              <a:rPr lang="zh-CN" altLang="en-US" b="1" dirty="0"/>
              <a:t>软件</a:t>
            </a:r>
            <a:r>
              <a:rPr lang="en-US" altLang="zh-CN" b="1" dirty="0"/>
              <a:t>agent</a:t>
            </a:r>
            <a:endParaRPr lang="zh-CN" altLang="en-US" dirty="0"/>
          </a:p>
        </p:txBody>
      </p:sp>
      <p:sp>
        <p:nvSpPr>
          <p:cNvPr id="5" name="内容占位符 4"/>
          <p:cNvSpPr>
            <a:spLocks noGrp="1"/>
          </p:cNvSpPr>
          <p:nvPr>
            <p:ph idx="1"/>
          </p:nvPr>
        </p:nvSpPr>
        <p:spPr>
          <a:xfrm>
            <a:off x="30480" y="1234440"/>
            <a:ext cx="9113520" cy="4852035"/>
          </a:xfrm>
        </p:spPr>
        <p:txBody>
          <a:bodyPr/>
          <a:lstStyle/>
          <a:p>
            <a:r>
              <a:rPr lang="en-US" altLang="zh-CN" sz="2000" dirty="0"/>
              <a:t>Agent</a:t>
            </a:r>
            <a:r>
              <a:rPr lang="zh-CN" altLang="en-US" sz="2000" dirty="0"/>
              <a:t>的研究最初是在上世纪</a:t>
            </a:r>
            <a:r>
              <a:rPr lang="en-US" altLang="zh-CN" sz="2000" dirty="0"/>
              <a:t>70</a:t>
            </a:r>
            <a:r>
              <a:rPr lang="zh-CN" altLang="en-US" sz="2000" dirty="0"/>
              <a:t>年代前期由马萨诸塞理工大学进行的一系列关于分布式人工智能的研究中展开的。主要</a:t>
            </a:r>
            <a:r>
              <a:rPr lang="zh-CN" altLang="en-US" sz="2000" dirty="0">
                <a:solidFill>
                  <a:srgbClr val="FF0000"/>
                </a:solidFill>
              </a:rPr>
              <a:t>研究</a:t>
            </a:r>
            <a:r>
              <a:rPr lang="en-US" altLang="zh-CN" sz="2000" dirty="0">
                <a:solidFill>
                  <a:srgbClr val="FF0000"/>
                </a:solidFill>
              </a:rPr>
              <a:t>Agent</a:t>
            </a:r>
            <a:r>
              <a:rPr lang="zh-CN" altLang="en-US" sz="2000" dirty="0">
                <a:solidFill>
                  <a:srgbClr val="FF0000"/>
                </a:solidFill>
              </a:rPr>
              <a:t>之</a:t>
            </a:r>
            <a:r>
              <a:rPr lang="zh-CN" altLang="en-US" sz="2000" dirty="0" smtClean="0">
                <a:solidFill>
                  <a:srgbClr val="FF0000"/>
                </a:solidFill>
              </a:rPr>
              <a:t>间通</a:t>
            </a:r>
            <a:r>
              <a:rPr lang="zh-CN" altLang="en-US" sz="2000" dirty="0">
                <a:solidFill>
                  <a:srgbClr val="FF0000"/>
                </a:solidFill>
              </a:rPr>
              <a:t>信、交互、协调合作、冲突解决等方面，以形成多个</a:t>
            </a:r>
            <a:r>
              <a:rPr lang="en-US" altLang="zh-CN" sz="2000" dirty="0">
                <a:solidFill>
                  <a:srgbClr val="FF0000"/>
                </a:solidFill>
              </a:rPr>
              <a:t>Agent</a:t>
            </a:r>
            <a:r>
              <a:rPr lang="zh-CN" altLang="en-US" sz="2000" dirty="0">
                <a:solidFill>
                  <a:srgbClr val="FF0000"/>
                </a:solidFill>
              </a:rPr>
              <a:t>协</a:t>
            </a:r>
            <a:r>
              <a:rPr lang="zh-CN" altLang="en-US" sz="2000" dirty="0" smtClean="0">
                <a:solidFill>
                  <a:srgbClr val="FF0000"/>
                </a:solidFill>
              </a:rPr>
              <a:t>作系</a:t>
            </a:r>
            <a:r>
              <a:rPr lang="zh-CN" altLang="en-US" sz="2000" dirty="0">
                <a:solidFill>
                  <a:srgbClr val="FF0000"/>
                </a:solidFill>
              </a:rPr>
              <a:t>统</a:t>
            </a:r>
            <a:r>
              <a:rPr lang="zh-CN" altLang="en-US" sz="2000" dirty="0" smtClean="0"/>
              <a:t>。上</a:t>
            </a:r>
            <a:r>
              <a:rPr lang="zh-CN" altLang="en-US" sz="2000" dirty="0"/>
              <a:t>世纪</a:t>
            </a:r>
            <a:r>
              <a:rPr lang="en-US" altLang="zh-CN" sz="2000" dirty="0"/>
              <a:t>90</a:t>
            </a:r>
            <a:r>
              <a:rPr lang="zh-CN" altLang="en-US" sz="2000" dirty="0"/>
              <a:t>年</a:t>
            </a:r>
            <a:r>
              <a:rPr lang="zh-CN" altLang="en-US" sz="2000" dirty="0" smtClean="0"/>
              <a:t>代计</a:t>
            </a:r>
            <a:r>
              <a:rPr lang="zh-CN" altLang="en-US" sz="2000" dirty="0"/>
              <a:t>算机技术和网络技术的不断发展，整个计算环境发生了深刻变化，对软件系统也提出了如鲁棒性、可伸缩性、可扩展性以及智能化等更高的要求。软件</a:t>
            </a:r>
            <a:r>
              <a:rPr lang="en-US" altLang="zh-CN" sz="2000" dirty="0"/>
              <a:t>Agent</a:t>
            </a:r>
            <a:r>
              <a:rPr lang="zh-CN" altLang="en-US" sz="2000" dirty="0"/>
              <a:t>作为分布式人工智</a:t>
            </a:r>
            <a:r>
              <a:rPr lang="zh-CN" altLang="en-US" sz="2000" dirty="0" smtClean="0"/>
              <a:t>能主</a:t>
            </a:r>
            <a:r>
              <a:rPr lang="zh-CN" altLang="en-US" sz="2000" dirty="0"/>
              <a:t>要研究热点之一成为解决这些问题的主要途</a:t>
            </a:r>
            <a:r>
              <a:rPr lang="zh-CN" altLang="en-US" sz="2000" dirty="0" smtClean="0"/>
              <a:t>径</a:t>
            </a:r>
            <a:endParaRPr lang="en-US" altLang="zh-CN" sz="2000" dirty="0" smtClean="0"/>
          </a:p>
          <a:p>
            <a:r>
              <a:rPr lang="en-US" altLang="zh-CN" dirty="0" smtClean="0"/>
              <a:t>1995</a:t>
            </a:r>
            <a:r>
              <a:rPr lang="zh-CN" altLang="en-US" dirty="0"/>
              <a:t>年</a:t>
            </a:r>
            <a:r>
              <a:rPr lang="en-US" altLang="zh-CN" dirty="0"/>
              <a:t>Wooldrige</a:t>
            </a:r>
            <a:r>
              <a:rPr lang="zh-CN" altLang="en-US" dirty="0"/>
              <a:t>给出了</a:t>
            </a:r>
            <a:r>
              <a:rPr lang="en-US" altLang="zh-CN" dirty="0"/>
              <a:t>Agent</a:t>
            </a:r>
            <a:r>
              <a:rPr lang="zh-CN" altLang="en-US" dirty="0"/>
              <a:t>的两种定义</a:t>
            </a:r>
            <a:r>
              <a:rPr lang="zh-CN" altLang="en-US" dirty="0" smtClean="0"/>
              <a:t>：</a:t>
            </a:r>
            <a:endParaRPr lang="en-US" altLang="zh-CN" dirty="0" smtClean="0"/>
          </a:p>
          <a:p>
            <a:r>
              <a:rPr lang="zh-CN" altLang="en-US" b="1" dirty="0" smtClean="0">
                <a:solidFill>
                  <a:srgbClr val="FF0000"/>
                </a:solidFill>
              </a:rPr>
              <a:t>（</a:t>
            </a:r>
            <a:r>
              <a:rPr lang="zh-CN" altLang="en-US" b="1" dirty="0">
                <a:solidFill>
                  <a:srgbClr val="FF0000"/>
                </a:solidFill>
              </a:rPr>
              <a:t>弱定义）</a:t>
            </a:r>
            <a:r>
              <a:rPr lang="en-US" altLang="zh-CN" dirty="0"/>
              <a:t>Agent</a:t>
            </a:r>
            <a:r>
              <a:rPr lang="zh-CN" altLang="en-US" dirty="0"/>
              <a:t>用以最一般的说明一个软硬件系统，她具有这</a:t>
            </a:r>
            <a:r>
              <a:rPr lang="zh-CN" altLang="en-US" dirty="0" smtClean="0"/>
              <a:t>样特</a:t>
            </a:r>
            <a:r>
              <a:rPr lang="zh-CN" altLang="en-US" dirty="0"/>
              <a:t>性：自治性，社会性，反映性，能动</a:t>
            </a:r>
            <a:r>
              <a:rPr lang="zh-CN" altLang="en-US" dirty="0" smtClean="0"/>
              <a:t>性</a:t>
            </a:r>
            <a:endParaRPr lang="en-US" altLang="zh-CN" dirty="0" smtClean="0"/>
          </a:p>
          <a:p>
            <a:r>
              <a:rPr lang="zh-CN" altLang="en-US" b="1" dirty="0" smtClean="0">
                <a:solidFill>
                  <a:srgbClr val="FF0000"/>
                </a:solidFill>
              </a:rPr>
              <a:t>（</a:t>
            </a:r>
            <a:r>
              <a:rPr lang="zh-CN" altLang="en-US" b="1" dirty="0">
                <a:solidFill>
                  <a:srgbClr val="FF0000"/>
                </a:solidFill>
              </a:rPr>
              <a:t>强定义）</a:t>
            </a:r>
            <a:r>
              <a:rPr lang="en-US" altLang="zh-CN" dirty="0"/>
              <a:t>Agent</a:t>
            </a:r>
            <a:r>
              <a:rPr lang="zh-CN" altLang="en-US" dirty="0"/>
              <a:t>除了具备弱定义中的所有特性外，还应具备一些人类才具有的特性，如知识，信念，义务，意图等</a:t>
            </a:r>
            <a:endParaRPr lang="zh-CN" altLang="en-US" dirty="0"/>
          </a:p>
        </p:txBody>
      </p:sp>
      <p:sp>
        <p:nvSpPr>
          <p:cNvPr id="2" name="日期占位符 1"/>
          <p:cNvSpPr>
            <a:spLocks noGrp="1"/>
          </p:cNvSpPr>
          <p:nvPr>
            <p:ph type="dt" sz="half" idx="10"/>
          </p:nvPr>
        </p:nvSpPr>
        <p:spPr/>
        <p:txBody>
          <a:bodyPr/>
          <a:lstStyle/>
          <a:p>
            <a:pPr>
              <a:defRPr/>
            </a:pPr>
            <a:fld id="{A99977D3-D740-4EC6-9A28-CE2400C1D7A0}" type="datetime1">
              <a:rPr lang="zh-CN" altLang="en-US"/>
              <a:t>2021/11/11</a:t>
            </a:fld>
            <a:endParaRPr lang="en-US" altLang="zh-CN"/>
          </a:p>
        </p:txBody>
      </p:sp>
      <p:sp>
        <p:nvSpPr>
          <p:cNvPr id="3" name="灯片编号占位符 2"/>
          <p:cNvSpPr>
            <a:spLocks noGrp="1"/>
          </p:cNvSpPr>
          <p:nvPr>
            <p:ph type="sldNum" sz="quarter" idx="12"/>
          </p:nvPr>
        </p:nvSpPr>
        <p:spPr/>
        <p:txBody>
          <a:bodyPr/>
          <a:lstStyle/>
          <a:p>
            <a:pPr>
              <a:defRPr/>
            </a:pPr>
            <a:fld id="{AAA1E598-A757-40C0-A8C3-807FB5EF1D6D}" type="slidenum">
              <a:rPr lang="en-US" altLang="zh-CN"/>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多</a:t>
            </a:r>
            <a:r>
              <a:rPr lang="en-US" altLang="zh-CN" b="1" dirty="0"/>
              <a:t>Agent</a:t>
            </a:r>
            <a:r>
              <a:rPr lang="zh-CN" altLang="en-US" b="1" dirty="0"/>
              <a:t>系统</a:t>
            </a:r>
            <a:endParaRPr lang="zh-CN" altLang="en-US" dirty="0"/>
          </a:p>
        </p:txBody>
      </p:sp>
      <p:sp>
        <p:nvSpPr>
          <p:cNvPr id="3" name="内容占位符 2"/>
          <p:cNvSpPr>
            <a:spLocks noGrp="1"/>
          </p:cNvSpPr>
          <p:nvPr>
            <p:ph idx="1"/>
          </p:nvPr>
        </p:nvSpPr>
        <p:spPr>
          <a:xfrm>
            <a:off x="58420" y="1268760"/>
            <a:ext cx="9085580" cy="4858990"/>
          </a:xfrm>
        </p:spPr>
        <p:txBody>
          <a:bodyPr/>
          <a:lstStyle/>
          <a:p>
            <a:r>
              <a:rPr lang="zh-CN" altLang="en-US" sz="1800" dirty="0"/>
              <a:t>当前，软件</a:t>
            </a:r>
            <a:r>
              <a:rPr lang="en-US" altLang="zh-CN" sz="1800" dirty="0"/>
              <a:t>Agent</a:t>
            </a:r>
            <a:r>
              <a:rPr lang="zh-CN" altLang="en-US" sz="1800" dirty="0"/>
              <a:t>技术已被作为发展分布式智能系统的重要方法，</a:t>
            </a:r>
            <a:r>
              <a:rPr lang="zh-CN" altLang="en-US" sz="1800" b="1" dirty="0"/>
              <a:t>但实际应用问题的复杂性决定了其不能由单个软件</a:t>
            </a:r>
            <a:r>
              <a:rPr lang="en-US" altLang="zh-CN" sz="1800" b="1" dirty="0"/>
              <a:t>Agent</a:t>
            </a:r>
            <a:r>
              <a:rPr lang="zh-CN" altLang="en-US" sz="1800" b="1" dirty="0"/>
              <a:t>来求解。</a:t>
            </a:r>
            <a:r>
              <a:rPr lang="zh-CN" altLang="en-US" sz="1800" dirty="0"/>
              <a:t>此外，即使单个软件</a:t>
            </a:r>
            <a:r>
              <a:rPr lang="en-US" altLang="zh-CN" sz="1800" dirty="0"/>
              <a:t>Agent</a:t>
            </a:r>
            <a:r>
              <a:rPr lang="zh-CN" altLang="en-US" sz="1800" dirty="0"/>
              <a:t>能求解某个特定的问题，也可能会由于问题的复杂而造成处理速度、可靠性、灵活性和模块化等方面的问题，多</a:t>
            </a:r>
            <a:r>
              <a:rPr lang="en-US" altLang="zh-CN" sz="1800" dirty="0"/>
              <a:t>Agent</a:t>
            </a:r>
            <a:r>
              <a:rPr lang="zh-CN" altLang="en-US" sz="1800" dirty="0"/>
              <a:t>系统为这类问题提供了更理想的解决办法。</a:t>
            </a:r>
          </a:p>
          <a:p>
            <a:r>
              <a:rPr lang="en-US" altLang="zh-CN" sz="1800" dirty="0"/>
              <a:t>Agent</a:t>
            </a:r>
            <a:r>
              <a:rPr lang="zh-CN" altLang="en-US" sz="1800" dirty="0"/>
              <a:t>的一个显著特点就是它的交互性，所以，</a:t>
            </a:r>
            <a:r>
              <a:rPr lang="en-US" altLang="zh-CN" sz="1800" dirty="0"/>
              <a:t>Agent </a:t>
            </a:r>
            <a:r>
              <a:rPr lang="zh-CN" altLang="en-US" sz="1800" dirty="0"/>
              <a:t>的应用主要是以多个</a:t>
            </a:r>
            <a:r>
              <a:rPr lang="en-US" altLang="zh-CN" sz="1800" dirty="0"/>
              <a:t>Agent</a:t>
            </a:r>
            <a:r>
              <a:rPr lang="zh-CN" altLang="en-US" sz="1800" dirty="0"/>
              <a:t>协作的形式出现，因而多</a:t>
            </a:r>
            <a:r>
              <a:rPr lang="en-US" altLang="zh-CN" sz="1800" dirty="0"/>
              <a:t>Agent</a:t>
            </a:r>
            <a:r>
              <a:rPr lang="zh-CN" altLang="en-US" sz="1800" dirty="0"/>
              <a:t>系统（简称</a:t>
            </a:r>
            <a:r>
              <a:rPr lang="en-US" altLang="zh-CN" sz="1800" dirty="0"/>
              <a:t>MAS)</a:t>
            </a:r>
            <a:r>
              <a:rPr lang="zh-CN" altLang="en-US" sz="1800" dirty="0"/>
              <a:t>就成为</a:t>
            </a:r>
            <a:r>
              <a:rPr lang="en-US" altLang="zh-CN" sz="1800" dirty="0"/>
              <a:t>Agent</a:t>
            </a:r>
            <a:r>
              <a:rPr lang="zh-CN" altLang="en-US" sz="1800" dirty="0"/>
              <a:t>技术的一个重点研究课题。另一方面，</a:t>
            </a:r>
            <a:r>
              <a:rPr lang="en-US" altLang="zh-CN" sz="1800" dirty="0"/>
              <a:t>MAS</a:t>
            </a:r>
            <a:r>
              <a:rPr lang="zh-CN" altLang="en-US" sz="1800" dirty="0"/>
              <a:t>又与分布式系统密切相关，所以，</a:t>
            </a:r>
            <a:r>
              <a:rPr lang="en-US" altLang="zh-CN" sz="1800" dirty="0"/>
              <a:t>MAS</a:t>
            </a:r>
            <a:r>
              <a:rPr lang="zh-CN" altLang="en-US" sz="1800" dirty="0"/>
              <a:t>也是分布式人工智能</a:t>
            </a:r>
            <a:r>
              <a:rPr lang="en-US" altLang="zh-CN" sz="1800" dirty="0"/>
              <a:t>(DAI)</a:t>
            </a:r>
            <a:r>
              <a:rPr lang="zh-CN" altLang="en-US" sz="1800" dirty="0"/>
              <a:t>的基本内容之一。</a:t>
            </a:r>
          </a:p>
          <a:p>
            <a:r>
              <a:rPr lang="zh-CN" altLang="en-US" sz="1800" dirty="0"/>
              <a:t>在多</a:t>
            </a:r>
            <a:r>
              <a:rPr lang="en-US" altLang="zh-CN" sz="1800" dirty="0"/>
              <a:t>Agent</a:t>
            </a:r>
            <a:r>
              <a:rPr lang="zh-CN" altLang="en-US" sz="1800" dirty="0"/>
              <a:t>系统中，每个</a:t>
            </a:r>
            <a:r>
              <a:rPr lang="en-US" altLang="zh-CN" sz="1800" dirty="0"/>
              <a:t>Agent</a:t>
            </a:r>
            <a:r>
              <a:rPr lang="zh-CN" altLang="en-US" sz="1800" dirty="0"/>
              <a:t>或执行自己的职责，或与其他</a:t>
            </a:r>
            <a:r>
              <a:rPr lang="en-US" altLang="zh-CN" sz="1800" dirty="0"/>
              <a:t>Agent</a:t>
            </a:r>
            <a:r>
              <a:rPr lang="zh-CN" altLang="en-US" sz="1800" dirty="0"/>
              <a:t>通信获取信息，或者互相协作完成整个问题的求解。多</a:t>
            </a:r>
            <a:r>
              <a:rPr lang="en-US" altLang="zh-CN" sz="1800" dirty="0"/>
              <a:t>Agent</a:t>
            </a:r>
            <a:r>
              <a:rPr lang="zh-CN" altLang="en-US" sz="1800" dirty="0"/>
              <a:t>系统是一个松散耦合的</a:t>
            </a:r>
            <a:r>
              <a:rPr lang="en-US" altLang="zh-CN" sz="1800" dirty="0"/>
              <a:t>Agent</a:t>
            </a:r>
            <a:r>
              <a:rPr lang="zh-CN" altLang="en-US" sz="1800" dirty="0"/>
              <a:t>网络，许多独立的且大体上自主的</a:t>
            </a:r>
            <a:r>
              <a:rPr lang="en-US" altLang="zh-CN" sz="1800" dirty="0"/>
              <a:t>Agent</a:t>
            </a:r>
            <a:r>
              <a:rPr lang="zh-CN" altLang="en-US" sz="1800" dirty="0"/>
              <a:t>间相互作用形成了多</a:t>
            </a:r>
            <a:r>
              <a:rPr lang="en-US" altLang="zh-CN" sz="1800" dirty="0"/>
              <a:t>Agent</a:t>
            </a:r>
            <a:r>
              <a:rPr lang="zh-CN" altLang="en-US" sz="1800" dirty="0"/>
              <a:t>系统的框架。</a:t>
            </a:r>
          </a:p>
          <a:p>
            <a:r>
              <a:rPr lang="zh-CN" altLang="en-US" sz="1800" dirty="0"/>
              <a:t>这些</a:t>
            </a:r>
            <a:r>
              <a:rPr lang="en-US" altLang="zh-CN" sz="1800" dirty="0"/>
              <a:t>Agent</a:t>
            </a:r>
            <a:r>
              <a:rPr lang="zh-CN" altLang="en-US" sz="1800" dirty="0"/>
              <a:t>通过交互解决了超出单个 </a:t>
            </a:r>
            <a:r>
              <a:rPr lang="en-US" altLang="zh-CN" sz="1800" dirty="0"/>
              <a:t>Agent </a:t>
            </a:r>
            <a:r>
              <a:rPr lang="zh-CN" altLang="en-US" sz="1800" dirty="0"/>
              <a:t>能力或知识的问题。其中的</a:t>
            </a:r>
            <a:r>
              <a:rPr lang="en-US" altLang="zh-CN" sz="1800" dirty="0"/>
              <a:t>Agent</a:t>
            </a:r>
            <a:r>
              <a:rPr lang="zh-CN" altLang="en-US" sz="1800" dirty="0"/>
              <a:t>是自主的，它们可以是不同的个人，采用不同的设计方法和计算机语言开发而成的 </a:t>
            </a:r>
            <a:r>
              <a:rPr lang="en-US" altLang="zh-CN" sz="1800" dirty="0"/>
              <a:t>, </a:t>
            </a:r>
            <a:r>
              <a:rPr lang="zh-CN" altLang="en-US" sz="1800" dirty="0"/>
              <a:t>因而可能是完全异质的。多</a:t>
            </a:r>
            <a:r>
              <a:rPr lang="en-US" altLang="zh-CN" sz="1800" dirty="0"/>
              <a:t>Agent</a:t>
            </a:r>
            <a:r>
              <a:rPr lang="zh-CN" altLang="en-US" sz="1800" dirty="0"/>
              <a:t>系统具有如下特征：（</a:t>
            </a:r>
            <a:r>
              <a:rPr lang="en-US" altLang="zh-CN" sz="1800" dirty="0"/>
              <a:t>1</a:t>
            </a:r>
            <a:r>
              <a:rPr lang="zh-CN" altLang="en-US" sz="1800" dirty="0"/>
              <a:t>）每个</a:t>
            </a:r>
            <a:r>
              <a:rPr lang="en-US" altLang="zh-CN" sz="1800" dirty="0"/>
              <a:t>Agent</a:t>
            </a:r>
            <a:r>
              <a:rPr lang="zh-CN" altLang="en-US" sz="1800" dirty="0"/>
              <a:t>拥有解决问题的不完全的信息或能力；（</a:t>
            </a:r>
            <a:r>
              <a:rPr lang="en-US" altLang="zh-CN" sz="1800" dirty="0"/>
              <a:t>2</a:t>
            </a:r>
            <a:r>
              <a:rPr lang="zh-CN" altLang="en-US" sz="1800" dirty="0"/>
              <a:t>）没有系统全局控制；（</a:t>
            </a:r>
            <a:r>
              <a:rPr lang="en-US" altLang="zh-CN" sz="1800" dirty="0"/>
              <a:t>3</a:t>
            </a:r>
            <a:r>
              <a:rPr lang="zh-CN" altLang="en-US" sz="1800" dirty="0"/>
              <a:t>）数据是分散的；（</a:t>
            </a:r>
            <a:r>
              <a:rPr lang="en-US" altLang="zh-CN" sz="1800" dirty="0"/>
              <a:t>4</a:t>
            </a:r>
            <a:r>
              <a:rPr lang="zh-CN" altLang="en-US" sz="1800" dirty="0"/>
              <a:t>）计算是异步的。</a:t>
            </a:r>
            <a:endParaRPr lang="zh-CN" altLang="en-US" sz="1800" dirty="0"/>
          </a:p>
        </p:txBody>
      </p:sp>
      <p:sp>
        <p:nvSpPr>
          <p:cNvPr id="4" name="日期占位符 3"/>
          <p:cNvSpPr>
            <a:spLocks noGrp="1"/>
          </p:cNvSpPr>
          <p:nvPr>
            <p:ph type="dt" sz="half" idx="10"/>
          </p:nvPr>
        </p:nvSpPr>
        <p:spPr/>
        <p:txBody>
          <a:bodyPr/>
          <a:lstStyle/>
          <a:p>
            <a:pPr>
              <a:defRPr/>
            </a:pPr>
            <a:fld id="{9FD41CD5-89FF-4815-9A8E-C21C31C05EB7}" type="datetime1">
              <a:rPr lang="zh-CN" altLang="en-US"/>
              <a:t>2021/11/11</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a:t>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2"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2"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2"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2"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3" grpId="2"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Agent</a:t>
            </a:r>
            <a:r>
              <a:rPr lang="zh-CN" altLang="en-US" b="1" dirty="0"/>
              <a:t>的一些特性</a:t>
            </a:r>
            <a:endParaRPr lang="zh-CN" altLang="en-US" dirty="0"/>
          </a:p>
        </p:txBody>
      </p:sp>
      <p:sp>
        <p:nvSpPr>
          <p:cNvPr id="3" name="内容占位符 2"/>
          <p:cNvSpPr>
            <a:spLocks noGrp="1"/>
          </p:cNvSpPr>
          <p:nvPr>
            <p:ph idx="1"/>
          </p:nvPr>
        </p:nvSpPr>
        <p:spPr>
          <a:xfrm>
            <a:off x="468630" y="1158875"/>
            <a:ext cx="8141970" cy="4934421"/>
          </a:xfrm>
        </p:spPr>
        <p:txBody>
          <a:bodyPr/>
          <a:lstStyle/>
          <a:p>
            <a:r>
              <a:rPr lang="en-US" altLang="zh-CN" sz="2000" dirty="0">
                <a:solidFill>
                  <a:srgbClr val="FF0000"/>
                </a:solidFill>
              </a:rPr>
              <a:t>1.</a:t>
            </a:r>
            <a:r>
              <a:rPr lang="zh-CN" altLang="en-US" sz="2000" dirty="0">
                <a:solidFill>
                  <a:srgbClr val="FF0000"/>
                </a:solidFill>
              </a:rPr>
              <a:t>自主性。</a:t>
            </a:r>
            <a:r>
              <a:rPr lang="en-US" altLang="zh-CN" sz="2000" dirty="0"/>
              <a:t>Agent</a:t>
            </a:r>
            <a:r>
              <a:rPr lang="zh-CN" altLang="en-US" sz="2000" dirty="0"/>
              <a:t>具有属于其自身的计算资源和局部于自身的行为控制机制</a:t>
            </a:r>
            <a:r>
              <a:rPr lang="en-US" altLang="zh-CN" sz="2000" dirty="0"/>
              <a:t>,</a:t>
            </a:r>
            <a:r>
              <a:rPr lang="zh-CN" altLang="en-US" sz="2000" dirty="0"/>
              <a:t>能够在没有外界直接操纵的情况下</a:t>
            </a:r>
            <a:r>
              <a:rPr lang="en-US" altLang="zh-CN" sz="2000" dirty="0"/>
              <a:t>,</a:t>
            </a:r>
            <a:r>
              <a:rPr lang="zh-CN" altLang="en-US" sz="2000" dirty="0"/>
              <a:t>根据其内部状态和感知到的环境信息</a:t>
            </a:r>
            <a:r>
              <a:rPr lang="en-US" altLang="zh-CN" sz="2000" dirty="0"/>
              <a:t>,</a:t>
            </a:r>
            <a:r>
              <a:rPr lang="zh-CN" altLang="en-US" sz="2000" dirty="0"/>
              <a:t>决定和控制自身的行为。例如</a:t>
            </a:r>
            <a:r>
              <a:rPr lang="en-US" altLang="zh-CN" sz="2000" dirty="0"/>
              <a:t>,SNMP</a:t>
            </a:r>
            <a:r>
              <a:rPr lang="zh-CN" altLang="en-US" sz="2000" dirty="0"/>
              <a:t>中的</a:t>
            </a:r>
            <a:r>
              <a:rPr lang="en-US" altLang="zh-CN" sz="2000" dirty="0"/>
              <a:t>agent</a:t>
            </a:r>
            <a:r>
              <a:rPr lang="zh-CN" altLang="en-US" sz="2000" dirty="0"/>
              <a:t>就是独立运行在被管理单元上的自主进程。</a:t>
            </a:r>
          </a:p>
          <a:p>
            <a:r>
              <a:rPr lang="en-US" altLang="zh-CN" sz="2000" dirty="0">
                <a:solidFill>
                  <a:srgbClr val="FF0000"/>
                </a:solidFill>
              </a:rPr>
              <a:t>2.</a:t>
            </a:r>
            <a:r>
              <a:rPr lang="zh-CN" altLang="en-US" sz="2000" dirty="0">
                <a:solidFill>
                  <a:srgbClr val="FF0000"/>
                </a:solidFill>
              </a:rPr>
              <a:t>交互性。</a:t>
            </a:r>
            <a:r>
              <a:rPr lang="en-US" altLang="zh-CN" sz="2000" dirty="0"/>
              <a:t>Agent</a:t>
            </a:r>
            <a:r>
              <a:rPr lang="zh-CN" altLang="en-US" sz="2000" dirty="0"/>
              <a:t>能够与其他</a:t>
            </a:r>
            <a:r>
              <a:rPr lang="en-US" altLang="zh-CN" sz="2000" dirty="0"/>
              <a:t>Agent(</a:t>
            </a:r>
            <a:r>
              <a:rPr lang="zh-CN" altLang="en-US" sz="2000" dirty="0"/>
              <a:t>包括人</a:t>
            </a:r>
            <a:r>
              <a:rPr lang="en-US" altLang="zh-CN" sz="2000" dirty="0"/>
              <a:t>),</a:t>
            </a:r>
            <a:r>
              <a:rPr lang="zh-CN" altLang="en-US" sz="2000" dirty="0"/>
              <a:t>用</a:t>
            </a:r>
            <a:r>
              <a:rPr lang="en-US" altLang="zh-CN" sz="2000" dirty="0"/>
              <a:t>Agent</a:t>
            </a:r>
            <a:r>
              <a:rPr lang="zh-CN" altLang="en-US" sz="2000" dirty="0"/>
              <a:t>通信语言实施灵活多样的交互</a:t>
            </a:r>
            <a:r>
              <a:rPr lang="en-US" altLang="zh-CN" sz="2000" dirty="0"/>
              <a:t>,</a:t>
            </a:r>
            <a:r>
              <a:rPr lang="zh-CN" altLang="en-US" sz="2000" dirty="0"/>
              <a:t>能够有效地与其他</a:t>
            </a:r>
            <a:r>
              <a:rPr lang="en-US" altLang="zh-CN" sz="2000" dirty="0"/>
              <a:t>Agent</a:t>
            </a:r>
            <a:r>
              <a:rPr lang="zh-CN" altLang="en-US" sz="2000" dirty="0"/>
              <a:t>协同工作。例如</a:t>
            </a:r>
            <a:r>
              <a:rPr lang="en-US" altLang="zh-CN" sz="2000" dirty="0"/>
              <a:t>,</a:t>
            </a:r>
            <a:r>
              <a:rPr lang="zh-CN" altLang="en-US" sz="2000" dirty="0"/>
              <a:t>一个</a:t>
            </a:r>
            <a:r>
              <a:rPr lang="en-US" altLang="zh-CN" sz="2000" dirty="0"/>
              <a:t>Internet</a:t>
            </a:r>
            <a:r>
              <a:rPr lang="zh-CN" altLang="en-US" sz="2000" dirty="0"/>
              <a:t>上的用户需要使用</a:t>
            </a:r>
            <a:r>
              <a:rPr lang="en-US" altLang="zh-CN" sz="2000" dirty="0"/>
              <a:t>Agent</a:t>
            </a:r>
            <a:r>
              <a:rPr lang="zh-CN" altLang="en-US" sz="2000" dirty="0"/>
              <a:t>通信语言向主动服务</a:t>
            </a:r>
            <a:r>
              <a:rPr lang="en-US" altLang="zh-CN" sz="2000" dirty="0"/>
              <a:t>Agent</a:t>
            </a:r>
            <a:r>
              <a:rPr lang="zh-CN" altLang="en-US" sz="2000" dirty="0"/>
              <a:t>陈述信息需求。</a:t>
            </a:r>
          </a:p>
          <a:p>
            <a:r>
              <a:rPr lang="en-US" altLang="zh-CN" sz="2000" dirty="0">
                <a:solidFill>
                  <a:srgbClr val="FF0000"/>
                </a:solidFill>
              </a:rPr>
              <a:t>3.</a:t>
            </a:r>
            <a:r>
              <a:rPr lang="zh-CN" altLang="en-US" sz="2000" dirty="0">
                <a:solidFill>
                  <a:srgbClr val="FF0000"/>
                </a:solidFill>
              </a:rPr>
              <a:t>反应性。</a:t>
            </a:r>
            <a:r>
              <a:rPr lang="en-US" altLang="zh-CN" sz="2000" dirty="0"/>
              <a:t>Agent</a:t>
            </a:r>
            <a:r>
              <a:rPr lang="zh-CN" altLang="en-US" sz="2000" dirty="0"/>
              <a:t>能够感知所处的环境</a:t>
            </a:r>
            <a:r>
              <a:rPr lang="en-US" altLang="zh-CN" sz="2000" dirty="0"/>
              <a:t>(</a:t>
            </a:r>
            <a:r>
              <a:rPr lang="zh-CN" altLang="en-US" sz="2000" dirty="0"/>
              <a:t>可能是物理世界</a:t>
            </a:r>
            <a:r>
              <a:rPr lang="en-US" altLang="zh-CN" sz="2000" dirty="0"/>
              <a:t>,</a:t>
            </a:r>
            <a:r>
              <a:rPr lang="zh-CN" altLang="en-US" sz="2000" dirty="0"/>
              <a:t>操纵图形界面的用户</a:t>
            </a:r>
            <a:r>
              <a:rPr lang="en-US" altLang="zh-CN" sz="2000" dirty="0"/>
              <a:t>,</a:t>
            </a:r>
            <a:r>
              <a:rPr lang="zh-CN" altLang="en-US" sz="2000" dirty="0"/>
              <a:t>或其他</a:t>
            </a:r>
            <a:r>
              <a:rPr lang="en-US" altLang="zh-CN" sz="2000" dirty="0"/>
              <a:t>Agent</a:t>
            </a:r>
            <a:r>
              <a:rPr lang="zh-CN" altLang="en-US" sz="2000" dirty="0"/>
              <a:t>等</a:t>
            </a:r>
            <a:r>
              <a:rPr lang="en-US" altLang="zh-CN" sz="2000" dirty="0"/>
              <a:t>),</a:t>
            </a:r>
            <a:r>
              <a:rPr lang="zh-CN" altLang="en-US" sz="2000" dirty="0"/>
              <a:t>并对相关事件作出适时反应。例如</a:t>
            </a:r>
            <a:r>
              <a:rPr lang="en-US" altLang="zh-CN" sz="2000" dirty="0"/>
              <a:t>,</a:t>
            </a:r>
            <a:r>
              <a:rPr lang="zh-CN" altLang="en-US" sz="2000" dirty="0"/>
              <a:t>一个模拟飞机的</a:t>
            </a:r>
            <a:r>
              <a:rPr lang="en-US" altLang="zh-CN" sz="2000" dirty="0"/>
              <a:t>Agent</a:t>
            </a:r>
            <a:r>
              <a:rPr lang="zh-CN" altLang="en-US" sz="2000" dirty="0"/>
              <a:t>能够对用户的操纵作出适时反应。</a:t>
            </a:r>
          </a:p>
          <a:p>
            <a:r>
              <a:rPr lang="en-US" altLang="zh-CN" sz="2000" dirty="0">
                <a:solidFill>
                  <a:srgbClr val="FF0000"/>
                </a:solidFill>
              </a:rPr>
              <a:t>4.</a:t>
            </a:r>
            <a:r>
              <a:rPr lang="zh-CN" altLang="en-US" sz="2000" dirty="0">
                <a:solidFill>
                  <a:srgbClr val="FF0000"/>
                </a:solidFill>
              </a:rPr>
              <a:t>主动性。</a:t>
            </a:r>
            <a:r>
              <a:rPr lang="en-US" altLang="zh-CN" sz="2000" dirty="0"/>
              <a:t>Agent</a:t>
            </a:r>
            <a:r>
              <a:rPr lang="zh-CN" altLang="en-US" sz="2000" dirty="0"/>
              <a:t>能够遵循承诺采取主动行动</a:t>
            </a:r>
            <a:r>
              <a:rPr lang="en-US" altLang="zh-CN" sz="2000" dirty="0"/>
              <a:t>,</a:t>
            </a:r>
            <a:r>
              <a:rPr lang="zh-CN" altLang="en-US" sz="2000" dirty="0"/>
              <a:t>表现出面向目标的行为。例如，一个</a:t>
            </a:r>
            <a:r>
              <a:rPr lang="en-US" altLang="zh-CN" sz="2000" dirty="0"/>
              <a:t>Internet</a:t>
            </a:r>
            <a:r>
              <a:rPr lang="zh-CN" altLang="en-US" sz="2000" dirty="0"/>
              <a:t>上的主动服务</a:t>
            </a:r>
            <a:r>
              <a:rPr lang="en-US" altLang="zh-CN" sz="2000" dirty="0"/>
              <a:t>Agent,</a:t>
            </a:r>
            <a:r>
              <a:rPr lang="zh-CN" altLang="en-US" sz="2000" dirty="0"/>
              <a:t>在获得新的信息之后能够按照约定主动将其提交给需要的用户</a:t>
            </a:r>
            <a:r>
              <a:rPr lang="en-US" altLang="zh-CN" sz="2000" dirty="0"/>
              <a:t>;</a:t>
            </a:r>
            <a:r>
              <a:rPr lang="zh-CN" altLang="en-US" sz="2000" dirty="0"/>
              <a:t>一个工作流管理</a:t>
            </a:r>
            <a:r>
              <a:rPr lang="en-US" altLang="zh-CN" sz="2000" dirty="0"/>
              <a:t>Agent,</a:t>
            </a:r>
            <a:r>
              <a:rPr lang="zh-CN" altLang="en-US" sz="2000" dirty="0"/>
              <a:t>能够按照约定将最新的工作进展情况主动通报给有关的工作站。</a:t>
            </a:r>
            <a:endParaRPr lang="zh-CN" altLang="en-US" sz="2000" dirty="0"/>
          </a:p>
        </p:txBody>
      </p:sp>
      <p:sp>
        <p:nvSpPr>
          <p:cNvPr id="4" name="日期占位符 3"/>
          <p:cNvSpPr>
            <a:spLocks noGrp="1"/>
          </p:cNvSpPr>
          <p:nvPr>
            <p:ph type="dt" sz="half" idx="10"/>
          </p:nvPr>
        </p:nvSpPr>
        <p:spPr/>
        <p:txBody>
          <a:bodyPr/>
          <a:lstStyle/>
          <a:p>
            <a:pPr>
              <a:defRPr/>
            </a:pPr>
            <a:fld id="{9FD41CD5-89FF-4815-9A8E-C21C31C05EB7}" type="datetime1">
              <a:rPr lang="zh-CN" altLang="en-US"/>
              <a:t>2021/11/11</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a:t>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Agent </a:t>
            </a:r>
            <a:r>
              <a:rPr lang="zh-CN" altLang="en-US" dirty="0"/>
              <a:t>的类</a:t>
            </a:r>
            <a:r>
              <a:rPr lang="zh-CN" altLang="en-US" dirty="0" smtClean="0"/>
              <a:t>型</a:t>
            </a:r>
            <a:endParaRPr lang="zh-CN" altLang="en-US" dirty="0"/>
          </a:p>
        </p:txBody>
      </p:sp>
      <p:sp>
        <p:nvSpPr>
          <p:cNvPr id="3" name="内容占位符 2"/>
          <p:cNvSpPr>
            <a:spLocks noGrp="1"/>
          </p:cNvSpPr>
          <p:nvPr>
            <p:ph idx="1"/>
          </p:nvPr>
        </p:nvSpPr>
        <p:spPr>
          <a:xfrm>
            <a:off x="1" y="1124744"/>
            <a:ext cx="9144000" cy="5256584"/>
          </a:xfrm>
        </p:spPr>
        <p:txBody>
          <a:bodyPr/>
          <a:lstStyle/>
          <a:p>
            <a:r>
              <a:rPr lang="zh-CN" altLang="en-US" sz="2000" dirty="0"/>
              <a:t>根据</a:t>
            </a:r>
            <a:r>
              <a:rPr lang="en-US" altLang="zh-CN" sz="2000" dirty="0"/>
              <a:t>Agent</a:t>
            </a:r>
            <a:r>
              <a:rPr lang="zh-CN" altLang="en-US" sz="2000" dirty="0"/>
              <a:t>在网上移动能力的不</a:t>
            </a:r>
            <a:r>
              <a:rPr lang="zh-CN" altLang="en-US" sz="2000" dirty="0" smtClean="0"/>
              <a:t>同可</a:t>
            </a:r>
            <a:r>
              <a:rPr lang="zh-CN" altLang="en-US" sz="2000" dirty="0"/>
              <a:t>以被分为静态的</a:t>
            </a:r>
            <a:r>
              <a:rPr lang="en-US" altLang="zh-CN" sz="2000" dirty="0"/>
              <a:t>Agent</a:t>
            </a:r>
            <a:r>
              <a:rPr lang="zh-CN" altLang="en-US" sz="2000" dirty="0"/>
              <a:t>和动态的</a:t>
            </a:r>
            <a:r>
              <a:rPr lang="en-US" altLang="zh-CN" sz="2000" dirty="0"/>
              <a:t>Agent</a:t>
            </a:r>
            <a:r>
              <a:rPr lang="zh-CN" altLang="en-US" sz="2000" dirty="0"/>
              <a:t>两种</a:t>
            </a:r>
            <a:r>
              <a:rPr lang="zh-CN" altLang="en-US" sz="2000" dirty="0" smtClean="0"/>
              <a:t>。工</a:t>
            </a:r>
            <a:r>
              <a:rPr lang="zh-CN" altLang="en-US" sz="2000" dirty="0"/>
              <a:t>作方式有两种：深思熟虑（</a:t>
            </a:r>
            <a:r>
              <a:rPr lang="en-US" altLang="zh-CN" sz="2000" dirty="0"/>
              <a:t>deliber-ative)</a:t>
            </a:r>
            <a:r>
              <a:rPr lang="zh-CN" altLang="en-US" sz="2000" dirty="0"/>
              <a:t>式和刺激</a:t>
            </a:r>
            <a:r>
              <a:rPr lang="en-US" altLang="zh-CN" sz="2000" dirty="0"/>
              <a:t>-</a:t>
            </a:r>
            <a:r>
              <a:rPr lang="zh-CN" altLang="en-US" sz="2000" dirty="0"/>
              <a:t>反应式。</a:t>
            </a:r>
          </a:p>
          <a:p>
            <a:r>
              <a:rPr lang="zh-CN" altLang="en-US" sz="2000" dirty="0">
                <a:solidFill>
                  <a:srgbClr val="FF0000"/>
                </a:solidFill>
              </a:rPr>
              <a:t>思考型</a:t>
            </a:r>
            <a:r>
              <a:rPr lang="en-US" altLang="zh-CN" sz="2000" dirty="0">
                <a:solidFill>
                  <a:srgbClr val="FF0000"/>
                </a:solidFill>
              </a:rPr>
              <a:t>Agent</a:t>
            </a:r>
            <a:r>
              <a:rPr lang="zh-CN" altLang="en-US" sz="2000" dirty="0"/>
              <a:t>：驱动来自对环境深思熟虑的思考，包含世界和环境的显式表示和符号模型，其中决策通过基于模式匹配和符号操作的逻辑推理实现。</a:t>
            </a:r>
          </a:p>
          <a:p>
            <a:r>
              <a:rPr lang="zh-CN" altLang="en-US" sz="2000" dirty="0">
                <a:solidFill>
                  <a:srgbClr val="FF0000"/>
                </a:solidFill>
              </a:rPr>
              <a:t>反应式</a:t>
            </a:r>
            <a:r>
              <a:rPr lang="en-US" altLang="zh-CN" sz="2000" dirty="0">
                <a:solidFill>
                  <a:srgbClr val="FF0000"/>
                </a:solidFill>
              </a:rPr>
              <a:t>Agent</a:t>
            </a:r>
            <a:r>
              <a:rPr lang="zh-CN" altLang="en-US" sz="2000" dirty="0"/>
              <a:t>：对其所处环境当前的状态产生行为反应，</a:t>
            </a:r>
            <a:r>
              <a:rPr lang="en-US" altLang="zh-CN" sz="2000" dirty="0"/>
              <a:t>Agent</a:t>
            </a:r>
            <a:r>
              <a:rPr lang="zh-CN" altLang="en-US" sz="2000" dirty="0"/>
              <a:t>的智能取决于感知和行</a:t>
            </a:r>
            <a:r>
              <a:rPr lang="zh-CN" altLang="en-US" sz="2000" dirty="0" smtClean="0"/>
              <a:t>动，</a:t>
            </a:r>
            <a:r>
              <a:rPr lang="zh-CN" altLang="en-US" sz="2000" dirty="0"/>
              <a:t>基于</a:t>
            </a:r>
            <a:r>
              <a:rPr lang="en-US" altLang="zh-CN" sz="2000" dirty="0"/>
              <a:t>Agent</a:t>
            </a:r>
            <a:r>
              <a:rPr lang="zh-CN" altLang="en-US" sz="2000" dirty="0"/>
              <a:t>智能行为的“感知 </a:t>
            </a:r>
            <a:r>
              <a:rPr lang="en-US" altLang="zh-CN" sz="2000" dirty="0"/>
              <a:t>- </a:t>
            </a:r>
            <a:r>
              <a:rPr lang="zh-CN" altLang="en-US" sz="2000" dirty="0"/>
              <a:t>动作”模型；</a:t>
            </a:r>
            <a:r>
              <a:rPr lang="en-US" altLang="zh-CN" sz="2000" dirty="0"/>
              <a:t>Agent</a:t>
            </a:r>
            <a:r>
              <a:rPr lang="zh-CN" altLang="en-US" sz="2000" dirty="0"/>
              <a:t>不需要知识，不需要表示，也不需要推理，</a:t>
            </a:r>
            <a:r>
              <a:rPr lang="en-US" altLang="zh-CN" sz="2000" dirty="0"/>
              <a:t>Agent</a:t>
            </a:r>
            <a:r>
              <a:rPr lang="zh-CN" altLang="en-US" sz="2000" dirty="0"/>
              <a:t>可以像人类一样逐步进化，</a:t>
            </a:r>
            <a:r>
              <a:rPr lang="en-US" altLang="zh-CN" sz="2000" dirty="0"/>
              <a:t>Agent</a:t>
            </a:r>
            <a:r>
              <a:rPr lang="zh-CN" altLang="en-US" sz="2000" dirty="0"/>
              <a:t>的行为只能在现实世界与周围环境的交互作用中表现出来。</a:t>
            </a:r>
          </a:p>
          <a:p>
            <a:r>
              <a:rPr lang="en-US" altLang="zh-CN" sz="2000" dirty="0">
                <a:solidFill>
                  <a:srgbClr val="FF0000"/>
                </a:solidFill>
              </a:rPr>
              <a:t>BDI</a:t>
            </a:r>
            <a:r>
              <a:rPr lang="zh-CN" altLang="en-US" sz="2000" dirty="0">
                <a:solidFill>
                  <a:srgbClr val="FF0000"/>
                </a:solidFill>
              </a:rPr>
              <a:t>型</a:t>
            </a:r>
            <a:r>
              <a:rPr lang="en-US" altLang="zh-CN" sz="2000" dirty="0">
                <a:solidFill>
                  <a:srgbClr val="FF0000"/>
                </a:solidFill>
              </a:rPr>
              <a:t>Agent</a:t>
            </a:r>
            <a:r>
              <a:rPr lang="zh-CN" altLang="en-US" sz="2000" dirty="0"/>
              <a:t>：有信念（</a:t>
            </a:r>
            <a:r>
              <a:rPr lang="en-US" altLang="zh-CN" sz="2000" dirty="0"/>
              <a:t>Belief,</a:t>
            </a:r>
            <a:r>
              <a:rPr lang="zh-CN" altLang="en-US" sz="2000" dirty="0"/>
              <a:t>即知识）、愿望（</a:t>
            </a:r>
            <a:r>
              <a:rPr lang="en-US" altLang="zh-CN" sz="2000" dirty="0"/>
              <a:t>Desire</a:t>
            </a:r>
            <a:r>
              <a:rPr lang="zh-CN" altLang="en-US" sz="2000" dirty="0"/>
              <a:t>，即任务）和意图（</a:t>
            </a:r>
            <a:r>
              <a:rPr lang="en-US" altLang="zh-CN" sz="2000" dirty="0"/>
              <a:t>Intention</a:t>
            </a:r>
            <a:r>
              <a:rPr lang="zh-CN" altLang="en-US" sz="2000" dirty="0"/>
              <a:t>，即为实现愿望而想做的事情）的</a:t>
            </a:r>
            <a:r>
              <a:rPr lang="en-US" altLang="zh-CN" sz="2000" dirty="0"/>
              <a:t>Agent</a:t>
            </a:r>
            <a:r>
              <a:rPr lang="zh-CN" altLang="en-US" sz="2000" dirty="0"/>
              <a:t>。它也被称为理性</a:t>
            </a:r>
            <a:r>
              <a:rPr lang="en-US" altLang="zh-CN" sz="2000" dirty="0"/>
              <a:t>Agent</a:t>
            </a:r>
            <a:r>
              <a:rPr lang="zh-CN" altLang="en-US" sz="2000" dirty="0"/>
              <a:t>。这是目前关于</a:t>
            </a:r>
            <a:r>
              <a:rPr lang="en-US" altLang="zh-CN" sz="2000" dirty="0"/>
              <a:t>Agent</a:t>
            </a:r>
            <a:r>
              <a:rPr lang="zh-CN" altLang="en-US" sz="2000" dirty="0"/>
              <a:t>的研究中最典型的智能型</a:t>
            </a:r>
            <a:r>
              <a:rPr lang="en-US" altLang="zh-CN" sz="2000" dirty="0"/>
              <a:t>Agent</a:t>
            </a:r>
            <a:r>
              <a:rPr lang="zh-CN" altLang="en-US" sz="2000" dirty="0"/>
              <a:t>，或自治</a:t>
            </a:r>
            <a:r>
              <a:rPr lang="en-US" altLang="zh-CN" sz="2000" dirty="0"/>
              <a:t>Agent</a:t>
            </a:r>
            <a:r>
              <a:rPr lang="zh-CN" altLang="en-US" sz="2000" dirty="0"/>
              <a:t>。</a:t>
            </a:r>
            <a:r>
              <a:rPr lang="en-US" altLang="zh-CN" sz="2000" dirty="0"/>
              <a:t>BDI</a:t>
            </a:r>
            <a:r>
              <a:rPr lang="zh-CN" altLang="en-US" sz="2000" dirty="0"/>
              <a:t>型</a:t>
            </a:r>
            <a:r>
              <a:rPr lang="en-US" altLang="zh-CN" sz="2000" dirty="0"/>
              <a:t>Agent</a:t>
            </a:r>
            <a:r>
              <a:rPr lang="zh-CN" altLang="en-US" sz="2000" dirty="0"/>
              <a:t>的典型应用是在</a:t>
            </a:r>
            <a:r>
              <a:rPr lang="en-US" altLang="zh-CN" sz="2000" dirty="0"/>
              <a:t>Internet</a:t>
            </a:r>
            <a:r>
              <a:rPr lang="zh-CN" altLang="en-US" sz="2000" dirty="0"/>
              <a:t>网上为收集信息的软件</a:t>
            </a:r>
            <a:r>
              <a:rPr lang="en-US" altLang="zh-CN" sz="2000" dirty="0"/>
              <a:t>Agent</a:t>
            </a:r>
            <a:r>
              <a:rPr lang="zh-CN" altLang="en-US" sz="2000" dirty="0"/>
              <a:t>。</a:t>
            </a:r>
          </a:p>
          <a:p>
            <a:r>
              <a:rPr lang="zh-CN" altLang="en-US" sz="2000" dirty="0">
                <a:solidFill>
                  <a:srgbClr val="FF0000"/>
                </a:solidFill>
              </a:rPr>
              <a:t>社会</a:t>
            </a:r>
            <a:r>
              <a:rPr lang="en-US" altLang="zh-CN" sz="2000" dirty="0">
                <a:solidFill>
                  <a:srgbClr val="FF0000"/>
                </a:solidFill>
              </a:rPr>
              <a:t>Agent</a:t>
            </a:r>
            <a:r>
              <a:rPr lang="zh-CN" altLang="en-US" sz="2000" dirty="0"/>
              <a:t>：由多个</a:t>
            </a:r>
            <a:r>
              <a:rPr lang="en-US" altLang="zh-CN" sz="2000" dirty="0"/>
              <a:t>Agent</a:t>
            </a:r>
            <a:r>
              <a:rPr lang="zh-CN" altLang="en-US" sz="2000" dirty="0"/>
              <a:t>构成的一个</a:t>
            </a:r>
            <a:r>
              <a:rPr lang="en-US" altLang="zh-CN" sz="2000" dirty="0"/>
              <a:t>Agent</a:t>
            </a:r>
            <a:r>
              <a:rPr lang="zh-CN" altLang="en-US" sz="2000" dirty="0"/>
              <a:t>社会，各</a:t>
            </a:r>
            <a:r>
              <a:rPr lang="en-US" altLang="zh-CN" sz="2000" dirty="0"/>
              <a:t>Agent</a:t>
            </a:r>
            <a:r>
              <a:rPr lang="zh-CN" altLang="en-US" sz="2000" dirty="0"/>
              <a:t>有时有共同的利益（共同完成一项任务），有时利益互相矛盾（争夺一项任务）。因此，这类</a:t>
            </a:r>
            <a:r>
              <a:rPr lang="en-US" altLang="zh-CN" sz="2000" dirty="0"/>
              <a:t>Agent</a:t>
            </a:r>
            <a:r>
              <a:rPr lang="zh-CN" altLang="en-US" sz="2000" dirty="0"/>
              <a:t>的功能包括协作和竞争。办公自动化</a:t>
            </a:r>
            <a:r>
              <a:rPr lang="en-US" altLang="zh-CN" sz="2000" dirty="0"/>
              <a:t>Agent</a:t>
            </a:r>
            <a:r>
              <a:rPr lang="zh-CN" altLang="en-US" sz="2000" dirty="0"/>
              <a:t>是协作的典型例子，多个运输（或电信）公司</a:t>
            </a:r>
            <a:r>
              <a:rPr lang="en-US" altLang="zh-CN" sz="2000" dirty="0"/>
              <a:t>Agent</a:t>
            </a:r>
            <a:r>
              <a:rPr lang="zh-CN" altLang="en-US" sz="2000" dirty="0"/>
              <a:t>争夺任务承包权是竞争的典型。</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2021/11/11</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5</a:t>
            </a:fld>
            <a:endParaRPr lang="en-US" altLang="zh-CN"/>
          </a:p>
        </p:txBody>
      </p:sp>
    </p:spTree>
    <p:extLst>
      <p:ext uri="{BB962C8B-B14F-4D97-AF65-F5344CB8AC3E}">
        <p14:creationId xmlns:p14="http://schemas.microsoft.com/office/powerpoint/2010/main" val="24928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Agent</a:t>
            </a:r>
            <a:r>
              <a:rPr lang="zh-CN" altLang="en-US" dirty="0"/>
              <a:t>技术的意</a:t>
            </a:r>
            <a:r>
              <a:rPr lang="zh-CN" altLang="en-US" dirty="0" smtClean="0"/>
              <a:t>义</a:t>
            </a:r>
            <a:endParaRPr lang="zh-CN" altLang="en-US" dirty="0"/>
          </a:p>
        </p:txBody>
      </p:sp>
      <p:sp>
        <p:nvSpPr>
          <p:cNvPr id="3" name="内容占位符 2"/>
          <p:cNvSpPr>
            <a:spLocks noGrp="1"/>
          </p:cNvSpPr>
          <p:nvPr>
            <p:ph idx="1"/>
          </p:nvPr>
        </p:nvSpPr>
        <p:spPr>
          <a:xfrm>
            <a:off x="179513" y="1268760"/>
            <a:ext cx="8784976" cy="4608165"/>
          </a:xfrm>
        </p:spPr>
        <p:txBody>
          <a:bodyPr/>
          <a:lstStyle/>
          <a:p>
            <a:r>
              <a:rPr lang="zh-CN" altLang="en-US" sz="2400" dirty="0"/>
              <a:t>近年来，软件体系结构逐渐成为软件工程领域的研究热点以及大型软件系统与软件产品开发中的关键技术之一。大量软件工程实践证明，一个成功的软件系统往往都有一个好的软件体系结构</a:t>
            </a:r>
            <a:r>
              <a:rPr lang="zh-CN" altLang="en-US" sz="2400" dirty="0" smtClean="0"/>
              <a:t>。</a:t>
            </a:r>
            <a:endParaRPr lang="en-US" altLang="zh-CN" sz="2400" dirty="0" smtClean="0"/>
          </a:p>
          <a:p>
            <a:r>
              <a:rPr lang="zh-CN" altLang="en-US" sz="2400" dirty="0" smtClean="0"/>
              <a:t>软</a:t>
            </a:r>
            <a:r>
              <a:rPr lang="zh-CN" altLang="en-US" sz="2400" dirty="0"/>
              <a:t>件工程的进步主要靠不断产生新的抽象方法来实现复杂系统，如过程抽象、抽象数据类型、面向对象技术等，都是使软件远离面向机器，而向人们理解世界的方法靠近；而面向对象方法在解决复杂分布式现实问题时就非常困难，</a:t>
            </a:r>
            <a:r>
              <a:rPr lang="en-US" altLang="zh-CN" sz="2400" dirty="0"/>
              <a:t>Agent</a:t>
            </a:r>
            <a:r>
              <a:rPr lang="zh-CN" altLang="en-US" sz="2400" dirty="0"/>
              <a:t>技术的提出为这类复杂分布式问题的求解找到了办法，它是人工智能与计算机科学新的结合，用于解决复杂分布的现实问题，开发处于动态的、不确定环境中的、健壮的、大规模的软件系统。</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2021/11/11</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6</a:t>
            </a:fld>
            <a:endParaRPr lang="en-US" altLang="zh-CN"/>
          </a:p>
        </p:txBody>
      </p:sp>
    </p:spTree>
    <p:extLst>
      <p:ext uri="{BB962C8B-B14F-4D97-AF65-F5344CB8AC3E}">
        <p14:creationId xmlns:p14="http://schemas.microsoft.com/office/powerpoint/2010/main" val="18338066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Agent</a:t>
            </a:r>
            <a:r>
              <a:rPr lang="zh-CN" altLang="en-US" dirty="0"/>
              <a:t>技术的应</a:t>
            </a:r>
            <a:r>
              <a:rPr lang="zh-CN" altLang="en-US" dirty="0" smtClean="0"/>
              <a:t>用</a:t>
            </a:r>
            <a:endParaRPr lang="zh-CN" altLang="en-US" dirty="0"/>
          </a:p>
        </p:txBody>
      </p:sp>
      <p:sp>
        <p:nvSpPr>
          <p:cNvPr id="3" name="内容占位符 2"/>
          <p:cNvSpPr>
            <a:spLocks noGrp="1"/>
          </p:cNvSpPr>
          <p:nvPr>
            <p:ph idx="1"/>
          </p:nvPr>
        </p:nvSpPr>
        <p:spPr>
          <a:xfrm>
            <a:off x="0" y="1196752"/>
            <a:ext cx="9143999" cy="4968552"/>
          </a:xfrm>
        </p:spPr>
        <p:txBody>
          <a:bodyPr/>
          <a:lstStyle/>
          <a:p>
            <a:r>
              <a:rPr lang="en-US" altLang="zh-CN" dirty="0"/>
              <a:t>1 </a:t>
            </a:r>
            <a:r>
              <a:rPr lang="zh-CN" altLang="en-US" dirty="0"/>
              <a:t>在电子商务中的应</a:t>
            </a:r>
            <a:r>
              <a:rPr lang="zh-CN" altLang="en-US" dirty="0" smtClean="0"/>
              <a:t>用</a:t>
            </a:r>
            <a:endParaRPr lang="en-US" altLang="zh-CN" dirty="0" smtClean="0"/>
          </a:p>
          <a:p>
            <a:pPr lvl="1"/>
            <a:r>
              <a:rPr lang="zh-CN" altLang="en-US" sz="2000" dirty="0" smtClean="0"/>
              <a:t>旅</a:t>
            </a:r>
            <a:r>
              <a:rPr lang="zh-CN" altLang="en-US" sz="2000" dirty="0"/>
              <a:t>游服务</a:t>
            </a:r>
            <a:r>
              <a:rPr lang="en-US" altLang="zh-CN" sz="2000" dirty="0" smtClean="0"/>
              <a:t>Agent</a:t>
            </a:r>
          </a:p>
          <a:p>
            <a:pPr lvl="1"/>
            <a:r>
              <a:rPr lang="zh-CN" altLang="en-US" sz="2000" dirty="0" smtClean="0"/>
              <a:t>电</a:t>
            </a:r>
            <a:r>
              <a:rPr lang="zh-CN" altLang="en-US" sz="2000" dirty="0"/>
              <a:t>子价格比</a:t>
            </a:r>
            <a:r>
              <a:rPr lang="zh-CN" altLang="en-US" sz="2000" dirty="0" smtClean="0"/>
              <a:t>较</a:t>
            </a:r>
            <a:endParaRPr lang="en-US" altLang="zh-CN" sz="2000" dirty="0" smtClean="0"/>
          </a:p>
          <a:p>
            <a:pPr lvl="1"/>
            <a:r>
              <a:rPr lang="zh-CN" altLang="en-US" sz="2000" dirty="0"/>
              <a:t>股票交易监控</a:t>
            </a:r>
            <a:r>
              <a:rPr lang="zh-CN" altLang="en-US" sz="2000" dirty="0" smtClean="0"/>
              <a:t>员</a:t>
            </a:r>
            <a:endParaRPr lang="en-US" altLang="zh-CN" sz="2000" dirty="0" smtClean="0"/>
          </a:p>
          <a:p>
            <a:pPr lvl="1"/>
            <a:r>
              <a:rPr lang="zh-CN" altLang="en-US" sz="2000" dirty="0"/>
              <a:t>信息</a:t>
            </a:r>
            <a:r>
              <a:rPr lang="en-US" altLang="zh-CN" sz="2000" dirty="0" smtClean="0"/>
              <a:t>Agent</a:t>
            </a:r>
          </a:p>
          <a:p>
            <a:r>
              <a:rPr lang="en-US" altLang="zh-CN" dirty="0"/>
              <a:t>2 </a:t>
            </a:r>
            <a:r>
              <a:rPr lang="zh-CN" altLang="en-US" dirty="0"/>
              <a:t>在制造业中的应</a:t>
            </a:r>
            <a:r>
              <a:rPr lang="zh-CN" altLang="en-US" dirty="0" smtClean="0"/>
              <a:t>用</a:t>
            </a:r>
            <a:endParaRPr lang="en-US" altLang="zh-CN" dirty="0" smtClean="0"/>
          </a:p>
          <a:p>
            <a:pPr lvl="1"/>
            <a:r>
              <a:rPr lang="zh-CN" altLang="en-US" sz="1800" dirty="0"/>
              <a:t>全球化竞争和客户对产品需求的快速变化，促使企业调整生产模式和组织结构，以便对快速的市场变化及时做出反应，并保证产品的创新度和质量。国内外许多研究项目正努力建立一个支持企业创新的分布式智能制造系统，多</a:t>
            </a:r>
            <a:r>
              <a:rPr lang="en-US" altLang="zh-CN" sz="1800" dirty="0"/>
              <a:t>Agent</a:t>
            </a:r>
            <a:r>
              <a:rPr lang="zh-CN" altLang="en-US" sz="1800" dirty="0"/>
              <a:t>系统是较为理想的选择方案</a:t>
            </a:r>
            <a:r>
              <a:rPr lang="zh-CN" altLang="en-US" sz="1800" dirty="0" smtClean="0"/>
              <a:t>。</a:t>
            </a:r>
            <a:endParaRPr lang="en-US" altLang="zh-CN" sz="1800" dirty="0" smtClean="0"/>
          </a:p>
          <a:p>
            <a:pPr lvl="1"/>
            <a:r>
              <a:rPr lang="zh-CN" altLang="en-US" sz="1800" dirty="0" smtClean="0"/>
              <a:t>美</a:t>
            </a:r>
            <a:r>
              <a:rPr lang="zh-CN" altLang="en-US" sz="1800" dirty="0"/>
              <a:t>国国家信息基础结构协议（</a:t>
            </a:r>
            <a:r>
              <a:rPr lang="en-US" altLang="zh-CN" sz="1800" dirty="0"/>
              <a:t>NIIP</a:t>
            </a:r>
            <a:r>
              <a:rPr lang="zh-CN" altLang="en-US" sz="1800" dirty="0"/>
              <a:t>）中有关企业和研究机构正在进行多</a:t>
            </a:r>
            <a:r>
              <a:rPr lang="en-US" altLang="zh-CN" sz="1800" dirty="0"/>
              <a:t>Agent</a:t>
            </a:r>
            <a:r>
              <a:rPr lang="zh-CN" altLang="en-US" sz="1800" dirty="0"/>
              <a:t>系统在制造企业应用的研究工作。主要工作包括集成现有软件，智能支持生产计划、调度，支持企业资源和信息的动态配置和管理，建立合理的企业供应链系统</a:t>
            </a:r>
            <a:r>
              <a:rPr lang="zh-CN" altLang="en-US" sz="1800" dirty="0" smtClean="0"/>
              <a:t>等</a:t>
            </a:r>
            <a:endParaRPr lang="en-US" altLang="zh-CN" sz="1800" dirty="0" smtClean="0"/>
          </a:p>
          <a:p>
            <a:pPr lvl="1"/>
            <a:r>
              <a:rPr lang="zh-CN" altLang="en-US" sz="1800" dirty="0" smtClean="0"/>
              <a:t>波</a:t>
            </a:r>
            <a:r>
              <a:rPr lang="zh-CN" altLang="en-US" sz="1800" dirty="0"/>
              <a:t>音公司的 </a:t>
            </a:r>
            <a:r>
              <a:rPr lang="en-US" altLang="zh-CN" sz="1800" dirty="0"/>
              <a:t>MadeSmart </a:t>
            </a:r>
            <a:r>
              <a:rPr lang="zh-CN" altLang="en-US" sz="1800" dirty="0"/>
              <a:t>项目则利用多 </a:t>
            </a:r>
            <a:r>
              <a:rPr lang="en-US" altLang="zh-CN" sz="1800" dirty="0"/>
              <a:t>Agent </a:t>
            </a:r>
            <a:r>
              <a:rPr lang="zh-CN" altLang="en-US" sz="1800" dirty="0"/>
              <a:t>封装传统软件，建立智能制造系统</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2021/11/11</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7</a:t>
            </a:fld>
            <a:endParaRPr lang="en-US" altLang="zh-CN"/>
          </a:p>
        </p:txBody>
      </p:sp>
    </p:spTree>
    <p:extLst>
      <p:ext uri="{BB962C8B-B14F-4D97-AF65-F5344CB8AC3E}">
        <p14:creationId xmlns:p14="http://schemas.microsoft.com/office/powerpoint/2010/main" val="3572071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Agent</a:t>
            </a:r>
            <a:r>
              <a:rPr lang="zh-CN" altLang="en-US" dirty="0"/>
              <a:t>技术的优缺</a:t>
            </a:r>
            <a:r>
              <a:rPr lang="zh-CN" altLang="en-US" dirty="0" smtClean="0"/>
              <a:t>点</a:t>
            </a:r>
            <a:endParaRPr lang="zh-CN" altLang="en-US" dirty="0"/>
          </a:p>
        </p:txBody>
      </p:sp>
      <p:sp>
        <p:nvSpPr>
          <p:cNvPr id="3" name="内容占位符 2"/>
          <p:cNvSpPr>
            <a:spLocks noGrp="1"/>
          </p:cNvSpPr>
          <p:nvPr>
            <p:ph idx="1"/>
          </p:nvPr>
        </p:nvSpPr>
        <p:spPr>
          <a:xfrm>
            <a:off x="107504" y="1196752"/>
            <a:ext cx="8712967" cy="4896544"/>
          </a:xfrm>
        </p:spPr>
        <p:txBody>
          <a:bodyPr/>
          <a:lstStyle/>
          <a:p>
            <a:r>
              <a:rPr lang="zh-CN" altLang="en-US" b="1" dirty="0"/>
              <a:t>优点：</a:t>
            </a:r>
            <a:r>
              <a:rPr lang="en-US" altLang="zh-CN" dirty="0"/>
              <a:t>1</a:t>
            </a:r>
            <a:r>
              <a:rPr lang="zh-CN" altLang="en-US" dirty="0"/>
              <a:t>）</a:t>
            </a:r>
            <a:r>
              <a:rPr lang="en-US" altLang="zh-CN" dirty="0"/>
              <a:t>Agent</a:t>
            </a:r>
            <a:r>
              <a:rPr lang="zh-CN" altLang="en-US" dirty="0"/>
              <a:t>技术在特定环境下自主、灵活工作的能力，使其可以有效地控制计算机软件。</a:t>
            </a:r>
            <a:r>
              <a:rPr lang="en-US" altLang="zh-CN" dirty="0"/>
              <a:t>2</a:t>
            </a:r>
            <a:r>
              <a:rPr lang="zh-CN" altLang="en-US" dirty="0"/>
              <a:t>）</a:t>
            </a:r>
            <a:r>
              <a:rPr lang="en-US" altLang="zh-CN" dirty="0"/>
              <a:t>Agent</a:t>
            </a:r>
            <a:r>
              <a:rPr lang="zh-CN" altLang="en-US" dirty="0"/>
              <a:t>技术在分析和研究问题时，采用的是动态化灵活研究方式，对于复杂问题能够精准地找出问题的根源。</a:t>
            </a:r>
            <a:r>
              <a:rPr lang="en-US" altLang="zh-CN" dirty="0"/>
              <a:t>3</a:t>
            </a:r>
            <a:r>
              <a:rPr lang="zh-CN" altLang="en-US" dirty="0"/>
              <a:t>）</a:t>
            </a:r>
            <a:r>
              <a:rPr lang="en-US" altLang="zh-CN" dirty="0"/>
              <a:t>Agent</a:t>
            </a:r>
            <a:r>
              <a:rPr lang="zh-CN" altLang="en-US" dirty="0"/>
              <a:t>技术可以在遇到问题和困难时，将分析问题作为首要任务，帮助工作人员明确问题产生的根源。</a:t>
            </a:r>
          </a:p>
          <a:p>
            <a:r>
              <a:rPr lang="zh-CN" altLang="en-US" b="1" dirty="0"/>
              <a:t>缺点：</a:t>
            </a:r>
            <a:r>
              <a:rPr lang="en-US" altLang="zh-CN" dirty="0"/>
              <a:t>1</a:t>
            </a:r>
            <a:r>
              <a:rPr lang="zh-CN" altLang="en-US" dirty="0"/>
              <a:t>）软件</a:t>
            </a:r>
            <a:r>
              <a:rPr lang="en-US" altLang="zh-CN" dirty="0"/>
              <a:t>Agent</a:t>
            </a:r>
            <a:r>
              <a:rPr lang="zh-CN" altLang="en-US" dirty="0"/>
              <a:t>的安全性问题</a:t>
            </a:r>
            <a:r>
              <a:rPr lang="zh-CN" altLang="en-US" dirty="0" smtClean="0"/>
              <a:t>。</a:t>
            </a:r>
            <a:r>
              <a:rPr lang="en-US" altLang="zh-CN" dirty="0" smtClean="0"/>
              <a:t>2</a:t>
            </a:r>
            <a:r>
              <a:rPr lang="zh-CN" altLang="en-US" dirty="0" smtClean="0"/>
              <a:t>）没</a:t>
            </a:r>
            <a:r>
              <a:rPr lang="zh-CN" altLang="en-US" dirty="0"/>
              <a:t>有简洁、统一、有效的软件</a:t>
            </a:r>
            <a:r>
              <a:rPr lang="en-US" altLang="zh-CN" dirty="0"/>
              <a:t>Agent</a:t>
            </a:r>
            <a:r>
              <a:rPr lang="zh-CN" altLang="en-US" dirty="0"/>
              <a:t>模</a:t>
            </a:r>
            <a:r>
              <a:rPr lang="zh-CN" altLang="en-US" dirty="0" smtClean="0"/>
              <a:t>型</a:t>
            </a:r>
            <a:r>
              <a:rPr lang="en-US" altLang="zh-CN" dirty="0" smtClean="0"/>
              <a:t>,</a:t>
            </a:r>
            <a:r>
              <a:rPr lang="zh-CN" altLang="en-US" dirty="0" smtClean="0"/>
              <a:t>阻</a:t>
            </a:r>
            <a:r>
              <a:rPr lang="zh-CN" altLang="en-US" dirty="0"/>
              <a:t>碍</a:t>
            </a:r>
            <a:r>
              <a:rPr lang="en-US" altLang="zh-CN" dirty="0"/>
              <a:t>Agent</a:t>
            </a:r>
            <a:r>
              <a:rPr lang="zh-CN" altLang="en-US" dirty="0"/>
              <a:t>技术在工业领域中的广泛应用。</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2021/11/11</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8</a:t>
            </a:fld>
            <a:endParaRPr lang="en-US" altLang="zh-CN"/>
          </a:p>
        </p:txBody>
      </p:sp>
    </p:spTree>
    <p:extLst>
      <p:ext uri="{BB962C8B-B14F-4D97-AF65-F5344CB8AC3E}">
        <p14:creationId xmlns:p14="http://schemas.microsoft.com/office/powerpoint/2010/main" val="13973541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思考题</a:t>
            </a:r>
            <a:endParaRPr lang="zh-CN" altLang="en-US" dirty="0"/>
          </a:p>
        </p:txBody>
      </p:sp>
      <p:sp>
        <p:nvSpPr>
          <p:cNvPr id="3" name="内容占位符 2"/>
          <p:cNvSpPr>
            <a:spLocks noGrp="1"/>
          </p:cNvSpPr>
          <p:nvPr>
            <p:ph idx="1"/>
          </p:nvPr>
        </p:nvSpPr>
        <p:spPr/>
        <p:txBody>
          <a:bodyPr/>
          <a:lstStyle/>
          <a:p>
            <a:r>
              <a:rPr lang="zh-CN" altLang="en-US" dirty="0"/>
              <a:t>软件</a:t>
            </a:r>
            <a:r>
              <a:rPr lang="en-US" altLang="zh-CN" dirty="0"/>
              <a:t>Agent</a:t>
            </a:r>
            <a:r>
              <a:rPr lang="zh-CN" altLang="en-US" dirty="0"/>
              <a:t>具有哪些特点？</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9</a:t>
            </a:fld>
            <a:endParaRPr lang="en-US" altLang="zh-CN"/>
          </a:p>
        </p:txBody>
      </p:sp>
    </p:spTree>
    <p:extLst>
      <p:ext uri="{BB962C8B-B14F-4D97-AF65-F5344CB8AC3E}">
        <p14:creationId xmlns:p14="http://schemas.microsoft.com/office/powerpoint/2010/main" val="14534874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t>2021/11/11</a:t>
            </a:fld>
            <a:endParaRPr lang="en-US" altLang="zh-CN"/>
          </a:p>
        </p:txBody>
      </p:sp>
      <p:sp>
        <p:nvSpPr>
          <p:cNvPr id="6147"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t>10</a:t>
            </a:fld>
            <a:endParaRPr lang="en-US" altLang="zh-CN" sz="1600" smtClean="0"/>
          </a:p>
        </p:txBody>
      </p:sp>
      <p:sp>
        <p:nvSpPr>
          <p:cNvPr id="2" name="文本框 1"/>
          <p:cNvSpPr txBox="1"/>
          <p:nvPr/>
        </p:nvSpPr>
        <p:spPr>
          <a:xfrm>
            <a:off x="2339752" y="2924944"/>
            <a:ext cx="4608512" cy="1015663"/>
          </a:xfrm>
          <a:prstGeom prst="rect">
            <a:avLst/>
          </a:prstGeom>
          <a:noFill/>
        </p:spPr>
        <p:txBody>
          <a:bodyPr wrap="square" rtlCol="0">
            <a:spAutoFit/>
          </a:bodyPr>
          <a:lstStyle/>
          <a:p>
            <a:r>
              <a:rPr lang="en-US" altLang="zh-CN" sz="6000" b="1" dirty="0" smtClean="0"/>
              <a:t>Thank You</a:t>
            </a:r>
            <a:r>
              <a:rPr lang="zh-CN" altLang="en-US" sz="6000" b="1" dirty="0" smtClean="0"/>
              <a:t>！</a:t>
            </a:r>
            <a:endParaRPr lang="zh-CN" altLang="en-US" sz="60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4446</TotalTime>
  <Words>2418</Words>
  <Application>Microsoft Office PowerPoint</Application>
  <PresentationFormat>全屏显示(4:3)</PresentationFormat>
  <Paragraphs>63</Paragraphs>
  <Slides>10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宋体</vt:lpstr>
      <vt:lpstr>Arial</vt:lpstr>
      <vt:lpstr>Times New Roman</vt:lpstr>
      <vt:lpstr>Wingdings</vt:lpstr>
      <vt:lpstr>Axis</vt:lpstr>
      <vt:lpstr>软件Agent</vt:lpstr>
      <vt:lpstr>软件agent</vt:lpstr>
      <vt:lpstr>多Agent系统</vt:lpstr>
      <vt:lpstr>Agent的一些特性</vt:lpstr>
      <vt:lpstr>Agent 的类型</vt:lpstr>
      <vt:lpstr>Agent技术的意义</vt:lpstr>
      <vt:lpstr>Agent技术的应用</vt:lpstr>
      <vt:lpstr>Agent技术的优缺点</vt:lpstr>
      <vt:lpstr>思考题</vt:lpstr>
      <vt:lpstr>PowerPoint 演示文稿</vt:lpstr>
    </vt:vector>
  </TitlesOfParts>
  <Company>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nie</cp:lastModifiedBy>
  <cp:revision>901</cp:revision>
  <dcterms:created xsi:type="dcterms:W3CDTF">2005-03-03T04:54:00Z</dcterms:created>
  <dcterms:modified xsi:type="dcterms:W3CDTF">2021-11-14T02:00:30Z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F116C3EDCEB844DA810AB381055B1871</vt:lpwstr>
  </property>
  <property fmtid="{D5CDD505-2E9C-101B-9397-08002B2CF9AE}" pid="3" name="KSOProductBuildVer">
    <vt:lpwstr>2052-11.1.0.10495</vt:lpwstr>
  </property>
</Properties>
</file>