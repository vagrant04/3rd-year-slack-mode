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64" r:id="rId5"/>
    <p:sldId id="265" r:id="rId6"/>
    <p:sldId id="266" r:id="rId7"/>
    <p:sldId id="298" r:id="rId8"/>
    <p:sldId id="269" r:id="rId9"/>
    <p:sldId id="267" r:id="rId10"/>
    <p:sldId id="299" r:id="rId11"/>
    <p:sldId id="268" r:id="rId12"/>
    <p:sldId id="300" r:id="rId13"/>
    <p:sldId id="301" r:id="rId14"/>
    <p:sldId id="302" r:id="rId15"/>
    <p:sldId id="303" r:id="rId16"/>
    <p:sldId id="272" r:id="rId17"/>
    <p:sldId id="273" r:id="rId18"/>
    <p:sldId id="274" r:id="rId19"/>
    <p:sldId id="305" r:id="rId20"/>
    <p:sldId id="306" r:id="rId21"/>
    <p:sldId id="307" r:id="rId22"/>
    <p:sldId id="308" r:id="rId23"/>
    <p:sldId id="309" r:id="rId24"/>
    <p:sldId id="278" r:id="rId25"/>
    <p:sldId id="310" r:id="rId26"/>
    <p:sldId id="296" r:id="rId27"/>
    <p:sldId id="297" r:id="rId28"/>
    <p:sldId id="261" r:id="rId29"/>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3300"/>
    <a:srgbClr val="FF6600"/>
    <a:srgbClr val="004AB8"/>
    <a:srgbClr val="009900"/>
    <a:srgbClr val="008000"/>
    <a:srgbClr val="333333"/>
    <a:srgbClr val="08080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11" d="100"/>
          <a:sy n="111" d="100"/>
        </p:scale>
        <p:origin x="1614"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9.emf"/></Relationships>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18" name="Group 17"/>
          <p:cNvGrpSpPr/>
          <p:nvPr/>
        </p:nvGrpSpPr>
        <p:grpSpPr>
          <a:xfrm>
            <a:off x="0" y="0"/>
            <a:ext cx="9144677" cy="6858000"/>
            <a:chOff x="0" y="0"/>
            <a:chExt cx="9144677" cy="6858000"/>
          </a:xfrm>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Rectangle 10"/>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a:fillRect/>
            </a:stretch>
          </p:blipFill>
          <p:spPr>
            <a:xfrm>
              <a:off x="0" y="3128434"/>
              <a:ext cx="1664208" cy="612648"/>
            </a:xfrm>
            <a:prstGeom prst="rect">
              <a:avLst/>
            </a:prstGeom>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a:fillRect/>
            </a:stretch>
          </p:blipFill>
          <p:spPr>
            <a:xfrm>
              <a:off x="7480469" y="3128434"/>
              <a:ext cx="1664208" cy="612648"/>
            </a:xfrm>
            <a:prstGeom prst="rect">
              <a:avLst/>
            </a:prstGeom>
          </p:spPr>
        </p:pic>
      </p:grpSp>
      <p:sp>
        <p:nvSpPr>
          <p:cNvPr id="2" name="Title 1"/>
          <p:cNvSpPr>
            <a:spLocks noGrp="1"/>
          </p:cNvSpPr>
          <p:nvPr>
            <p:ph type="ctrTitle"/>
          </p:nvPr>
        </p:nvSpPr>
        <p:spPr>
          <a:xfrm>
            <a:off x="1921934" y="1811863"/>
            <a:ext cx="5308866" cy="1515533"/>
          </a:xfrm>
        </p:spPr>
        <p:txBody>
          <a:bodyPr anchor="b">
            <a:noAutofit/>
          </a:bodyPr>
          <a:lstStyle>
            <a:lvl1pPr algn="ctr">
              <a:defRPr sz="4800">
                <a:effectLst/>
              </a:defRPr>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921934" y="3598327"/>
            <a:ext cx="5308866" cy="1377651"/>
          </a:xfrm>
        </p:spPr>
        <p:txBody>
          <a:bodyPr anchor="t">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a:xfrm>
            <a:off x="6065417" y="5054602"/>
            <a:ext cx="673276" cy="279400"/>
          </a:xfrm>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a:xfrm>
            <a:off x="1921934" y="5054602"/>
            <a:ext cx="4064860" cy="279400"/>
          </a:xfrm>
        </p:spPr>
        <p:txBody>
          <a:bodyPr/>
          <a:lstStyle/>
          <a:p>
            <a:endParaRPr lang="en-US" dirty="0"/>
          </a:p>
        </p:txBody>
      </p:sp>
      <p:sp>
        <p:nvSpPr>
          <p:cNvPr id="6" name="Slide Number Placeholder 5"/>
          <p:cNvSpPr>
            <a:spLocks noGrp="1"/>
          </p:cNvSpPr>
          <p:nvPr>
            <p:ph type="sldNum" sz="quarter" idx="12"/>
          </p:nvPr>
        </p:nvSpPr>
        <p:spPr>
          <a:xfrm>
            <a:off x="6817317" y="5054602"/>
            <a:ext cx="413483" cy="279400"/>
          </a:xfrm>
        </p:spPr>
        <p:txBody>
          <a:bodyPr/>
          <a:lstStyle/>
          <a:p>
            <a:fld id="{D57F1E4F-1CFF-5643-939E-217C01CDF565}" type="slidenum">
              <a:rPr lang="en-US" dirty="0"/>
            </a:fld>
            <a:endParaRPr lang="en-US" dirty="0"/>
          </a:p>
        </p:txBody>
      </p:sp>
      <p:cxnSp>
        <p:nvCxnSpPr>
          <p:cNvPr id="15" name="Straight Connector 14"/>
          <p:cNvCxnSpPr/>
          <p:nvPr/>
        </p:nvCxnSpPr>
        <p:spPr>
          <a:xfrm>
            <a:off x="2019825" y="3471329"/>
            <a:ext cx="5113083" cy="0"/>
          </a:xfrm>
          <a:prstGeom prst="line">
            <a:avLst/>
          </a:prstGeom>
          <a:ln w="15875"/>
        </p:spPr>
        <p:style>
          <a:lnRef idx="2">
            <a:schemeClr val="accent1"/>
          </a:lnRef>
          <a:fillRef idx="0">
            <a:schemeClr val="accent1"/>
          </a:fillRef>
          <a:effectRef idx="1">
            <a:schemeClr val="accent1"/>
          </a:effectRef>
          <a:fontRef idx="minor">
            <a:schemeClr val="tx1"/>
          </a:fontRef>
        </p:style>
      </p:cxnSp>
      <p:pic>
        <p:nvPicPr>
          <p:cNvPr id="14" name="Picture 8"/>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609600" y="874713"/>
            <a:ext cx="609600"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Line 9"/>
          <p:cNvSpPr>
            <a:spLocks noChangeShapeType="1"/>
          </p:cNvSpPr>
          <p:nvPr userDrawn="1"/>
        </p:nvSpPr>
        <p:spPr bwMode="auto">
          <a:xfrm>
            <a:off x="228600" y="1676400"/>
            <a:ext cx="4648200" cy="0"/>
          </a:xfrm>
          <a:prstGeom prst="line">
            <a:avLst/>
          </a:prstGeom>
          <a:noFill/>
          <a:ln w="25400">
            <a:solidFill>
              <a:srgbClr val="C0C0C0"/>
            </a:solidFill>
            <a:prstDash val="sysDot"/>
            <a:round/>
            <a:tailEnd type="oval" w="med" len="med"/>
          </a:ln>
          <a:effectLst/>
        </p:spPr>
        <p:txBody>
          <a:bodyPr wrap="none" anchor="ctr"/>
          <a:lstStyle/>
          <a:p>
            <a:pPr>
              <a:defRPr/>
            </a:pPr>
            <a:endParaRPr lang="zh-CN" altLang="en-US">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cxnSp>
        <p:nvCxnSpPr>
          <p:cNvPr id="7" name="Straight Connector 6"/>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fld id="{9F9E6624-8E6E-4D4A-AD85-1C379EEAD4A3}" type="slidenum">
              <a:rPr lang="en-US" altLang="zh-CN" smtClean="0"/>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fld id="{2A2565BF-1561-4735-B3A4-DDBCF7294E88}" type="slidenum">
              <a:rPr lang="en-US" altLang="zh-CN" smtClean="0"/>
            </a:fld>
            <a:endParaRPr lang="en-US" altLang="zh-CN"/>
          </a:p>
        </p:txBody>
      </p:sp>
      <p:cxnSp>
        <p:nvCxnSpPr>
          <p:cNvPr id="31" name="Straight Connector 30"/>
          <p:cNvCxnSpPr/>
          <p:nvPr/>
        </p:nvCxnSpPr>
        <p:spPr>
          <a:xfrm>
            <a:off x="1278466" y="3599392"/>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915337"/>
            <a:ext cx="6798734" cy="1303867"/>
          </a:xfrm>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4"/>
          <p:cNvSpPr>
            <a:spLocks noGrp="1"/>
          </p:cNvSpPr>
          <p:nvPr>
            <p:ph type="dt" sz="half" idx="10"/>
          </p:nvPr>
        </p:nvSpPr>
        <p:spPr/>
        <p:txBody>
          <a:bodyPr/>
          <a:lstStyle/>
          <a:p>
            <a:pPr>
              <a:defRPr/>
            </a:pPr>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fld id="{9116868D-F297-4FBD-AD69-44E8160A653F}" type="slidenum">
              <a:rPr lang="en-US" altLang="zh-CN" smtClean="0"/>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Content Placeholder 3"/>
          <p:cNvSpPr>
            <a:spLocks noGrp="1"/>
          </p:cNvSpPr>
          <p:nvPr>
            <p:ph sz="half" idx="2"/>
          </p:nvPr>
        </p:nvSpPr>
        <p:spPr>
          <a:xfrm>
            <a:off x="1176868" y="3243263"/>
            <a:ext cx="3337560" cy="2706624"/>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Content Placeholder 5"/>
          <p:cNvSpPr>
            <a:spLocks noGrp="1"/>
          </p:cNvSpPr>
          <p:nvPr>
            <p:ph sz="quarter" idx="4"/>
          </p:nvPr>
        </p:nvSpPr>
        <p:spPr>
          <a:xfrm>
            <a:off x="4641832" y="3243263"/>
            <a:ext cx="3337560" cy="2706624"/>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pPr>
              <a:defRPr/>
            </a:pPr>
            <a:endParaRPr lang="en-US" altLang="zh-CN"/>
          </a:p>
        </p:txBody>
      </p:sp>
      <p:sp>
        <p:nvSpPr>
          <p:cNvPr id="8" name="Footer Placeholder 7"/>
          <p:cNvSpPr>
            <a:spLocks noGrp="1"/>
          </p:cNvSpPr>
          <p:nvPr>
            <p:ph type="ftr" sz="quarter" idx="11"/>
          </p:nvPr>
        </p:nvSpPr>
        <p:spPr/>
        <p:txBody>
          <a:bodyPr/>
          <a:lstStyle/>
          <a:p>
            <a:pPr>
              <a:defRPr/>
            </a:pPr>
            <a:endParaRPr lang="en-US" altLang="zh-CN"/>
          </a:p>
        </p:txBody>
      </p:sp>
      <p:sp>
        <p:nvSpPr>
          <p:cNvPr id="9" name="Slide Number Placeholder 8"/>
          <p:cNvSpPr>
            <a:spLocks noGrp="1"/>
          </p:cNvSpPr>
          <p:nvPr>
            <p:ph type="sldNum" sz="quarter" idx="12"/>
          </p:nvPr>
        </p:nvSpPr>
        <p:spPr/>
        <p:txBody>
          <a:bodyPr/>
          <a:lstStyle/>
          <a:p>
            <a:fld id="{2FD9D0B2-863E-4533-97E1-D5653AAACDC7}" type="slidenum">
              <a:rPr lang="en-US" altLang="zh-CN" smtClean="0"/>
            </a:fld>
            <a:endParaRPr lang="en-US" altLang="zh-CN"/>
          </a:p>
        </p:txBody>
      </p:sp>
      <p:cxnSp>
        <p:nvCxnSpPr>
          <p:cNvPr id="41" name="Straight Connector 40"/>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pPr>
              <a:defRPr/>
            </a:pPr>
            <a:endParaRPr lang="en-US" altLang="zh-CN"/>
          </a:p>
        </p:txBody>
      </p:sp>
      <p:sp>
        <p:nvSpPr>
          <p:cNvPr id="4" name="Footer Placeholder 3"/>
          <p:cNvSpPr>
            <a:spLocks noGrp="1"/>
          </p:cNvSpPr>
          <p:nvPr>
            <p:ph type="ftr" sz="quarter" idx="11"/>
          </p:nvPr>
        </p:nvSpPr>
        <p:spPr/>
        <p:txBody>
          <a:bodyPr/>
          <a:lstStyle/>
          <a:p>
            <a:pPr>
              <a:defRPr/>
            </a:pPr>
            <a:endParaRPr lang="en-US" altLang="zh-CN"/>
          </a:p>
        </p:txBody>
      </p:sp>
      <p:sp>
        <p:nvSpPr>
          <p:cNvPr id="5" name="Slide Number Placeholder 4"/>
          <p:cNvSpPr>
            <a:spLocks noGrp="1"/>
          </p:cNvSpPr>
          <p:nvPr>
            <p:ph type="sldNum" sz="quarter" idx="12"/>
          </p:nvPr>
        </p:nvSpPr>
        <p:spPr/>
        <p:txBody>
          <a:bodyPr/>
          <a:lstStyle/>
          <a:p>
            <a:fld id="{0DADA328-55F7-45D8-BF57-D679C29E519A}" type="slidenum">
              <a:rPr lang="en-US" altLang="zh-CN" smtClean="0"/>
            </a:fld>
            <a:endParaRPr lang="en-US" altLang="zh-CN"/>
          </a:p>
        </p:txBody>
      </p:sp>
      <p:cxnSp>
        <p:nvCxnSpPr>
          <p:cNvPr id="14" name="Straight Connector 13"/>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ltLang="zh-CN"/>
          </a:p>
        </p:txBody>
      </p:sp>
      <p:sp>
        <p:nvSpPr>
          <p:cNvPr id="3" name="Footer Placeholder 2"/>
          <p:cNvSpPr>
            <a:spLocks noGrp="1"/>
          </p:cNvSpPr>
          <p:nvPr>
            <p:ph type="ftr" sz="quarter" idx="11"/>
          </p:nvPr>
        </p:nvSpPr>
        <p:spPr/>
        <p:txBody>
          <a:bodyPr/>
          <a:lstStyle/>
          <a:p>
            <a:pPr>
              <a:defRPr/>
            </a:pPr>
            <a:endParaRPr lang="en-US" altLang="zh-CN"/>
          </a:p>
        </p:txBody>
      </p:sp>
      <p:sp>
        <p:nvSpPr>
          <p:cNvPr id="4" name="Slide Number Placeholder 3"/>
          <p:cNvSpPr>
            <a:spLocks noGrp="1"/>
          </p:cNvSpPr>
          <p:nvPr>
            <p:ph type="sldNum" sz="quarter" idx="12"/>
          </p:nvPr>
        </p:nvSpPr>
        <p:spPr/>
        <p:txBody>
          <a:bodyPr/>
          <a:lstStyle/>
          <a:p>
            <a:fld id="{87D17C5F-E8A1-47B6-81A2-127FE3FCA936}" type="slidenum">
              <a:rPr lang="en-US" altLang="zh-CN" smtClean="0"/>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pPr>
              <a:defRPr/>
            </a:pPr>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fld id="{BBB63C33-5E15-4D1D-917F-EE461F8623B4}" type="slidenum">
              <a:rPr lang="en-US" altLang="zh-CN" smtClean="0"/>
            </a:fld>
            <a:endParaRPr lang="en-US" altLang="zh-CN"/>
          </a:p>
        </p:txBody>
      </p:sp>
      <p:cxnSp>
        <p:nvCxnSpPr>
          <p:cNvPr id="16" name="Straight Connector 15"/>
          <p:cNvCxnSpPr/>
          <p:nvPr/>
        </p:nvCxnSpPr>
        <p:spPr>
          <a:xfrm>
            <a:off x="1278466" y="2912533"/>
            <a:ext cx="233359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zh-CN" altLang="en-US" smtClean="0"/>
              <a:t>单击此处编辑母版标题样式</a:t>
            </a:r>
            <a:endParaRPr lang="en-US" dirty="0"/>
          </a:p>
        </p:txBody>
      </p:sp>
      <p:sp>
        <p:nvSpPr>
          <p:cNvPr id="17" name="Picture Placeholder 2"/>
          <p:cNvSpPr>
            <a:spLocks noGrp="1" noChangeAspect="1"/>
          </p:cNvSpPr>
          <p:nvPr>
            <p:ph type="pic" idx="1"/>
          </p:nvPr>
        </p:nvSpPr>
        <p:spPr>
          <a:xfrm>
            <a:off x="5183069"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pPr>
              <a:defRPr/>
            </a:pPr>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fld id="{14DFB6A4-F2F9-4341-915A-8354D84079A2}" type="slidenum">
              <a:rPr lang="en-US" altLang="zh-CN" smtClean="0"/>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pPr>
              <a:defRPr/>
            </a:pPr>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fld id="{13C72912-D02E-4289-9A58-2D4E8242AC29}" type="slidenum">
              <a:rPr lang="en-US" altLang="zh-CN" smtClean="0"/>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fld id="{13C72912-D02E-4289-9A58-2D4E8242AC29}" type="slidenum">
              <a:rPr lang="en-US" altLang="zh-CN" smtClean="0"/>
            </a:fld>
            <a:endParaRPr lang="en-US" altLang="zh-CN"/>
          </a:p>
        </p:txBody>
      </p:sp>
      <p:cxnSp>
        <p:nvCxnSpPr>
          <p:cNvPr id="15" name="Straight Connector 14"/>
          <p:cNvCxnSpPr/>
          <p:nvPr/>
        </p:nvCxnSpPr>
        <p:spPr>
          <a:xfrm>
            <a:off x="1278465" y="4140199"/>
            <a:ext cx="6606425"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zh-CN" altLang="en-US" smtClean="0"/>
              <a:t>单击此处编辑母版标题样式</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smtClean="0"/>
              <a:t>单击此处编辑母版文本样式</a:t>
            </a:r>
            <a:endParaRPr lang="zh-CN" altLang="en-US" smtClean="0"/>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fld id="{13C72912-D02E-4289-9A58-2D4E8242AC29}" type="slidenum">
              <a:rPr lang="en-US" altLang="zh-CN" smtClean="0"/>
            </a:fld>
            <a:endParaRPr lang="en-US" altLang="zh-CN"/>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endParaRPr lang="en-US" sz="7200" dirty="0">
              <a:solidFill>
                <a:schemeClr val="tx1"/>
              </a:solidFill>
              <a:effectLst/>
            </a:endParaRP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endParaRPr lang="en-US" sz="7200" dirty="0">
              <a:solidFill>
                <a:schemeClr val="tx1"/>
              </a:solidFill>
              <a:effectLst/>
            </a:endParaRPr>
          </a:p>
        </p:txBody>
      </p:sp>
      <p:cxnSp>
        <p:nvCxnSpPr>
          <p:cNvPr id="19" name="Straight Connector 18"/>
          <p:cNvCxnSpPr/>
          <p:nvPr/>
        </p:nvCxnSpPr>
        <p:spPr>
          <a:xfrm>
            <a:off x="1278466" y="4140199"/>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fld id="{13C72912-D02E-4289-9A58-2D4E8242AC29}" type="slidenum">
              <a:rPr lang="en-US" altLang="zh-CN" smtClean="0"/>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zh-CN" altLang="en-US" smtClean="0"/>
              <a:t>单击此处编辑母版标题样式</a:t>
            </a:r>
            <a:endParaRPr lang="en-US" dirty="0"/>
          </a:p>
        </p:txBody>
      </p:sp>
      <p:sp>
        <p:nvSpPr>
          <p:cNvPr id="18"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fld id="{13C72912-D02E-4289-9A58-2D4E8242AC29}" type="slidenum">
              <a:rPr lang="en-US" altLang="zh-CN" smtClean="0"/>
            </a:fld>
            <a:endParaRPr lang="en-US" altLang="zh-CN"/>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endParaRPr lang="en-US" sz="8000" dirty="0">
              <a:solidFill>
                <a:schemeClr val="tx1"/>
              </a:solidFill>
              <a:effectLst/>
            </a:endParaRP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endParaRPr lang="en-US" sz="8000" dirty="0">
              <a:solidFill>
                <a:schemeClr val="tx1"/>
              </a:solidFill>
              <a:effectLst/>
            </a:endParaRPr>
          </a:p>
        </p:txBody>
      </p:sp>
      <p:cxnSp>
        <p:nvCxnSpPr>
          <p:cNvPr id="26" name="Straight Connector 25"/>
          <p:cNvCxnSpPr/>
          <p:nvPr/>
        </p:nvCxnSpPr>
        <p:spPr>
          <a:xfrm>
            <a:off x="1278466" y="342900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zh-CN" altLang="en-US" smtClean="0"/>
              <a:t>单击此处编辑母版标题样式</a:t>
            </a:r>
            <a:endParaRPr lang="en-US" dirty="0"/>
          </a:p>
        </p:txBody>
      </p:sp>
      <p:sp>
        <p:nvSpPr>
          <p:cNvPr id="14"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fld id="{13C72912-D02E-4289-9A58-2D4E8242AC29}" type="slidenum">
              <a:rPr lang="en-US" altLang="zh-CN" smtClean="0"/>
            </a:fld>
            <a:endParaRPr lang="en-US" altLang="zh-CN"/>
          </a:p>
        </p:txBody>
      </p:sp>
      <p:cxnSp>
        <p:nvCxnSpPr>
          <p:cNvPr id="15" name="Straight Connector 14"/>
          <p:cNvCxnSpPr/>
          <p:nvPr/>
        </p:nvCxnSpPr>
        <p:spPr>
          <a:xfrm>
            <a:off x="1278469" y="3429000"/>
            <a:ext cx="6606421"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fld id="{407B8565-39CB-4369-841E-443CD2D962E1}" type="slidenum">
              <a:rPr lang="en-US" altLang="zh-CN" smtClean="0"/>
            </a:fld>
            <a:endParaRPr lang="en-US" altLang="zh-CN"/>
          </a:p>
        </p:txBody>
      </p:sp>
      <p:cxnSp>
        <p:nvCxnSpPr>
          <p:cNvPr id="14" name="Straight Connector 13"/>
          <p:cNvCxnSpPr/>
          <p:nvPr/>
        </p:nvCxnSpPr>
        <p:spPr>
          <a:xfrm>
            <a:off x="1278466" y="2354670"/>
            <a:ext cx="660642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fld id="{13C72912-D02E-4289-9A58-2D4E8242AC29}" type="slidenum">
              <a:rPr lang="en-US" altLang="zh-CN" smtClean="0"/>
            </a:fld>
            <a:endParaRPr lang="en-US" altLang="zh-CN"/>
          </a:p>
        </p:txBody>
      </p:sp>
      <p:cxnSp>
        <p:nvCxnSpPr>
          <p:cNvPr id="14" name="Straight Connector 13"/>
          <p:cNvCxnSpPr/>
          <p:nvPr/>
        </p:nvCxnSpPr>
        <p:spPr>
          <a:xfrm>
            <a:off x="6245512" y="906873"/>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838200" y="914400"/>
            <a:ext cx="4572000" cy="6858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381000" y="1752600"/>
            <a:ext cx="8382000" cy="4114800"/>
          </a:xfrm>
        </p:spPr>
        <p:txBody>
          <a:bodyPr/>
          <a:lstStyle/>
          <a:p>
            <a:pPr lvl="0"/>
            <a:endParaRPr lang="zh-CN" altLang="en-US" noProof="0" smtClean="0"/>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BE94F31D-DA2F-4FF2-B9E5-A00B20FF782B}"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2" Type="http://schemas.openxmlformats.org/officeDocument/2006/relationships/theme" Target="../theme/theme1.xml"/><Relationship Id="rId21" Type="http://schemas.openxmlformats.org/officeDocument/2006/relationships/image" Target="../media/image3.png"/><Relationship Id="rId20" Type="http://schemas.openxmlformats.org/officeDocument/2006/relationships/image" Target="../media/image5.png"/><Relationship Id="rId2" Type="http://schemas.openxmlformats.org/officeDocument/2006/relationships/slideLayout" Target="../slideLayouts/slideLayout2.xml"/><Relationship Id="rId19" Type="http://schemas.openxmlformats.org/officeDocument/2006/relationships/image" Target="../media/image4.png"/><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9152467" cy="6858000"/>
            <a:chOff x="0" y="0"/>
            <a:chExt cx="9152467" cy="6858000"/>
          </a:xfrm>
        </p:grpSpPr>
        <p:pic>
          <p:nvPicPr>
            <p:cNvPr id="8" name="Picture 7" descr="S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a:fillRect/>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a:fillRect/>
            </a:stretch>
          </p:blipFill>
          <p:spPr>
            <a:xfrm>
              <a:off x="8466667" y="3128434"/>
              <a:ext cx="685800" cy="606425"/>
            </a:xfrm>
            <a:prstGeom prst="rect">
              <a:avLst/>
            </a:prstGeom>
          </p:spPr>
        </p:pic>
      </p:grpSp>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2"/>
          </p:nvPr>
        </p:nvSpPr>
        <p:spPr>
          <a:xfrm>
            <a:off x="6356670" y="5960533"/>
            <a:ext cx="1148283"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a:defRPr/>
            </a:pPr>
            <a:endParaRPr lang="en-US" altLang="zh-CN"/>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pPr>
              <a:defRPr/>
            </a:pPr>
            <a:endParaRPr lang="en-US" altLang="zh-CN"/>
          </a:p>
        </p:txBody>
      </p:sp>
      <p:sp>
        <p:nvSpPr>
          <p:cNvPr id="6" name="Slide Number Placeholder 5"/>
          <p:cNvSpPr>
            <a:spLocks noGrp="1"/>
          </p:cNvSpPr>
          <p:nvPr>
            <p:ph type="sldNum" sz="quarter" idx="4"/>
          </p:nvPr>
        </p:nvSpPr>
        <p:spPr>
          <a:xfrm>
            <a:off x="7580091" y="5960533"/>
            <a:ext cx="39551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3C72912-D02E-4289-9A58-2D4E8242AC29}" type="slidenum">
              <a:rPr lang="en-US" altLang="zh-CN" smtClean="0"/>
            </a:fld>
            <a:endParaRPr lang="en-US" altLang="zh-CN"/>
          </a:p>
        </p:txBody>
      </p:sp>
      <p:sp>
        <p:nvSpPr>
          <p:cNvPr id="12" name="Line 8"/>
          <p:cNvSpPr>
            <a:spLocks noChangeShapeType="1"/>
          </p:cNvSpPr>
          <p:nvPr userDrawn="1"/>
        </p:nvSpPr>
        <p:spPr bwMode="auto">
          <a:xfrm>
            <a:off x="228600" y="1676400"/>
            <a:ext cx="4648200" cy="0"/>
          </a:xfrm>
          <a:prstGeom prst="line">
            <a:avLst/>
          </a:prstGeom>
          <a:noFill/>
          <a:ln w="25400">
            <a:solidFill>
              <a:srgbClr val="C0C0C0"/>
            </a:solidFill>
            <a:prstDash val="sysDot"/>
            <a:round/>
            <a:tailEnd type="oval" w="med" len="med"/>
          </a:ln>
          <a:effectLst/>
        </p:spPr>
        <p:txBody>
          <a:bodyPr wrap="none" anchor="ctr"/>
          <a:lstStyle/>
          <a:p>
            <a:pPr>
              <a:defRPr/>
            </a:pPr>
            <a:endParaRPr lang="zh-CN" altLang="en-US">
              <a:latin typeface="Arial" panose="020B0604020202020204" pitchFamily="34" charset="0"/>
            </a:endParaRPr>
          </a:p>
        </p:txBody>
      </p:sp>
      <p:pic>
        <p:nvPicPr>
          <p:cNvPr id="13" name="Picture 9"/>
          <p:cNvPicPr>
            <a:picLocks noChangeAspect="1" noChangeArrowheads="1"/>
          </p:cNvPicPr>
          <p:nvPr userDrawn="1"/>
        </p:nvPicPr>
        <p:blipFill>
          <a:blip r:embed="rId21">
            <a:extLst>
              <a:ext uri="{28A0092B-C50C-407E-A947-70E740481C1C}">
                <a14:useLocalDpi xmlns:a14="http://schemas.microsoft.com/office/drawing/2010/main" val="0"/>
              </a:ext>
            </a:extLst>
          </a:blip>
          <a:srcRect/>
          <a:stretch>
            <a:fillRect/>
          </a:stretch>
        </p:blipFill>
        <p:spPr bwMode="auto">
          <a:xfrm>
            <a:off x="304800" y="1022350"/>
            <a:ext cx="53340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3.png"/><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9.emf"/><Relationship Id="rId1"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ctrTitle"/>
          </p:nvPr>
        </p:nvSpPr>
        <p:spPr/>
        <p:txBody>
          <a:bodyPr/>
          <a:lstStyle/>
          <a:p>
            <a:pPr>
              <a:defRPr/>
            </a:pPr>
            <a:r>
              <a:rPr lang="zh-CN" altLang="en-US"/>
              <a:t>设计模式</a:t>
            </a:r>
            <a:endParaRPr lang="zh-CN" altLang="en-US"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idx="1"/>
          </p:nvPr>
        </p:nvSpPr>
        <p:spPr/>
        <p:txBody>
          <a:bodyPr/>
          <a:lstStyle/>
          <a:p>
            <a:pPr eaLnBrk="1" hangingPunct="1"/>
            <a:r>
              <a:rPr lang="zh-CN" altLang="en-US" smtClean="0"/>
              <a:t>设计模式的诞生与发展 </a:t>
            </a:r>
            <a:endParaRPr lang="zh-CN" altLang="en-US" smtClean="0"/>
          </a:p>
          <a:p>
            <a:pPr eaLnBrk="1" hangingPunct="1"/>
            <a:r>
              <a:rPr lang="zh-CN" altLang="en-US" smtClean="0"/>
              <a:t>设计模式的定义与分类 </a:t>
            </a:r>
            <a:endParaRPr lang="zh-CN" altLang="en-US" smtClean="0"/>
          </a:p>
          <a:p>
            <a:pPr eaLnBrk="1" hangingPunct="1"/>
            <a:r>
              <a:rPr lang="en-US" altLang="zh-CN" smtClean="0"/>
              <a:t>GoF</a:t>
            </a:r>
            <a:r>
              <a:rPr lang="zh-CN" altLang="en-US" smtClean="0"/>
              <a:t>设计模式简介 </a:t>
            </a:r>
            <a:endParaRPr lang="zh-CN" altLang="en-US" smtClean="0"/>
          </a:p>
          <a:p>
            <a:pPr eaLnBrk="1" hangingPunct="1"/>
            <a:r>
              <a:rPr lang="zh-CN" altLang="en-US" smtClean="0"/>
              <a:t>设计模式的优点 </a:t>
            </a:r>
            <a:endParaRPr lang="zh-CN" altLang="en-US" smtClean="0"/>
          </a:p>
          <a:p>
            <a:pPr eaLnBrk="1" hangingPunct="1"/>
            <a:endParaRPr lang="zh-CN" altLang="en-US" smtClean="0"/>
          </a:p>
          <a:p>
            <a:pPr eaLnBrk="1" hangingPunct="1"/>
            <a:endParaRPr lang="en-US" altLang="zh-CN" smtClean="0"/>
          </a:p>
        </p:txBody>
      </p:sp>
      <p:pic>
        <p:nvPicPr>
          <p:cNvPr id="5124"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248400" y="376642"/>
            <a:ext cx="2044607" cy="287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800" y="2525182"/>
            <a:ext cx="2303463" cy="340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838200" y="914400"/>
            <a:ext cx="6324600" cy="685800"/>
          </a:xfrm>
        </p:spPr>
        <p:txBody>
          <a:bodyPr>
            <a:normAutofit fontScale="90000"/>
          </a:bodyPr>
          <a:lstStyle/>
          <a:p>
            <a:pPr eaLnBrk="1" hangingPunct="1"/>
            <a:r>
              <a:rPr lang="zh-CN" altLang="en-US" smtClean="0"/>
              <a:t>设计模式的诞生与发展</a:t>
            </a:r>
            <a:endParaRPr lang="zh-CN" altLang="en-US" smtClean="0"/>
          </a:p>
        </p:txBody>
      </p:sp>
      <p:sp>
        <p:nvSpPr>
          <p:cNvPr id="6147" name="Rectangle 3"/>
          <p:cNvSpPr>
            <a:spLocks noGrp="1" noChangeArrowheads="1"/>
          </p:cNvSpPr>
          <p:nvPr>
            <p:ph idx="1"/>
          </p:nvPr>
        </p:nvSpPr>
        <p:spPr>
          <a:xfrm>
            <a:off x="381000" y="1752600"/>
            <a:ext cx="8382000" cy="4419600"/>
          </a:xfrm>
        </p:spPr>
        <p:txBody>
          <a:bodyPr/>
          <a:lstStyle/>
          <a:p>
            <a:pPr eaLnBrk="1" hangingPunct="1"/>
            <a:r>
              <a:rPr kumimoji="1" lang="zh-CN" altLang="en-US" sz="2400" smtClean="0"/>
              <a:t>模式的诞生与定义 </a:t>
            </a:r>
            <a:endParaRPr kumimoji="1" lang="zh-CN" altLang="en-US" sz="2400" smtClean="0"/>
          </a:p>
          <a:p>
            <a:pPr lvl="1" eaLnBrk="1" hangingPunct="1"/>
            <a:r>
              <a:rPr kumimoji="1" lang="zh-CN" altLang="en-US" sz="2000" smtClean="0"/>
              <a:t>模式起源于建筑业而非软件业</a:t>
            </a:r>
            <a:endParaRPr kumimoji="1" lang="zh-CN" altLang="en-US" sz="2000" smtClean="0"/>
          </a:p>
          <a:p>
            <a:pPr lvl="1" eaLnBrk="1" hangingPunct="1"/>
            <a:r>
              <a:rPr kumimoji="1" lang="zh-CN" altLang="en-US" sz="2000" smtClean="0"/>
              <a:t>模式</a:t>
            </a:r>
            <a:r>
              <a:rPr kumimoji="1" lang="en-US" altLang="zh-CN" sz="2000" smtClean="0"/>
              <a:t>(Pattern)</a:t>
            </a:r>
            <a:r>
              <a:rPr kumimoji="1" lang="zh-CN" altLang="en-US" sz="2000" smtClean="0"/>
              <a:t>之父</a:t>
            </a:r>
            <a:r>
              <a:rPr kumimoji="1" lang="en-US" altLang="zh-CN" sz="2000" smtClean="0"/>
              <a:t>——</a:t>
            </a:r>
            <a:r>
              <a:rPr kumimoji="1" lang="zh-CN" altLang="en-US" sz="2000" smtClean="0"/>
              <a:t>美国加利佛尼亚大学环境结构中心研究所所长</a:t>
            </a:r>
            <a:r>
              <a:rPr kumimoji="1" lang="en-US" altLang="zh-CN" sz="2000" smtClean="0">
                <a:solidFill>
                  <a:srgbClr val="FF3300"/>
                </a:solidFill>
              </a:rPr>
              <a:t>Christopher Alexander</a:t>
            </a:r>
            <a:r>
              <a:rPr kumimoji="1" lang="zh-CN" altLang="en-US" sz="2000" smtClean="0">
                <a:solidFill>
                  <a:srgbClr val="FF3300"/>
                </a:solidFill>
              </a:rPr>
              <a:t>博士</a:t>
            </a:r>
            <a:endParaRPr kumimoji="1" lang="zh-CN" altLang="en-US" sz="2000" smtClean="0">
              <a:solidFill>
                <a:srgbClr val="FF3300"/>
              </a:solidFill>
            </a:endParaRPr>
          </a:p>
          <a:p>
            <a:pPr lvl="1" eaLnBrk="1" hangingPunct="1"/>
            <a:r>
              <a:rPr kumimoji="1" lang="en-US" altLang="zh-CN" sz="2000" smtClean="0"/>
              <a:t>《A Pattern Language: Towns, Buildings, Construction》——253</a:t>
            </a:r>
            <a:r>
              <a:rPr kumimoji="1" lang="zh-CN" altLang="en-US" sz="2000" smtClean="0"/>
              <a:t>个建筑和城市规划模式</a:t>
            </a:r>
            <a:endParaRPr kumimoji="1" lang="zh-CN" altLang="en-US" sz="2000" smtClean="0"/>
          </a:p>
          <a:p>
            <a:pPr lvl="1" eaLnBrk="1" hangingPunct="1"/>
            <a:r>
              <a:rPr kumimoji="1" lang="zh-CN" altLang="en-US" sz="2000" smtClean="0"/>
              <a:t>模式</a:t>
            </a:r>
            <a:endParaRPr kumimoji="1" lang="zh-CN" altLang="en-US" sz="2000" smtClean="0"/>
          </a:p>
          <a:p>
            <a:pPr lvl="2" eaLnBrk="1" hangingPunct="1">
              <a:buFont typeface="Arial" panose="020B0604020202020204" pitchFamily="34" charset="0"/>
              <a:buChar char="•"/>
            </a:pPr>
            <a:r>
              <a:rPr kumimoji="1" lang="en-US" altLang="zh-CN" sz="1800" smtClean="0">
                <a:solidFill>
                  <a:srgbClr val="FF3300"/>
                </a:solidFill>
                <a:ea typeface="黑体" panose="02010609060101010101" pitchFamily="49" charset="-122"/>
              </a:rPr>
              <a:t>Context</a:t>
            </a:r>
            <a:r>
              <a:rPr kumimoji="1" lang="zh-CN" altLang="en-US" sz="1800" smtClean="0">
                <a:ea typeface="黑体" panose="02010609060101010101" pitchFamily="49" charset="-122"/>
              </a:rPr>
              <a:t>（模式可适用的前提条件）</a:t>
            </a:r>
            <a:endParaRPr kumimoji="1" lang="zh-CN" altLang="en-US" sz="1800" smtClean="0">
              <a:ea typeface="黑体" panose="02010609060101010101" pitchFamily="49" charset="-122"/>
            </a:endParaRPr>
          </a:p>
          <a:p>
            <a:pPr lvl="2" eaLnBrk="1" hangingPunct="1">
              <a:buFont typeface="Arial" panose="020B0604020202020204" pitchFamily="34" charset="0"/>
              <a:buChar char="•"/>
            </a:pPr>
            <a:r>
              <a:rPr kumimoji="1" lang="en-US" altLang="zh-CN" sz="1800" smtClean="0">
                <a:solidFill>
                  <a:srgbClr val="FF3300"/>
                </a:solidFill>
                <a:ea typeface="黑体" panose="02010609060101010101" pitchFamily="49" charset="-122"/>
              </a:rPr>
              <a:t>Theme</a:t>
            </a:r>
            <a:r>
              <a:rPr kumimoji="1" lang="zh-CN" altLang="en-US" sz="1800" smtClean="0">
                <a:solidFill>
                  <a:srgbClr val="FF3300"/>
                </a:solidFill>
                <a:ea typeface="黑体" panose="02010609060101010101" pitchFamily="49" charset="-122"/>
              </a:rPr>
              <a:t>或</a:t>
            </a:r>
            <a:r>
              <a:rPr kumimoji="1" lang="en-US" altLang="zh-CN" sz="1800" smtClean="0">
                <a:solidFill>
                  <a:srgbClr val="FF3300"/>
                </a:solidFill>
                <a:ea typeface="黑体" panose="02010609060101010101" pitchFamily="49" charset="-122"/>
              </a:rPr>
              <a:t>Problem</a:t>
            </a:r>
            <a:r>
              <a:rPr kumimoji="1" lang="zh-CN" altLang="en-US" sz="1800" smtClean="0">
                <a:ea typeface="黑体" panose="02010609060101010101" pitchFamily="49" charset="-122"/>
              </a:rPr>
              <a:t>（在特定条件下要解决的目标问题）</a:t>
            </a:r>
            <a:endParaRPr kumimoji="1" lang="zh-CN" altLang="en-US" sz="1800" smtClean="0">
              <a:ea typeface="黑体" panose="02010609060101010101" pitchFamily="49" charset="-122"/>
            </a:endParaRPr>
          </a:p>
          <a:p>
            <a:pPr lvl="2" eaLnBrk="1" hangingPunct="1">
              <a:buFont typeface="Arial" panose="020B0604020202020204" pitchFamily="34" charset="0"/>
              <a:buChar char="•"/>
            </a:pPr>
            <a:r>
              <a:rPr kumimoji="1" lang="en-US" altLang="zh-CN" sz="1800" smtClean="0">
                <a:solidFill>
                  <a:srgbClr val="FF3300"/>
                </a:solidFill>
                <a:ea typeface="黑体" panose="02010609060101010101" pitchFamily="49" charset="-122"/>
              </a:rPr>
              <a:t>Solution</a:t>
            </a:r>
            <a:r>
              <a:rPr kumimoji="1" lang="zh-CN" altLang="en-US" sz="1800" smtClean="0">
                <a:ea typeface="黑体" panose="02010609060101010101" pitchFamily="49" charset="-122"/>
              </a:rPr>
              <a:t>（对目标问题求解过程中各种物理关系的记述）</a:t>
            </a:r>
            <a:endParaRPr kumimoji="1" lang="zh-CN" altLang="en-US" sz="1800" smtClean="0">
              <a:ea typeface="黑体" panose="02010609060101010101" pitchFamily="49"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838200" y="914400"/>
            <a:ext cx="5334000" cy="685800"/>
          </a:xfrm>
        </p:spPr>
        <p:txBody>
          <a:bodyPr>
            <a:normAutofit fontScale="90000"/>
          </a:bodyPr>
          <a:lstStyle/>
          <a:p>
            <a:pPr eaLnBrk="1" hangingPunct="1"/>
            <a:r>
              <a:rPr lang="zh-CN" altLang="en-US" smtClean="0"/>
              <a:t>设计模式的诞生与发展</a:t>
            </a:r>
            <a:endParaRPr lang="zh-CN" altLang="en-US" smtClean="0"/>
          </a:p>
        </p:txBody>
      </p:sp>
      <p:sp>
        <p:nvSpPr>
          <p:cNvPr id="7172" name="Text Box 7"/>
          <p:cNvSpPr txBox="1">
            <a:spLocks noChangeArrowheads="1"/>
          </p:cNvSpPr>
          <p:nvPr/>
        </p:nvSpPr>
        <p:spPr bwMode="auto">
          <a:xfrm>
            <a:off x="5810250" y="5715000"/>
            <a:ext cx="2647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3300"/>
                </a:solidFill>
              </a:rPr>
              <a:t>Christopher Alexander</a:t>
            </a:r>
            <a:endParaRPr lang="en-US" altLang="zh-CN" b="1">
              <a:solidFill>
                <a:srgbClr val="FF3300"/>
              </a:solidFill>
            </a:endParaRPr>
          </a:p>
        </p:txBody>
      </p:sp>
      <p:pic>
        <p:nvPicPr>
          <p:cNvPr id="7173" name="Picture 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96000" y="762000"/>
            <a:ext cx="2482850" cy="174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8988" y="2914650"/>
            <a:ext cx="2360612" cy="280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5" name="Picture 9" descr="8890396-1_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95600" y="3068128"/>
            <a:ext cx="2133600" cy="309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6"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1693353"/>
            <a:ext cx="2231748"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838200" y="914400"/>
            <a:ext cx="6019800" cy="685800"/>
          </a:xfrm>
        </p:spPr>
        <p:txBody>
          <a:bodyPr>
            <a:normAutofit fontScale="90000"/>
          </a:bodyPr>
          <a:lstStyle/>
          <a:p>
            <a:pPr eaLnBrk="1" hangingPunct="1"/>
            <a:r>
              <a:rPr lang="zh-CN" altLang="en-US" smtClean="0"/>
              <a:t>设计模式的诞生与发展</a:t>
            </a:r>
            <a:endParaRPr lang="zh-CN" altLang="en-US" smtClean="0"/>
          </a:p>
        </p:txBody>
      </p:sp>
      <p:sp>
        <p:nvSpPr>
          <p:cNvPr id="8195" name="Rectangle 3"/>
          <p:cNvSpPr>
            <a:spLocks noGrp="1" noChangeArrowheads="1"/>
          </p:cNvSpPr>
          <p:nvPr>
            <p:ph idx="1"/>
          </p:nvPr>
        </p:nvSpPr>
        <p:spPr/>
        <p:txBody>
          <a:bodyPr/>
          <a:lstStyle/>
          <a:p>
            <a:pPr algn="just">
              <a:lnSpc>
                <a:spcPts val="4000"/>
              </a:lnSpc>
              <a:buClr>
                <a:srgbClr val="0000FF"/>
              </a:buClr>
              <a:buSzPct val="90000"/>
              <a:buFont typeface="Wingdings" panose="05000000000000000000" pitchFamily="2" charset="2"/>
              <a:buNone/>
            </a:pPr>
            <a:endParaRPr kumimoji="1" lang="en-US" altLang="zh-CN" smtClean="0">
              <a:solidFill>
                <a:schemeClr val="tx1"/>
              </a:solidFill>
            </a:endParaRPr>
          </a:p>
          <a:p>
            <a:pPr eaLnBrk="1" hangingPunct="1"/>
            <a:endParaRPr kumimoji="1" lang="en-US" altLang="zh-CN" smtClean="0">
              <a:solidFill>
                <a:schemeClr val="tx1"/>
              </a:solidFill>
            </a:endParaRPr>
          </a:p>
        </p:txBody>
      </p:sp>
      <p:sp>
        <p:nvSpPr>
          <p:cNvPr id="8196" name="Rectangle 8"/>
          <p:cNvSpPr>
            <a:spLocks noChangeArrowheads="1"/>
          </p:cNvSpPr>
          <p:nvPr/>
        </p:nvSpPr>
        <p:spPr bwMode="auto">
          <a:xfrm>
            <a:off x="533400" y="1905000"/>
            <a:ext cx="7848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20000"/>
              </a:spcBef>
              <a:buClr>
                <a:srgbClr val="FF3300"/>
              </a:buClr>
              <a:buFont typeface="Wingdings" panose="05000000000000000000" pitchFamily="2" charset="2"/>
              <a:buChar char="w"/>
            </a:pPr>
            <a:r>
              <a:rPr kumimoji="1" lang="zh-CN" altLang="en-US" sz="2400">
                <a:solidFill>
                  <a:srgbClr val="080808"/>
                </a:solidFill>
                <a:latin typeface="Tahoma" panose="020B0604030504040204" pitchFamily="34" charset="0"/>
                <a:ea typeface="隶书" panose="02010509060101010101" pitchFamily="49" charset="-122"/>
              </a:rPr>
              <a:t>模式的诞生与定义 </a:t>
            </a:r>
            <a:endParaRPr kumimoji="1" lang="zh-CN" altLang="en-US" sz="2400">
              <a:solidFill>
                <a:srgbClr val="080808"/>
              </a:solidFill>
              <a:latin typeface="Tahoma" panose="020B0604030504040204" pitchFamily="34" charset="0"/>
              <a:ea typeface="隶书" panose="02010509060101010101" pitchFamily="49" charset="-122"/>
            </a:endParaRPr>
          </a:p>
          <a:p>
            <a:pPr lvl="1" eaLnBrk="1" hangingPunct="1">
              <a:lnSpc>
                <a:spcPct val="110000"/>
              </a:lnSpc>
              <a:spcBef>
                <a:spcPct val="20000"/>
              </a:spcBef>
              <a:buClr>
                <a:srgbClr val="0000FF"/>
              </a:buClr>
              <a:buFont typeface="Wingdings" panose="05000000000000000000" pitchFamily="2" charset="2"/>
              <a:buChar char="ü"/>
            </a:pPr>
            <a:r>
              <a:rPr kumimoji="1" lang="en-US" altLang="zh-CN" sz="2000" b="1">
                <a:solidFill>
                  <a:srgbClr val="333333"/>
                </a:solidFill>
                <a:latin typeface="Tahoma" panose="020B0604030504040204" pitchFamily="34" charset="0"/>
                <a:ea typeface="楷体_GB2312" pitchFamily="49" charset="-122"/>
              </a:rPr>
              <a:t>Alexander</a:t>
            </a:r>
            <a:r>
              <a:rPr kumimoji="1" lang="zh-CN" altLang="en-US" sz="2000" b="1">
                <a:solidFill>
                  <a:srgbClr val="333333"/>
                </a:solidFill>
                <a:latin typeface="Tahoma" panose="020B0604030504040204" pitchFamily="34" charset="0"/>
                <a:ea typeface="楷体_GB2312" pitchFamily="49" charset="-122"/>
              </a:rPr>
              <a:t>给出了关于模式的经典定义：每个模式都描述了一个</a:t>
            </a:r>
            <a:r>
              <a:rPr kumimoji="1" lang="zh-CN" altLang="en-US" sz="2000" b="1">
                <a:solidFill>
                  <a:srgbClr val="FF3300"/>
                </a:solidFill>
                <a:latin typeface="Tahoma" panose="020B0604030504040204" pitchFamily="34" charset="0"/>
                <a:ea typeface="楷体_GB2312" pitchFamily="49" charset="-122"/>
              </a:rPr>
              <a:t>在我们的环境中不断出现的问题</a:t>
            </a:r>
            <a:r>
              <a:rPr kumimoji="1" lang="zh-CN" altLang="en-US" sz="2000" b="1">
                <a:solidFill>
                  <a:srgbClr val="333333"/>
                </a:solidFill>
                <a:latin typeface="Tahoma" panose="020B0604030504040204" pitchFamily="34" charset="0"/>
                <a:ea typeface="楷体_GB2312" pitchFamily="49" charset="-122"/>
              </a:rPr>
              <a:t>，然后描述了该问题的</a:t>
            </a:r>
            <a:r>
              <a:rPr kumimoji="1" lang="zh-CN" altLang="en-US" sz="2000" b="1">
                <a:solidFill>
                  <a:srgbClr val="FF3300"/>
                </a:solidFill>
                <a:latin typeface="Tahoma" panose="020B0604030504040204" pitchFamily="34" charset="0"/>
                <a:ea typeface="楷体_GB2312" pitchFamily="49" charset="-122"/>
              </a:rPr>
              <a:t>解决方案</a:t>
            </a:r>
            <a:r>
              <a:rPr kumimoji="1" lang="zh-CN" altLang="en-US" sz="2000" b="1">
                <a:solidFill>
                  <a:srgbClr val="333333"/>
                </a:solidFill>
                <a:latin typeface="Tahoma" panose="020B0604030504040204" pitchFamily="34" charset="0"/>
                <a:ea typeface="楷体_GB2312" pitchFamily="49" charset="-122"/>
              </a:rPr>
              <a:t>的核心，通过这种方式，我们可以无数次地重用那些已有的解决方案，无需再重复相同的工作。 </a:t>
            </a:r>
            <a:endParaRPr kumimoji="1" lang="zh-CN" altLang="en-US" sz="2000" b="1">
              <a:solidFill>
                <a:srgbClr val="333333"/>
              </a:solidFill>
              <a:latin typeface="Tahoma" panose="020B0604030504040204" pitchFamily="34" charset="0"/>
              <a:ea typeface="楷体_GB2312" pitchFamily="49" charset="-122"/>
            </a:endParaRPr>
          </a:p>
          <a:p>
            <a:pPr lvl="1" eaLnBrk="1" hangingPunct="1">
              <a:lnSpc>
                <a:spcPct val="110000"/>
              </a:lnSpc>
              <a:spcBef>
                <a:spcPct val="20000"/>
              </a:spcBef>
              <a:buClr>
                <a:srgbClr val="0000FF"/>
              </a:buClr>
              <a:buFont typeface="Wingdings" panose="05000000000000000000" pitchFamily="2" charset="2"/>
              <a:buChar char="ü"/>
            </a:pPr>
            <a:r>
              <a:rPr kumimoji="1" lang="en-US" altLang="zh-CN" sz="2000" b="1">
                <a:solidFill>
                  <a:srgbClr val="333333"/>
                </a:solidFill>
                <a:latin typeface="Tahoma" panose="020B0604030504040204" pitchFamily="34" charset="0"/>
                <a:ea typeface="楷体_GB2312" pitchFamily="49" charset="-122"/>
              </a:rPr>
              <a:t>A pattern is a </a:t>
            </a:r>
            <a:r>
              <a:rPr kumimoji="1" lang="en-US" altLang="zh-CN" sz="2000" b="1">
                <a:solidFill>
                  <a:srgbClr val="FF3300"/>
                </a:solidFill>
                <a:latin typeface="Tahoma" panose="020B0604030504040204" pitchFamily="34" charset="0"/>
                <a:ea typeface="楷体_GB2312" pitchFamily="49" charset="-122"/>
              </a:rPr>
              <a:t>solution</a:t>
            </a:r>
            <a:r>
              <a:rPr kumimoji="1" lang="en-US" altLang="zh-CN" sz="2000" b="1">
                <a:solidFill>
                  <a:srgbClr val="333333"/>
                </a:solidFill>
                <a:latin typeface="Tahoma" panose="020B0604030504040204" pitchFamily="34" charset="0"/>
                <a:ea typeface="楷体_GB2312" pitchFamily="49" charset="-122"/>
              </a:rPr>
              <a:t> to a </a:t>
            </a:r>
            <a:r>
              <a:rPr kumimoji="1" lang="en-US" altLang="zh-CN" sz="2000" b="1">
                <a:solidFill>
                  <a:srgbClr val="FF3300"/>
                </a:solidFill>
                <a:latin typeface="Tahoma" panose="020B0604030504040204" pitchFamily="34" charset="0"/>
                <a:ea typeface="楷体_GB2312" pitchFamily="49" charset="-122"/>
              </a:rPr>
              <a:t>problem</a:t>
            </a:r>
            <a:r>
              <a:rPr kumimoji="1" lang="en-US" altLang="zh-CN" sz="2000" b="1">
                <a:solidFill>
                  <a:srgbClr val="333333"/>
                </a:solidFill>
                <a:latin typeface="Tahoma" panose="020B0604030504040204" pitchFamily="34" charset="0"/>
                <a:ea typeface="楷体_GB2312" pitchFamily="49" charset="-122"/>
              </a:rPr>
              <a:t> in a </a:t>
            </a:r>
            <a:r>
              <a:rPr kumimoji="1" lang="en-US" altLang="zh-CN" sz="2000" b="1">
                <a:solidFill>
                  <a:srgbClr val="FF3300"/>
                </a:solidFill>
                <a:latin typeface="Tahoma" panose="020B0604030504040204" pitchFamily="34" charset="0"/>
                <a:ea typeface="楷体_GB2312" pitchFamily="49" charset="-122"/>
              </a:rPr>
              <a:t>context</a:t>
            </a:r>
            <a:r>
              <a:rPr kumimoji="1" lang="en-US" altLang="zh-CN" sz="2000" b="1">
                <a:solidFill>
                  <a:srgbClr val="333333"/>
                </a:solidFill>
                <a:latin typeface="Tahoma" panose="020B0604030504040204" pitchFamily="34" charset="0"/>
                <a:ea typeface="楷体_GB2312" pitchFamily="49" charset="-122"/>
              </a:rPr>
              <a:t> </a:t>
            </a:r>
            <a:endParaRPr kumimoji="1" lang="en-US" altLang="zh-CN" sz="2000" b="1">
              <a:solidFill>
                <a:srgbClr val="333333"/>
              </a:solidFill>
              <a:latin typeface="Tahoma" panose="020B0604030504040204" pitchFamily="34" charset="0"/>
              <a:ea typeface="楷体_GB2312" pitchFamily="49" charset="-122"/>
            </a:endParaRPr>
          </a:p>
          <a:p>
            <a:pPr lvl="1" eaLnBrk="1" hangingPunct="1">
              <a:lnSpc>
                <a:spcPct val="110000"/>
              </a:lnSpc>
              <a:spcBef>
                <a:spcPct val="20000"/>
              </a:spcBef>
              <a:buClr>
                <a:srgbClr val="0000FF"/>
              </a:buClr>
              <a:buFont typeface="Wingdings" panose="05000000000000000000" pitchFamily="2" charset="2"/>
              <a:buChar char="ü"/>
            </a:pPr>
            <a:r>
              <a:rPr kumimoji="1" lang="zh-CN" altLang="en-US" sz="2000" b="1">
                <a:solidFill>
                  <a:srgbClr val="333333"/>
                </a:solidFill>
                <a:latin typeface="Tahoma" panose="020B0604030504040204" pitchFamily="34" charset="0"/>
                <a:ea typeface="楷体_GB2312" pitchFamily="49" charset="-122"/>
              </a:rPr>
              <a:t>模式是在</a:t>
            </a:r>
            <a:r>
              <a:rPr kumimoji="1" lang="zh-CN" altLang="en-US" sz="2000" b="1">
                <a:solidFill>
                  <a:srgbClr val="FF3300"/>
                </a:solidFill>
                <a:latin typeface="Tahoma" panose="020B0604030504040204" pitchFamily="34" charset="0"/>
                <a:ea typeface="楷体_GB2312" pitchFamily="49" charset="-122"/>
              </a:rPr>
              <a:t>特定环境</a:t>
            </a:r>
            <a:r>
              <a:rPr kumimoji="1" lang="zh-CN" altLang="en-US" sz="2000" b="1">
                <a:solidFill>
                  <a:srgbClr val="333333"/>
                </a:solidFill>
                <a:latin typeface="Tahoma" panose="020B0604030504040204" pitchFamily="34" charset="0"/>
                <a:ea typeface="楷体_GB2312" pitchFamily="49" charset="-122"/>
              </a:rPr>
              <a:t>中</a:t>
            </a:r>
            <a:r>
              <a:rPr kumimoji="1" lang="zh-CN" altLang="en-US" sz="2000" b="1">
                <a:solidFill>
                  <a:srgbClr val="FF3300"/>
                </a:solidFill>
                <a:latin typeface="Tahoma" panose="020B0604030504040204" pitchFamily="34" charset="0"/>
                <a:ea typeface="楷体_GB2312" pitchFamily="49" charset="-122"/>
              </a:rPr>
              <a:t>解决问题</a:t>
            </a:r>
            <a:r>
              <a:rPr kumimoji="1" lang="zh-CN" altLang="en-US" sz="2000" b="1">
                <a:solidFill>
                  <a:srgbClr val="333333"/>
                </a:solidFill>
                <a:latin typeface="Tahoma" panose="020B0604030504040204" pitchFamily="34" charset="0"/>
                <a:ea typeface="楷体_GB2312" pitchFamily="49" charset="-122"/>
              </a:rPr>
              <a:t>的一种</a:t>
            </a:r>
            <a:r>
              <a:rPr kumimoji="1" lang="zh-CN" altLang="en-US" sz="2000" b="1">
                <a:solidFill>
                  <a:srgbClr val="FF3300"/>
                </a:solidFill>
                <a:latin typeface="Tahoma" panose="020B0604030504040204" pitchFamily="34" charset="0"/>
                <a:ea typeface="楷体_GB2312" pitchFamily="49" charset="-122"/>
              </a:rPr>
              <a:t>方案 </a:t>
            </a:r>
            <a:endParaRPr kumimoji="1" lang="zh-CN" altLang="en-US" sz="2000" b="1">
              <a:solidFill>
                <a:srgbClr val="FF3300"/>
              </a:solidFill>
              <a:latin typeface="Tahoma" panose="020B0604030504040204" pitchFamily="34" charset="0"/>
              <a:ea typeface="楷体_GB2312" pitchFamily="49" charset="-12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838200" y="914400"/>
            <a:ext cx="6096000" cy="685800"/>
          </a:xfrm>
        </p:spPr>
        <p:txBody>
          <a:bodyPr>
            <a:normAutofit fontScale="90000"/>
          </a:bodyPr>
          <a:lstStyle/>
          <a:p>
            <a:pPr eaLnBrk="1" hangingPunct="1"/>
            <a:r>
              <a:rPr lang="zh-CN" altLang="en-US" smtClean="0"/>
              <a:t>设计模式的诞生与发展</a:t>
            </a:r>
            <a:endParaRPr lang="zh-CN" altLang="en-US" smtClean="0"/>
          </a:p>
        </p:txBody>
      </p:sp>
      <p:sp>
        <p:nvSpPr>
          <p:cNvPr id="9219" name="Rectangle 3"/>
          <p:cNvSpPr>
            <a:spLocks noGrp="1" noChangeArrowheads="1"/>
          </p:cNvSpPr>
          <p:nvPr>
            <p:ph idx="1"/>
          </p:nvPr>
        </p:nvSpPr>
        <p:spPr/>
        <p:txBody>
          <a:bodyPr/>
          <a:lstStyle/>
          <a:p>
            <a:pPr algn="just">
              <a:lnSpc>
                <a:spcPts val="4000"/>
              </a:lnSpc>
              <a:buClr>
                <a:srgbClr val="0000FF"/>
              </a:buClr>
              <a:buSzPct val="90000"/>
              <a:buFont typeface="Wingdings" panose="05000000000000000000" pitchFamily="2" charset="2"/>
              <a:buNone/>
            </a:pPr>
            <a:endParaRPr kumimoji="1" lang="en-US" altLang="zh-CN" smtClean="0">
              <a:solidFill>
                <a:schemeClr val="tx1"/>
              </a:solidFill>
            </a:endParaRPr>
          </a:p>
          <a:p>
            <a:pPr eaLnBrk="1" hangingPunct="1"/>
            <a:endParaRPr kumimoji="1" lang="en-US" altLang="zh-CN" smtClean="0">
              <a:solidFill>
                <a:schemeClr val="tx1"/>
              </a:solidFill>
            </a:endParaRPr>
          </a:p>
        </p:txBody>
      </p:sp>
      <p:sp>
        <p:nvSpPr>
          <p:cNvPr id="9220" name="Rectangle 4"/>
          <p:cNvSpPr>
            <a:spLocks noChangeArrowheads="1"/>
          </p:cNvSpPr>
          <p:nvPr/>
        </p:nvSpPr>
        <p:spPr bwMode="auto">
          <a:xfrm>
            <a:off x="533400" y="1905000"/>
            <a:ext cx="7848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20000"/>
              </a:spcBef>
              <a:buClr>
                <a:srgbClr val="FF3300"/>
              </a:buClr>
              <a:buFont typeface="Wingdings" panose="05000000000000000000" pitchFamily="2" charset="2"/>
              <a:buChar char="w"/>
            </a:pPr>
            <a:r>
              <a:rPr kumimoji="1" lang="zh-CN" altLang="en-US" sz="2800">
                <a:solidFill>
                  <a:srgbClr val="080808"/>
                </a:solidFill>
                <a:latin typeface="Tahoma" panose="020B0604030504040204" pitchFamily="34" charset="0"/>
                <a:ea typeface="隶书" panose="02010509060101010101" pitchFamily="49" charset="-122"/>
              </a:rPr>
              <a:t>软件模式 </a:t>
            </a:r>
            <a:endParaRPr kumimoji="1" lang="zh-CN" altLang="en-US" sz="2800">
              <a:solidFill>
                <a:srgbClr val="080808"/>
              </a:solidFill>
              <a:latin typeface="Tahoma" panose="020B0604030504040204" pitchFamily="34" charset="0"/>
              <a:ea typeface="隶书" panose="02010509060101010101" pitchFamily="49" charset="-122"/>
            </a:endParaRPr>
          </a:p>
          <a:p>
            <a:pPr lvl="1" eaLnBrk="1" hangingPunct="1">
              <a:lnSpc>
                <a:spcPct val="110000"/>
              </a:lnSpc>
              <a:spcBef>
                <a:spcPct val="20000"/>
              </a:spcBef>
              <a:buClr>
                <a:srgbClr val="0000FF"/>
              </a:buClr>
              <a:buFont typeface="Wingdings" panose="05000000000000000000" pitchFamily="2" charset="2"/>
              <a:buChar char="ü"/>
            </a:pPr>
            <a:r>
              <a:rPr kumimoji="1" lang="en-US" altLang="zh-CN" sz="2200" b="1">
                <a:solidFill>
                  <a:srgbClr val="333333"/>
                </a:solidFill>
                <a:latin typeface="Tahoma" panose="020B0604030504040204" pitchFamily="34" charset="0"/>
                <a:ea typeface="楷体_GB2312" pitchFamily="49" charset="-122"/>
              </a:rPr>
              <a:t>1990</a:t>
            </a:r>
            <a:r>
              <a:rPr kumimoji="1" lang="zh-CN" altLang="en-US" sz="2200" b="1">
                <a:solidFill>
                  <a:srgbClr val="333333"/>
                </a:solidFill>
                <a:latin typeface="Tahoma" panose="020B0604030504040204" pitchFamily="34" charset="0"/>
                <a:ea typeface="楷体_GB2312" pitchFamily="49" charset="-122"/>
              </a:rPr>
              <a:t>年，软件工程界开始关注</a:t>
            </a:r>
            <a:r>
              <a:rPr kumimoji="1" lang="en-US" altLang="zh-CN" sz="2200" b="1">
                <a:solidFill>
                  <a:srgbClr val="333333"/>
                </a:solidFill>
                <a:latin typeface="Tahoma" panose="020B0604030504040204" pitchFamily="34" charset="0"/>
                <a:ea typeface="楷体_GB2312" pitchFamily="49" charset="-122"/>
              </a:rPr>
              <a:t>Christopher Alexander</a:t>
            </a:r>
            <a:r>
              <a:rPr kumimoji="1" lang="zh-CN" altLang="en-US" sz="2200" b="1">
                <a:solidFill>
                  <a:srgbClr val="333333"/>
                </a:solidFill>
                <a:latin typeface="Tahoma" panose="020B0604030504040204" pitchFamily="34" charset="0"/>
                <a:ea typeface="楷体_GB2312" pitchFamily="49" charset="-122"/>
              </a:rPr>
              <a:t>等在这一住宅、公共建筑与城市规划领域的重大突破，最早将该模式的思想引入软件工程方法学的是</a:t>
            </a:r>
            <a:r>
              <a:rPr kumimoji="1" lang="en-US" altLang="zh-CN" sz="2200" b="1">
                <a:solidFill>
                  <a:srgbClr val="333333"/>
                </a:solidFill>
                <a:latin typeface="Tahoma" panose="020B0604030504040204" pitchFamily="34" charset="0"/>
                <a:ea typeface="楷体_GB2312" pitchFamily="49" charset="-122"/>
              </a:rPr>
              <a:t>1991-1992</a:t>
            </a:r>
            <a:r>
              <a:rPr kumimoji="1" lang="zh-CN" altLang="en-US" sz="2200" b="1">
                <a:solidFill>
                  <a:srgbClr val="333333"/>
                </a:solidFill>
                <a:latin typeface="Tahoma" panose="020B0604030504040204" pitchFamily="34" charset="0"/>
                <a:ea typeface="楷体_GB2312" pitchFamily="49" charset="-122"/>
              </a:rPr>
              <a:t>年以“四人组</a:t>
            </a:r>
            <a:r>
              <a:rPr kumimoji="1" lang="en-US" altLang="zh-CN" sz="2200" b="1">
                <a:solidFill>
                  <a:srgbClr val="333333"/>
                </a:solidFill>
                <a:latin typeface="Tahoma" panose="020B0604030504040204" pitchFamily="34" charset="0"/>
                <a:ea typeface="楷体_GB2312" pitchFamily="49" charset="-122"/>
              </a:rPr>
              <a:t>(</a:t>
            </a:r>
            <a:r>
              <a:rPr kumimoji="1" lang="en-US" altLang="zh-CN" sz="2200" b="1">
                <a:solidFill>
                  <a:srgbClr val="FF3300"/>
                </a:solidFill>
                <a:latin typeface="Tahoma" panose="020B0604030504040204" pitchFamily="34" charset="0"/>
                <a:ea typeface="楷体_GB2312" pitchFamily="49" charset="-122"/>
              </a:rPr>
              <a:t>Gang of Four</a:t>
            </a:r>
            <a:r>
              <a:rPr kumimoji="1" lang="zh-CN" altLang="en-US" sz="2200" b="1">
                <a:solidFill>
                  <a:srgbClr val="FF3300"/>
                </a:solidFill>
                <a:latin typeface="Tahoma" panose="020B0604030504040204" pitchFamily="34" charset="0"/>
                <a:ea typeface="楷体_GB2312" pitchFamily="49" charset="-122"/>
              </a:rPr>
              <a:t>，</a:t>
            </a:r>
            <a:r>
              <a:rPr kumimoji="1" lang="en-US" altLang="zh-CN" sz="2200" b="1">
                <a:solidFill>
                  <a:srgbClr val="FF3300"/>
                </a:solidFill>
                <a:latin typeface="Tahoma" panose="020B0604030504040204" pitchFamily="34" charset="0"/>
                <a:ea typeface="楷体_GB2312" pitchFamily="49" charset="-122"/>
              </a:rPr>
              <a:t>GoF</a:t>
            </a:r>
            <a:r>
              <a:rPr kumimoji="1" lang="zh-CN" altLang="en-US" sz="2200" b="1">
                <a:solidFill>
                  <a:srgbClr val="FF3300"/>
                </a:solidFill>
                <a:latin typeface="Tahoma" panose="020B0604030504040204" pitchFamily="34" charset="0"/>
                <a:ea typeface="楷体_GB2312" pitchFamily="49" charset="-122"/>
              </a:rPr>
              <a:t>，分别是</a:t>
            </a:r>
            <a:r>
              <a:rPr kumimoji="1" lang="en-US" altLang="zh-CN" sz="2200" b="1">
                <a:solidFill>
                  <a:srgbClr val="FF3300"/>
                </a:solidFill>
                <a:latin typeface="Tahoma" panose="020B0604030504040204" pitchFamily="34" charset="0"/>
                <a:ea typeface="楷体_GB2312" pitchFamily="49" charset="-122"/>
              </a:rPr>
              <a:t>Erich Gamma, Richard Helm, Ralph Johnson</a:t>
            </a:r>
            <a:r>
              <a:rPr kumimoji="1" lang="zh-CN" altLang="en-US" sz="2200" b="1">
                <a:solidFill>
                  <a:srgbClr val="FF3300"/>
                </a:solidFill>
                <a:latin typeface="Tahoma" panose="020B0604030504040204" pitchFamily="34" charset="0"/>
                <a:ea typeface="楷体_GB2312" pitchFamily="49" charset="-122"/>
              </a:rPr>
              <a:t>和</a:t>
            </a:r>
            <a:r>
              <a:rPr kumimoji="1" lang="en-US" altLang="zh-CN" sz="2200" b="1">
                <a:solidFill>
                  <a:srgbClr val="FF3300"/>
                </a:solidFill>
                <a:latin typeface="Tahoma" panose="020B0604030504040204" pitchFamily="34" charset="0"/>
                <a:ea typeface="楷体_GB2312" pitchFamily="49" charset="-122"/>
              </a:rPr>
              <a:t>John Vlissides</a:t>
            </a:r>
            <a:r>
              <a:rPr kumimoji="1" lang="en-US" altLang="zh-CN" sz="2200" b="1">
                <a:solidFill>
                  <a:srgbClr val="333333"/>
                </a:solidFill>
                <a:latin typeface="Tahoma" panose="020B0604030504040204" pitchFamily="34" charset="0"/>
                <a:ea typeface="楷体_GB2312" pitchFamily="49" charset="-122"/>
              </a:rPr>
              <a:t>)”</a:t>
            </a:r>
            <a:r>
              <a:rPr kumimoji="1" lang="zh-CN" altLang="en-US" sz="2200" b="1">
                <a:solidFill>
                  <a:srgbClr val="333333"/>
                </a:solidFill>
                <a:latin typeface="Tahoma" panose="020B0604030504040204" pitchFamily="34" charset="0"/>
                <a:ea typeface="楷体_GB2312" pitchFamily="49" charset="-122"/>
              </a:rPr>
              <a:t>自称的四位著名软件工程学者，他们在</a:t>
            </a:r>
            <a:r>
              <a:rPr kumimoji="1" lang="en-US" altLang="zh-CN" sz="2200" b="1">
                <a:solidFill>
                  <a:srgbClr val="333333"/>
                </a:solidFill>
                <a:latin typeface="Tahoma" panose="020B0604030504040204" pitchFamily="34" charset="0"/>
                <a:ea typeface="楷体_GB2312" pitchFamily="49" charset="-122"/>
              </a:rPr>
              <a:t>1994</a:t>
            </a:r>
            <a:r>
              <a:rPr kumimoji="1" lang="zh-CN" altLang="en-US" sz="2200" b="1">
                <a:solidFill>
                  <a:srgbClr val="333333"/>
                </a:solidFill>
                <a:latin typeface="Tahoma" panose="020B0604030504040204" pitchFamily="34" charset="0"/>
                <a:ea typeface="楷体_GB2312" pitchFamily="49" charset="-122"/>
              </a:rPr>
              <a:t>年归纳发表了</a:t>
            </a:r>
            <a:r>
              <a:rPr kumimoji="1" lang="en-US" altLang="zh-CN" sz="2200" b="1">
                <a:solidFill>
                  <a:srgbClr val="333333"/>
                </a:solidFill>
                <a:latin typeface="Tahoma" panose="020B0604030504040204" pitchFamily="34" charset="0"/>
                <a:ea typeface="楷体_GB2312" pitchFamily="49" charset="-122"/>
              </a:rPr>
              <a:t>23</a:t>
            </a:r>
            <a:r>
              <a:rPr kumimoji="1" lang="zh-CN" altLang="en-US" sz="2200" b="1">
                <a:solidFill>
                  <a:srgbClr val="333333"/>
                </a:solidFill>
                <a:latin typeface="Tahoma" panose="020B0604030504040204" pitchFamily="34" charset="0"/>
                <a:ea typeface="楷体_GB2312" pitchFamily="49" charset="-122"/>
              </a:rPr>
              <a:t>种在软件开发中使用频率较高的设计模式，旨在</a:t>
            </a:r>
            <a:r>
              <a:rPr kumimoji="1" lang="zh-CN" altLang="en-US" sz="2200" b="1">
                <a:solidFill>
                  <a:srgbClr val="FF3300"/>
                </a:solidFill>
                <a:latin typeface="Tahoma" panose="020B0604030504040204" pitchFamily="34" charset="0"/>
                <a:ea typeface="楷体_GB2312" pitchFamily="49" charset="-122"/>
              </a:rPr>
              <a:t>用模式来统一沟通面向对象方法在分析、设计和实现间的鸿沟</a:t>
            </a:r>
            <a:r>
              <a:rPr kumimoji="1" lang="zh-CN" altLang="en-US" sz="2200" b="1">
                <a:solidFill>
                  <a:srgbClr val="333333"/>
                </a:solidFill>
                <a:latin typeface="Tahoma" panose="020B0604030504040204" pitchFamily="34" charset="0"/>
                <a:ea typeface="楷体_GB2312" pitchFamily="49" charset="-122"/>
              </a:rPr>
              <a:t>。</a:t>
            </a:r>
            <a:endParaRPr kumimoji="1" lang="zh-CN" altLang="en-US" sz="2200" b="1">
              <a:solidFill>
                <a:srgbClr val="333333"/>
              </a:solidFill>
              <a:latin typeface="Tahoma" panose="020B0604030504040204" pitchFamily="34" charset="0"/>
              <a:ea typeface="楷体_GB2312" pitchFamily="49" charset="-122"/>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838200" y="914400"/>
            <a:ext cx="5943600" cy="685800"/>
          </a:xfrm>
        </p:spPr>
        <p:txBody>
          <a:bodyPr>
            <a:normAutofit fontScale="90000"/>
          </a:bodyPr>
          <a:lstStyle/>
          <a:p>
            <a:pPr eaLnBrk="1" hangingPunct="1"/>
            <a:r>
              <a:rPr lang="zh-CN" altLang="en-US" smtClean="0"/>
              <a:t>设计模式的诞生与发展</a:t>
            </a:r>
            <a:endParaRPr lang="zh-CN" altLang="en-US" smtClean="0"/>
          </a:p>
        </p:txBody>
      </p:sp>
      <p:sp>
        <p:nvSpPr>
          <p:cNvPr id="10243" name="Rectangle 3"/>
          <p:cNvSpPr>
            <a:spLocks noGrp="1" noChangeArrowheads="1"/>
          </p:cNvSpPr>
          <p:nvPr>
            <p:ph idx="1"/>
          </p:nvPr>
        </p:nvSpPr>
        <p:spPr/>
        <p:txBody>
          <a:bodyPr/>
          <a:lstStyle/>
          <a:p>
            <a:pPr algn="just">
              <a:lnSpc>
                <a:spcPts val="4000"/>
              </a:lnSpc>
              <a:buClr>
                <a:srgbClr val="0000FF"/>
              </a:buClr>
              <a:buSzPct val="90000"/>
              <a:buFont typeface="Wingdings" panose="05000000000000000000" pitchFamily="2" charset="2"/>
              <a:buNone/>
            </a:pPr>
            <a:endParaRPr kumimoji="1" lang="en-US" altLang="zh-CN" smtClean="0">
              <a:solidFill>
                <a:schemeClr val="tx1"/>
              </a:solidFill>
            </a:endParaRPr>
          </a:p>
          <a:p>
            <a:pPr eaLnBrk="1" hangingPunct="1"/>
            <a:endParaRPr kumimoji="1" lang="en-US" altLang="zh-CN" smtClean="0">
              <a:solidFill>
                <a:schemeClr val="tx1"/>
              </a:solidFill>
            </a:endParaRPr>
          </a:p>
        </p:txBody>
      </p:sp>
      <p:sp>
        <p:nvSpPr>
          <p:cNvPr id="10244" name="Rectangle 4"/>
          <p:cNvSpPr>
            <a:spLocks noChangeArrowheads="1"/>
          </p:cNvSpPr>
          <p:nvPr/>
        </p:nvSpPr>
        <p:spPr bwMode="auto">
          <a:xfrm>
            <a:off x="533400" y="1905000"/>
            <a:ext cx="83820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20000"/>
              </a:spcBef>
              <a:buClr>
                <a:srgbClr val="FF3300"/>
              </a:buClr>
              <a:buFont typeface="Wingdings" panose="05000000000000000000" pitchFamily="2" charset="2"/>
              <a:buChar char="w"/>
            </a:pPr>
            <a:endParaRPr kumimoji="1" lang="zh-CN" altLang="zh-CN" sz="2400">
              <a:solidFill>
                <a:srgbClr val="080808"/>
              </a:solidFill>
              <a:latin typeface="Tahoma" panose="020B0604030504040204" pitchFamily="34" charset="0"/>
              <a:ea typeface="隶书" panose="02010509060101010101" pitchFamily="49" charset="-122"/>
            </a:endParaRPr>
          </a:p>
        </p:txBody>
      </p:sp>
      <p:pic>
        <p:nvPicPr>
          <p:cNvPr id="10245"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43000" y="1755775"/>
            <a:ext cx="5094288" cy="472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4152" name="Text Box 8"/>
          <p:cNvSpPr txBox="1">
            <a:spLocks noChangeArrowheads="1"/>
          </p:cNvSpPr>
          <p:nvPr/>
        </p:nvSpPr>
        <p:spPr bwMode="auto">
          <a:xfrm>
            <a:off x="6400800" y="3200400"/>
            <a:ext cx="1716088" cy="1066800"/>
          </a:xfrm>
          <a:prstGeom prst="rect">
            <a:avLst/>
          </a:prstGeom>
          <a:noFill/>
          <a:ln w="9525">
            <a:noFill/>
            <a:miter lim="800000"/>
          </a:ln>
          <a:effectLst/>
        </p:spPr>
        <p:txBody>
          <a:bodyPr wrap="none">
            <a:spAutoFit/>
          </a:bodyPr>
          <a:lstStyle/>
          <a:p>
            <a:pPr>
              <a:defRPr/>
            </a:pPr>
            <a:r>
              <a:rPr lang="en-US" altLang="zh-CN" sz="3200" b="1">
                <a:solidFill>
                  <a:srgbClr val="FF3300"/>
                </a:solidFill>
                <a:effectLst>
                  <a:outerShdw blurRad="38100" dist="38100" dir="2700000" algn="tl">
                    <a:srgbClr val="C0C0C0"/>
                  </a:outerShdw>
                </a:effectLst>
                <a:latin typeface="Arial" panose="020B0604020202020204" pitchFamily="34" charset="0"/>
              </a:rPr>
              <a:t>Gang of</a:t>
            </a:r>
            <a:endParaRPr lang="en-US" altLang="zh-CN" sz="3200" b="1">
              <a:solidFill>
                <a:srgbClr val="FF3300"/>
              </a:solidFill>
              <a:effectLst>
                <a:outerShdw blurRad="38100" dist="38100" dir="2700000" algn="tl">
                  <a:srgbClr val="C0C0C0"/>
                </a:outerShdw>
              </a:effectLst>
              <a:latin typeface="Arial" panose="020B0604020202020204" pitchFamily="34" charset="0"/>
            </a:endParaRPr>
          </a:p>
          <a:p>
            <a:pPr>
              <a:defRPr/>
            </a:pPr>
            <a:r>
              <a:rPr lang="en-US" altLang="zh-CN" sz="3200" b="1">
                <a:solidFill>
                  <a:srgbClr val="FF3300"/>
                </a:solidFill>
                <a:effectLst>
                  <a:outerShdw blurRad="38100" dist="38100" dir="2700000" algn="tl">
                    <a:srgbClr val="C0C0C0"/>
                  </a:outerShdw>
                </a:effectLst>
                <a:latin typeface="Arial" panose="020B0604020202020204" pitchFamily="34" charset="0"/>
              </a:rPr>
              <a:t>Four</a:t>
            </a:r>
            <a:endParaRPr lang="en-US" altLang="zh-CN" sz="3200" b="1">
              <a:solidFill>
                <a:srgbClr val="FF3300"/>
              </a:solidFill>
              <a:effectLst>
                <a:outerShdw blurRad="38100" dist="38100" dir="2700000" algn="tl">
                  <a:srgbClr val="C0C0C0"/>
                </a:outerShdw>
              </a:effectLst>
              <a:latin typeface="Arial" panose="020B0604020202020204"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838200" y="914400"/>
            <a:ext cx="6172200" cy="685800"/>
          </a:xfrm>
        </p:spPr>
        <p:txBody>
          <a:bodyPr>
            <a:normAutofit fontScale="90000"/>
          </a:bodyPr>
          <a:lstStyle/>
          <a:p>
            <a:pPr eaLnBrk="1" hangingPunct="1"/>
            <a:r>
              <a:rPr lang="zh-CN" altLang="en-US" smtClean="0"/>
              <a:t>设计模式的诞生与发展</a:t>
            </a:r>
            <a:endParaRPr lang="zh-CN" altLang="en-US" smtClean="0"/>
          </a:p>
        </p:txBody>
      </p:sp>
      <p:pic>
        <p:nvPicPr>
          <p:cNvPr id="11267"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38200" y="1600200"/>
            <a:ext cx="1087438"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8" name="Rectangle 6"/>
          <p:cNvSpPr>
            <a:spLocks noChangeArrowheads="1"/>
          </p:cNvSpPr>
          <p:nvPr/>
        </p:nvSpPr>
        <p:spPr bwMode="auto">
          <a:xfrm>
            <a:off x="2133600" y="2333625"/>
            <a:ext cx="18192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a:solidFill>
                  <a:srgbClr val="FF3300"/>
                </a:solidFill>
              </a:rPr>
              <a:t>Erich Gamma</a:t>
            </a:r>
            <a:endParaRPr lang="en-US" altLang="zh-CN" sz="2000" b="1">
              <a:solidFill>
                <a:srgbClr val="FF3300"/>
              </a:solidFill>
            </a:endParaRPr>
          </a:p>
        </p:txBody>
      </p:sp>
      <p:sp>
        <p:nvSpPr>
          <p:cNvPr id="11269" name="Rectangle 8"/>
          <p:cNvSpPr>
            <a:spLocks noChangeArrowheads="1"/>
          </p:cNvSpPr>
          <p:nvPr/>
        </p:nvSpPr>
        <p:spPr bwMode="auto">
          <a:xfrm>
            <a:off x="4343400" y="2082800"/>
            <a:ext cx="4495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080808"/>
                </a:solidFill>
              </a:rPr>
              <a:t>苏黎世大学计算机科学博士，是</a:t>
            </a:r>
            <a:r>
              <a:rPr lang="en-US" altLang="zh-CN">
                <a:solidFill>
                  <a:srgbClr val="080808"/>
                </a:solidFill>
              </a:rPr>
              <a:t>Eclipse</a:t>
            </a:r>
            <a:r>
              <a:rPr lang="zh-CN" altLang="en-US">
                <a:solidFill>
                  <a:srgbClr val="080808"/>
                </a:solidFill>
              </a:rPr>
              <a:t>、 </a:t>
            </a:r>
            <a:r>
              <a:rPr lang="en-US" altLang="zh-CN">
                <a:solidFill>
                  <a:srgbClr val="080808"/>
                </a:solidFill>
              </a:rPr>
              <a:t>JUnit </a:t>
            </a:r>
            <a:r>
              <a:rPr lang="zh-CN" altLang="en-US">
                <a:solidFill>
                  <a:srgbClr val="080808"/>
                </a:solidFill>
              </a:rPr>
              <a:t>等项目主要技术负责人之一。</a:t>
            </a:r>
            <a:endParaRPr lang="zh-CN" altLang="en-US">
              <a:solidFill>
                <a:srgbClr val="080808"/>
              </a:solidFill>
            </a:endParaRPr>
          </a:p>
        </p:txBody>
      </p:sp>
      <p:pic>
        <p:nvPicPr>
          <p:cNvPr id="11270"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5245100"/>
            <a:ext cx="1066800" cy="115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1083" name="Rectangle 11"/>
          <p:cNvSpPr>
            <a:spLocks noChangeArrowheads="1"/>
          </p:cNvSpPr>
          <p:nvPr/>
        </p:nvSpPr>
        <p:spPr bwMode="auto">
          <a:xfrm>
            <a:off x="2101850" y="5424488"/>
            <a:ext cx="1784350" cy="366712"/>
          </a:xfrm>
          <a:prstGeom prst="rect">
            <a:avLst/>
          </a:prstGeom>
        </p:spPr>
        <p:style>
          <a:lnRef idx="2">
            <a:schemeClr val="dk1"/>
          </a:lnRef>
          <a:fillRef idx="1">
            <a:schemeClr val="lt1"/>
          </a:fillRef>
          <a:effectRef idx="0">
            <a:schemeClr val="dk1"/>
          </a:effectRef>
          <a:fontRef idx="minor">
            <a:schemeClr val="dk1"/>
          </a:fontRef>
        </p:style>
        <p:txBody>
          <a:bodyPr wrap="none">
            <a:spAutoFit/>
          </a:bodyPr>
          <a:lstStyle/>
          <a:p>
            <a:pPr>
              <a:defRPr/>
            </a:pPr>
            <a:r>
              <a:rPr lang="en-US" altLang="zh-CN" b="1" dirty="0">
                <a:solidFill>
                  <a:srgbClr val="FF3300"/>
                </a:solidFill>
              </a:rPr>
              <a:t>John </a:t>
            </a:r>
            <a:r>
              <a:rPr lang="en-US" altLang="zh-CN" b="1" dirty="0" err="1">
                <a:solidFill>
                  <a:srgbClr val="FF3300"/>
                </a:solidFill>
              </a:rPr>
              <a:t>Vlissides</a:t>
            </a:r>
            <a:endParaRPr lang="en-US" altLang="zh-CN" b="1" dirty="0">
              <a:solidFill>
                <a:srgbClr val="FF3300"/>
              </a:solidFill>
            </a:endParaRPr>
          </a:p>
        </p:txBody>
      </p:sp>
      <p:sp>
        <p:nvSpPr>
          <p:cNvPr id="11272" name="Rectangle 12"/>
          <p:cNvSpPr>
            <a:spLocks noChangeArrowheads="1"/>
          </p:cNvSpPr>
          <p:nvPr/>
        </p:nvSpPr>
        <p:spPr bwMode="auto">
          <a:xfrm>
            <a:off x="4286250" y="5105400"/>
            <a:ext cx="44767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080808"/>
                </a:solidFill>
              </a:rPr>
              <a:t>斯坦福大学计算机科学博士，</a:t>
            </a:r>
            <a:endParaRPr lang="zh-CN" altLang="en-US">
              <a:solidFill>
                <a:srgbClr val="080808"/>
              </a:solidFill>
            </a:endParaRPr>
          </a:p>
          <a:p>
            <a:pPr eaLnBrk="1" hangingPunct="1"/>
            <a:r>
              <a:rPr lang="zh-CN" altLang="en-US">
                <a:solidFill>
                  <a:srgbClr val="080808"/>
                </a:solidFill>
              </a:rPr>
              <a:t>原</a:t>
            </a:r>
            <a:r>
              <a:rPr lang="en-US" altLang="zh-CN">
                <a:solidFill>
                  <a:srgbClr val="080808"/>
                </a:solidFill>
              </a:rPr>
              <a:t>IBM</a:t>
            </a:r>
            <a:r>
              <a:rPr lang="zh-CN" altLang="en-US">
                <a:solidFill>
                  <a:srgbClr val="080808"/>
                </a:solidFill>
              </a:rPr>
              <a:t>研究员，</a:t>
            </a:r>
            <a:r>
              <a:rPr lang="zh-CN" altLang="en-US"/>
              <a:t>于</a:t>
            </a:r>
            <a:r>
              <a:rPr lang="en-US" altLang="zh-CN"/>
              <a:t>2005</a:t>
            </a:r>
            <a:r>
              <a:rPr lang="zh-CN" altLang="en-US"/>
              <a:t>年</a:t>
            </a:r>
            <a:r>
              <a:rPr lang="en-US" altLang="zh-CN"/>
              <a:t>11</a:t>
            </a:r>
            <a:r>
              <a:rPr lang="zh-CN" altLang="en-US"/>
              <a:t>月</a:t>
            </a:r>
            <a:r>
              <a:rPr lang="en-US" altLang="zh-CN"/>
              <a:t>24</a:t>
            </a:r>
            <a:r>
              <a:rPr lang="zh-CN" altLang="en-US"/>
              <a:t>日因脑瘤去世，享年</a:t>
            </a:r>
            <a:r>
              <a:rPr lang="en-US" altLang="zh-CN"/>
              <a:t>44</a:t>
            </a:r>
            <a:r>
              <a:rPr lang="zh-CN" altLang="en-US"/>
              <a:t>岁。</a:t>
            </a:r>
            <a:endParaRPr lang="zh-CN" altLang="en-US"/>
          </a:p>
        </p:txBody>
      </p:sp>
      <p:pic>
        <p:nvPicPr>
          <p:cNvPr id="11273"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6300" y="3124200"/>
            <a:ext cx="10287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4" name="Rectangle 14"/>
          <p:cNvSpPr>
            <a:spLocks noChangeArrowheads="1"/>
          </p:cNvSpPr>
          <p:nvPr/>
        </p:nvSpPr>
        <p:spPr bwMode="auto">
          <a:xfrm>
            <a:off x="2152650" y="4510088"/>
            <a:ext cx="1898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3300"/>
                </a:solidFill>
              </a:rPr>
              <a:t>Ralph Johnson</a:t>
            </a:r>
            <a:r>
              <a:rPr lang="en-US" altLang="zh-CN">
                <a:solidFill>
                  <a:srgbClr val="FF3300"/>
                </a:solidFill>
              </a:rPr>
              <a:t> </a:t>
            </a:r>
            <a:endParaRPr lang="en-US" altLang="zh-CN">
              <a:solidFill>
                <a:srgbClr val="FF3300"/>
              </a:solidFill>
            </a:endParaRPr>
          </a:p>
        </p:txBody>
      </p:sp>
      <p:sp>
        <p:nvSpPr>
          <p:cNvPr id="11275" name="Rectangle 15"/>
          <p:cNvSpPr>
            <a:spLocks noChangeArrowheads="1"/>
          </p:cNvSpPr>
          <p:nvPr/>
        </p:nvSpPr>
        <p:spPr bwMode="auto">
          <a:xfrm>
            <a:off x="4343400" y="3163888"/>
            <a:ext cx="4419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t>墨尔本大学计算机科学博士，原</a:t>
            </a:r>
            <a:r>
              <a:rPr lang="en-US" altLang="zh-CN"/>
              <a:t>IBM </a:t>
            </a:r>
            <a:r>
              <a:rPr lang="zh-CN" altLang="en-US"/>
              <a:t>研究员，现在波士顿顾问集团供职。</a:t>
            </a:r>
            <a:endParaRPr lang="zh-CN" altLang="en-US"/>
          </a:p>
        </p:txBody>
      </p:sp>
      <p:pic>
        <p:nvPicPr>
          <p:cNvPr id="11276" name="Picture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5500" y="4152900"/>
            <a:ext cx="1079500"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7" name="Rectangle 17"/>
          <p:cNvSpPr>
            <a:spLocks noChangeArrowheads="1"/>
          </p:cNvSpPr>
          <p:nvPr/>
        </p:nvSpPr>
        <p:spPr bwMode="auto">
          <a:xfrm>
            <a:off x="2133600" y="3352800"/>
            <a:ext cx="165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3300"/>
                </a:solidFill>
              </a:rPr>
              <a:t>Richard Helm</a:t>
            </a:r>
            <a:endParaRPr lang="en-US" altLang="zh-CN" b="1">
              <a:solidFill>
                <a:srgbClr val="FF3300"/>
              </a:solidFill>
            </a:endParaRPr>
          </a:p>
        </p:txBody>
      </p:sp>
      <p:sp>
        <p:nvSpPr>
          <p:cNvPr id="11278" name="Rectangle 18"/>
          <p:cNvSpPr>
            <a:spLocks noChangeArrowheads="1"/>
          </p:cNvSpPr>
          <p:nvPr/>
        </p:nvSpPr>
        <p:spPr bwMode="auto">
          <a:xfrm>
            <a:off x="4343400" y="4114800"/>
            <a:ext cx="31559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t>康奈尔大学计算机科学博士，</a:t>
            </a:r>
            <a:endParaRPr lang="zh-CN" altLang="en-US"/>
          </a:p>
          <a:p>
            <a:pPr eaLnBrk="1" hangingPunct="1"/>
            <a:r>
              <a:rPr lang="zh-CN" altLang="en-US"/>
              <a:t>伊利诺伊大学教授。</a:t>
            </a:r>
            <a:endParaRPr lang="zh-CN" altLang="en-US"/>
          </a:p>
        </p:txBody>
      </p:sp>
      <p:sp>
        <p:nvSpPr>
          <p:cNvPr id="131091" name="Text Box 19"/>
          <p:cNvSpPr txBox="1">
            <a:spLocks noChangeArrowheads="1"/>
          </p:cNvSpPr>
          <p:nvPr/>
        </p:nvSpPr>
        <p:spPr bwMode="auto">
          <a:xfrm>
            <a:off x="5655798" y="1477484"/>
            <a:ext cx="2971800" cy="579437"/>
          </a:xfrm>
          <a:prstGeom prst="rect">
            <a:avLst/>
          </a:prstGeom>
          <a:noFill/>
          <a:ln w="9525">
            <a:noFill/>
            <a:miter lim="800000"/>
          </a:ln>
          <a:effectLst/>
        </p:spPr>
        <p:txBody>
          <a:bodyPr>
            <a:spAutoFit/>
          </a:bodyPr>
          <a:lstStyle/>
          <a:p>
            <a:pPr>
              <a:defRPr/>
            </a:pPr>
            <a:r>
              <a:rPr lang="en-US" altLang="zh-CN" sz="3200" b="1">
                <a:solidFill>
                  <a:srgbClr val="FF3300"/>
                </a:solidFill>
                <a:effectLst>
                  <a:outerShdw blurRad="38100" dist="38100" dir="2700000" algn="tl">
                    <a:srgbClr val="C0C0C0"/>
                  </a:outerShdw>
                </a:effectLst>
                <a:latin typeface="Arial" panose="020B0604020202020204" pitchFamily="34" charset="0"/>
              </a:rPr>
              <a:t>Gang of Four</a:t>
            </a:r>
            <a:endParaRPr lang="en-US" altLang="zh-CN" sz="3200" b="1">
              <a:solidFill>
                <a:srgbClr val="FF3300"/>
              </a:solidFill>
              <a:effectLst>
                <a:outerShdw blurRad="38100" dist="38100" dir="2700000" algn="tl">
                  <a:srgbClr val="C0C0C0"/>
                </a:outerShdw>
              </a:effectLst>
              <a:latin typeface="Arial" panose="020B0604020202020204"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838200" y="914400"/>
            <a:ext cx="5943600" cy="685800"/>
          </a:xfrm>
        </p:spPr>
        <p:txBody>
          <a:bodyPr>
            <a:normAutofit fontScale="90000"/>
          </a:bodyPr>
          <a:lstStyle/>
          <a:p>
            <a:pPr eaLnBrk="1" hangingPunct="1"/>
            <a:r>
              <a:rPr lang="zh-CN" altLang="en-US" smtClean="0"/>
              <a:t>设计模式的诞生与发展</a:t>
            </a:r>
            <a:endParaRPr lang="zh-CN" altLang="en-US" smtClean="0"/>
          </a:p>
        </p:txBody>
      </p:sp>
      <p:sp>
        <p:nvSpPr>
          <p:cNvPr id="12291" name="Rectangle 3"/>
          <p:cNvSpPr>
            <a:spLocks noGrp="1" noChangeArrowheads="1"/>
          </p:cNvSpPr>
          <p:nvPr>
            <p:ph idx="1"/>
          </p:nvPr>
        </p:nvSpPr>
        <p:spPr/>
        <p:txBody>
          <a:bodyPr>
            <a:normAutofit fontScale="92500" lnSpcReduction="10000"/>
          </a:bodyPr>
          <a:lstStyle/>
          <a:p>
            <a:pPr eaLnBrk="1" hangingPunct="1"/>
            <a:r>
              <a:rPr kumimoji="1" lang="zh-CN" altLang="en-US" sz="2800" smtClean="0"/>
              <a:t>软件模式 </a:t>
            </a:r>
            <a:endParaRPr lang="zh-CN" altLang="en-US" sz="2800" smtClean="0"/>
          </a:p>
          <a:p>
            <a:pPr lvl="1" eaLnBrk="1" hangingPunct="1"/>
            <a:r>
              <a:rPr lang="zh-CN" altLang="en-US" sz="2000" smtClean="0"/>
              <a:t>软件模式是将模式的一般概念应用于软件开发领域，即</a:t>
            </a:r>
            <a:r>
              <a:rPr lang="zh-CN" altLang="en-US" sz="2000" smtClean="0">
                <a:solidFill>
                  <a:srgbClr val="FF3300"/>
                </a:solidFill>
              </a:rPr>
              <a:t>软件开发的总体指导思路或参照样板</a:t>
            </a:r>
            <a:r>
              <a:rPr lang="zh-CN" altLang="en-US" sz="2000" smtClean="0"/>
              <a:t>。软件模式并非仅限于设计模式，还包括架构模式、分析模式和过程模式等，实际上，</a:t>
            </a:r>
            <a:r>
              <a:rPr lang="zh-CN" altLang="en-US" sz="2000" smtClean="0">
                <a:solidFill>
                  <a:srgbClr val="FF3300"/>
                </a:solidFill>
              </a:rPr>
              <a:t>在软件生存期的每一个阶段都存在着一些被认同的模式</a:t>
            </a:r>
            <a:r>
              <a:rPr lang="zh-CN" altLang="en-US" sz="2000" smtClean="0"/>
              <a:t>。 </a:t>
            </a:r>
            <a:endParaRPr lang="zh-CN" altLang="en-US" sz="2000" smtClean="0"/>
          </a:p>
          <a:p>
            <a:pPr lvl="1" eaLnBrk="1" hangingPunct="1"/>
            <a:r>
              <a:rPr lang="zh-CN" altLang="en-US" sz="2000" smtClean="0"/>
              <a:t>软件模式可以认为是</a:t>
            </a:r>
            <a:r>
              <a:rPr lang="zh-CN" altLang="en-US" sz="2000" smtClean="0">
                <a:solidFill>
                  <a:srgbClr val="FF3300"/>
                </a:solidFill>
              </a:rPr>
              <a:t>对软件开发这一特定“问题”的“解法”的某种统一表示</a:t>
            </a:r>
            <a:r>
              <a:rPr lang="zh-CN" altLang="en-US" sz="2000" smtClean="0"/>
              <a:t>，它和</a:t>
            </a:r>
            <a:r>
              <a:rPr lang="en-US" altLang="zh-CN" sz="2000" smtClean="0"/>
              <a:t>Alexander</a:t>
            </a:r>
            <a:r>
              <a:rPr lang="zh-CN" altLang="en-US" sz="2000" smtClean="0"/>
              <a:t>所描述的模式定义完全相同，即</a:t>
            </a:r>
            <a:r>
              <a:rPr lang="zh-CN" altLang="en-US" sz="2000" smtClean="0">
                <a:solidFill>
                  <a:srgbClr val="FF3300"/>
                </a:solidFill>
              </a:rPr>
              <a:t>软件模式等于一定条件下的出现的问题以及解法</a:t>
            </a:r>
            <a:r>
              <a:rPr lang="zh-CN" altLang="en-US" sz="2000" smtClean="0"/>
              <a:t>。软件模式的基础结构由</a:t>
            </a:r>
            <a:r>
              <a:rPr lang="en-US" altLang="zh-CN" sz="2000" smtClean="0"/>
              <a:t>4</a:t>
            </a:r>
            <a:r>
              <a:rPr lang="zh-CN" altLang="en-US" sz="2000" smtClean="0"/>
              <a:t>个部分构成：</a:t>
            </a:r>
            <a:r>
              <a:rPr lang="zh-CN" altLang="en-US" sz="2000" smtClean="0">
                <a:solidFill>
                  <a:srgbClr val="FF3300"/>
                </a:solidFill>
              </a:rPr>
              <a:t>问题描述</a:t>
            </a:r>
            <a:r>
              <a:rPr lang="zh-CN" altLang="en-US" sz="2000" smtClean="0"/>
              <a:t>、</a:t>
            </a:r>
            <a:r>
              <a:rPr lang="zh-CN" altLang="en-US" sz="2000" smtClean="0">
                <a:solidFill>
                  <a:srgbClr val="FF3300"/>
                </a:solidFill>
              </a:rPr>
              <a:t>前提条件（环境或约束条件）、解法</a:t>
            </a:r>
            <a:r>
              <a:rPr lang="zh-CN" altLang="en-US" sz="2000" smtClean="0"/>
              <a:t>和</a:t>
            </a:r>
            <a:r>
              <a:rPr lang="zh-CN" altLang="en-US" sz="2000" smtClean="0">
                <a:solidFill>
                  <a:srgbClr val="FF3300"/>
                </a:solidFill>
              </a:rPr>
              <a:t>效果</a:t>
            </a:r>
            <a:r>
              <a:rPr lang="zh-CN" altLang="en-US" sz="2000" smtClean="0"/>
              <a:t>。 </a:t>
            </a:r>
            <a:endParaRPr lang="zh-CN" altLang="en-US" sz="2000"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a:xfrm>
            <a:off x="838200" y="914400"/>
            <a:ext cx="5562600" cy="685800"/>
          </a:xfrm>
        </p:spPr>
        <p:txBody>
          <a:bodyPr>
            <a:normAutofit fontScale="90000"/>
          </a:bodyPr>
          <a:lstStyle/>
          <a:p>
            <a:pPr eaLnBrk="1" hangingPunct="1"/>
            <a:r>
              <a:rPr lang="zh-CN" altLang="en-US" smtClean="0"/>
              <a:t>设计模式的诞生与发展</a:t>
            </a:r>
            <a:endParaRPr lang="zh-CN" altLang="en-US" smtClean="0"/>
          </a:p>
        </p:txBody>
      </p:sp>
      <p:sp>
        <p:nvSpPr>
          <p:cNvPr id="1028" name="Rectangle 20"/>
          <p:cNvSpPr>
            <a:spLocks noGrp="1" noChangeArrowheads="1"/>
          </p:cNvSpPr>
          <p:nvPr>
            <p:ph idx="1"/>
          </p:nvPr>
        </p:nvSpPr>
        <p:spPr/>
        <p:txBody>
          <a:bodyPr/>
          <a:lstStyle/>
          <a:p>
            <a:pPr eaLnBrk="1" hangingPunct="1"/>
            <a:r>
              <a:rPr kumimoji="1" lang="zh-CN" altLang="en-US" smtClean="0"/>
              <a:t>软件模式</a:t>
            </a:r>
            <a:endParaRPr kumimoji="1" lang="zh-CN" altLang="en-US" smtClean="0"/>
          </a:p>
        </p:txBody>
      </p:sp>
      <p:sp>
        <p:nvSpPr>
          <p:cNvPr id="1029" name="Rectangle 22"/>
          <p:cNvSpPr>
            <a:spLocks noChangeArrowheads="1"/>
          </p:cNvSpPr>
          <p:nvPr/>
        </p:nvSpPr>
        <p:spPr bwMode="auto">
          <a:xfrm>
            <a:off x="0" y="19573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026" name="Object 21"/>
          <p:cNvGraphicFramePr>
            <a:graphicFrameLocks noChangeAspect="1"/>
          </p:cNvGraphicFramePr>
          <p:nvPr/>
        </p:nvGraphicFramePr>
        <p:xfrm>
          <a:off x="1176865" y="1752600"/>
          <a:ext cx="6591300" cy="4277515"/>
        </p:xfrm>
        <a:graphic>
          <a:graphicData uri="http://schemas.openxmlformats.org/presentationml/2006/ole">
            <mc:AlternateContent xmlns:mc="http://schemas.openxmlformats.org/markup-compatibility/2006">
              <mc:Choice xmlns:v="urn:schemas-microsoft-com:vml" Requires="v">
                <p:oleObj spid="_x0000_s1032" name="Visio" r:id="rId1" imgW="6562090" imgH="4258310" progId="Visio.Drawing.11">
                  <p:embed/>
                </p:oleObj>
              </mc:Choice>
              <mc:Fallback>
                <p:oleObj name="Visio" r:id="rId1" imgW="6562090" imgH="4258310" progId="Visio.Drawing.11">
                  <p:embed/>
                  <p:pic>
                    <p:nvPicPr>
                      <p:cNvPr id="0" name="Object 2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6865" y="1752600"/>
                        <a:ext cx="6591300" cy="4277515"/>
                      </a:xfrm>
                      <a:prstGeom prst="rect">
                        <a:avLst/>
                      </a:prstGeom>
                      <a:noFill/>
                    </p:spPr>
                  </p:pic>
                </p:oleObj>
              </mc:Fallback>
            </mc:AlternateContent>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838200" y="914400"/>
            <a:ext cx="5562600" cy="685800"/>
          </a:xfrm>
        </p:spPr>
        <p:txBody>
          <a:bodyPr>
            <a:normAutofit fontScale="90000"/>
          </a:bodyPr>
          <a:lstStyle/>
          <a:p>
            <a:pPr eaLnBrk="1" hangingPunct="1"/>
            <a:r>
              <a:rPr lang="zh-CN" altLang="en-US" smtClean="0"/>
              <a:t>设计模式的诞生与发展</a:t>
            </a:r>
            <a:endParaRPr lang="zh-CN" altLang="en-US" smtClean="0"/>
          </a:p>
        </p:txBody>
      </p:sp>
      <p:sp>
        <p:nvSpPr>
          <p:cNvPr id="13315" name="Rectangle 3"/>
          <p:cNvSpPr>
            <a:spLocks noGrp="1" noChangeArrowheads="1"/>
          </p:cNvSpPr>
          <p:nvPr>
            <p:ph idx="1"/>
          </p:nvPr>
        </p:nvSpPr>
        <p:spPr/>
        <p:txBody>
          <a:bodyPr/>
          <a:lstStyle/>
          <a:p>
            <a:pPr eaLnBrk="1" hangingPunct="1"/>
            <a:r>
              <a:rPr kumimoji="1" lang="zh-CN" altLang="en-US" smtClean="0"/>
              <a:t>软件模式</a:t>
            </a:r>
            <a:endParaRPr kumimoji="1" lang="zh-CN" altLang="en-US" smtClean="0"/>
          </a:p>
          <a:p>
            <a:pPr lvl="1" eaLnBrk="1" hangingPunct="1"/>
            <a:r>
              <a:rPr kumimoji="1" lang="zh-CN" altLang="en-US" smtClean="0"/>
              <a:t>软件模式与具体的应用领域无关，在模式发现过程中需要遵循</a:t>
            </a:r>
            <a:r>
              <a:rPr kumimoji="1" lang="zh-CN" altLang="en-US" smtClean="0">
                <a:solidFill>
                  <a:srgbClr val="FF3300"/>
                </a:solidFill>
              </a:rPr>
              <a:t>大三律</a:t>
            </a:r>
            <a:r>
              <a:rPr kumimoji="1" lang="en-US" altLang="zh-CN" smtClean="0">
                <a:solidFill>
                  <a:srgbClr val="FF3300"/>
                </a:solidFill>
              </a:rPr>
              <a:t>(Rule of Three)</a:t>
            </a:r>
            <a:r>
              <a:rPr kumimoji="1" lang="zh-CN" altLang="en-US" smtClean="0"/>
              <a:t>，即只有经过</a:t>
            </a:r>
            <a:r>
              <a:rPr kumimoji="1" lang="zh-CN" altLang="en-US" smtClean="0">
                <a:solidFill>
                  <a:srgbClr val="FF3300"/>
                </a:solidFill>
              </a:rPr>
              <a:t>三个以上不同类型（或不同领域）的系统</a:t>
            </a:r>
            <a:r>
              <a:rPr kumimoji="1" lang="zh-CN" altLang="en-US" smtClean="0"/>
              <a:t>的校验，一个解决方案才能从候选模式升格为模式。</a:t>
            </a:r>
            <a:endParaRPr kumimoji="1" lang="zh-CN" altLang="en-US" smtClean="0"/>
          </a:p>
        </p:txBody>
      </p:sp>
      <p:sp>
        <p:nvSpPr>
          <p:cNvPr id="13316" name="Rectangle 4"/>
          <p:cNvSpPr>
            <a:spLocks noChangeArrowheads="1"/>
          </p:cNvSpPr>
          <p:nvPr/>
        </p:nvSpPr>
        <p:spPr bwMode="auto">
          <a:xfrm>
            <a:off x="0" y="19573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838200" y="914400"/>
            <a:ext cx="5562600" cy="685800"/>
          </a:xfrm>
        </p:spPr>
        <p:txBody>
          <a:bodyPr>
            <a:normAutofit fontScale="90000"/>
          </a:bodyPr>
          <a:lstStyle/>
          <a:p>
            <a:pPr eaLnBrk="1" hangingPunct="1"/>
            <a:r>
              <a:rPr lang="zh-CN" altLang="en-US" smtClean="0"/>
              <a:t>设计模式的诞生与发展</a:t>
            </a:r>
            <a:endParaRPr lang="zh-CN" altLang="en-US" smtClean="0"/>
          </a:p>
        </p:txBody>
      </p:sp>
      <p:sp>
        <p:nvSpPr>
          <p:cNvPr id="14339" name="Rectangle 3"/>
          <p:cNvSpPr>
            <a:spLocks noGrp="1" noChangeArrowheads="1"/>
          </p:cNvSpPr>
          <p:nvPr>
            <p:ph idx="1"/>
          </p:nvPr>
        </p:nvSpPr>
        <p:spPr>
          <a:xfrm>
            <a:off x="381000" y="1752600"/>
            <a:ext cx="8001000" cy="4648200"/>
          </a:xfrm>
        </p:spPr>
        <p:txBody>
          <a:bodyPr/>
          <a:lstStyle/>
          <a:p>
            <a:pPr eaLnBrk="1" hangingPunct="1">
              <a:lnSpc>
                <a:spcPct val="100000"/>
              </a:lnSpc>
            </a:pPr>
            <a:r>
              <a:rPr kumimoji="1" lang="zh-CN" altLang="en-US" sz="2400" smtClean="0"/>
              <a:t>设计模式的发展 </a:t>
            </a:r>
            <a:endParaRPr kumimoji="1" lang="zh-CN" altLang="en-US" sz="2400" smtClean="0"/>
          </a:p>
          <a:p>
            <a:pPr lvl="1" eaLnBrk="1" hangingPunct="1">
              <a:lnSpc>
                <a:spcPct val="100000"/>
              </a:lnSpc>
            </a:pPr>
            <a:r>
              <a:rPr kumimoji="1" lang="en-US" altLang="zh-CN" sz="1800" smtClean="0">
                <a:solidFill>
                  <a:srgbClr val="FF3300"/>
                </a:solidFill>
              </a:rPr>
              <a:t>1987</a:t>
            </a:r>
            <a:r>
              <a:rPr kumimoji="1" lang="zh-CN" altLang="en-US" sz="1800" smtClean="0">
                <a:solidFill>
                  <a:srgbClr val="FF3300"/>
                </a:solidFill>
              </a:rPr>
              <a:t>年</a:t>
            </a:r>
            <a:r>
              <a:rPr kumimoji="1" lang="zh-CN" altLang="en-US" sz="1800" smtClean="0"/>
              <a:t>，</a:t>
            </a:r>
            <a:r>
              <a:rPr kumimoji="1" lang="en-US" altLang="zh-CN" sz="1800" smtClean="0"/>
              <a:t>Kent Beck</a:t>
            </a:r>
            <a:r>
              <a:rPr kumimoji="1" lang="zh-CN" altLang="en-US" sz="1800" smtClean="0"/>
              <a:t>和</a:t>
            </a:r>
            <a:r>
              <a:rPr kumimoji="1" lang="en-US" altLang="zh-CN" sz="1800" smtClean="0"/>
              <a:t>Ward Cunningham</a:t>
            </a:r>
            <a:r>
              <a:rPr kumimoji="1" lang="zh-CN" altLang="en-US" sz="1800" smtClean="0"/>
              <a:t>借鉴</a:t>
            </a:r>
            <a:r>
              <a:rPr kumimoji="1" lang="en-US" altLang="zh-CN" sz="1800" smtClean="0"/>
              <a:t>Alexander</a:t>
            </a:r>
            <a:r>
              <a:rPr kumimoji="1" lang="zh-CN" altLang="en-US" sz="1800" smtClean="0"/>
              <a:t>的模式思想在程序开发中开始应用一些模式 ，在</a:t>
            </a:r>
            <a:r>
              <a:rPr kumimoji="1" lang="en-US" altLang="zh-CN" sz="1800" smtClean="0"/>
              <a:t>OOPSLA</a:t>
            </a:r>
            <a:r>
              <a:rPr kumimoji="1" lang="zh-CN" altLang="en-US" sz="1800" smtClean="0"/>
              <a:t>会议上发表了他们的成果。</a:t>
            </a:r>
            <a:endParaRPr kumimoji="1" lang="zh-CN" altLang="en-US" sz="1800" smtClean="0"/>
          </a:p>
          <a:p>
            <a:pPr lvl="1" eaLnBrk="1" hangingPunct="1">
              <a:lnSpc>
                <a:spcPct val="100000"/>
              </a:lnSpc>
            </a:pPr>
            <a:r>
              <a:rPr kumimoji="1" lang="en-US" altLang="zh-CN" sz="1800" smtClean="0">
                <a:solidFill>
                  <a:srgbClr val="FF3300"/>
                </a:solidFill>
              </a:rPr>
              <a:t>1990</a:t>
            </a:r>
            <a:r>
              <a:rPr kumimoji="1" lang="zh-CN" altLang="en-US" sz="1800" smtClean="0">
                <a:solidFill>
                  <a:srgbClr val="FF3300"/>
                </a:solidFill>
              </a:rPr>
              <a:t>年</a:t>
            </a:r>
            <a:r>
              <a:rPr kumimoji="1" lang="zh-CN" altLang="en-US" sz="1800" smtClean="0"/>
              <a:t>，</a:t>
            </a:r>
            <a:r>
              <a:rPr kumimoji="1" lang="en-US" altLang="zh-CN" sz="1800" smtClean="0"/>
              <a:t>OOPSLA</a:t>
            </a:r>
            <a:r>
              <a:rPr kumimoji="1" lang="zh-CN" altLang="en-US" sz="1800" smtClean="0"/>
              <a:t>与</a:t>
            </a:r>
            <a:r>
              <a:rPr kumimoji="1" lang="en-US" altLang="zh-CN" sz="1800" smtClean="0"/>
              <a:t>ECOOP</a:t>
            </a:r>
            <a:r>
              <a:rPr kumimoji="1" lang="zh-CN" altLang="en-US" sz="1800" smtClean="0"/>
              <a:t>联合举办，</a:t>
            </a:r>
            <a:r>
              <a:rPr kumimoji="1" lang="en-US" altLang="zh-CN" sz="1800" smtClean="0"/>
              <a:t>Erich Gamma</a:t>
            </a:r>
            <a:r>
              <a:rPr kumimoji="1" lang="zh-CN" altLang="en-US" sz="1800" smtClean="0"/>
              <a:t>和</a:t>
            </a:r>
            <a:r>
              <a:rPr kumimoji="1" lang="en-US" altLang="zh-CN" sz="1800" smtClean="0"/>
              <a:t>Richard Helm</a:t>
            </a:r>
            <a:r>
              <a:rPr kumimoji="1" lang="zh-CN" altLang="en-US" sz="1800" smtClean="0"/>
              <a:t>等人开始讨论有关模式的话题</a:t>
            </a:r>
            <a:r>
              <a:rPr kumimoji="1" lang="en-US" altLang="zh-CN" sz="1800" smtClean="0"/>
              <a:t>(Bruce Anderson</a:t>
            </a:r>
            <a:r>
              <a:rPr kumimoji="1" lang="zh-CN" altLang="en-US" sz="1800" smtClean="0"/>
              <a:t>主持</a:t>
            </a:r>
            <a:r>
              <a:rPr kumimoji="1" lang="en-US" altLang="zh-CN" sz="1800" smtClean="0"/>
              <a:t>)</a:t>
            </a:r>
            <a:r>
              <a:rPr kumimoji="1" lang="zh-CN" altLang="en-US" sz="1800" smtClean="0"/>
              <a:t>，“四人组” 正式成立，并开始着手进行设计模式的分类整理工作。 </a:t>
            </a:r>
            <a:endParaRPr kumimoji="1" lang="zh-CN" altLang="en-US" sz="1800" smtClean="0"/>
          </a:p>
          <a:p>
            <a:pPr lvl="1" eaLnBrk="1" hangingPunct="1">
              <a:lnSpc>
                <a:spcPct val="100000"/>
              </a:lnSpc>
            </a:pPr>
            <a:r>
              <a:rPr kumimoji="1" lang="en-US" altLang="zh-CN" sz="1800" smtClean="0">
                <a:solidFill>
                  <a:srgbClr val="FF3300"/>
                </a:solidFill>
              </a:rPr>
              <a:t>1991 </a:t>
            </a:r>
            <a:r>
              <a:rPr kumimoji="1" lang="zh-CN" altLang="en-US" sz="1800" smtClean="0">
                <a:solidFill>
                  <a:srgbClr val="FF3300"/>
                </a:solidFill>
              </a:rPr>
              <a:t>年</a:t>
            </a:r>
            <a:r>
              <a:rPr kumimoji="1" lang="zh-CN" altLang="en-US" sz="1800" smtClean="0"/>
              <a:t>，</a:t>
            </a:r>
            <a:r>
              <a:rPr kumimoji="1" lang="en-US" altLang="zh-CN" sz="1800" smtClean="0"/>
              <a:t>OOPSLA</a:t>
            </a:r>
            <a:r>
              <a:rPr kumimoji="1" lang="zh-CN" altLang="en-US" sz="1800" smtClean="0"/>
              <a:t>，</a:t>
            </a:r>
            <a:r>
              <a:rPr kumimoji="1" lang="en-US" altLang="zh-CN" sz="1800" smtClean="0"/>
              <a:t>Bruce Anderson</a:t>
            </a:r>
            <a:r>
              <a:rPr kumimoji="1" lang="zh-CN" altLang="en-US" sz="1800" smtClean="0"/>
              <a:t>主持了首次针对设计模式的研讨会 。</a:t>
            </a:r>
            <a:endParaRPr kumimoji="1" lang="zh-CN" altLang="en-US" sz="1800" smtClean="0"/>
          </a:p>
          <a:p>
            <a:pPr lvl="1" eaLnBrk="1" hangingPunct="1">
              <a:lnSpc>
                <a:spcPct val="100000"/>
              </a:lnSpc>
            </a:pPr>
            <a:r>
              <a:rPr kumimoji="1" lang="en-US" altLang="zh-CN" sz="1800" smtClean="0">
                <a:solidFill>
                  <a:srgbClr val="FF3300"/>
                </a:solidFill>
              </a:rPr>
              <a:t>1992 </a:t>
            </a:r>
            <a:r>
              <a:rPr kumimoji="1" lang="zh-CN" altLang="en-US" sz="1800" smtClean="0">
                <a:solidFill>
                  <a:srgbClr val="FF3300"/>
                </a:solidFill>
              </a:rPr>
              <a:t>年</a:t>
            </a:r>
            <a:r>
              <a:rPr kumimoji="1" lang="zh-CN" altLang="en-US" sz="1800" smtClean="0"/>
              <a:t>，</a:t>
            </a:r>
            <a:r>
              <a:rPr kumimoji="1" lang="en-US" altLang="zh-CN" sz="1800" smtClean="0"/>
              <a:t>OOPSLA </a:t>
            </a:r>
            <a:r>
              <a:rPr kumimoji="1" lang="zh-CN" altLang="en-US" sz="1800" smtClean="0"/>
              <a:t>，</a:t>
            </a:r>
            <a:r>
              <a:rPr kumimoji="1" lang="en-US" altLang="zh-CN" sz="1800" smtClean="0"/>
              <a:t>Anderson</a:t>
            </a:r>
            <a:r>
              <a:rPr kumimoji="1" lang="zh-CN" altLang="en-US" sz="1800" smtClean="0"/>
              <a:t>再度主持研讨会，模式已经逐渐成为人们讨论的话题。 </a:t>
            </a:r>
            <a:endParaRPr kumimoji="1" lang="zh-CN" altLang="en-US" sz="1800" smtClean="0"/>
          </a:p>
          <a:p>
            <a:pPr lvl="1" eaLnBrk="1" hangingPunct="1">
              <a:lnSpc>
                <a:spcPct val="100000"/>
              </a:lnSpc>
            </a:pPr>
            <a:r>
              <a:rPr lang="zh-CN" altLang="en-US" sz="1800" smtClean="0">
                <a:solidFill>
                  <a:schemeClr val="tx1"/>
                </a:solidFill>
              </a:rPr>
              <a:t>注</a:t>
            </a:r>
            <a:r>
              <a:rPr lang="en-US" altLang="zh-CN" sz="1800" smtClean="0">
                <a:solidFill>
                  <a:schemeClr val="tx1"/>
                </a:solidFill>
              </a:rPr>
              <a:t>:</a:t>
            </a:r>
            <a:r>
              <a:rPr lang="en-US" altLang="zh-CN" sz="1800" smtClean="0">
                <a:solidFill>
                  <a:srgbClr val="FF3300"/>
                </a:solidFill>
              </a:rPr>
              <a:t> OOPSLA (Object-Oriented Programming, Systems, Languages &amp; Applications</a:t>
            </a:r>
            <a:r>
              <a:rPr lang="zh-CN" altLang="en-US" sz="1800" smtClean="0">
                <a:solidFill>
                  <a:srgbClr val="FF3300"/>
                </a:solidFill>
              </a:rPr>
              <a:t>，</a:t>
            </a:r>
            <a:r>
              <a:rPr kumimoji="1" lang="zh-CN" altLang="en-US" sz="1800" smtClean="0"/>
              <a:t>面向对象编程、系统、语言和应用大会</a:t>
            </a:r>
            <a:r>
              <a:rPr lang="en-US" altLang="zh-CN" sz="1800" smtClean="0">
                <a:solidFill>
                  <a:srgbClr val="FF3300"/>
                </a:solidFill>
              </a:rPr>
              <a:t>)</a:t>
            </a:r>
            <a:r>
              <a:rPr lang="zh-CN" altLang="en-US" sz="1800" smtClean="0">
                <a:solidFill>
                  <a:schemeClr val="tx1"/>
                </a:solidFill>
              </a:rPr>
              <a:t>，编程语言及软件工程国际顶级会议，</a:t>
            </a:r>
            <a:r>
              <a:rPr lang="en-US" altLang="zh-CN" sz="1800" smtClean="0">
                <a:solidFill>
                  <a:schemeClr val="tx1"/>
                </a:solidFill>
              </a:rPr>
              <a:t>2010</a:t>
            </a:r>
            <a:r>
              <a:rPr lang="zh-CN" altLang="en-US" sz="1800" smtClean="0">
                <a:solidFill>
                  <a:schemeClr val="tx1"/>
                </a:solidFill>
              </a:rPr>
              <a:t>年改为</a:t>
            </a:r>
            <a:r>
              <a:rPr lang="en-US" altLang="zh-CN" sz="1800" smtClean="0">
                <a:solidFill>
                  <a:srgbClr val="FF3300"/>
                </a:solidFill>
              </a:rPr>
              <a:t>SPLASH --- Systems, Programming, Languages and Applications: Software for Humanity </a:t>
            </a:r>
            <a:endParaRPr kumimoji="1" lang="en-US" altLang="zh-CN" sz="1800" smtClean="0">
              <a:solidFill>
                <a:srgbClr val="FF3300"/>
              </a:solidFill>
            </a:endParaRPr>
          </a:p>
          <a:p>
            <a:pPr lvl="1" eaLnBrk="1" hangingPunct="1">
              <a:lnSpc>
                <a:spcPct val="100000"/>
              </a:lnSpc>
            </a:pPr>
            <a:endParaRPr kumimoji="1" lang="en-US" altLang="zh-CN" sz="1800" smtClean="0">
              <a:solidFill>
                <a:srgbClr val="FF3300"/>
              </a:solidFill>
            </a:endParaRPr>
          </a:p>
        </p:txBody>
      </p:sp>
      <p:sp>
        <p:nvSpPr>
          <p:cNvPr id="14340" name="Rectangle 4"/>
          <p:cNvSpPr>
            <a:spLocks noChangeArrowheads="1"/>
          </p:cNvSpPr>
          <p:nvPr/>
        </p:nvSpPr>
        <p:spPr bwMode="auto">
          <a:xfrm>
            <a:off x="0" y="19573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838200" y="914400"/>
            <a:ext cx="5562600" cy="685800"/>
          </a:xfrm>
        </p:spPr>
        <p:txBody>
          <a:bodyPr>
            <a:normAutofit fontScale="90000"/>
          </a:bodyPr>
          <a:lstStyle/>
          <a:p>
            <a:pPr eaLnBrk="1" hangingPunct="1"/>
            <a:r>
              <a:rPr lang="zh-CN" altLang="en-US" smtClean="0"/>
              <a:t>设计模式的诞生与发展</a:t>
            </a:r>
            <a:endParaRPr lang="zh-CN" altLang="en-US" smtClean="0"/>
          </a:p>
        </p:txBody>
      </p:sp>
      <p:sp>
        <p:nvSpPr>
          <p:cNvPr id="15363" name="Rectangle 3"/>
          <p:cNvSpPr>
            <a:spLocks noGrp="1" noChangeArrowheads="1"/>
          </p:cNvSpPr>
          <p:nvPr>
            <p:ph idx="1"/>
          </p:nvPr>
        </p:nvSpPr>
        <p:spPr>
          <a:xfrm>
            <a:off x="381000" y="1752600"/>
            <a:ext cx="8077200" cy="4495800"/>
          </a:xfrm>
        </p:spPr>
        <p:txBody>
          <a:bodyPr/>
          <a:lstStyle/>
          <a:p>
            <a:pPr eaLnBrk="1" hangingPunct="1"/>
            <a:r>
              <a:rPr kumimoji="1" lang="zh-CN" altLang="en-US" sz="2800" smtClean="0"/>
              <a:t>设计模式的发展 </a:t>
            </a:r>
            <a:endParaRPr kumimoji="1" lang="zh-CN" altLang="en-US" sz="2800" smtClean="0"/>
          </a:p>
          <a:p>
            <a:pPr lvl="1" eaLnBrk="1" hangingPunct="1"/>
            <a:r>
              <a:rPr kumimoji="1" lang="en-US" altLang="zh-CN" sz="1800" smtClean="0">
                <a:solidFill>
                  <a:srgbClr val="FF3300"/>
                </a:solidFill>
              </a:rPr>
              <a:t>1993</a:t>
            </a:r>
            <a:r>
              <a:rPr kumimoji="1" lang="zh-CN" altLang="en-US" sz="1800" smtClean="0">
                <a:solidFill>
                  <a:srgbClr val="FF3300"/>
                </a:solidFill>
              </a:rPr>
              <a:t>年</a:t>
            </a:r>
            <a:r>
              <a:rPr kumimoji="1" lang="zh-CN" altLang="en-US" sz="1800" smtClean="0"/>
              <a:t>，</a:t>
            </a:r>
            <a:r>
              <a:rPr kumimoji="1" lang="en-US" altLang="zh-CN" sz="1800" smtClean="0"/>
              <a:t>Kent Beck </a:t>
            </a:r>
            <a:r>
              <a:rPr kumimoji="1" lang="zh-CN" altLang="en-US" sz="1800" smtClean="0"/>
              <a:t>和 </a:t>
            </a:r>
            <a:r>
              <a:rPr kumimoji="1" lang="en-US" altLang="zh-CN" sz="1800" smtClean="0"/>
              <a:t>Grady Booch </a:t>
            </a:r>
            <a:r>
              <a:rPr kumimoji="1" lang="zh-CN" altLang="en-US" sz="1800" smtClean="0"/>
              <a:t>赞助了第一次关于设计模式的会议，这个设计模式研究组织发展成为著名的</a:t>
            </a:r>
            <a:r>
              <a:rPr kumimoji="1" lang="en-US" altLang="zh-CN" sz="1800" smtClean="0"/>
              <a:t>Hillside Group</a:t>
            </a:r>
            <a:r>
              <a:rPr kumimoji="1" lang="zh-CN" altLang="en-US" sz="1800" smtClean="0"/>
              <a:t>研究组。</a:t>
            </a:r>
            <a:endParaRPr kumimoji="1" lang="zh-CN" altLang="en-US" sz="1800" smtClean="0"/>
          </a:p>
          <a:p>
            <a:pPr lvl="1" eaLnBrk="1" hangingPunct="1"/>
            <a:r>
              <a:rPr kumimoji="1" lang="en-US" altLang="zh-CN" sz="1800" smtClean="0">
                <a:solidFill>
                  <a:srgbClr val="FF3300"/>
                </a:solidFill>
              </a:rPr>
              <a:t>1994 </a:t>
            </a:r>
            <a:r>
              <a:rPr kumimoji="1" lang="zh-CN" altLang="en-US" sz="1800" smtClean="0">
                <a:solidFill>
                  <a:srgbClr val="FF3300"/>
                </a:solidFill>
              </a:rPr>
              <a:t>年</a:t>
            </a:r>
            <a:r>
              <a:rPr kumimoji="1" lang="zh-CN" altLang="en-US" sz="1800" smtClean="0"/>
              <a:t>，由</a:t>
            </a:r>
            <a:r>
              <a:rPr kumimoji="1" lang="en-US" altLang="zh-CN" sz="1800" smtClean="0"/>
              <a:t>Hillside Group</a:t>
            </a:r>
            <a:r>
              <a:rPr kumimoji="1" lang="zh-CN" altLang="en-US" sz="1800" smtClean="0"/>
              <a:t>发起，在美国伊利诺伊州</a:t>
            </a:r>
            <a:r>
              <a:rPr kumimoji="1" lang="en-US" altLang="zh-CN" sz="1800" smtClean="0"/>
              <a:t>(Illinois)</a:t>
            </a:r>
            <a:r>
              <a:rPr kumimoji="1" lang="zh-CN" altLang="en-US" sz="1800" smtClean="0"/>
              <a:t>的</a:t>
            </a:r>
            <a:r>
              <a:rPr kumimoji="1" lang="en-US" altLang="zh-CN" sz="1800" smtClean="0"/>
              <a:t>Allerton Park</a:t>
            </a:r>
            <a:r>
              <a:rPr kumimoji="1" lang="zh-CN" altLang="en-US" sz="1800" smtClean="0"/>
              <a:t>召开了第</a:t>
            </a:r>
            <a:r>
              <a:rPr kumimoji="1" lang="en-US" altLang="zh-CN" sz="1800" smtClean="0"/>
              <a:t>1</a:t>
            </a:r>
            <a:r>
              <a:rPr kumimoji="1" lang="zh-CN" altLang="en-US" sz="1800" smtClean="0"/>
              <a:t>届关于面向对象模式的世界性会议，名为</a:t>
            </a:r>
            <a:r>
              <a:rPr kumimoji="1" lang="en-US" altLang="zh-CN" sz="1800" smtClean="0">
                <a:solidFill>
                  <a:srgbClr val="FF3300"/>
                </a:solidFill>
              </a:rPr>
              <a:t>PLoP(Pattern Languages of Programs, </a:t>
            </a:r>
            <a:r>
              <a:rPr kumimoji="1" lang="zh-CN" altLang="en-US" sz="1800" smtClean="0">
                <a:solidFill>
                  <a:srgbClr val="FF3300"/>
                </a:solidFill>
              </a:rPr>
              <a:t>编程语言模式会议</a:t>
            </a:r>
            <a:r>
              <a:rPr kumimoji="1" lang="en-US" altLang="zh-CN" sz="1800" smtClean="0">
                <a:solidFill>
                  <a:srgbClr val="FF3300"/>
                </a:solidFill>
              </a:rPr>
              <a:t>)</a:t>
            </a:r>
            <a:r>
              <a:rPr kumimoji="1" lang="zh-CN" altLang="en-US" sz="1800" smtClean="0"/>
              <a:t>，简称</a:t>
            </a:r>
            <a:r>
              <a:rPr kumimoji="1" lang="en-US" altLang="zh-CN" sz="1800" smtClean="0"/>
              <a:t>PLoP‘94</a:t>
            </a:r>
            <a:r>
              <a:rPr kumimoji="1" lang="zh-CN" altLang="en-US" sz="1800" smtClean="0"/>
              <a:t>。</a:t>
            </a:r>
            <a:endParaRPr kumimoji="1" lang="zh-CN" altLang="en-US" sz="1800" smtClean="0"/>
          </a:p>
          <a:p>
            <a:pPr lvl="1" eaLnBrk="1" hangingPunct="1"/>
            <a:r>
              <a:rPr kumimoji="1" lang="en-US" altLang="zh-CN" sz="1800" smtClean="0">
                <a:solidFill>
                  <a:srgbClr val="FF3300"/>
                </a:solidFill>
              </a:rPr>
              <a:t>1995</a:t>
            </a:r>
            <a:r>
              <a:rPr kumimoji="1" lang="zh-CN" altLang="en-US" sz="1800" smtClean="0">
                <a:solidFill>
                  <a:srgbClr val="FF3300"/>
                </a:solidFill>
              </a:rPr>
              <a:t>年</a:t>
            </a:r>
            <a:r>
              <a:rPr kumimoji="1" lang="zh-CN" altLang="en-US" sz="1800" smtClean="0"/>
              <a:t>，</a:t>
            </a:r>
            <a:r>
              <a:rPr kumimoji="1" lang="en-US" altLang="zh-CN" sz="1800" smtClean="0"/>
              <a:t>PLoP‘95 </a:t>
            </a:r>
            <a:r>
              <a:rPr kumimoji="1" lang="zh-CN" altLang="en-US" sz="1800" smtClean="0"/>
              <a:t>仍在伊利诺伊州的</a:t>
            </a:r>
            <a:r>
              <a:rPr kumimoji="1" lang="en-US" altLang="zh-CN" sz="1800" smtClean="0"/>
              <a:t>Allerton Park</a:t>
            </a:r>
            <a:r>
              <a:rPr kumimoji="1" lang="zh-CN" altLang="en-US" sz="1800" smtClean="0"/>
              <a:t>举行 ，“四人组”出版了</a:t>
            </a:r>
            <a:r>
              <a:rPr kumimoji="1" lang="en-US" altLang="zh-CN" sz="1800" smtClean="0"/>
              <a:t>《</a:t>
            </a:r>
            <a:r>
              <a:rPr kumimoji="1" lang="zh-CN" altLang="en-US" sz="1800" smtClean="0"/>
              <a:t>设计模式：可复用面向对象软件的基础</a:t>
            </a:r>
            <a:r>
              <a:rPr kumimoji="1" lang="en-US" altLang="zh-CN" sz="1800" smtClean="0"/>
              <a:t>》(</a:t>
            </a:r>
            <a:r>
              <a:rPr kumimoji="1" lang="en-US" altLang="zh-CN" sz="1800" smtClean="0">
                <a:solidFill>
                  <a:srgbClr val="FF3300"/>
                </a:solidFill>
              </a:rPr>
              <a:t>Design Patterns: Elements of Reusable Object-Oriented Software</a:t>
            </a:r>
            <a:r>
              <a:rPr kumimoji="1" lang="en-US" altLang="zh-CN" sz="1800" smtClean="0"/>
              <a:t>)</a:t>
            </a:r>
            <a:r>
              <a:rPr kumimoji="1" lang="zh-CN" altLang="en-US" sz="1800" smtClean="0"/>
              <a:t>一书，本书成为</a:t>
            </a:r>
            <a:r>
              <a:rPr kumimoji="1" lang="en-US" altLang="zh-CN" sz="1800" smtClean="0"/>
              <a:t>1995</a:t>
            </a:r>
            <a:r>
              <a:rPr kumimoji="1" lang="zh-CN" altLang="en-US" sz="1800" smtClean="0"/>
              <a:t>年最抢手的面向对象书籍，也成为设计模式的经典书籍。 </a:t>
            </a:r>
            <a:endParaRPr kumimoji="1" lang="zh-CN" altLang="en-US" sz="1800" smtClean="0"/>
          </a:p>
          <a:p>
            <a:pPr lvl="1" eaLnBrk="1" hangingPunct="1"/>
            <a:endParaRPr kumimoji="1" lang="en-US" altLang="zh-CN" sz="1800" smtClean="0"/>
          </a:p>
        </p:txBody>
      </p:sp>
      <p:sp>
        <p:nvSpPr>
          <p:cNvPr id="15364" name="Rectangle 4"/>
          <p:cNvSpPr>
            <a:spLocks noChangeArrowheads="1"/>
          </p:cNvSpPr>
          <p:nvPr/>
        </p:nvSpPr>
        <p:spPr bwMode="auto">
          <a:xfrm>
            <a:off x="0" y="19573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838200" y="914400"/>
            <a:ext cx="5562600" cy="685800"/>
          </a:xfrm>
        </p:spPr>
        <p:txBody>
          <a:bodyPr>
            <a:normAutofit fontScale="90000"/>
          </a:bodyPr>
          <a:lstStyle/>
          <a:p>
            <a:pPr eaLnBrk="1" hangingPunct="1"/>
            <a:r>
              <a:rPr lang="zh-CN" altLang="en-US" smtClean="0"/>
              <a:t>设计模式的诞生与发展</a:t>
            </a:r>
            <a:endParaRPr lang="zh-CN" altLang="en-US" smtClean="0"/>
          </a:p>
        </p:txBody>
      </p:sp>
      <p:sp>
        <p:nvSpPr>
          <p:cNvPr id="16387" name="Rectangle 3"/>
          <p:cNvSpPr>
            <a:spLocks noGrp="1" noChangeArrowheads="1"/>
          </p:cNvSpPr>
          <p:nvPr>
            <p:ph idx="1"/>
          </p:nvPr>
        </p:nvSpPr>
        <p:spPr>
          <a:xfrm>
            <a:off x="381000" y="1752600"/>
            <a:ext cx="8077200" cy="4495800"/>
          </a:xfrm>
        </p:spPr>
        <p:txBody>
          <a:bodyPr/>
          <a:lstStyle/>
          <a:p>
            <a:pPr eaLnBrk="1" hangingPunct="1"/>
            <a:r>
              <a:rPr kumimoji="1" lang="zh-CN" altLang="en-US" smtClean="0"/>
              <a:t>设计模式的发展 </a:t>
            </a:r>
            <a:endParaRPr kumimoji="1" lang="zh-CN" altLang="en-US" smtClean="0"/>
          </a:p>
          <a:p>
            <a:pPr lvl="1" eaLnBrk="1" hangingPunct="1"/>
            <a:r>
              <a:rPr kumimoji="1" lang="zh-CN" altLang="en-US" smtClean="0"/>
              <a:t>从</a:t>
            </a:r>
            <a:r>
              <a:rPr kumimoji="1" lang="en-US" altLang="zh-CN" smtClean="0"/>
              <a:t>1995</a:t>
            </a:r>
            <a:r>
              <a:rPr kumimoji="1" lang="zh-CN" altLang="en-US" smtClean="0"/>
              <a:t>年至今，设计模式在软件开发中得以广泛应用，在</a:t>
            </a:r>
            <a:r>
              <a:rPr kumimoji="1" lang="en-US" altLang="zh-CN" smtClean="0">
                <a:solidFill>
                  <a:srgbClr val="FF3300"/>
                </a:solidFill>
              </a:rPr>
              <a:t>Sun</a:t>
            </a:r>
            <a:r>
              <a:rPr kumimoji="1" lang="zh-CN" altLang="en-US" smtClean="0">
                <a:solidFill>
                  <a:srgbClr val="FF3300"/>
                </a:solidFill>
              </a:rPr>
              <a:t>的</a:t>
            </a:r>
            <a:r>
              <a:rPr kumimoji="1" lang="en-US" altLang="zh-CN" smtClean="0">
                <a:solidFill>
                  <a:srgbClr val="FF3300"/>
                </a:solidFill>
              </a:rPr>
              <a:t>Java SE/Java EE</a:t>
            </a:r>
            <a:r>
              <a:rPr kumimoji="1" lang="zh-CN" altLang="en-US" smtClean="0">
                <a:solidFill>
                  <a:srgbClr val="FF3300"/>
                </a:solidFill>
              </a:rPr>
              <a:t>平台</a:t>
            </a:r>
            <a:r>
              <a:rPr kumimoji="1" lang="zh-CN" altLang="en-US" smtClean="0"/>
              <a:t>和</a:t>
            </a:r>
            <a:r>
              <a:rPr kumimoji="1" lang="en-US" altLang="zh-CN" smtClean="0">
                <a:solidFill>
                  <a:srgbClr val="FF3300"/>
                </a:solidFill>
              </a:rPr>
              <a:t>Microsoft</a:t>
            </a:r>
            <a:r>
              <a:rPr kumimoji="1" lang="zh-CN" altLang="en-US" smtClean="0">
                <a:solidFill>
                  <a:srgbClr val="FF3300"/>
                </a:solidFill>
              </a:rPr>
              <a:t>的</a:t>
            </a:r>
            <a:r>
              <a:rPr kumimoji="1" lang="en-US" altLang="zh-CN" smtClean="0">
                <a:solidFill>
                  <a:srgbClr val="FF3300"/>
                </a:solidFill>
              </a:rPr>
              <a:t>.net</a:t>
            </a:r>
            <a:r>
              <a:rPr kumimoji="1" lang="zh-CN" altLang="en-US" smtClean="0">
                <a:solidFill>
                  <a:srgbClr val="FF3300"/>
                </a:solidFill>
              </a:rPr>
              <a:t>平台</a:t>
            </a:r>
            <a:r>
              <a:rPr kumimoji="1" lang="zh-CN" altLang="en-US" smtClean="0"/>
              <a:t>设计中就应用了大量的设计模式。</a:t>
            </a:r>
            <a:endParaRPr kumimoji="1" lang="zh-CN" altLang="en-US" smtClean="0"/>
          </a:p>
          <a:p>
            <a:pPr lvl="1" eaLnBrk="1" hangingPunct="1"/>
            <a:r>
              <a:rPr kumimoji="1" lang="zh-CN" altLang="en-US" smtClean="0"/>
              <a:t>诞生了越来越多的与设计模式相关的书籍和网站，设计模式也作为一门独立的课程或作为软件体系结构等课程的重要组成部分出现在国内外研究生和大学教育的课堂上。</a:t>
            </a:r>
            <a:endParaRPr kumimoji="1" lang="zh-CN" altLang="en-US" smtClean="0"/>
          </a:p>
        </p:txBody>
      </p:sp>
      <p:sp>
        <p:nvSpPr>
          <p:cNvPr id="16388" name="Rectangle 4"/>
          <p:cNvSpPr>
            <a:spLocks noChangeArrowheads="1"/>
          </p:cNvSpPr>
          <p:nvPr/>
        </p:nvSpPr>
        <p:spPr bwMode="auto">
          <a:xfrm>
            <a:off x="0" y="19573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838200" y="914400"/>
            <a:ext cx="5867400" cy="685800"/>
          </a:xfrm>
        </p:spPr>
        <p:txBody>
          <a:bodyPr>
            <a:normAutofit fontScale="90000"/>
          </a:bodyPr>
          <a:lstStyle/>
          <a:p>
            <a:pPr eaLnBrk="1" hangingPunct="1"/>
            <a:r>
              <a:rPr lang="zh-CN" altLang="en-US" smtClean="0"/>
              <a:t>设计模式的定义与分类 </a:t>
            </a:r>
            <a:endParaRPr lang="zh-CN" altLang="en-US" smtClean="0"/>
          </a:p>
        </p:txBody>
      </p:sp>
      <p:sp>
        <p:nvSpPr>
          <p:cNvPr id="17411" name="Rectangle 3"/>
          <p:cNvSpPr>
            <a:spLocks noGrp="1" noChangeArrowheads="1"/>
          </p:cNvSpPr>
          <p:nvPr>
            <p:ph idx="1"/>
          </p:nvPr>
        </p:nvSpPr>
        <p:spPr/>
        <p:txBody>
          <a:bodyPr/>
          <a:lstStyle/>
          <a:p>
            <a:pPr eaLnBrk="1" hangingPunct="1"/>
            <a:r>
              <a:rPr lang="zh-CN" altLang="en-US" smtClean="0"/>
              <a:t>设计模式的定义 </a:t>
            </a:r>
            <a:endParaRPr lang="zh-CN" altLang="en-US" smtClean="0">
              <a:solidFill>
                <a:srgbClr val="FF3300"/>
              </a:solidFill>
            </a:endParaRPr>
          </a:p>
          <a:p>
            <a:pPr lvl="1" eaLnBrk="1" hangingPunct="1"/>
            <a:r>
              <a:rPr lang="zh-CN" altLang="en-US" smtClean="0">
                <a:solidFill>
                  <a:srgbClr val="FF3300"/>
                </a:solidFill>
              </a:rPr>
              <a:t>设计模式</a:t>
            </a:r>
            <a:r>
              <a:rPr lang="en-US" altLang="zh-CN" smtClean="0">
                <a:solidFill>
                  <a:srgbClr val="FF3300"/>
                </a:solidFill>
              </a:rPr>
              <a:t>(Design Pattern)</a:t>
            </a:r>
            <a:r>
              <a:rPr lang="zh-CN" altLang="en-US" smtClean="0"/>
              <a:t>是一套</a:t>
            </a:r>
            <a:r>
              <a:rPr lang="zh-CN" altLang="en-US" smtClean="0">
                <a:solidFill>
                  <a:srgbClr val="FF3300"/>
                </a:solidFill>
              </a:rPr>
              <a:t>被反复使用、多数人知晓的、经过分类编目的、代码设计经验的总结</a:t>
            </a:r>
            <a:r>
              <a:rPr lang="zh-CN" altLang="en-US" smtClean="0"/>
              <a:t>，使用设计模式是为了可重用代码、让代码更容易被他人理解、保证代码可靠性。</a:t>
            </a:r>
            <a:endParaRPr lang="zh-CN" altLang="en-US" smtClean="0"/>
          </a:p>
          <a:p>
            <a:pPr eaLnBrk="1" hangingPunct="1"/>
            <a:endParaRPr lang="en-US" altLang="zh-CN"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838200" y="914400"/>
            <a:ext cx="5638800" cy="685800"/>
          </a:xfrm>
        </p:spPr>
        <p:txBody>
          <a:bodyPr>
            <a:normAutofit fontScale="90000"/>
          </a:bodyPr>
          <a:lstStyle/>
          <a:p>
            <a:pPr eaLnBrk="1" hangingPunct="1"/>
            <a:r>
              <a:rPr lang="zh-CN" altLang="en-US" smtClean="0"/>
              <a:t>设计模式的定义与分类</a:t>
            </a:r>
            <a:endParaRPr lang="zh-CN" altLang="en-US" smtClean="0"/>
          </a:p>
        </p:txBody>
      </p:sp>
      <p:sp>
        <p:nvSpPr>
          <p:cNvPr id="18435" name="Rectangle 3"/>
          <p:cNvSpPr>
            <a:spLocks noGrp="1" noChangeArrowheads="1"/>
          </p:cNvSpPr>
          <p:nvPr>
            <p:ph idx="1"/>
          </p:nvPr>
        </p:nvSpPr>
        <p:spPr/>
        <p:txBody>
          <a:bodyPr/>
          <a:lstStyle/>
          <a:p>
            <a:pPr eaLnBrk="1" hangingPunct="1"/>
            <a:r>
              <a:rPr lang="zh-CN" altLang="en-US" smtClean="0"/>
              <a:t>设计模式的基本要素 </a:t>
            </a:r>
            <a:endParaRPr lang="zh-CN" altLang="en-US" sz="2800" smtClean="0"/>
          </a:p>
          <a:p>
            <a:pPr lvl="1" eaLnBrk="1" hangingPunct="1"/>
            <a:r>
              <a:rPr lang="zh-CN" altLang="en-US" smtClean="0"/>
              <a:t>设计模式一般有如下几个基本要素：模式名称、问题、目的、解决方案、效果、实例代码和相关设计模式，其中的关键元素包括以下四个方面：</a:t>
            </a:r>
            <a:endParaRPr lang="zh-CN" altLang="en-US" sz="2000" smtClean="0"/>
          </a:p>
          <a:p>
            <a:pPr lvl="2" eaLnBrk="1" hangingPunct="1">
              <a:buFont typeface="Arial" panose="020B0604020202020204" pitchFamily="34" charset="0"/>
              <a:buChar char="•"/>
            </a:pPr>
            <a:r>
              <a:rPr lang="zh-CN" altLang="en-US" smtClean="0">
                <a:solidFill>
                  <a:srgbClr val="FF3300"/>
                </a:solidFill>
                <a:ea typeface="黑体" panose="02010609060101010101" pitchFamily="49" charset="-122"/>
              </a:rPr>
              <a:t>模式名称 </a:t>
            </a:r>
            <a:r>
              <a:rPr lang="en-US" altLang="zh-CN" smtClean="0">
                <a:ea typeface="黑体" panose="02010609060101010101" pitchFamily="49" charset="-122"/>
              </a:rPr>
              <a:t>(Pattern name) </a:t>
            </a:r>
            <a:endParaRPr lang="en-US" altLang="zh-CN" smtClean="0">
              <a:ea typeface="黑体" panose="02010609060101010101" pitchFamily="49" charset="-122"/>
            </a:endParaRPr>
          </a:p>
          <a:p>
            <a:pPr lvl="2" eaLnBrk="1" hangingPunct="1">
              <a:buFont typeface="Arial" panose="020B0604020202020204" pitchFamily="34" charset="0"/>
              <a:buChar char="•"/>
            </a:pPr>
            <a:r>
              <a:rPr lang="zh-CN" altLang="en-US" smtClean="0">
                <a:solidFill>
                  <a:srgbClr val="FF3300"/>
                </a:solidFill>
                <a:ea typeface="黑体" panose="02010609060101010101" pitchFamily="49" charset="-122"/>
              </a:rPr>
              <a:t>问题 </a:t>
            </a:r>
            <a:r>
              <a:rPr lang="en-US" altLang="zh-CN" smtClean="0">
                <a:ea typeface="黑体" panose="02010609060101010101" pitchFamily="49" charset="-122"/>
              </a:rPr>
              <a:t>(Problem) </a:t>
            </a:r>
            <a:endParaRPr lang="en-US" altLang="zh-CN" smtClean="0">
              <a:ea typeface="黑体" panose="02010609060101010101" pitchFamily="49" charset="-122"/>
            </a:endParaRPr>
          </a:p>
          <a:p>
            <a:pPr lvl="2" eaLnBrk="1" hangingPunct="1">
              <a:buFont typeface="Arial" panose="020B0604020202020204" pitchFamily="34" charset="0"/>
              <a:buChar char="•"/>
            </a:pPr>
            <a:r>
              <a:rPr lang="zh-CN" altLang="en-US" smtClean="0">
                <a:solidFill>
                  <a:srgbClr val="FF3300"/>
                </a:solidFill>
                <a:ea typeface="黑体" panose="02010609060101010101" pitchFamily="49" charset="-122"/>
              </a:rPr>
              <a:t>解决方案 </a:t>
            </a:r>
            <a:r>
              <a:rPr lang="en-US" altLang="zh-CN" smtClean="0">
                <a:ea typeface="黑体" panose="02010609060101010101" pitchFamily="49" charset="-122"/>
              </a:rPr>
              <a:t>(Solution) </a:t>
            </a:r>
            <a:endParaRPr lang="en-US" altLang="zh-CN" smtClean="0">
              <a:ea typeface="黑体" panose="02010609060101010101" pitchFamily="49" charset="-122"/>
            </a:endParaRPr>
          </a:p>
          <a:p>
            <a:pPr lvl="2" eaLnBrk="1" hangingPunct="1">
              <a:buFont typeface="Arial" panose="020B0604020202020204" pitchFamily="34" charset="0"/>
              <a:buChar char="•"/>
            </a:pPr>
            <a:r>
              <a:rPr lang="zh-CN" altLang="en-US" smtClean="0">
                <a:solidFill>
                  <a:srgbClr val="FF3300"/>
                </a:solidFill>
                <a:ea typeface="黑体" panose="02010609060101010101" pitchFamily="49" charset="-122"/>
              </a:rPr>
              <a:t>效果 </a:t>
            </a:r>
            <a:r>
              <a:rPr lang="en-US" altLang="zh-CN" smtClean="0">
                <a:ea typeface="黑体" panose="02010609060101010101" pitchFamily="49" charset="-122"/>
              </a:rPr>
              <a:t>(Consequences) </a:t>
            </a:r>
            <a:endParaRPr lang="en-US" altLang="zh-CN" sz="1800" smtClean="0">
              <a:ea typeface="黑体" panose="02010609060101010101" pitchFamily="49" charset="-122"/>
            </a:endParaRPr>
          </a:p>
          <a:p>
            <a:pPr eaLnBrk="1" hangingPunct="1"/>
            <a:endParaRPr lang="en-US" altLang="zh-CN" sz="2000" smtClean="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838200" y="914400"/>
            <a:ext cx="5486400" cy="685800"/>
          </a:xfrm>
        </p:spPr>
        <p:txBody>
          <a:bodyPr>
            <a:normAutofit fontScale="90000"/>
          </a:bodyPr>
          <a:lstStyle/>
          <a:p>
            <a:pPr eaLnBrk="1" hangingPunct="1"/>
            <a:r>
              <a:rPr lang="zh-CN" altLang="en-US" smtClean="0"/>
              <a:t>设计模式的定义与分类</a:t>
            </a:r>
            <a:endParaRPr lang="zh-CN" altLang="en-US" smtClean="0"/>
          </a:p>
        </p:txBody>
      </p:sp>
      <p:sp>
        <p:nvSpPr>
          <p:cNvPr id="20483" name="Rectangle 3"/>
          <p:cNvSpPr>
            <a:spLocks noGrp="1" noChangeArrowheads="1"/>
          </p:cNvSpPr>
          <p:nvPr>
            <p:ph idx="1"/>
          </p:nvPr>
        </p:nvSpPr>
        <p:spPr/>
        <p:txBody>
          <a:bodyPr>
            <a:normAutofit fontScale="92500"/>
          </a:bodyPr>
          <a:lstStyle/>
          <a:p>
            <a:pPr eaLnBrk="1" hangingPunct="1"/>
            <a:r>
              <a:rPr lang="zh-CN" altLang="en-US" sz="3600" smtClean="0"/>
              <a:t>设计模式的分类</a:t>
            </a:r>
            <a:endParaRPr lang="zh-CN" altLang="en-US" sz="3600" smtClean="0"/>
          </a:p>
          <a:p>
            <a:pPr lvl="1" eaLnBrk="1" hangingPunct="1"/>
            <a:r>
              <a:rPr lang="zh-CN" altLang="en-US" smtClean="0"/>
              <a:t>根据其</a:t>
            </a:r>
            <a:r>
              <a:rPr lang="zh-CN" altLang="en-US" smtClean="0">
                <a:solidFill>
                  <a:srgbClr val="FF3300"/>
                </a:solidFill>
              </a:rPr>
              <a:t>目的</a:t>
            </a:r>
            <a:r>
              <a:rPr lang="zh-CN" altLang="en-US" smtClean="0"/>
              <a:t>（模式是用来做什么的）可分为</a:t>
            </a:r>
            <a:r>
              <a:rPr lang="zh-CN" altLang="en-US" smtClean="0">
                <a:solidFill>
                  <a:srgbClr val="FF3300"/>
                </a:solidFill>
              </a:rPr>
              <a:t>创建型</a:t>
            </a:r>
            <a:r>
              <a:rPr lang="en-US" altLang="zh-CN" smtClean="0">
                <a:solidFill>
                  <a:srgbClr val="FF3300"/>
                </a:solidFill>
              </a:rPr>
              <a:t>(Creational)</a:t>
            </a:r>
            <a:r>
              <a:rPr lang="zh-CN" altLang="en-US" smtClean="0"/>
              <a:t>，</a:t>
            </a:r>
            <a:r>
              <a:rPr lang="zh-CN" altLang="en-US" smtClean="0">
                <a:solidFill>
                  <a:srgbClr val="FF3300"/>
                </a:solidFill>
              </a:rPr>
              <a:t>结构型</a:t>
            </a:r>
            <a:r>
              <a:rPr lang="en-US" altLang="zh-CN" smtClean="0">
                <a:solidFill>
                  <a:srgbClr val="FF3300"/>
                </a:solidFill>
              </a:rPr>
              <a:t>(Structural)</a:t>
            </a:r>
            <a:r>
              <a:rPr lang="zh-CN" altLang="en-US" smtClean="0"/>
              <a:t>和</a:t>
            </a:r>
            <a:r>
              <a:rPr lang="zh-CN" altLang="en-US" smtClean="0">
                <a:solidFill>
                  <a:srgbClr val="FF3300"/>
                </a:solidFill>
              </a:rPr>
              <a:t>行为型</a:t>
            </a:r>
            <a:r>
              <a:rPr lang="en-US" altLang="zh-CN" smtClean="0">
                <a:solidFill>
                  <a:srgbClr val="FF3300"/>
                </a:solidFill>
              </a:rPr>
              <a:t>(Behavioral)</a:t>
            </a:r>
            <a:r>
              <a:rPr lang="zh-CN" altLang="en-US" smtClean="0"/>
              <a:t>三种：</a:t>
            </a:r>
            <a:endParaRPr lang="zh-CN" altLang="en-US" smtClean="0"/>
          </a:p>
          <a:p>
            <a:pPr lvl="2" eaLnBrk="1" hangingPunct="1">
              <a:buFont typeface="Arial" panose="020B0604020202020204" pitchFamily="34" charset="0"/>
              <a:buChar char="•"/>
            </a:pPr>
            <a:r>
              <a:rPr lang="zh-CN" altLang="en-US" sz="2400" smtClean="0">
                <a:ea typeface="黑体" panose="02010609060101010101" pitchFamily="49" charset="-122"/>
              </a:rPr>
              <a:t> 创建型模式主要用于</a:t>
            </a:r>
            <a:r>
              <a:rPr lang="zh-CN" altLang="en-US" sz="2400" smtClean="0">
                <a:solidFill>
                  <a:srgbClr val="FF3300"/>
                </a:solidFill>
                <a:ea typeface="黑体" panose="02010609060101010101" pitchFamily="49" charset="-122"/>
              </a:rPr>
              <a:t>创建对象</a:t>
            </a:r>
            <a:r>
              <a:rPr lang="zh-CN" altLang="en-US" sz="2400" smtClean="0">
                <a:ea typeface="黑体" panose="02010609060101010101" pitchFamily="49" charset="-122"/>
              </a:rPr>
              <a:t>。</a:t>
            </a:r>
            <a:endParaRPr lang="zh-CN" altLang="en-US" sz="2400" smtClean="0">
              <a:ea typeface="黑体" panose="02010609060101010101" pitchFamily="49" charset="-122"/>
            </a:endParaRPr>
          </a:p>
          <a:p>
            <a:pPr lvl="2" eaLnBrk="1" hangingPunct="1">
              <a:buFont typeface="Arial" panose="020B0604020202020204" pitchFamily="34" charset="0"/>
              <a:buChar char="•"/>
            </a:pPr>
            <a:r>
              <a:rPr lang="zh-CN" altLang="en-US" sz="2400" smtClean="0">
                <a:ea typeface="黑体" panose="02010609060101010101" pitchFamily="49" charset="-122"/>
              </a:rPr>
              <a:t> 结构型模式主要用于</a:t>
            </a:r>
            <a:r>
              <a:rPr lang="zh-CN" altLang="en-US" sz="2400" smtClean="0">
                <a:solidFill>
                  <a:srgbClr val="FF3300"/>
                </a:solidFill>
                <a:ea typeface="黑体" panose="02010609060101010101" pitchFamily="49" charset="-122"/>
              </a:rPr>
              <a:t>处理类或对象的组合</a:t>
            </a:r>
            <a:r>
              <a:rPr lang="zh-CN" altLang="en-US" sz="2400" smtClean="0">
                <a:ea typeface="黑体" panose="02010609060101010101" pitchFamily="49" charset="-122"/>
              </a:rPr>
              <a:t>。</a:t>
            </a:r>
            <a:endParaRPr lang="zh-CN" altLang="en-US" sz="2400" smtClean="0">
              <a:ea typeface="黑体" panose="02010609060101010101" pitchFamily="49" charset="-122"/>
            </a:endParaRPr>
          </a:p>
          <a:p>
            <a:pPr lvl="2" eaLnBrk="1" hangingPunct="1">
              <a:buFont typeface="Arial" panose="020B0604020202020204" pitchFamily="34" charset="0"/>
              <a:buChar char="•"/>
            </a:pPr>
            <a:r>
              <a:rPr lang="zh-CN" altLang="en-US" sz="2400" smtClean="0">
                <a:ea typeface="黑体" panose="02010609060101010101" pitchFamily="49" charset="-122"/>
              </a:rPr>
              <a:t> 行为型模式主要用于</a:t>
            </a:r>
            <a:r>
              <a:rPr lang="zh-CN" altLang="en-US" sz="2400" smtClean="0">
                <a:solidFill>
                  <a:srgbClr val="FF3300"/>
                </a:solidFill>
                <a:ea typeface="黑体" panose="02010609060101010101" pitchFamily="49" charset="-122"/>
              </a:rPr>
              <a:t>描述对类或对象怎样交互和怎样分配职责</a:t>
            </a:r>
            <a:r>
              <a:rPr lang="zh-CN" altLang="en-US" sz="2400" smtClean="0">
                <a:ea typeface="黑体" panose="02010609060101010101" pitchFamily="49" charset="-122"/>
              </a:rPr>
              <a:t>。</a:t>
            </a:r>
            <a:endParaRPr lang="zh-CN" altLang="en-US" sz="2400" smtClean="0">
              <a:ea typeface="黑体" panose="02010609060101010101" pitchFamily="49" charset="-12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838200" y="914400"/>
            <a:ext cx="5486400" cy="685800"/>
          </a:xfrm>
        </p:spPr>
        <p:txBody>
          <a:bodyPr>
            <a:normAutofit fontScale="90000"/>
          </a:bodyPr>
          <a:lstStyle/>
          <a:p>
            <a:pPr eaLnBrk="1" hangingPunct="1"/>
            <a:r>
              <a:rPr lang="zh-CN" altLang="en-US" smtClean="0"/>
              <a:t>设计模式的定义与分类</a:t>
            </a:r>
            <a:endParaRPr lang="zh-CN" altLang="en-US" smtClean="0"/>
          </a:p>
        </p:txBody>
      </p:sp>
      <p:sp>
        <p:nvSpPr>
          <p:cNvPr id="21507" name="Rectangle 3"/>
          <p:cNvSpPr>
            <a:spLocks noGrp="1" noChangeArrowheads="1"/>
          </p:cNvSpPr>
          <p:nvPr>
            <p:ph idx="1"/>
          </p:nvPr>
        </p:nvSpPr>
        <p:spPr/>
        <p:txBody>
          <a:bodyPr/>
          <a:lstStyle/>
          <a:p>
            <a:pPr eaLnBrk="1" hangingPunct="1"/>
            <a:r>
              <a:rPr lang="zh-CN" altLang="en-US" sz="3600" smtClean="0"/>
              <a:t>设计模式的分类</a:t>
            </a:r>
            <a:endParaRPr lang="zh-CN" altLang="en-US" sz="3600" smtClean="0"/>
          </a:p>
          <a:p>
            <a:pPr lvl="1" eaLnBrk="1" hangingPunct="1"/>
            <a:r>
              <a:rPr lang="zh-CN" altLang="en-US" smtClean="0"/>
              <a:t>根据</a:t>
            </a:r>
            <a:r>
              <a:rPr lang="zh-CN" altLang="en-US" smtClean="0">
                <a:solidFill>
                  <a:srgbClr val="FF3300"/>
                </a:solidFill>
              </a:rPr>
              <a:t>范围</a:t>
            </a:r>
            <a:r>
              <a:rPr lang="zh-CN" altLang="en-US" smtClean="0"/>
              <a:t>，即模式主要是用于处理类之间关系还是处理对象之间的关系，可分为</a:t>
            </a:r>
            <a:r>
              <a:rPr lang="zh-CN" altLang="en-US" smtClean="0">
                <a:solidFill>
                  <a:srgbClr val="FF3300"/>
                </a:solidFill>
              </a:rPr>
              <a:t>类模式</a:t>
            </a:r>
            <a:r>
              <a:rPr lang="zh-CN" altLang="en-US" smtClean="0"/>
              <a:t>和</a:t>
            </a:r>
            <a:r>
              <a:rPr lang="zh-CN" altLang="en-US" smtClean="0">
                <a:solidFill>
                  <a:srgbClr val="FF3300"/>
                </a:solidFill>
              </a:rPr>
              <a:t>对象模式</a:t>
            </a:r>
            <a:r>
              <a:rPr lang="zh-CN" altLang="en-US" smtClean="0"/>
              <a:t>两种：</a:t>
            </a:r>
            <a:endParaRPr lang="zh-CN" altLang="en-US" smtClean="0"/>
          </a:p>
          <a:p>
            <a:pPr lvl="2" eaLnBrk="1" hangingPunct="1">
              <a:buFont typeface="Arial" panose="020B0604020202020204" pitchFamily="34" charset="0"/>
              <a:buChar char="•"/>
            </a:pPr>
            <a:r>
              <a:rPr lang="zh-CN" altLang="en-US" sz="2200" smtClean="0">
                <a:ea typeface="黑体" panose="02010609060101010101" pitchFamily="49" charset="-122"/>
              </a:rPr>
              <a:t>类模式</a:t>
            </a:r>
            <a:r>
              <a:rPr lang="zh-CN" altLang="en-US" sz="2200" smtClean="0">
                <a:solidFill>
                  <a:srgbClr val="FF3300"/>
                </a:solidFill>
                <a:ea typeface="黑体" panose="02010609060101010101" pitchFamily="49" charset="-122"/>
              </a:rPr>
              <a:t>处理类和子类之间的关系</a:t>
            </a:r>
            <a:r>
              <a:rPr lang="zh-CN" altLang="en-US" sz="2200" smtClean="0">
                <a:ea typeface="黑体" panose="02010609060101010101" pitchFamily="49" charset="-122"/>
              </a:rPr>
              <a:t>，这些关系通过继承建立，在编译时刻就被确定下来，是属于</a:t>
            </a:r>
            <a:r>
              <a:rPr lang="zh-CN" altLang="en-US" sz="2200" smtClean="0">
                <a:solidFill>
                  <a:srgbClr val="FF3300"/>
                </a:solidFill>
                <a:ea typeface="黑体" panose="02010609060101010101" pitchFamily="49" charset="-122"/>
              </a:rPr>
              <a:t>静态</a:t>
            </a:r>
            <a:r>
              <a:rPr lang="zh-CN" altLang="en-US" sz="2200" smtClean="0">
                <a:ea typeface="黑体" panose="02010609060101010101" pitchFamily="49" charset="-122"/>
              </a:rPr>
              <a:t>的。 </a:t>
            </a:r>
            <a:endParaRPr lang="zh-CN" altLang="en-US" sz="2200" smtClean="0">
              <a:ea typeface="黑体" panose="02010609060101010101" pitchFamily="49" charset="-122"/>
            </a:endParaRPr>
          </a:p>
          <a:p>
            <a:pPr lvl="2" eaLnBrk="1" hangingPunct="1">
              <a:buFont typeface="Arial" panose="020B0604020202020204" pitchFamily="34" charset="0"/>
              <a:buChar char="•"/>
            </a:pPr>
            <a:r>
              <a:rPr lang="zh-CN" altLang="en-US" sz="2200" smtClean="0">
                <a:ea typeface="黑体" panose="02010609060101010101" pitchFamily="49" charset="-122"/>
              </a:rPr>
              <a:t>对象模式</a:t>
            </a:r>
            <a:r>
              <a:rPr lang="zh-CN" altLang="en-US" sz="2200" smtClean="0">
                <a:solidFill>
                  <a:srgbClr val="FF3300"/>
                </a:solidFill>
                <a:ea typeface="黑体" panose="02010609060101010101" pitchFamily="49" charset="-122"/>
              </a:rPr>
              <a:t>处理对象间的关系</a:t>
            </a:r>
            <a:r>
              <a:rPr lang="zh-CN" altLang="en-US" sz="2200" smtClean="0">
                <a:ea typeface="黑体" panose="02010609060101010101" pitchFamily="49" charset="-122"/>
              </a:rPr>
              <a:t>，这些关系在运行时刻变化，更具</a:t>
            </a:r>
            <a:r>
              <a:rPr lang="zh-CN" altLang="en-US" sz="2200" smtClean="0">
                <a:solidFill>
                  <a:srgbClr val="FF3300"/>
                </a:solidFill>
                <a:ea typeface="黑体" panose="02010609060101010101" pitchFamily="49" charset="-122"/>
              </a:rPr>
              <a:t>动态</a:t>
            </a:r>
            <a:r>
              <a:rPr lang="zh-CN" altLang="en-US" sz="2200" smtClean="0">
                <a:ea typeface="黑体" panose="02010609060101010101" pitchFamily="49" charset="-122"/>
              </a:rPr>
              <a:t>性。 </a:t>
            </a:r>
            <a:endParaRPr lang="zh-CN" altLang="en-US" sz="2200" smtClean="0">
              <a:ea typeface="黑体" panose="02010609060101010101" pitchFamily="49"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normAutofit fontScale="90000"/>
          </a:bodyPr>
          <a:lstStyle/>
          <a:p>
            <a:pPr eaLnBrk="1" hangingPunct="1"/>
            <a:r>
              <a:rPr lang="en-US" altLang="zh-CN" smtClean="0"/>
              <a:t>GoF</a:t>
            </a:r>
            <a:r>
              <a:rPr lang="zh-CN" altLang="en-US" smtClean="0"/>
              <a:t>设计模式简介 </a:t>
            </a:r>
            <a:endParaRPr lang="zh-CN" altLang="en-US" smtClean="0"/>
          </a:p>
        </p:txBody>
      </p:sp>
      <p:graphicFrame>
        <p:nvGraphicFramePr>
          <p:cNvPr id="174163" name="Group 83"/>
          <p:cNvGraphicFramePr>
            <a:graphicFrameLocks noGrp="1"/>
          </p:cNvGraphicFramePr>
          <p:nvPr>
            <p:ph type="tbl" idx="1"/>
            <p:custDataLst>
              <p:tags r:id="rId1"/>
            </p:custDataLst>
          </p:nvPr>
        </p:nvGraphicFramePr>
        <p:xfrm>
          <a:off x="914400" y="2093913"/>
          <a:ext cx="7239000" cy="3540126"/>
        </p:xfrm>
        <a:graphic>
          <a:graphicData uri="http://schemas.openxmlformats.org/drawingml/2006/table">
            <a:tbl>
              <a:tblPr/>
              <a:tblGrid>
                <a:gridCol w="1768475"/>
                <a:gridCol w="1660525"/>
                <a:gridCol w="2063750"/>
                <a:gridCol w="1746250"/>
              </a:tblGrid>
              <a:tr h="47783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范围</a:t>
                      </a:r>
                      <a:r>
                        <a:rPr kumimoji="0" lang="en-US" altLang="zh-CN"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目的</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创建型模式</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结构型模式</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行为型模式</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r>
              <a:tr h="77628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类模式</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工厂方法模式</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（类）适配器模式</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解释器模式</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模板方法模式</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85999">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对象模式</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抽象工厂模式</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建造者模式</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原型模式</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单例模式</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（对象）适配器模式</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桥接模式</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组合模式</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装饰模式</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外观模式</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享元模式</a:t>
                      </a:r>
                      <a:endPar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代理模式</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职责链模式</a:t>
                      </a:r>
                      <a:endParaRPr kumimoji="0" lang="zh-CN" altLang="en-US"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命令模式</a:t>
                      </a:r>
                      <a:endParaRPr kumimoji="0" lang="zh-CN" altLang="en-US"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迭代器模式</a:t>
                      </a:r>
                      <a:endParaRPr kumimoji="0" lang="zh-CN" altLang="en-US"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中介者模式</a:t>
                      </a:r>
                      <a:endParaRPr kumimoji="0" lang="zh-CN" altLang="en-US"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备忘录模式</a:t>
                      </a:r>
                      <a:endParaRPr kumimoji="0" lang="zh-CN" altLang="en-US"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观察者模式</a:t>
                      </a:r>
                      <a:endParaRPr kumimoji="0" lang="zh-CN" altLang="en-US"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状态模式</a:t>
                      </a:r>
                      <a:endParaRPr kumimoji="0" lang="zh-CN" altLang="en-US"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策略模式</a:t>
                      </a:r>
                      <a:endParaRPr kumimoji="0" lang="zh-CN" altLang="en-US"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访问者模式</a:t>
                      </a:r>
                      <a:endParaRPr kumimoji="0" lang="zh-CN" altLang="en-US" sz="16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normAutofit fontScale="90000"/>
          </a:bodyPr>
          <a:lstStyle/>
          <a:p>
            <a:pPr eaLnBrk="1" hangingPunct="1"/>
            <a:r>
              <a:rPr lang="en-US" altLang="zh-CN" smtClean="0"/>
              <a:t>GoF</a:t>
            </a:r>
            <a:r>
              <a:rPr lang="zh-CN" altLang="en-US" smtClean="0"/>
              <a:t>设计模式简介 </a:t>
            </a:r>
            <a:endParaRPr lang="zh-CN" altLang="en-US" smtClean="0"/>
          </a:p>
        </p:txBody>
      </p:sp>
      <p:sp>
        <p:nvSpPr>
          <p:cNvPr id="23555" name="Rectangle 27"/>
          <p:cNvSpPr>
            <a:spLocks noChangeArrowheads="1"/>
          </p:cNvSpPr>
          <p:nvPr/>
        </p:nvSpPr>
        <p:spPr bwMode="auto">
          <a:xfrm>
            <a:off x="381000" y="1752600"/>
            <a:ext cx="83820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20000"/>
              </a:spcBef>
              <a:buClr>
                <a:srgbClr val="FF3300"/>
              </a:buClr>
              <a:buFont typeface="Wingdings" panose="05000000000000000000" pitchFamily="2" charset="2"/>
              <a:buChar char="w"/>
            </a:pPr>
            <a:r>
              <a:rPr lang="zh-CN" altLang="en-US" sz="3600">
                <a:solidFill>
                  <a:srgbClr val="080808"/>
                </a:solidFill>
                <a:latin typeface="Tahoma" panose="020B0604030504040204" pitchFamily="34" charset="0"/>
                <a:ea typeface="隶书" panose="02010509060101010101" pitchFamily="49" charset="-122"/>
              </a:rPr>
              <a:t>创建型模式</a:t>
            </a:r>
            <a:endParaRPr lang="zh-CN" altLang="en-US" sz="3600">
              <a:solidFill>
                <a:srgbClr val="080808"/>
              </a:solidFill>
              <a:latin typeface="Tahoma" panose="020B0604030504040204" pitchFamily="34" charset="0"/>
              <a:ea typeface="隶书" panose="02010509060101010101" pitchFamily="49" charset="-122"/>
            </a:endParaRPr>
          </a:p>
          <a:p>
            <a:pPr lvl="1" eaLnBrk="1" hangingPunct="1">
              <a:lnSpc>
                <a:spcPct val="120000"/>
              </a:lnSpc>
              <a:spcBef>
                <a:spcPct val="20000"/>
              </a:spcBef>
              <a:buClr>
                <a:srgbClr val="0000FF"/>
              </a:buClr>
              <a:buFont typeface="Wingdings" panose="05000000000000000000" pitchFamily="2" charset="2"/>
              <a:buChar char="ü"/>
            </a:pPr>
            <a:r>
              <a:rPr lang="zh-CN" altLang="en-US" sz="2400" b="1">
                <a:solidFill>
                  <a:srgbClr val="333333"/>
                </a:solidFill>
                <a:latin typeface="Tahoma" panose="020B0604030504040204" pitchFamily="34" charset="0"/>
                <a:ea typeface="楷体_GB2312" pitchFamily="49" charset="-122"/>
              </a:rPr>
              <a:t>抽象工厂模式</a:t>
            </a:r>
            <a:r>
              <a:rPr lang="en-US" altLang="zh-CN" sz="2400" b="1">
                <a:solidFill>
                  <a:srgbClr val="333333"/>
                </a:solidFill>
                <a:latin typeface="Tahoma" panose="020B0604030504040204" pitchFamily="34" charset="0"/>
                <a:ea typeface="楷体_GB2312" pitchFamily="49" charset="-122"/>
              </a:rPr>
              <a:t>(Abstract Factory)</a:t>
            </a:r>
            <a:endParaRPr lang="en-US" altLang="zh-CN" sz="2400" b="1">
              <a:solidFill>
                <a:srgbClr val="333333"/>
              </a:solidFill>
              <a:latin typeface="Tahoma" panose="020B0604030504040204" pitchFamily="34" charset="0"/>
              <a:ea typeface="楷体_GB2312" pitchFamily="49" charset="-122"/>
            </a:endParaRPr>
          </a:p>
          <a:p>
            <a:pPr lvl="1" eaLnBrk="1" hangingPunct="1">
              <a:lnSpc>
                <a:spcPct val="120000"/>
              </a:lnSpc>
              <a:spcBef>
                <a:spcPct val="20000"/>
              </a:spcBef>
              <a:buClr>
                <a:srgbClr val="0000FF"/>
              </a:buClr>
              <a:buFont typeface="Wingdings" panose="05000000000000000000" pitchFamily="2" charset="2"/>
              <a:buChar char="ü"/>
            </a:pPr>
            <a:r>
              <a:rPr lang="zh-CN" altLang="en-US" sz="2400" b="1">
                <a:solidFill>
                  <a:srgbClr val="333333"/>
                </a:solidFill>
                <a:latin typeface="Tahoma" panose="020B0604030504040204" pitchFamily="34" charset="0"/>
                <a:ea typeface="楷体_GB2312" pitchFamily="49" charset="-122"/>
              </a:rPr>
              <a:t>建造者模式</a:t>
            </a:r>
            <a:r>
              <a:rPr lang="en-US" altLang="zh-CN" sz="2400" b="1">
                <a:solidFill>
                  <a:srgbClr val="333333"/>
                </a:solidFill>
                <a:latin typeface="Tahoma" panose="020B0604030504040204" pitchFamily="34" charset="0"/>
                <a:ea typeface="楷体_GB2312" pitchFamily="49" charset="-122"/>
              </a:rPr>
              <a:t>(Builder)</a:t>
            </a:r>
            <a:endParaRPr lang="en-US" altLang="zh-CN" sz="2400" b="1">
              <a:solidFill>
                <a:srgbClr val="333333"/>
              </a:solidFill>
              <a:latin typeface="Tahoma" panose="020B0604030504040204" pitchFamily="34" charset="0"/>
              <a:ea typeface="楷体_GB2312" pitchFamily="49" charset="-122"/>
            </a:endParaRPr>
          </a:p>
          <a:p>
            <a:pPr lvl="1" eaLnBrk="1" hangingPunct="1">
              <a:lnSpc>
                <a:spcPct val="120000"/>
              </a:lnSpc>
              <a:spcBef>
                <a:spcPct val="20000"/>
              </a:spcBef>
              <a:buClr>
                <a:srgbClr val="0000FF"/>
              </a:buClr>
              <a:buFont typeface="Wingdings" panose="05000000000000000000" pitchFamily="2" charset="2"/>
              <a:buChar char="ü"/>
            </a:pPr>
            <a:r>
              <a:rPr lang="zh-CN" altLang="en-US" sz="2400" b="1">
                <a:solidFill>
                  <a:srgbClr val="333333"/>
                </a:solidFill>
                <a:latin typeface="Tahoma" panose="020B0604030504040204" pitchFamily="34" charset="0"/>
                <a:ea typeface="楷体_GB2312" pitchFamily="49" charset="-122"/>
              </a:rPr>
              <a:t>工厂方法模式</a:t>
            </a:r>
            <a:r>
              <a:rPr lang="en-US" altLang="zh-CN" sz="2400" b="1">
                <a:solidFill>
                  <a:srgbClr val="333333"/>
                </a:solidFill>
                <a:latin typeface="Tahoma" panose="020B0604030504040204" pitchFamily="34" charset="0"/>
                <a:ea typeface="楷体_GB2312" pitchFamily="49" charset="-122"/>
              </a:rPr>
              <a:t>(Factory Method)</a:t>
            </a:r>
            <a:endParaRPr lang="en-US" altLang="zh-CN" sz="2400" b="1">
              <a:solidFill>
                <a:srgbClr val="333333"/>
              </a:solidFill>
              <a:latin typeface="Tahoma" panose="020B0604030504040204" pitchFamily="34" charset="0"/>
              <a:ea typeface="楷体_GB2312" pitchFamily="49" charset="-122"/>
            </a:endParaRPr>
          </a:p>
          <a:p>
            <a:pPr lvl="1" eaLnBrk="1" hangingPunct="1">
              <a:lnSpc>
                <a:spcPct val="120000"/>
              </a:lnSpc>
              <a:spcBef>
                <a:spcPct val="20000"/>
              </a:spcBef>
              <a:buClr>
                <a:srgbClr val="0000FF"/>
              </a:buClr>
              <a:buFont typeface="Wingdings" panose="05000000000000000000" pitchFamily="2" charset="2"/>
              <a:buChar char="ü"/>
            </a:pPr>
            <a:r>
              <a:rPr lang="zh-CN" altLang="en-US" sz="2400" b="1">
                <a:solidFill>
                  <a:srgbClr val="333333"/>
                </a:solidFill>
                <a:latin typeface="Tahoma" panose="020B0604030504040204" pitchFamily="34" charset="0"/>
                <a:ea typeface="楷体_GB2312" pitchFamily="49" charset="-122"/>
              </a:rPr>
              <a:t>原型模式</a:t>
            </a:r>
            <a:r>
              <a:rPr lang="en-US" altLang="zh-CN" sz="2400" b="1">
                <a:solidFill>
                  <a:srgbClr val="333333"/>
                </a:solidFill>
                <a:latin typeface="Tahoma" panose="020B0604030504040204" pitchFamily="34" charset="0"/>
                <a:ea typeface="楷体_GB2312" pitchFamily="49" charset="-122"/>
              </a:rPr>
              <a:t>(Prototype)</a:t>
            </a:r>
            <a:endParaRPr lang="en-US" altLang="zh-CN" sz="2400" b="1">
              <a:solidFill>
                <a:srgbClr val="333333"/>
              </a:solidFill>
              <a:latin typeface="Tahoma" panose="020B0604030504040204" pitchFamily="34" charset="0"/>
              <a:ea typeface="楷体_GB2312" pitchFamily="49" charset="-122"/>
            </a:endParaRPr>
          </a:p>
          <a:p>
            <a:pPr lvl="1" eaLnBrk="1" hangingPunct="1">
              <a:lnSpc>
                <a:spcPct val="120000"/>
              </a:lnSpc>
              <a:spcBef>
                <a:spcPct val="20000"/>
              </a:spcBef>
              <a:buClr>
                <a:srgbClr val="0000FF"/>
              </a:buClr>
              <a:buFont typeface="Wingdings" panose="05000000000000000000" pitchFamily="2" charset="2"/>
              <a:buChar char="ü"/>
            </a:pPr>
            <a:r>
              <a:rPr lang="zh-CN" altLang="en-US" sz="2400" b="1">
                <a:solidFill>
                  <a:srgbClr val="333333"/>
                </a:solidFill>
                <a:latin typeface="Tahoma" panose="020B0604030504040204" pitchFamily="34" charset="0"/>
                <a:ea typeface="楷体_GB2312" pitchFamily="49" charset="-122"/>
              </a:rPr>
              <a:t>单例模式</a:t>
            </a:r>
            <a:r>
              <a:rPr lang="en-US" altLang="zh-CN" sz="2400" b="1">
                <a:solidFill>
                  <a:srgbClr val="333333"/>
                </a:solidFill>
                <a:latin typeface="Tahoma" panose="020B0604030504040204" pitchFamily="34" charset="0"/>
                <a:ea typeface="楷体_GB2312" pitchFamily="49" charset="-122"/>
              </a:rPr>
              <a:t>(Singleton)  </a:t>
            </a:r>
            <a:endParaRPr lang="en-US" altLang="zh-CN" sz="2400" b="1">
              <a:solidFill>
                <a:srgbClr val="333333"/>
              </a:solidFill>
              <a:latin typeface="Tahoma" panose="020B0604030504040204" pitchFamily="34" charset="0"/>
              <a:ea typeface="楷体_GB2312" pitchFamily="49" charset="-122"/>
            </a:endParaRPr>
          </a:p>
          <a:p>
            <a:pPr lvl="1" eaLnBrk="1" hangingPunct="1">
              <a:lnSpc>
                <a:spcPct val="120000"/>
              </a:lnSpc>
              <a:spcBef>
                <a:spcPct val="20000"/>
              </a:spcBef>
              <a:buClr>
                <a:srgbClr val="0000FF"/>
              </a:buClr>
              <a:buFont typeface="Wingdings" panose="05000000000000000000" pitchFamily="2" charset="2"/>
              <a:buChar char="ü"/>
            </a:pPr>
            <a:endParaRPr lang="en-US" altLang="zh-CN" sz="2400" b="1">
              <a:solidFill>
                <a:srgbClr val="333333"/>
              </a:solidFill>
              <a:latin typeface="Tahoma" panose="020B0604030504040204" pitchFamily="34" charset="0"/>
              <a:ea typeface="楷体_GB2312" pitchFamily="49"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fontScale="90000"/>
          </a:bodyPr>
          <a:lstStyle/>
          <a:p>
            <a:pPr eaLnBrk="1" hangingPunct="1"/>
            <a:r>
              <a:rPr lang="en-US" altLang="zh-CN" smtClean="0"/>
              <a:t>GoF</a:t>
            </a:r>
            <a:r>
              <a:rPr lang="zh-CN" altLang="en-US" smtClean="0"/>
              <a:t>设计模式简介 </a:t>
            </a:r>
            <a:endParaRPr lang="zh-CN" altLang="en-US" smtClean="0"/>
          </a:p>
        </p:txBody>
      </p:sp>
      <p:sp>
        <p:nvSpPr>
          <p:cNvPr id="24579" name="Rectangle 3"/>
          <p:cNvSpPr>
            <a:spLocks noChangeArrowheads="1"/>
          </p:cNvSpPr>
          <p:nvPr/>
        </p:nvSpPr>
        <p:spPr bwMode="auto">
          <a:xfrm>
            <a:off x="381000" y="1752600"/>
            <a:ext cx="83820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20000"/>
              </a:spcBef>
              <a:buClr>
                <a:srgbClr val="FF3300"/>
              </a:buClr>
              <a:buFont typeface="Wingdings" panose="05000000000000000000" pitchFamily="2" charset="2"/>
              <a:buChar char="w"/>
            </a:pPr>
            <a:r>
              <a:rPr lang="zh-CN" altLang="en-US" sz="3600">
                <a:solidFill>
                  <a:srgbClr val="080808"/>
                </a:solidFill>
                <a:latin typeface="Tahoma" panose="020B0604030504040204" pitchFamily="34" charset="0"/>
                <a:ea typeface="隶书" panose="02010509060101010101" pitchFamily="49" charset="-122"/>
              </a:rPr>
              <a:t>结构型模式</a:t>
            </a:r>
            <a:endParaRPr lang="zh-CN" altLang="en-US" sz="3600">
              <a:solidFill>
                <a:srgbClr val="080808"/>
              </a:solidFill>
              <a:latin typeface="Tahoma" panose="020B0604030504040204" pitchFamily="34" charset="0"/>
              <a:ea typeface="隶书" panose="02010509060101010101" pitchFamily="49" charset="-122"/>
            </a:endParaRPr>
          </a:p>
          <a:p>
            <a:pPr lvl="1" eaLnBrk="1" hangingPunct="1">
              <a:lnSpc>
                <a:spcPct val="120000"/>
              </a:lnSpc>
              <a:spcBef>
                <a:spcPct val="20000"/>
              </a:spcBef>
              <a:buClr>
                <a:srgbClr val="0000FF"/>
              </a:buClr>
              <a:buFont typeface="Wingdings" panose="05000000000000000000" pitchFamily="2" charset="2"/>
              <a:buChar char="ü"/>
            </a:pPr>
            <a:r>
              <a:rPr lang="zh-CN" altLang="zh-CN" sz="2400" b="1">
                <a:solidFill>
                  <a:srgbClr val="333333"/>
                </a:solidFill>
                <a:latin typeface="Tahoma" panose="020B0604030504040204" pitchFamily="34" charset="0"/>
                <a:ea typeface="楷体_GB2312" pitchFamily="49" charset="-122"/>
              </a:rPr>
              <a:t>适配器模式(Adapter)</a:t>
            </a:r>
            <a:endParaRPr lang="zh-CN" altLang="zh-CN" sz="2400" b="1">
              <a:solidFill>
                <a:srgbClr val="333333"/>
              </a:solidFill>
              <a:latin typeface="Tahoma" panose="020B0604030504040204" pitchFamily="34" charset="0"/>
              <a:ea typeface="楷体_GB2312" pitchFamily="49" charset="-122"/>
            </a:endParaRPr>
          </a:p>
          <a:p>
            <a:pPr lvl="1" eaLnBrk="1" hangingPunct="1">
              <a:lnSpc>
                <a:spcPct val="120000"/>
              </a:lnSpc>
              <a:spcBef>
                <a:spcPct val="20000"/>
              </a:spcBef>
              <a:buClr>
                <a:srgbClr val="0000FF"/>
              </a:buClr>
              <a:buFont typeface="Wingdings" panose="05000000000000000000" pitchFamily="2" charset="2"/>
              <a:buChar char="ü"/>
            </a:pPr>
            <a:r>
              <a:rPr lang="zh-CN" altLang="zh-CN" sz="2400" b="1">
                <a:solidFill>
                  <a:srgbClr val="333333"/>
                </a:solidFill>
                <a:latin typeface="Tahoma" panose="020B0604030504040204" pitchFamily="34" charset="0"/>
                <a:ea typeface="楷体_GB2312" pitchFamily="49" charset="-122"/>
              </a:rPr>
              <a:t>桥接模式(Bridge)</a:t>
            </a:r>
            <a:endParaRPr lang="zh-CN" altLang="zh-CN" sz="2400" b="1">
              <a:solidFill>
                <a:srgbClr val="333333"/>
              </a:solidFill>
              <a:latin typeface="Tahoma" panose="020B0604030504040204" pitchFamily="34" charset="0"/>
              <a:ea typeface="楷体_GB2312" pitchFamily="49" charset="-122"/>
            </a:endParaRPr>
          </a:p>
          <a:p>
            <a:pPr lvl="1" eaLnBrk="1" hangingPunct="1">
              <a:lnSpc>
                <a:spcPct val="120000"/>
              </a:lnSpc>
              <a:spcBef>
                <a:spcPct val="20000"/>
              </a:spcBef>
              <a:buClr>
                <a:srgbClr val="0000FF"/>
              </a:buClr>
              <a:buFont typeface="Wingdings" panose="05000000000000000000" pitchFamily="2" charset="2"/>
              <a:buChar char="ü"/>
            </a:pPr>
            <a:r>
              <a:rPr lang="zh-CN" altLang="zh-CN" sz="2400" b="1">
                <a:solidFill>
                  <a:srgbClr val="333333"/>
                </a:solidFill>
                <a:latin typeface="Tahoma" panose="020B0604030504040204" pitchFamily="34" charset="0"/>
                <a:ea typeface="楷体_GB2312" pitchFamily="49" charset="-122"/>
              </a:rPr>
              <a:t>组合模式(Composite)</a:t>
            </a:r>
            <a:endParaRPr lang="zh-CN" altLang="zh-CN" sz="2400" b="1">
              <a:solidFill>
                <a:srgbClr val="333333"/>
              </a:solidFill>
              <a:latin typeface="Tahoma" panose="020B0604030504040204" pitchFamily="34" charset="0"/>
              <a:ea typeface="楷体_GB2312" pitchFamily="49" charset="-122"/>
            </a:endParaRPr>
          </a:p>
          <a:p>
            <a:pPr lvl="1" eaLnBrk="1" hangingPunct="1">
              <a:lnSpc>
                <a:spcPct val="120000"/>
              </a:lnSpc>
              <a:spcBef>
                <a:spcPct val="20000"/>
              </a:spcBef>
              <a:buClr>
                <a:srgbClr val="0000FF"/>
              </a:buClr>
              <a:buFont typeface="Wingdings" panose="05000000000000000000" pitchFamily="2" charset="2"/>
              <a:buChar char="ü"/>
            </a:pPr>
            <a:r>
              <a:rPr lang="zh-CN" altLang="zh-CN" sz="2400" b="1">
                <a:solidFill>
                  <a:srgbClr val="333333"/>
                </a:solidFill>
                <a:latin typeface="Tahoma" panose="020B0604030504040204" pitchFamily="34" charset="0"/>
                <a:ea typeface="楷体_GB2312" pitchFamily="49" charset="-122"/>
              </a:rPr>
              <a:t>装饰模式(Decorator)</a:t>
            </a:r>
            <a:endParaRPr lang="zh-CN" altLang="zh-CN" sz="2400" b="1">
              <a:solidFill>
                <a:srgbClr val="333333"/>
              </a:solidFill>
              <a:latin typeface="Tahoma" panose="020B0604030504040204" pitchFamily="34" charset="0"/>
              <a:ea typeface="楷体_GB2312" pitchFamily="49" charset="-122"/>
            </a:endParaRPr>
          </a:p>
          <a:p>
            <a:pPr lvl="1" eaLnBrk="1" hangingPunct="1">
              <a:lnSpc>
                <a:spcPct val="120000"/>
              </a:lnSpc>
              <a:spcBef>
                <a:spcPct val="20000"/>
              </a:spcBef>
              <a:buClr>
                <a:srgbClr val="0000FF"/>
              </a:buClr>
              <a:buFont typeface="Wingdings" panose="05000000000000000000" pitchFamily="2" charset="2"/>
              <a:buChar char="ü"/>
            </a:pPr>
            <a:r>
              <a:rPr lang="zh-CN" altLang="zh-CN" sz="2400" b="1">
                <a:solidFill>
                  <a:srgbClr val="333333"/>
                </a:solidFill>
                <a:latin typeface="Tahoma" panose="020B0604030504040204" pitchFamily="34" charset="0"/>
                <a:ea typeface="楷体_GB2312" pitchFamily="49" charset="-122"/>
              </a:rPr>
              <a:t>外观模式(Facade)</a:t>
            </a:r>
            <a:endParaRPr lang="zh-CN" altLang="zh-CN" sz="2400" b="1">
              <a:solidFill>
                <a:srgbClr val="333333"/>
              </a:solidFill>
              <a:latin typeface="Tahoma" panose="020B0604030504040204" pitchFamily="34" charset="0"/>
              <a:ea typeface="楷体_GB2312" pitchFamily="49" charset="-122"/>
            </a:endParaRPr>
          </a:p>
          <a:p>
            <a:pPr lvl="1" eaLnBrk="1" hangingPunct="1">
              <a:lnSpc>
                <a:spcPct val="120000"/>
              </a:lnSpc>
              <a:spcBef>
                <a:spcPct val="20000"/>
              </a:spcBef>
              <a:buClr>
                <a:srgbClr val="0000FF"/>
              </a:buClr>
              <a:buFont typeface="Wingdings" panose="05000000000000000000" pitchFamily="2" charset="2"/>
              <a:buChar char="ü"/>
            </a:pPr>
            <a:r>
              <a:rPr lang="zh-CN" altLang="zh-CN" sz="2400" b="1">
                <a:solidFill>
                  <a:srgbClr val="333333"/>
                </a:solidFill>
                <a:latin typeface="Tahoma" panose="020B0604030504040204" pitchFamily="34" charset="0"/>
                <a:ea typeface="楷体_GB2312" pitchFamily="49" charset="-122"/>
              </a:rPr>
              <a:t>享元模式(Flyweight)</a:t>
            </a:r>
            <a:endParaRPr lang="zh-CN" altLang="zh-CN" sz="2400" b="1">
              <a:solidFill>
                <a:srgbClr val="333333"/>
              </a:solidFill>
              <a:latin typeface="Tahoma" panose="020B0604030504040204" pitchFamily="34" charset="0"/>
              <a:ea typeface="楷体_GB2312" pitchFamily="49" charset="-122"/>
            </a:endParaRPr>
          </a:p>
          <a:p>
            <a:pPr lvl="1" eaLnBrk="1" hangingPunct="1">
              <a:lnSpc>
                <a:spcPct val="120000"/>
              </a:lnSpc>
              <a:spcBef>
                <a:spcPct val="20000"/>
              </a:spcBef>
              <a:buClr>
                <a:srgbClr val="0000FF"/>
              </a:buClr>
              <a:buFont typeface="Wingdings" panose="05000000000000000000" pitchFamily="2" charset="2"/>
              <a:buChar char="ü"/>
            </a:pPr>
            <a:r>
              <a:rPr lang="zh-CN" altLang="zh-CN" sz="2400" b="1">
                <a:solidFill>
                  <a:srgbClr val="333333"/>
                </a:solidFill>
                <a:latin typeface="Tahoma" panose="020B0604030504040204" pitchFamily="34" charset="0"/>
                <a:ea typeface="楷体_GB2312" pitchFamily="49" charset="-122"/>
              </a:rPr>
              <a:t>代理模式(Proxy)</a:t>
            </a:r>
            <a:endParaRPr lang="en-US" altLang="zh-CN" sz="2400" b="1">
              <a:solidFill>
                <a:srgbClr val="333333"/>
              </a:solidFill>
              <a:latin typeface="Tahoma" panose="020B0604030504040204" pitchFamily="34" charset="0"/>
              <a:ea typeface="楷体_GB2312" pitchFamily="49" charset="-12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normAutofit fontScale="90000"/>
          </a:bodyPr>
          <a:lstStyle/>
          <a:p>
            <a:pPr eaLnBrk="1" hangingPunct="1"/>
            <a:r>
              <a:rPr lang="en-US" altLang="zh-CN" smtClean="0"/>
              <a:t>GoF</a:t>
            </a:r>
            <a:r>
              <a:rPr lang="zh-CN" altLang="en-US" smtClean="0"/>
              <a:t>设计模式简介 </a:t>
            </a:r>
            <a:endParaRPr lang="zh-CN" altLang="en-US" smtClean="0"/>
          </a:p>
        </p:txBody>
      </p:sp>
      <p:sp>
        <p:nvSpPr>
          <p:cNvPr id="25603" name="Rectangle 3"/>
          <p:cNvSpPr>
            <a:spLocks noChangeArrowheads="1"/>
          </p:cNvSpPr>
          <p:nvPr/>
        </p:nvSpPr>
        <p:spPr bwMode="auto">
          <a:xfrm>
            <a:off x="381000" y="1752600"/>
            <a:ext cx="83820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20000"/>
              </a:spcBef>
              <a:buClr>
                <a:srgbClr val="FF3300"/>
              </a:buClr>
              <a:buFont typeface="Wingdings" panose="05000000000000000000" pitchFamily="2" charset="2"/>
              <a:buChar char="w"/>
            </a:pPr>
            <a:r>
              <a:rPr lang="zh-CN" altLang="en-US" sz="3600">
                <a:solidFill>
                  <a:srgbClr val="080808"/>
                </a:solidFill>
                <a:latin typeface="Tahoma" panose="020B0604030504040204" pitchFamily="34" charset="0"/>
                <a:ea typeface="隶书" panose="02010509060101010101" pitchFamily="49" charset="-122"/>
              </a:rPr>
              <a:t>行为型模式</a:t>
            </a:r>
            <a:endParaRPr lang="zh-CN" altLang="en-US" sz="3600">
              <a:solidFill>
                <a:srgbClr val="080808"/>
              </a:solidFill>
              <a:latin typeface="Tahoma" panose="020B0604030504040204" pitchFamily="34" charset="0"/>
              <a:ea typeface="隶书" panose="02010509060101010101" pitchFamily="49" charset="-122"/>
            </a:endParaRPr>
          </a:p>
          <a:p>
            <a:pPr lvl="1" eaLnBrk="1" hangingPunct="1">
              <a:spcBef>
                <a:spcPct val="20000"/>
              </a:spcBef>
              <a:buClr>
                <a:srgbClr val="0000FF"/>
              </a:buClr>
              <a:buFont typeface="Wingdings" panose="05000000000000000000" pitchFamily="2" charset="2"/>
              <a:buChar char="ü"/>
            </a:pPr>
            <a:r>
              <a:rPr lang="zh-CN" altLang="zh-CN" b="1">
                <a:solidFill>
                  <a:srgbClr val="333333"/>
                </a:solidFill>
                <a:latin typeface="Tahoma" panose="020B0604030504040204" pitchFamily="34" charset="0"/>
                <a:ea typeface="楷体_GB2312" pitchFamily="49" charset="-122"/>
              </a:rPr>
              <a:t>职责链模式(Chain of Responsibility)</a:t>
            </a:r>
            <a:endParaRPr lang="zh-CN" altLang="zh-CN" b="1">
              <a:solidFill>
                <a:srgbClr val="333333"/>
              </a:solidFill>
              <a:latin typeface="Tahoma" panose="020B0604030504040204" pitchFamily="34" charset="0"/>
              <a:ea typeface="楷体_GB2312" pitchFamily="49" charset="-122"/>
            </a:endParaRPr>
          </a:p>
          <a:p>
            <a:pPr lvl="1" eaLnBrk="1" hangingPunct="1">
              <a:spcBef>
                <a:spcPct val="20000"/>
              </a:spcBef>
              <a:buClr>
                <a:srgbClr val="0000FF"/>
              </a:buClr>
              <a:buFont typeface="Wingdings" panose="05000000000000000000" pitchFamily="2" charset="2"/>
              <a:buChar char="ü"/>
            </a:pPr>
            <a:r>
              <a:rPr lang="zh-CN" altLang="zh-CN" b="1">
                <a:solidFill>
                  <a:srgbClr val="333333"/>
                </a:solidFill>
                <a:latin typeface="Tahoma" panose="020B0604030504040204" pitchFamily="34" charset="0"/>
                <a:ea typeface="楷体_GB2312" pitchFamily="49" charset="-122"/>
              </a:rPr>
              <a:t>命令模式(Command)</a:t>
            </a:r>
            <a:endParaRPr lang="zh-CN" altLang="zh-CN" b="1">
              <a:solidFill>
                <a:srgbClr val="333333"/>
              </a:solidFill>
              <a:latin typeface="Tahoma" panose="020B0604030504040204" pitchFamily="34" charset="0"/>
              <a:ea typeface="楷体_GB2312" pitchFamily="49" charset="-122"/>
            </a:endParaRPr>
          </a:p>
          <a:p>
            <a:pPr lvl="1" eaLnBrk="1" hangingPunct="1">
              <a:spcBef>
                <a:spcPct val="20000"/>
              </a:spcBef>
              <a:buClr>
                <a:srgbClr val="0000FF"/>
              </a:buClr>
              <a:buFont typeface="Wingdings" panose="05000000000000000000" pitchFamily="2" charset="2"/>
              <a:buChar char="ü"/>
            </a:pPr>
            <a:r>
              <a:rPr lang="zh-CN" altLang="zh-CN" b="1">
                <a:solidFill>
                  <a:srgbClr val="333333"/>
                </a:solidFill>
                <a:latin typeface="Tahoma" panose="020B0604030504040204" pitchFamily="34" charset="0"/>
                <a:ea typeface="楷体_GB2312" pitchFamily="49" charset="-122"/>
              </a:rPr>
              <a:t>解释器模式(Interpreter)</a:t>
            </a:r>
            <a:endParaRPr lang="zh-CN" altLang="zh-CN" b="1">
              <a:solidFill>
                <a:srgbClr val="333333"/>
              </a:solidFill>
              <a:latin typeface="Tahoma" panose="020B0604030504040204" pitchFamily="34" charset="0"/>
              <a:ea typeface="楷体_GB2312" pitchFamily="49" charset="-122"/>
            </a:endParaRPr>
          </a:p>
          <a:p>
            <a:pPr lvl="1" eaLnBrk="1" hangingPunct="1">
              <a:spcBef>
                <a:spcPct val="20000"/>
              </a:spcBef>
              <a:buClr>
                <a:srgbClr val="0000FF"/>
              </a:buClr>
              <a:buFont typeface="Wingdings" panose="05000000000000000000" pitchFamily="2" charset="2"/>
              <a:buChar char="ü"/>
            </a:pPr>
            <a:r>
              <a:rPr lang="zh-CN" altLang="zh-CN" b="1">
                <a:solidFill>
                  <a:srgbClr val="333333"/>
                </a:solidFill>
                <a:latin typeface="Tahoma" panose="020B0604030504040204" pitchFamily="34" charset="0"/>
                <a:ea typeface="楷体_GB2312" pitchFamily="49" charset="-122"/>
              </a:rPr>
              <a:t>迭代器模式(Iterator)</a:t>
            </a:r>
            <a:endParaRPr lang="zh-CN" altLang="zh-CN" b="1">
              <a:solidFill>
                <a:srgbClr val="333333"/>
              </a:solidFill>
              <a:latin typeface="Tahoma" panose="020B0604030504040204" pitchFamily="34" charset="0"/>
              <a:ea typeface="楷体_GB2312" pitchFamily="49" charset="-122"/>
            </a:endParaRPr>
          </a:p>
          <a:p>
            <a:pPr lvl="1" eaLnBrk="1" hangingPunct="1">
              <a:spcBef>
                <a:spcPct val="20000"/>
              </a:spcBef>
              <a:buClr>
                <a:srgbClr val="0000FF"/>
              </a:buClr>
              <a:buFont typeface="Wingdings" panose="05000000000000000000" pitchFamily="2" charset="2"/>
              <a:buChar char="ü"/>
            </a:pPr>
            <a:r>
              <a:rPr lang="zh-CN" altLang="zh-CN" b="1">
                <a:solidFill>
                  <a:srgbClr val="333333"/>
                </a:solidFill>
                <a:latin typeface="Tahoma" panose="020B0604030504040204" pitchFamily="34" charset="0"/>
                <a:ea typeface="楷体_GB2312" pitchFamily="49" charset="-122"/>
              </a:rPr>
              <a:t>中介者模式(Mediator)</a:t>
            </a:r>
            <a:endParaRPr lang="zh-CN" altLang="zh-CN" b="1">
              <a:solidFill>
                <a:srgbClr val="333333"/>
              </a:solidFill>
              <a:latin typeface="Tahoma" panose="020B0604030504040204" pitchFamily="34" charset="0"/>
              <a:ea typeface="楷体_GB2312" pitchFamily="49" charset="-122"/>
            </a:endParaRPr>
          </a:p>
          <a:p>
            <a:pPr lvl="1" eaLnBrk="1" hangingPunct="1">
              <a:spcBef>
                <a:spcPct val="20000"/>
              </a:spcBef>
              <a:buClr>
                <a:srgbClr val="0000FF"/>
              </a:buClr>
              <a:buFont typeface="Wingdings" panose="05000000000000000000" pitchFamily="2" charset="2"/>
              <a:buChar char="ü"/>
            </a:pPr>
            <a:r>
              <a:rPr lang="zh-CN" altLang="zh-CN" b="1">
                <a:solidFill>
                  <a:srgbClr val="333333"/>
                </a:solidFill>
                <a:latin typeface="Tahoma" panose="020B0604030504040204" pitchFamily="34" charset="0"/>
                <a:ea typeface="楷体_GB2312" pitchFamily="49" charset="-122"/>
              </a:rPr>
              <a:t>备忘录模式(Memento)</a:t>
            </a:r>
            <a:endParaRPr lang="zh-CN" altLang="zh-CN" b="1">
              <a:solidFill>
                <a:srgbClr val="333333"/>
              </a:solidFill>
              <a:latin typeface="Tahoma" panose="020B0604030504040204" pitchFamily="34" charset="0"/>
              <a:ea typeface="楷体_GB2312" pitchFamily="49" charset="-122"/>
            </a:endParaRPr>
          </a:p>
          <a:p>
            <a:pPr lvl="1" eaLnBrk="1" hangingPunct="1">
              <a:spcBef>
                <a:spcPct val="20000"/>
              </a:spcBef>
              <a:buClr>
                <a:srgbClr val="0000FF"/>
              </a:buClr>
              <a:buFont typeface="Wingdings" panose="05000000000000000000" pitchFamily="2" charset="2"/>
              <a:buChar char="ü"/>
            </a:pPr>
            <a:r>
              <a:rPr lang="zh-CN" altLang="zh-CN" b="1">
                <a:solidFill>
                  <a:srgbClr val="333333"/>
                </a:solidFill>
                <a:latin typeface="Tahoma" panose="020B0604030504040204" pitchFamily="34" charset="0"/>
                <a:ea typeface="楷体_GB2312" pitchFamily="49" charset="-122"/>
              </a:rPr>
              <a:t>观察者模式(Observer)</a:t>
            </a:r>
            <a:endParaRPr lang="zh-CN" altLang="zh-CN" b="1">
              <a:solidFill>
                <a:srgbClr val="333333"/>
              </a:solidFill>
              <a:latin typeface="Tahoma" panose="020B0604030504040204" pitchFamily="34" charset="0"/>
              <a:ea typeface="楷体_GB2312" pitchFamily="49" charset="-122"/>
            </a:endParaRPr>
          </a:p>
          <a:p>
            <a:pPr lvl="1" eaLnBrk="1" hangingPunct="1">
              <a:spcBef>
                <a:spcPct val="20000"/>
              </a:spcBef>
              <a:buClr>
                <a:srgbClr val="0000FF"/>
              </a:buClr>
              <a:buFont typeface="Wingdings" panose="05000000000000000000" pitchFamily="2" charset="2"/>
              <a:buChar char="ü"/>
            </a:pPr>
            <a:r>
              <a:rPr lang="zh-CN" altLang="zh-CN" b="1">
                <a:solidFill>
                  <a:srgbClr val="333333"/>
                </a:solidFill>
                <a:latin typeface="Tahoma" panose="020B0604030504040204" pitchFamily="34" charset="0"/>
                <a:ea typeface="楷体_GB2312" pitchFamily="49" charset="-122"/>
              </a:rPr>
              <a:t>状态模式(State)</a:t>
            </a:r>
            <a:endParaRPr lang="zh-CN" altLang="zh-CN" b="1">
              <a:solidFill>
                <a:srgbClr val="333333"/>
              </a:solidFill>
              <a:latin typeface="Tahoma" panose="020B0604030504040204" pitchFamily="34" charset="0"/>
              <a:ea typeface="楷体_GB2312" pitchFamily="49" charset="-122"/>
            </a:endParaRPr>
          </a:p>
          <a:p>
            <a:pPr lvl="1" eaLnBrk="1" hangingPunct="1">
              <a:spcBef>
                <a:spcPct val="20000"/>
              </a:spcBef>
              <a:buClr>
                <a:srgbClr val="0000FF"/>
              </a:buClr>
              <a:buFont typeface="Wingdings" panose="05000000000000000000" pitchFamily="2" charset="2"/>
              <a:buChar char="ü"/>
            </a:pPr>
            <a:r>
              <a:rPr lang="zh-CN" altLang="zh-CN" b="1">
                <a:solidFill>
                  <a:srgbClr val="333333"/>
                </a:solidFill>
                <a:latin typeface="Tahoma" panose="020B0604030504040204" pitchFamily="34" charset="0"/>
                <a:ea typeface="楷体_GB2312" pitchFamily="49" charset="-122"/>
              </a:rPr>
              <a:t>策略模式(Strategy)</a:t>
            </a:r>
            <a:endParaRPr lang="zh-CN" altLang="zh-CN" b="1">
              <a:solidFill>
                <a:srgbClr val="333333"/>
              </a:solidFill>
              <a:latin typeface="Tahoma" panose="020B0604030504040204" pitchFamily="34" charset="0"/>
              <a:ea typeface="楷体_GB2312" pitchFamily="49" charset="-122"/>
            </a:endParaRPr>
          </a:p>
          <a:p>
            <a:pPr lvl="1" eaLnBrk="1" hangingPunct="1">
              <a:spcBef>
                <a:spcPct val="20000"/>
              </a:spcBef>
              <a:buClr>
                <a:srgbClr val="0000FF"/>
              </a:buClr>
              <a:buFont typeface="Wingdings" panose="05000000000000000000" pitchFamily="2" charset="2"/>
              <a:buChar char="ü"/>
            </a:pPr>
            <a:r>
              <a:rPr lang="zh-CN" altLang="zh-CN" b="1">
                <a:solidFill>
                  <a:srgbClr val="333333"/>
                </a:solidFill>
                <a:latin typeface="Tahoma" panose="020B0604030504040204" pitchFamily="34" charset="0"/>
                <a:ea typeface="楷体_GB2312" pitchFamily="49" charset="-122"/>
              </a:rPr>
              <a:t>模板方法模式(Template Method)</a:t>
            </a:r>
            <a:endParaRPr lang="zh-CN" altLang="zh-CN" b="1">
              <a:solidFill>
                <a:srgbClr val="333333"/>
              </a:solidFill>
              <a:latin typeface="Tahoma" panose="020B0604030504040204" pitchFamily="34" charset="0"/>
              <a:ea typeface="楷体_GB2312" pitchFamily="49" charset="-122"/>
            </a:endParaRPr>
          </a:p>
          <a:p>
            <a:pPr lvl="1" eaLnBrk="1" hangingPunct="1">
              <a:spcBef>
                <a:spcPct val="20000"/>
              </a:spcBef>
              <a:buClr>
                <a:srgbClr val="0000FF"/>
              </a:buClr>
              <a:buFont typeface="Wingdings" panose="05000000000000000000" pitchFamily="2" charset="2"/>
              <a:buChar char="ü"/>
            </a:pPr>
            <a:r>
              <a:rPr lang="zh-CN" altLang="zh-CN" b="1">
                <a:solidFill>
                  <a:srgbClr val="333333"/>
                </a:solidFill>
                <a:latin typeface="Tahoma" panose="020B0604030504040204" pitchFamily="34" charset="0"/>
                <a:ea typeface="楷体_GB2312" pitchFamily="49" charset="-122"/>
              </a:rPr>
              <a:t>访问者模式(Visitor)</a:t>
            </a:r>
            <a:endParaRPr lang="en-US" altLang="zh-CN" b="1">
              <a:solidFill>
                <a:srgbClr val="333333"/>
              </a:solidFill>
              <a:latin typeface="Tahoma" panose="020B0604030504040204" pitchFamily="34" charset="0"/>
              <a:ea typeface="楷体_GB2312" pitchFamily="49" charset="-122"/>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zh-CN" altLang="en-US" smtClean="0"/>
              <a:t>设计模式的优点 </a:t>
            </a:r>
            <a:endParaRPr lang="zh-CN" altLang="en-US" smtClean="0"/>
          </a:p>
        </p:txBody>
      </p:sp>
      <p:sp>
        <p:nvSpPr>
          <p:cNvPr id="26627" name="Rectangle 3"/>
          <p:cNvSpPr>
            <a:spLocks noGrp="1" noChangeArrowheads="1"/>
          </p:cNvSpPr>
          <p:nvPr>
            <p:ph idx="1"/>
          </p:nvPr>
        </p:nvSpPr>
        <p:spPr/>
        <p:txBody>
          <a:bodyPr>
            <a:normAutofit fontScale="85000" lnSpcReduction="10000"/>
          </a:bodyPr>
          <a:lstStyle/>
          <a:p>
            <a:pPr algn="just" eaLnBrk="1" hangingPunct="1">
              <a:lnSpc>
                <a:spcPct val="100000"/>
              </a:lnSpc>
            </a:pPr>
            <a:r>
              <a:rPr lang="en-US" altLang="zh-CN" sz="2600" smtClean="0"/>
              <a:t> </a:t>
            </a:r>
            <a:r>
              <a:rPr lang="zh-CN" altLang="en-US" sz="2600" smtClean="0"/>
              <a:t>设计模式是从许多优秀的软件系统中总结出的</a:t>
            </a:r>
            <a:r>
              <a:rPr lang="zh-CN" altLang="en-US" sz="2600" smtClean="0">
                <a:solidFill>
                  <a:srgbClr val="FF3300"/>
                </a:solidFill>
              </a:rPr>
              <a:t>成功的、能够实现可维护性复用的设计方案</a:t>
            </a:r>
            <a:r>
              <a:rPr lang="zh-CN" altLang="en-US" sz="2600" smtClean="0"/>
              <a:t>，使用这些方案将避免我们做一些重复性的工作，而且可以设计出高质量的软件系统。</a:t>
            </a:r>
            <a:endParaRPr lang="en-US" altLang="zh-CN" sz="2600" smtClean="0"/>
          </a:p>
          <a:p>
            <a:pPr algn="just" eaLnBrk="1" hangingPunct="1">
              <a:lnSpc>
                <a:spcPct val="100000"/>
              </a:lnSpc>
            </a:pPr>
            <a:r>
              <a:rPr lang="zh-CN" altLang="en-US" sz="2600" smtClean="0"/>
              <a:t>设计模式的主要优点如下：</a:t>
            </a:r>
            <a:endParaRPr lang="zh-CN" altLang="en-US" sz="2600" smtClean="0"/>
          </a:p>
          <a:p>
            <a:pPr lvl="1" algn="just" eaLnBrk="1" hangingPunct="1">
              <a:lnSpc>
                <a:spcPct val="100000"/>
              </a:lnSpc>
            </a:pPr>
            <a:r>
              <a:rPr lang="zh-CN" altLang="en-US" sz="2000" smtClean="0"/>
              <a:t>设计模式</a:t>
            </a:r>
            <a:r>
              <a:rPr lang="zh-CN" altLang="en-US" sz="2000" smtClean="0">
                <a:solidFill>
                  <a:srgbClr val="FF3300"/>
                </a:solidFill>
              </a:rPr>
              <a:t>融合了众多专家的经验</a:t>
            </a:r>
            <a:r>
              <a:rPr lang="zh-CN" altLang="en-US" sz="2000" smtClean="0"/>
              <a:t>，并以一种</a:t>
            </a:r>
            <a:r>
              <a:rPr lang="zh-CN" altLang="en-US" sz="2000" smtClean="0">
                <a:solidFill>
                  <a:srgbClr val="FF3300"/>
                </a:solidFill>
              </a:rPr>
              <a:t>标准的形式</a:t>
            </a:r>
            <a:r>
              <a:rPr lang="zh-CN" altLang="en-US" sz="2000" smtClean="0"/>
              <a:t>供广大开发人员所用，它提供了</a:t>
            </a:r>
            <a:r>
              <a:rPr lang="zh-CN" altLang="en-US" sz="2000" smtClean="0">
                <a:solidFill>
                  <a:srgbClr val="FF3300"/>
                </a:solidFill>
              </a:rPr>
              <a:t>一套通用的设计词汇和一种通用的语言</a:t>
            </a:r>
            <a:r>
              <a:rPr lang="zh-CN" altLang="en-US" sz="2000" smtClean="0"/>
              <a:t>以方便开发人员之间沟通和交流，使得设计方案更加通俗易懂。对于使用不同编程语言的开发和设计人员可以通过设计模式来交流系统设计方案，每一个模式都对应一个标准的解决方案，设计模式</a:t>
            </a:r>
            <a:r>
              <a:rPr lang="zh-CN" altLang="en-US" sz="2000" smtClean="0">
                <a:solidFill>
                  <a:srgbClr val="FF3300"/>
                </a:solidFill>
              </a:rPr>
              <a:t>可以降低开发人员理解系统的复杂度</a:t>
            </a:r>
            <a:r>
              <a:rPr lang="zh-CN" altLang="en-US" sz="2000" smtClean="0"/>
              <a:t>。</a:t>
            </a:r>
            <a:endParaRPr lang="zh-CN" altLang="en-US" sz="2000" smtClean="0"/>
          </a:p>
          <a:p>
            <a:pPr algn="just" eaLnBrk="1" hangingPunct="1">
              <a:lnSpc>
                <a:spcPct val="100000"/>
              </a:lnSpc>
            </a:pPr>
            <a:endParaRPr lang="en-US" altLang="zh-CN" sz="2000" smtClean="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zh-CN" altLang="en-US" smtClean="0"/>
              <a:t>设计模式的优点 </a:t>
            </a:r>
            <a:endParaRPr lang="zh-CN" altLang="en-US" smtClean="0"/>
          </a:p>
        </p:txBody>
      </p:sp>
      <p:sp>
        <p:nvSpPr>
          <p:cNvPr id="27651" name="Rectangle 3"/>
          <p:cNvSpPr>
            <a:spLocks noGrp="1" noChangeArrowheads="1"/>
          </p:cNvSpPr>
          <p:nvPr>
            <p:ph idx="1"/>
          </p:nvPr>
        </p:nvSpPr>
        <p:spPr/>
        <p:txBody>
          <a:bodyPr>
            <a:normAutofit fontScale="85000" lnSpcReduction="10000"/>
          </a:bodyPr>
          <a:lstStyle/>
          <a:p>
            <a:pPr lvl="1" algn="just" eaLnBrk="1" hangingPunct="1">
              <a:lnSpc>
                <a:spcPct val="110000"/>
              </a:lnSpc>
            </a:pPr>
            <a:r>
              <a:rPr lang="zh-CN" altLang="en-US" sz="2000" smtClean="0"/>
              <a:t>设计模式使人们可以更加</a:t>
            </a:r>
            <a:r>
              <a:rPr lang="zh-CN" altLang="en-US" sz="2000" smtClean="0">
                <a:solidFill>
                  <a:srgbClr val="FF3300"/>
                </a:solidFill>
              </a:rPr>
              <a:t>简单方便地复用成功的设计和体系结构</a:t>
            </a:r>
            <a:r>
              <a:rPr lang="zh-CN" altLang="en-US" sz="2000" smtClean="0"/>
              <a:t>，将已证实的技术表述成设计模式也会使新系统开发者更加容易理解其设计思路。设计模式使得重用成功的设计更加容易，并避免那些导致不可重用的设计方案。</a:t>
            </a:r>
            <a:endParaRPr lang="zh-CN" altLang="en-US" sz="2000" smtClean="0"/>
          </a:p>
          <a:p>
            <a:pPr lvl="1" algn="just" eaLnBrk="1" hangingPunct="1">
              <a:lnSpc>
                <a:spcPct val="110000"/>
              </a:lnSpc>
            </a:pPr>
            <a:r>
              <a:rPr lang="zh-CN" altLang="en-US" sz="2000" smtClean="0"/>
              <a:t>设计模式</a:t>
            </a:r>
            <a:r>
              <a:rPr lang="zh-CN" altLang="en-US" sz="2000" smtClean="0">
                <a:solidFill>
                  <a:srgbClr val="FF3300"/>
                </a:solidFill>
              </a:rPr>
              <a:t>使得设计方案更加灵活，且易于修改</a:t>
            </a:r>
            <a:r>
              <a:rPr lang="zh-CN" altLang="en-US" sz="2000" smtClean="0"/>
              <a:t>。 </a:t>
            </a:r>
            <a:endParaRPr lang="zh-CN" altLang="en-US" sz="2000" smtClean="0"/>
          </a:p>
          <a:p>
            <a:pPr lvl="1" algn="just" eaLnBrk="1" hangingPunct="1">
              <a:lnSpc>
                <a:spcPct val="110000"/>
              </a:lnSpc>
            </a:pPr>
            <a:r>
              <a:rPr lang="zh-CN" altLang="en-US" sz="2000" smtClean="0"/>
              <a:t>设计模式的使用将</a:t>
            </a:r>
            <a:r>
              <a:rPr lang="zh-CN" altLang="en-US" sz="2000" smtClean="0">
                <a:solidFill>
                  <a:srgbClr val="FF3300"/>
                </a:solidFill>
              </a:rPr>
              <a:t>提高软件系统的开发效率和软件质量</a:t>
            </a:r>
            <a:r>
              <a:rPr lang="zh-CN" altLang="en-US" sz="2000" smtClean="0"/>
              <a:t>，且在一定程度上</a:t>
            </a:r>
            <a:r>
              <a:rPr lang="zh-CN" altLang="en-US" sz="2000" smtClean="0">
                <a:solidFill>
                  <a:srgbClr val="FF3300"/>
                </a:solidFill>
              </a:rPr>
              <a:t>节约设计成本</a:t>
            </a:r>
            <a:r>
              <a:rPr lang="zh-CN" altLang="en-US" sz="2000" smtClean="0"/>
              <a:t>。 </a:t>
            </a:r>
            <a:endParaRPr lang="zh-CN" altLang="en-US" sz="2000" smtClean="0"/>
          </a:p>
          <a:p>
            <a:pPr lvl="1" algn="just" eaLnBrk="1" hangingPunct="1">
              <a:lnSpc>
                <a:spcPct val="110000"/>
              </a:lnSpc>
            </a:pPr>
            <a:r>
              <a:rPr lang="zh-CN" altLang="en-US" sz="2000" smtClean="0"/>
              <a:t>设计模式</a:t>
            </a:r>
            <a:r>
              <a:rPr lang="zh-CN" altLang="en-US" sz="2000" smtClean="0">
                <a:solidFill>
                  <a:srgbClr val="FF3300"/>
                </a:solidFill>
              </a:rPr>
              <a:t>有助于初学者更深入地理解面向对象思想</a:t>
            </a:r>
            <a:r>
              <a:rPr lang="zh-CN" altLang="en-US" sz="2000" smtClean="0"/>
              <a:t>，一方面可以帮助初学者更加方便地阅读和学习现有类库与其他系统中的源代码，另一方面还可以提高软件的设计水平和代码质量。</a:t>
            </a:r>
            <a:endParaRPr lang="zh-CN" altLang="en-US" sz="2000" smtClean="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zh-CN" altLang="en-US" smtClean="0"/>
              <a:t>本章小结</a:t>
            </a:r>
            <a:endParaRPr lang="zh-CN" altLang="en-US" smtClean="0"/>
          </a:p>
        </p:txBody>
      </p:sp>
      <p:sp>
        <p:nvSpPr>
          <p:cNvPr id="28675" name="Rectangle 3"/>
          <p:cNvSpPr>
            <a:spLocks noGrp="1" noChangeArrowheads="1"/>
          </p:cNvSpPr>
          <p:nvPr>
            <p:ph idx="1"/>
          </p:nvPr>
        </p:nvSpPr>
        <p:spPr/>
        <p:txBody>
          <a:bodyPr>
            <a:normAutofit fontScale="92500" lnSpcReduction="20000"/>
          </a:bodyPr>
          <a:lstStyle/>
          <a:p>
            <a:pPr eaLnBrk="1" hangingPunct="1">
              <a:lnSpc>
                <a:spcPct val="100000"/>
              </a:lnSpc>
            </a:pPr>
            <a:r>
              <a:rPr lang="zh-CN" altLang="en-US" sz="2400" smtClean="0"/>
              <a:t>模式是在特定环境中解决问题的一种方案。</a:t>
            </a:r>
            <a:endParaRPr lang="zh-CN" altLang="en-US" sz="2400" smtClean="0"/>
          </a:p>
          <a:p>
            <a:pPr eaLnBrk="1" hangingPunct="1">
              <a:lnSpc>
                <a:spcPct val="100000"/>
              </a:lnSpc>
            </a:pPr>
            <a:r>
              <a:rPr lang="en-US" altLang="zh-CN" sz="2400" smtClean="0"/>
              <a:t>GoF (Erich Gamma, Richard Helm, Ralph Johnson</a:t>
            </a:r>
            <a:r>
              <a:rPr lang="zh-CN" altLang="en-US" sz="2400" smtClean="0"/>
              <a:t>和</a:t>
            </a:r>
            <a:r>
              <a:rPr lang="en-US" altLang="zh-CN" sz="2400" smtClean="0"/>
              <a:t>John Vlissides)</a:t>
            </a:r>
            <a:r>
              <a:rPr lang="zh-CN" altLang="en-US" sz="2400" smtClean="0"/>
              <a:t>最先将模式的概念引入软件工程领域，他们归纳发表了</a:t>
            </a:r>
            <a:r>
              <a:rPr lang="en-US" altLang="zh-CN" sz="2400" smtClean="0"/>
              <a:t>23</a:t>
            </a:r>
            <a:r>
              <a:rPr lang="zh-CN" altLang="en-US" sz="2400" smtClean="0"/>
              <a:t>种在软件开发中使用频率较高的设计模式，旨在用模式来统一沟通面向对象方法在分析、设计和实现间的鸿沟。</a:t>
            </a:r>
            <a:endParaRPr lang="zh-CN" altLang="en-US" sz="2400" smtClean="0"/>
          </a:p>
          <a:p>
            <a:pPr eaLnBrk="1" hangingPunct="1">
              <a:lnSpc>
                <a:spcPct val="100000"/>
              </a:lnSpc>
            </a:pPr>
            <a:r>
              <a:rPr lang="zh-CN" altLang="en-US" sz="2400" smtClean="0"/>
              <a:t>软件模式是将模式的一般概念应用于软件开发领域，即软件开发的总体指导思路或参照样板。软件模式可以认为是对软件开发这一特定“问题”的“解法”的某种统一表示，即软件模式等于一定条件下的出现的问题以及解法。</a:t>
            </a:r>
            <a:endParaRPr lang="zh-CN" altLang="en-US" sz="2400" smtClean="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914400" y="448733"/>
            <a:ext cx="6798734" cy="1303867"/>
          </a:xfrm>
        </p:spPr>
        <p:txBody>
          <a:bodyPr/>
          <a:lstStyle/>
          <a:p>
            <a:pPr eaLnBrk="1" hangingPunct="1"/>
            <a:r>
              <a:rPr lang="zh-CN" altLang="en-US" smtClean="0"/>
              <a:t>本章小结</a:t>
            </a:r>
            <a:endParaRPr lang="zh-CN" altLang="en-US" smtClean="0"/>
          </a:p>
        </p:txBody>
      </p:sp>
      <p:sp>
        <p:nvSpPr>
          <p:cNvPr id="29699" name="Rectangle 3"/>
          <p:cNvSpPr>
            <a:spLocks noGrp="1" noChangeArrowheads="1"/>
          </p:cNvSpPr>
          <p:nvPr>
            <p:ph idx="1"/>
          </p:nvPr>
        </p:nvSpPr>
        <p:spPr>
          <a:xfrm>
            <a:off x="381000" y="1752600"/>
            <a:ext cx="8382000" cy="4419600"/>
          </a:xfrm>
        </p:spPr>
        <p:txBody>
          <a:bodyPr/>
          <a:lstStyle/>
          <a:p>
            <a:pPr eaLnBrk="1" hangingPunct="1">
              <a:lnSpc>
                <a:spcPct val="100000"/>
              </a:lnSpc>
            </a:pPr>
            <a:r>
              <a:rPr lang="zh-CN" altLang="en-US" sz="2200" smtClean="0"/>
              <a:t>设计模式是一套被反复使用、多数人知晓的、经过分类编目的、代码设计经验的总结，使用设计模式是为了可重用代码、让代码更容易被他人理解、保证代码可靠性。</a:t>
            </a:r>
            <a:endParaRPr lang="zh-CN" altLang="en-US" sz="2200" smtClean="0"/>
          </a:p>
          <a:p>
            <a:pPr eaLnBrk="1" hangingPunct="1">
              <a:lnSpc>
                <a:spcPct val="100000"/>
              </a:lnSpc>
            </a:pPr>
            <a:r>
              <a:rPr lang="zh-CN" altLang="en-US" sz="2200" smtClean="0"/>
              <a:t>设计模式一般有如下几个基本要素：模式名称、问题、目的、解决方案、效果、实例代码和相关设计模式，其中的关键元素包括模式名称、问题、解决方案和效果。</a:t>
            </a:r>
            <a:endParaRPr lang="zh-CN" altLang="en-US" sz="2200" smtClean="0"/>
          </a:p>
          <a:p>
            <a:pPr eaLnBrk="1" hangingPunct="1">
              <a:lnSpc>
                <a:spcPct val="100000"/>
              </a:lnSpc>
            </a:pPr>
            <a:r>
              <a:rPr lang="zh-CN" altLang="en-US" sz="2200" smtClean="0"/>
              <a:t>设计模式根据其目的可分为创建型，结构型和行为型三种；根据范围可分为类模式和对象模式两种。</a:t>
            </a:r>
            <a:endParaRPr lang="zh-CN" altLang="en-US" sz="2200" smtClean="0"/>
          </a:p>
          <a:p>
            <a:pPr eaLnBrk="1" hangingPunct="1">
              <a:lnSpc>
                <a:spcPct val="100000"/>
              </a:lnSpc>
            </a:pPr>
            <a:r>
              <a:rPr lang="zh-CN" altLang="en-US" sz="2200" smtClean="0"/>
              <a:t>设计模式是从许多优秀的软件系统中总结出的成功的、能够实现可维护性复用的设计方案，使用这些方案将避免我们做一些重复性的工作，而且可以设计出高质量的软件系统。</a:t>
            </a:r>
            <a:endParaRPr lang="zh-CN" altLang="en-US" sz="2200" smtClean="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WordArt 4"/>
          <p:cNvSpPr>
            <a:spLocks noChangeArrowheads="1" noChangeShapeType="1" noTextEdit="1"/>
          </p:cNvSpPr>
          <p:nvPr/>
        </p:nvSpPr>
        <p:spPr bwMode="auto">
          <a:xfrm>
            <a:off x="2286000" y="2471738"/>
            <a:ext cx="4419600" cy="957262"/>
          </a:xfrm>
          <a:prstGeom prst="rect">
            <a:avLst/>
          </a:prstGeom>
        </p:spPr>
        <p:txBody>
          <a:bodyPr wrap="none" fromWordArt="1">
            <a:prstTxWarp prst="textPlain">
              <a:avLst>
                <a:gd name="adj" fmla="val 50000"/>
              </a:avLst>
            </a:prstTxWarp>
          </a:bodyPr>
          <a:lstStyle/>
          <a:p>
            <a:pPr algn="ctr"/>
            <a:r>
              <a:rPr lang="en-US" altLang="zh-CN" sz="3600" kern="10">
                <a:ln w="9525">
                  <a:solidFill>
                    <a:schemeClr val="tx1"/>
                  </a:solidFill>
                  <a:round/>
                </a:ln>
                <a:gradFill rotWithShape="1">
                  <a:gsLst>
                    <a:gs pos="0">
                      <a:srgbClr val="FFFF00"/>
                    </a:gs>
                    <a:gs pos="100000">
                      <a:srgbClr val="FF9933"/>
                    </a:gs>
                  </a:gsLst>
                  <a:path path="rect">
                    <a:fillToRect l="50000" t="50000" r="50000" b="50000"/>
                  </a:path>
                </a:gradFill>
                <a:effectLst>
                  <a:outerShdw dist="35921" dir="2700000" algn="ctr" rotWithShape="0">
                    <a:srgbClr val="C0C0C0">
                      <a:alpha val="79999"/>
                    </a:srgbClr>
                  </a:outerShdw>
                </a:effectLst>
                <a:latin typeface="Arial Black" panose="020B0A04020102020204" pitchFamily="34" charset="0"/>
              </a:rPr>
              <a:t>Thanks!</a:t>
            </a:r>
            <a:endParaRPr lang="zh-CN" altLang="en-US" sz="3600" kern="10">
              <a:ln w="9525">
                <a:solidFill>
                  <a:schemeClr val="tx1"/>
                </a:solidFill>
                <a:round/>
              </a:ln>
              <a:gradFill rotWithShape="1">
                <a:gsLst>
                  <a:gs pos="0">
                    <a:srgbClr val="FFFF00"/>
                  </a:gs>
                  <a:gs pos="100000">
                    <a:srgbClr val="FF9933"/>
                  </a:gs>
                </a:gsLst>
                <a:path path="rect">
                  <a:fillToRect l="50000" t="50000" r="50000" b="50000"/>
                </a:path>
              </a:gradFill>
              <a:effectLst>
                <a:outerShdw dist="35921" dir="2700000" algn="ctr" rotWithShape="0">
                  <a:srgbClr val="C0C0C0">
                    <a:alpha val="79999"/>
                  </a:srgbClr>
                </a:outerShdw>
              </a:effectLst>
              <a:latin typeface="Arial Black" panose="020B0A04020102020204" pitchFamily="34" charset="0"/>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TABLE_BEAUTIFY" val="{75be6ad4-3be0-4a89-8d3b-484229fa9017}"/>
</p:tagLst>
</file>

<file path=ppt/theme/_rels/theme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image" Target="../media/image6.jpeg"/></Relationships>
</file>

<file path=ppt/theme/theme1.xml><?xml version="1.0" encoding="utf-8"?>
<a:theme xmlns:a="http://schemas.openxmlformats.org/drawingml/2006/main" name="环保">
  <a:themeElements>
    <a:clrScheme name="环保">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环保">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环保">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0</TotalTime>
  <Words>4606</Words>
  <Application>WPS 演示</Application>
  <PresentationFormat>全屏显示(4:3)</PresentationFormat>
  <Paragraphs>248</Paragraphs>
  <Slides>27</Slides>
  <Notes>0</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1</vt:i4>
      </vt:variant>
      <vt:variant>
        <vt:lpstr>幻灯片标题</vt:lpstr>
      </vt:variant>
      <vt:variant>
        <vt:i4>27</vt:i4>
      </vt:variant>
    </vt:vector>
  </HeadingPairs>
  <TitlesOfParts>
    <vt:vector size="46" baseType="lpstr">
      <vt:lpstr>Arial</vt:lpstr>
      <vt:lpstr>宋体</vt:lpstr>
      <vt:lpstr>Wingdings</vt:lpstr>
      <vt:lpstr>Arial</vt:lpstr>
      <vt:lpstr>黑体</vt:lpstr>
      <vt:lpstr>Tahoma</vt:lpstr>
      <vt:lpstr>隶书</vt:lpstr>
      <vt:lpstr>微软雅黑</vt:lpstr>
      <vt:lpstr>楷体_GB2312</vt:lpstr>
      <vt:lpstr>方正舒体</vt:lpstr>
      <vt:lpstr>Segoe Print</vt:lpstr>
      <vt:lpstr>Garamond</vt:lpstr>
      <vt:lpstr>Arial Unicode MS</vt:lpstr>
      <vt:lpstr>Calibri</vt:lpstr>
      <vt:lpstr>Times New Roman</vt:lpstr>
      <vt:lpstr>Arial Black</vt:lpstr>
      <vt:lpstr>新宋体</vt:lpstr>
      <vt:lpstr>环保</vt:lpstr>
      <vt:lpstr>Visio.Drawing.11</vt:lpstr>
      <vt:lpstr>设计模式</vt:lpstr>
      <vt:lpstr>PowerPoint 演示文稿</vt:lpstr>
      <vt:lpstr>设计模式的诞生与发展</vt:lpstr>
      <vt:lpstr>设计模式的诞生与发展</vt:lpstr>
      <vt:lpstr>设计模式的诞生与发展</vt:lpstr>
      <vt:lpstr>设计模式的诞生与发展</vt:lpstr>
      <vt:lpstr>设计模式的诞生与发展</vt:lpstr>
      <vt:lpstr>设计模式的诞生与发展</vt:lpstr>
      <vt:lpstr>设计模式的诞生与发展</vt:lpstr>
      <vt:lpstr>设计模式的诞生与发展</vt:lpstr>
      <vt:lpstr>设计模式的诞生与发展</vt:lpstr>
      <vt:lpstr>设计模式的诞生与发展</vt:lpstr>
      <vt:lpstr>设计模式的诞生与发展</vt:lpstr>
      <vt:lpstr>设计模式的诞生与发展</vt:lpstr>
      <vt:lpstr>设计模式的定义与分类 </vt:lpstr>
      <vt:lpstr>设计模式的定义与分类</vt:lpstr>
      <vt:lpstr>设计模式的定义与分类</vt:lpstr>
      <vt:lpstr>设计模式的定义与分类</vt:lpstr>
      <vt:lpstr>GoF设计模式简介 </vt:lpstr>
      <vt:lpstr>GoF设计模式简介 </vt:lpstr>
      <vt:lpstr>GoF设计模式简介 </vt:lpstr>
      <vt:lpstr>GoF设计模式简介 </vt:lpstr>
      <vt:lpstr>设计模式的优点 </vt:lpstr>
      <vt:lpstr>设计模式的优点 </vt:lpstr>
      <vt:lpstr>本章小结</vt:lpstr>
      <vt:lpstr>本章小结</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jiax xu</dc:creator>
  <cp:lastModifiedBy>Mr Nie</cp:lastModifiedBy>
  <cp:revision>429</cp:revision>
  <cp:lastPrinted>2113-01-01T00:00:00Z</cp:lastPrinted>
  <dcterms:created xsi:type="dcterms:W3CDTF">2113-01-01T00:00:00Z</dcterms:created>
  <dcterms:modified xsi:type="dcterms:W3CDTF">2020-07-01T07:01:00Z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KSOProductBuildVer">
    <vt:lpwstr>2052-11.1.0.9740</vt:lpwstr>
  </property>
</Properties>
</file>