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312" r:id="rId2"/>
    <p:sldId id="313" r:id="rId3"/>
    <p:sldId id="319" r:id="rId4"/>
    <p:sldId id="320" r:id="rId5"/>
    <p:sldId id="322" r:id="rId6"/>
    <p:sldId id="323" r:id="rId7"/>
    <p:sldId id="324" r:id="rId8"/>
    <p:sldId id="321" r:id="rId9"/>
    <p:sldId id="326" r:id="rId10"/>
    <p:sldId id="325" r:id="rId11"/>
    <p:sldId id="286" r:id="rId12"/>
  </p:sldIdLst>
  <p:sldSz cx="9144000" cy="6858000" type="screen4x3"/>
  <p:notesSz cx="6797675" cy="9874250"/>
  <p:defaultTextStyle>
    <a:defPPr>
      <a:defRPr lang="zh-CN"/>
    </a:defPPr>
    <a:lvl1pPr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2">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BFBC3E"/>
    <a:srgbClr val="CCFFCC"/>
    <a:srgbClr val="FFFFCC"/>
    <a:srgbClr val="FF00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4298" autoAdjust="0"/>
  </p:normalViewPr>
  <p:slideViewPr>
    <p:cSldViewPr>
      <p:cViewPr varScale="1">
        <p:scale>
          <a:sx n="80" d="100"/>
          <a:sy n="80" d="100"/>
        </p:scale>
        <p:origin x="180" y="78"/>
      </p:cViewPr>
      <p:guideLst>
        <p:guide orient="horz" pos="2162"/>
        <p:guide pos="28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28BC3818-33E2-4CBF-86AC-C0FF0478E30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mtClean="0">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descr="NJ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r>
              <a:rPr lang="zh-CN" altLang="en-US"/>
              <a:t>单击此处编辑母版副标题样式</a:t>
            </a:r>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1475A542-FF97-4E94-8C9E-5FD46A7BBE19}" type="datetime1">
              <a:rPr lang="zh-CN" altLang="en-US"/>
              <a:t>2021/11/11</a:t>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p>
          <a:p>
            <a:pPr>
              <a:defRPr/>
            </a:pPr>
            <a:r>
              <a:rPr lang="en-US" altLang="zh-CN"/>
              <a:t>Nanjing University</a:t>
            </a:r>
          </a:p>
        </p:txBody>
      </p:sp>
      <p:sp>
        <p:nvSpPr>
          <p:cNvPr id="13" name="Rectangle 5"/>
          <p:cNvSpPr>
            <a:spLocks noGrp="1" noChangeArrowheads="1"/>
          </p:cNvSpPr>
          <p:nvPr>
            <p:ph type="sldNum" sz="quarter" idx="12"/>
          </p:nvPr>
        </p:nvSpPr>
        <p:spPr/>
        <p:txBody>
          <a:bodyPr/>
          <a:lstStyle>
            <a:lvl1pPr>
              <a:defRPr/>
            </a:lvl1pPr>
          </a:lstStyle>
          <a:p>
            <a:pPr>
              <a:defRPr/>
            </a:pPr>
            <a:fld id="{DB3C08A1-3E05-4455-8A0A-3ABF159E45AC}"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9FD41CD5-89FF-4815-9A8E-C21C31C05EB7}"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B9108D6E-A297-4ADF-9676-E7DF0EB00A91}"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7"/>
          <p:cNvSpPr>
            <a:spLocks noGrp="1" noChangeArrowheads="1"/>
          </p:cNvSpPr>
          <p:nvPr>
            <p:ph type="dt" sz="half" idx="10"/>
          </p:nvPr>
        </p:nvSpPr>
        <p:spPr/>
        <p:txBody>
          <a:bodyPr/>
          <a:lstStyle>
            <a:lvl1pPr>
              <a:defRPr/>
            </a:lvl1pPr>
          </a:lstStyle>
          <a:p>
            <a:pPr>
              <a:defRPr/>
            </a:pPr>
            <a:fld id="{A376EB1E-8A2E-4A6A-AD54-3AE0768AA555}"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F919AA54-8FFA-4A12-B297-594A2E6FA45C}"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4FCD87E6-73D0-47B4-905F-DC815C685E99}"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0340AE11-C2C8-4DD8-9751-9EF7167DEB2C}"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95C88E1D-58DB-465F-989B-9A799DCE91BB}" type="datetime1">
              <a:rPr lang="zh-CN" altLang="en-US"/>
              <a:t>2021/11/11</a:t>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9" name="Rectangle 9"/>
          <p:cNvSpPr>
            <a:spLocks noGrp="1" noChangeArrowheads="1"/>
          </p:cNvSpPr>
          <p:nvPr>
            <p:ph type="sldNum" sz="quarter" idx="12"/>
          </p:nvPr>
        </p:nvSpPr>
        <p:spPr/>
        <p:txBody>
          <a:bodyPr/>
          <a:lstStyle>
            <a:lvl1pPr>
              <a:defRPr/>
            </a:lvl1pPr>
          </a:lstStyle>
          <a:p>
            <a:pPr>
              <a:defRPr/>
            </a:pPr>
            <a:fld id="{1A18A6B2-3671-450D-8213-E332F3334BEC}"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B2A4182F-F80C-47F4-A204-BAC44C2212CC}" type="datetime1">
              <a:rPr lang="zh-CN" altLang="en-US"/>
              <a:t>2021/11/11</a:t>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5" name="Rectangle 9"/>
          <p:cNvSpPr>
            <a:spLocks noGrp="1" noChangeArrowheads="1"/>
          </p:cNvSpPr>
          <p:nvPr>
            <p:ph type="sldNum" sz="quarter" idx="12"/>
          </p:nvPr>
        </p:nvSpPr>
        <p:spPr/>
        <p:txBody>
          <a:bodyPr/>
          <a:lstStyle>
            <a:lvl1pPr>
              <a:defRPr/>
            </a:lvl1pPr>
          </a:lstStyle>
          <a:p>
            <a:pPr>
              <a:defRPr/>
            </a:pPr>
            <a:fld id="{AA45D972-190F-494D-8971-828DD155C2C4}"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A99977D3-D740-4EC6-9A28-CE2400C1D7A0}" type="datetime1">
              <a:rPr lang="zh-CN" altLang="en-US"/>
              <a:t>2021/11/11</a:t>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4" name="Rectangle 9"/>
          <p:cNvSpPr>
            <a:spLocks noGrp="1" noChangeArrowheads="1"/>
          </p:cNvSpPr>
          <p:nvPr>
            <p:ph type="sldNum" sz="quarter" idx="12"/>
          </p:nvPr>
        </p:nvSpPr>
        <p:spPr/>
        <p:txBody>
          <a:bodyPr/>
          <a:lstStyle>
            <a:lvl1pPr>
              <a:defRPr/>
            </a:lvl1pPr>
          </a:lstStyle>
          <a:p>
            <a:pPr>
              <a:defRPr/>
            </a:pPr>
            <a:fld id="{AAA1E598-A757-40C0-A8C3-807FB5EF1D6D}"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020E123C-0239-4C15-BD7B-45CAAD0DEEFB}"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8EEA10C3-A35E-4F9C-9E8D-BE801303C7E6}"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DEDE9E44-D2CC-4A44-B045-974AEDF1F624}"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2C2A0CD2-156D-44D7-A674-82A44BA18C4B}"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B9A93ED9-A663-4E50-BEF4-BC350B72FF91}"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282E679D-2698-4C91-8FCE-2C3EFB0B5865}"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6D1F1FD6-CBF6-495D-8EC6-8E63A46F54DC}"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ACF72455-0FFD-4906-A044-8C4DF4394141}"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smtClean="0"/>
              <a:t>单击此处编辑母版标题样式</a:t>
            </a:r>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pic>
        <p:nvPicPr>
          <p:cNvPr id="1030" name="Picture 6" descr="towe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600">
                <a:latin typeface="+mn-lt"/>
              </a:defRPr>
            </a:lvl1pPr>
          </a:lstStyle>
          <a:p>
            <a:pPr>
              <a:defRPr/>
            </a:pPr>
            <a:fld id="{B81EED3E-5B33-49F9-B6A9-104461501133}" type="datetime1">
              <a:rPr lang="zh-CN" altLang="en-US"/>
              <a:t>2021/11/11</a:t>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600">
                <a:latin typeface="+mn-lt"/>
              </a:defRPr>
            </a:lvl1pPr>
          </a:lstStyle>
          <a:p>
            <a:pPr>
              <a:defRPr/>
            </a:pPr>
            <a:r>
              <a:rPr lang="en-US" altLang="zh-CN"/>
              <a:t> Institute of Computer Software</a:t>
            </a:r>
          </a:p>
          <a:p>
            <a:pPr>
              <a:defRPr/>
            </a:pPr>
            <a:r>
              <a:rPr lang="en-US" altLang="zh-CN"/>
              <a:t>Nanjing University</a:t>
            </a:r>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600">
                <a:latin typeface="Arial" panose="020B0604020202020204" pitchFamily="34" charset="0"/>
              </a:defRPr>
            </a:lvl1pPr>
          </a:lstStyle>
          <a:p>
            <a:pPr>
              <a:defRPr/>
            </a:pPr>
            <a:fld id="{A90CF984-3908-45D5-BC5E-31FD5A405E51}" type="slidenum">
              <a:rPr lang="en-US" altLang="zh-CN"/>
              <a:t>‹#›</a:t>
            </a:fld>
            <a:endParaRPr lang="en-US" altLang="zh-CN"/>
          </a:p>
        </p:txBody>
      </p:sp>
      <p:pic>
        <p:nvPicPr>
          <p:cNvPr id="1034" name="Picture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1" descr="校徽"/>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sz="3200">
          <a:solidFill>
            <a:schemeClr val="tx1"/>
          </a:solidFill>
          <a:latin typeface="+mj-lt"/>
          <a:ea typeface="+mj-ea"/>
          <a:cs typeface="+mj-cs"/>
        </a:defRPr>
      </a:lvl1pPr>
      <a:lvl2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mn-ea"/>
          <a:cs typeface="+mn-cs"/>
        </a:defRPr>
      </a:lvl1pPr>
      <a:lvl2pPr marL="889000" indent="-440055" algn="l" rtl="0" eaLnBrk="0" fontAlgn="base" hangingPunct="0">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mn-ea"/>
        </a:defRPr>
      </a:lvl2pPr>
      <a:lvl3pPr marL="1294130" indent="-403225" algn="l" rtl="0" eaLnBrk="0" fontAlgn="base" hangingPunct="0">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mn-ea"/>
        </a:defRPr>
      </a:lvl3pPr>
      <a:lvl4pPr marL="1681480" indent="-386080" algn="l" rtl="0" eaLnBrk="0" fontAlgn="base" hangingPunct="0">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mn-ea"/>
        </a:defRPr>
      </a:lvl4pPr>
      <a:lvl5pPr marL="2070100" indent="-387350" algn="l" rtl="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3"/>
          <p:cNvSpPr>
            <a:spLocks noGrp="1" noChangeArrowheads="1"/>
          </p:cNvSpPr>
          <p:nvPr>
            <p:ph type="subTitle" idx="1"/>
          </p:nvPr>
        </p:nvSpPr>
        <p:spPr/>
        <p:txBody>
          <a:bodyPr/>
          <a:lstStyle/>
          <a:p>
            <a:pPr algn="r"/>
            <a:r>
              <a:rPr lang="zh-CN" altLang="en-US"/>
              <a:t>南京大学计算机科学与技术系</a:t>
            </a:r>
          </a:p>
          <a:p>
            <a:pPr algn="r"/>
            <a:r>
              <a:rPr lang="zh-CN" altLang="en-US"/>
              <a:t>聂长海</a:t>
            </a:r>
          </a:p>
        </p:txBody>
      </p:sp>
      <p:sp>
        <p:nvSpPr>
          <p:cNvPr id="5" name="标题 4"/>
          <p:cNvSpPr>
            <a:spLocks noGrp="1" noChangeArrowheads="1"/>
          </p:cNvSpPr>
          <p:nvPr>
            <p:ph type="ctrTitle"/>
          </p:nvPr>
        </p:nvSpPr>
        <p:spPr>
          <a:xfrm>
            <a:off x="0" y="2163763"/>
            <a:ext cx="9144000" cy="1600200"/>
          </a:xfrm>
        </p:spPr>
        <p:txBody>
          <a:bodyPr/>
          <a:lstStyle/>
          <a:p>
            <a:r>
              <a:rPr lang="zh-CN" altLang="en-US" sz="4800" b="1" dirty="0"/>
              <a:t>信息物理系</a:t>
            </a:r>
            <a:r>
              <a:rPr lang="zh-CN" altLang="en-US" sz="4800" b="1" dirty="0" smtClean="0"/>
              <a:t>统</a:t>
            </a:r>
            <a:r>
              <a:rPr lang="en-US" altLang="zh-CN" sz="4800" b="1" dirty="0" smtClean="0"/>
              <a:t>CPS </a:t>
            </a:r>
            <a:br>
              <a:rPr lang="en-US" altLang="zh-CN" sz="4800" b="1" dirty="0" smtClean="0"/>
            </a:br>
            <a:r>
              <a:rPr lang="en-US" altLang="zh-CN" sz="4800" b="1" dirty="0" smtClean="0"/>
              <a:t>Cyber-Physical Systems</a:t>
            </a:r>
            <a:endParaRPr lang="zh-CN" altLang="en-US" sz="4800" b="1" dirty="0"/>
          </a:p>
        </p:txBody>
      </p:sp>
      <p:sp>
        <p:nvSpPr>
          <p:cNvPr id="2" name="日期占位符 1"/>
          <p:cNvSpPr>
            <a:spLocks noGrp="1"/>
          </p:cNvSpPr>
          <p:nvPr>
            <p:ph type="dt" sz="half" idx="10"/>
          </p:nvPr>
        </p:nvSpPr>
        <p:spPr/>
        <p:txBody>
          <a:bodyPr/>
          <a:lstStyle/>
          <a:p>
            <a:pPr>
              <a:defRPr/>
            </a:pPr>
            <a:fld id="{A99977D3-D740-4EC6-9A28-CE2400C1D7A0}" type="datetime1">
              <a:rPr lang="zh-CN" altLang="en-US"/>
              <a:t>2021/11/14</a:t>
            </a:fld>
            <a:endParaRPr lang="en-US" altLang="zh-CN"/>
          </a:p>
        </p:txBody>
      </p:sp>
      <p:sp>
        <p:nvSpPr>
          <p:cNvPr id="3" name="灯片编号占位符 2"/>
          <p:cNvSpPr>
            <a:spLocks noGrp="1"/>
          </p:cNvSpPr>
          <p:nvPr>
            <p:ph type="sldNum" sz="quarter" idx="12"/>
          </p:nvPr>
        </p:nvSpPr>
        <p:spPr/>
        <p:txBody>
          <a:bodyPr/>
          <a:lstStyle/>
          <a:p>
            <a:pPr>
              <a:defRPr/>
            </a:pPr>
            <a:fld id="{AAA1E598-A757-40C0-A8C3-807FB5EF1D6D}" type="slidenum">
              <a:rPr lang="en-US" altLang="zh-CN"/>
              <a:t>1</a:t>
            </a:fld>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58888" y="332423"/>
            <a:ext cx="5616575" cy="576262"/>
          </a:xfrm>
        </p:spPr>
        <p:txBody>
          <a:bodyPr/>
          <a:lstStyle/>
          <a:p>
            <a:r>
              <a:rPr lang="zh-CN" altLang="en-US" b="1" dirty="0"/>
              <a:t>信息物理系统</a:t>
            </a:r>
            <a:r>
              <a:rPr lang="en-US" altLang="zh-CN" b="1" dirty="0"/>
              <a:t>CPS </a:t>
            </a:r>
            <a:endParaRPr lang="zh-CN" altLang="en-US" dirty="0"/>
          </a:p>
        </p:txBody>
      </p:sp>
      <p:sp>
        <p:nvSpPr>
          <p:cNvPr id="5" name="内容占位符 4"/>
          <p:cNvSpPr>
            <a:spLocks noGrp="1"/>
          </p:cNvSpPr>
          <p:nvPr>
            <p:ph idx="1"/>
          </p:nvPr>
        </p:nvSpPr>
        <p:spPr>
          <a:xfrm>
            <a:off x="30480" y="1234440"/>
            <a:ext cx="9113520" cy="4852035"/>
          </a:xfrm>
        </p:spPr>
        <p:txBody>
          <a:bodyPr/>
          <a:lstStyle/>
          <a:p>
            <a:r>
              <a:rPr lang="zh-CN" altLang="en-US" dirty="0"/>
              <a:t>信息物理系统（</a:t>
            </a:r>
            <a:r>
              <a:rPr lang="en-US" altLang="zh-CN" dirty="0"/>
              <a:t>CPS, Cyber-Physical Systems</a:t>
            </a:r>
            <a:r>
              <a:rPr lang="zh-CN" altLang="en-US" dirty="0"/>
              <a:t>）是一个综合计算、网络和物理环境的多维复杂系统，通过</a:t>
            </a:r>
            <a:r>
              <a:rPr lang="en-US" altLang="zh-CN" dirty="0"/>
              <a:t>3C</a:t>
            </a:r>
            <a:r>
              <a:rPr lang="zh-CN" altLang="en-US" dirty="0"/>
              <a:t>（</a:t>
            </a:r>
            <a:r>
              <a:rPr lang="en-US" altLang="zh-CN" dirty="0"/>
              <a:t>Computation</a:t>
            </a:r>
            <a:r>
              <a:rPr lang="zh-CN" altLang="en-US" dirty="0"/>
              <a:t>、</a:t>
            </a:r>
            <a:r>
              <a:rPr lang="en-US" altLang="zh-CN" dirty="0"/>
              <a:t>Communication</a:t>
            </a:r>
            <a:r>
              <a:rPr lang="zh-CN" altLang="en-US" dirty="0"/>
              <a:t>、</a:t>
            </a:r>
            <a:r>
              <a:rPr lang="en-US" altLang="zh-CN" dirty="0"/>
              <a:t>Control</a:t>
            </a:r>
            <a:r>
              <a:rPr lang="zh-CN" altLang="en-US" dirty="0"/>
              <a:t>）技术的有机融合与深度协作，实现大型工程系统的实时感知、动态控制和信息服务</a:t>
            </a:r>
            <a:r>
              <a:rPr lang="zh-CN" altLang="en-US" dirty="0" smtClean="0"/>
              <a:t>。</a:t>
            </a:r>
            <a:endParaRPr lang="en-US" altLang="zh-CN" dirty="0" smtClean="0"/>
          </a:p>
          <a:p>
            <a:r>
              <a:rPr lang="en-US" altLang="zh-CN" dirty="0" smtClean="0"/>
              <a:t>CPS</a:t>
            </a:r>
            <a:r>
              <a:rPr lang="zh-CN" altLang="en-US" dirty="0"/>
              <a:t>实现计算、通信与物理系统的一体化设计，可使系统更加可靠、高效、实时协同，具有重要而广泛的应用前景。</a:t>
            </a:r>
          </a:p>
        </p:txBody>
      </p:sp>
      <p:sp>
        <p:nvSpPr>
          <p:cNvPr id="2" name="日期占位符 1"/>
          <p:cNvSpPr>
            <a:spLocks noGrp="1"/>
          </p:cNvSpPr>
          <p:nvPr>
            <p:ph type="dt" sz="half" idx="10"/>
          </p:nvPr>
        </p:nvSpPr>
        <p:spPr/>
        <p:txBody>
          <a:bodyPr/>
          <a:lstStyle/>
          <a:p>
            <a:pPr>
              <a:defRPr/>
            </a:pPr>
            <a:fld id="{A99977D3-D740-4EC6-9A28-CE2400C1D7A0}" type="datetime1">
              <a:rPr lang="zh-CN" altLang="en-US"/>
              <a:t>2021/11/14</a:t>
            </a:fld>
            <a:endParaRPr lang="en-US" altLang="zh-CN"/>
          </a:p>
        </p:txBody>
      </p:sp>
      <p:sp>
        <p:nvSpPr>
          <p:cNvPr id="3" name="灯片编号占位符 2"/>
          <p:cNvSpPr>
            <a:spLocks noGrp="1"/>
          </p:cNvSpPr>
          <p:nvPr>
            <p:ph type="sldNum" sz="quarter" idx="12"/>
          </p:nvPr>
        </p:nvSpPr>
        <p:spPr/>
        <p:txBody>
          <a:bodyPr/>
          <a:lstStyle/>
          <a:p>
            <a:pPr>
              <a:defRPr/>
            </a:pPr>
            <a:fld id="{AAA1E598-A757-40C0-A8C3-807FB5EF1D6D}" type="slidenum">
              <a:rPr lang="en-US" altLang="zh-CN"/>
              <a:t>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信息物理系统</a:t>
            </a:r>
            <a:r>
              <a:rPr lang="en-US" altLang="zh-CN" b="1" dirty="0" smtClean="0"/>
              <a:t>CPS</a:t>
            </a:r>
            <a:r>
              <a:rPr lang="zh-CN" altLang="en-US" b="1" dirty="0" smtClean="0"/>
              <a:t>的意义</a:t>
            </a:r>
            <a:r>
              <a:rPr lang="en-US" altLang="zh-CN" b="1" dirty="0" smtClean="0"/>
              <a:t> </a:t>
            </a:r>
            <a:endParaRPr lang="zh-CN" altLang="en-US" dirty="0"/>
          </a:p>
        </p:txBody>
      </p:sp>
      <p:sp>
        <p:nvSpPr>
          <p:cNvPr id="3" name="内容占位符 2"/>
          <p:cNvSpPr>
            <a:spLocks noGrp="1"/>
          </p:cNvSpPr>
          <p:nvPr>
            <p:ph idx="1"/>
          </p:nvPr>
        </p:nvSpPr>
        <p:spPr>
          <a:xfrm>
            <a:off x="0" y="1196752"/>
            <a:ext cx="9144000" cy="4930998"/>
          </a:xfrm>
        </p:spPr>
        <p:txBody>
          <a:bodyPr/>
          <a:lstStyle/>
          <a:p>
            <a:r>
              <a:rPr lang="en-US" altLang="zh-CN" sz="2400" dirty="0"/>
              <a:t>CPS</a:t>
            </a:r>
            <a:r>
              <a:rPr lang="zh-CN" altLang="en-US" sz="2400" dirty="0"/>
              <a:t>的意义在于将物理设备联网，是连接到互联网上，让物理设备具有计算、通信、精确控制、远程协调和自治等五大功</a:t>
            </a:r>
            <a:r>
              <a:rPr lang="zh-CN" altLang="en-US" sz="2400" dirty="0" smtClean="0"/>
              <a:t>能</a:t>
            </a:r>
            <a:endParaRPr lang="en-US" altLang="zh-CN" sz="2400" dirty="0" smtClean="0"/>
          </a:p>
          <a:p>
            <a:r>
              <a:rPr lang="en-US" altLang="zh-CN" sz="2400" dirty="0" smtClean="0"/>
              <a:t>CPS</a:t>
            </a:r>
            <a:r>
              <a:rPr lang="zh-CN" altLang="en-US" sz="2400" dirty="0"/>
              <a:t>本质上是一个具有控制属性的网络，就是开放的嵌入式系统加上网络控制功能，但它又有别于现有的控制系统</a:t>
            </a:r>
            <a:r>
              <a:rPr lang="zh-CN" altLang="en-US" sz="2400" dirty="0" smtClean="0"/>
              <a:t>。</a:t>
            </a:r>
            <a:endParaRPr lang="en-US" altLang="zh-CN" sz="2400" dirty="0" smtClean="0"/>
          </a:p>
          <a:p>
            <a:r>
              <a:rPr lang="en-US" altLang="zh-CN" sz="2400" dirty="0" smtClean="0"/>
              <a:t>CPS</a:t>
            </a:r>
            <a:r>
              <a:rPr lang="zh-CN" altLang="en-US" sz="2400" dirty="0"/>
              <a:t>则把通信放在与计算和控制同等地位上，因为</a:t>
            </a:r>
            <a:r>
              <a:rPr lang="en-US" altLang="zh-CN" sz="2400" dirty="0"/>
              <a:t>CPS</a:t>
            </a:r>
            <a:r>
              <a:rPr lang="zh-CN" altLang="en-US" sz="2400" dirty="0"/>
              <a:t>强调的分布式应用系统中物理设备之间的协调是离不开通信的</a:t>
            </a:r>
            <a:r>
              <a:rPr lang="zh-CN" altLang="en-US" sz="2400" dirty="0" smtClean="0"/>
              <a:t>。</a:t>
            </a:r>
            <a:endParaRPr lang="en-US" altLang="zh-CN" sz="2400" dirty="0" smtClean="0"/>
          </a:p>
          <a:p>
            <a:r>
              <a:rPr lang="en-US" altLang="zh-CN" sz="2400" dirty="0" smtClean="0"/>
              <a:t>CPS</a:t>
            </a:r>
            <a:r>
              <a:rPr lang="zh-CN" altLang="en-US" sz="2400" dirty="0"/>
              <a:t>对网络内部设备的远程协调能力、自治能力、控制对象的种类和数量，特别是网络规模上远远超过现有的工控网络</a:t>
            </a:r>
            <a:r>
              <a:rPr lang="zh-CN" altLang="en-US" sz="2400" dirty="0" smtClean="0"/>
              <a:t>。</a:t>
            </a:r>
            <a:endParaRPr lang="en-US" altLang="zh-CN" sz="2400" dirty="0" smtClean="0"/>
          </a:p>
          <a:p>
            <a:r>
              <a:rPr lang="zh-CN" altLang="en-US" sz="2400" dirty="0" smtClean="0"/>
              <a:t>美</a:t>
            </a:r>
            <a:r>
              <a:rPr lang="zh-CN" altLang="en-US" sz="2400" dirty="0"/>
              <a:t>国国家科学基金会（</a:t>
            </a:r>
            <a:r>
              <a:rPr lang="en-US" altLang="zh-CN" sz="2400" dirty="0"/>
              <a:t>NSF</a:t>
            </a:r>
            <a:r>
              <a:rPr lang="zh-CN" altLang="en-US" sz="2400" dirty="0"/>
              <a:t>）认为，</a:t>
            </a:r>
            <a:r>
              <a:rPr lang="en-US" altLang="zh-CN" sz="2400" dirty="0"/>
              <a:t>CPS</a:t>
            </a:r>
            <a:r>
              <a:rPr lang="zh-CN" altLang="en-US" sz="2400" dirty="0"/>
              <a:t>将让整个世界互联起来</a:t>
            </a:r>
            <a:r>
              <a:rPr lang="zh-CN" altLang="en-US" sz="2400" dirty="0" smtClean="0"/>
              <a:t>。</a:t>
            </a:r>
            <a:endParaRPr lang="en-US" altLang="zh-CN" sz="2400" dirty="0" smtClean="0"/>
          </a:p>
          <a:p>
            <a:r>
              <a:rPr lang="zh-CN" altLang="en-US" sz="2400" dirty="0" smtClean="0"/>
              <a:t>如</a:t>
            </a:r>
            <a:r>
              <a:rPr lang="zh-CN" altLang="en-US" sz="2400" dirty="0"/>
              <a:t>同互联网改变了人与人的互动一样，</a:t>
            </a:r>
            <a:r>
              <a:rPr lang="en-US" altLang="zh-CN" sz="2400" dirty="0"/>
              <a:t>CPS</a:t>
            </a:r>
            <a:r>
              <a:rPr lang="zh-CN" altLang="en-US" sz="2400" dirty="0"/>
              <a:t>将会改变我们与物理世界的互动。</a:t>
            </a:r>
            <a:endParaRPr lang="zh-CN" altLang="en-US" sz="2400" dirty="0"/>
          </a:p>
        </p:txBody>
      </p:sp>
      <p:sp>
        <p:nvSpPr>
          <p:cNvPr id="4" name="日期占位符 3"/>
          <p:cNvSpPr>
            <a:spLocks noGrp="1"/>
          </p:cNvSpPr>
          <p:nvPr>
            <p:ph type="dt" sz="half" idx="10"/>
          </p:nvPr>
        </p:nvSpPr>
        <p:spPr/>
        <p:txBody>
          <a:bodyPr/>
          <a:lstStyle/>
          <a:p>
            <a:pPr>
              <a:defRPr/>
            </a:pPr>
            <a:fld id="{9FD41CD5-89FF-4815-9A8E-C21C31C05EB7}" type="datetime1">
              <a:rPr lang="zh-CN" altLang="en-US"/>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a:t>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2"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2"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2"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2"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2"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2"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3" grpId="2"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信息物理系统</a:t>
            </a:r>
            <a:r>
              <a:rPr lang="en-US" altLang="zh-CN" b="1" dirty="0"/>
              <a:t>CPS </a:t>
            </a:r>
            <a:endParaRPr lang="zh-CN" altLang="en-US" dirty="0"/>
          </a:p>
        </p:txBody>
      </p:sp>
      <p:sp>
        <p:nvSpPr>
          <p:cNvPr id="3" name="内容占位符 2"/>
          <p:cNvSpPr>
            <a:spLocks noGrp="1"/>
          </p:cNvSpPr>
          <p:nvPr>
            <p:ph idx="1"/>
          </p:nvPr>
        </p:nvSpPr>
        <p:spPr>
          <a:xfrm>
            <a:off x="468630" y="1158875"/>
            <a:ext cx="8141970" cy="4934421"/>
          </a:xfrm>
        </p:spPr>
        <p:txBody>
          <a:bodyPr/>
          <a:lstStyle/>
          <a:p>
            <a:r>
              <a:rPr lang="en-US" altLang="zh-CN" dirty="0"/>
              <a:t>CPS</a:t>
            </a:r>
            <a:r>
              <a:rPr lang="zh-CN" altLang="en-US" dirty="0"/>
              <a:t>是借用实现人的控制在时间、空间等方面的延伸，</a:t>
            </a:r>
            <a:r>
              <a:rPr lang="en-US" altLang="zh-CN" dirty="0"/>
              <a:t>CPS</a:t>
            </a:r>
            <a:r>
              <a:rPr lang="zh-CN" altLang="en-US" dirty="0"/>
              <a:t>系统的本质就是人、机、物的融合计算</a:t>
            </a:r>
            <a:r>
              <a:rPr lang="zh-CN" altLang="en-US" dirty="0" smtClean="0"/>
              <a:t>。所</a:t>
            </a:r>
            <a:r>
              <a:rPr lang="zh-CN" altLang="en-US" dirty="0"/>
              <a:t>以，国内又将</a:t>
            </a:r>
            <a:r>
              <a:rPr lang="en-US" altLang="zh-CN" dirty="0"/>
              <a:t>CPS</a:t>
            </a:r>
            <a:r>
              <a:rPr lang="zh-CN" altLang="en-US" dirty="0"/>
              <a:t>称为人机物融合系统</a:t>
            </a:r>
            <a:r>
              <a:rPr lang="zh-CN" altLang="en-US" dirty="0" smtClean="0"/>
              <a:t>。</a:t>
            </a:r>
            <a:endParaRPr lang="en-US" altLang="zh-CN" dirty="0" smtClean="0"/>
          </a:p>
          <a:p>
            <a:r>
              <a:rPr lang="zh-CN" altLang="en-US" dirty="0" smtClean="0"/>
              <a:t>科</a:t>
            </a:r>
            <a:r>
              <a:rPr lang="zh-CN" altLang="en-US" dirty="0"/>
              <a:t>技进展也会让</a:t>
            </a:r>
            <a:r>
              <a:rPr lang="en-US" altLang="zh-CN" dirty="0"/>
              <a:t>CPS</a:t>
            </a:r>
            <a:r>
              <a:rPr lang="zh-CN" altLang="en-US" dirty="0"/>
              <a:t>在多个方面的可能应用变</a:t>
            </a:r>
            <a:r>
              <a:rPr lang="zh-CN" altLang="en-US" dirty="0" smtClean="0"/>
              <a:t>大</a:t>
            </a:r>
            <a:endParaRPr lang="en-US" altLang="zh-CN" dirty="0" smtClean="0"/>
          </a:p>
          <a:p>
            <a:pPr lvl="1"/>
            <a:r>
              <a:rPr lang="zh-CN" altLang="en-US" dirty="0" smtClean="0"/>
              <a:t>行</a:t>
            </a:r>
            <a:r>
              <a:rPr lang="zh-CN" altLang="en-US" dirty="0"/>
              <a:t>动介入（避免行为冲突）</a:t>
            </a:r>
            <a:r>
              <a:rPr lang="zh-CN" altLang="en-US" dirty="0" smtClean="0"/>
              <a:t>；</a:t>
            </a:r>
            <a:endParaRPr lang="en-US" altLang="zh-CN" dirty="0" smtClean="0"/>
          </a:p>
          <a:p>
            <a:pPr lvl="1"/>
            <a:r>
              <a:rPr lang="zh-CN" altLang="en-US" dirty="0" smtClean="0"/>
              <a:t>精</a:t>
            </a:r>
            <a:r>
              <a:rPr lang="zh-CN" altLang="en-US" dirty="0"/>
              <a:t>准度（机器手术和纳米层级的制造）</a:t>
            </a:r>
            <a:r>
              <a:rPr lang="zh-CN" altLang="en-US" dirty="0" smtClean="0"/>
              <a:t>；</a:t>
            </a:r>
            <a:endParaRPr lang="en-US" altLang="zh-CN" dirty="0" smtClean="0"/>
          </a:p>
          <a:p>
            <a:pPr lvl="1"/>
            <a:r>
              <a:rPr lang="zh-CN" altLang="en-US" dirty="0" smtClean="0"/>
              <a:t>在</a:t>
            </a:r>
            <a:r>
              <a:rPr lang="zh-CN" altLang="en-US" dirty="0"/>
              <a:t>危险或是无法进入的环境下行动（搜寻和营救、消防和深海或太空探测）</a:t>
            </a:r>
            <a:r>
              <a:rPr lang="zh-CN" altLang="en-US" dirty="0" smtClean="0"/>
              <a:t>；</a:t>
            </a:r>
            <a:endParaRPr lang="en-US" altLang="zh-CN" dirty="0" smtClean="0"/>
          </a:p>
          <a:p>
            <a:pPr lvl="1"/>
            <a:r>
              <a:rPr lang="zh-CN" altLang="en-US" dirty="0" smtClean="0"/>
              <a:t>协</a:t>
            </a:r>
            <a:r>
              <a:rPr lang="zh-CN" altLang="en-US" dirty="0"/>
              <a:t>调（空中交通控制、战斗行动协调）</a:t>
            </a:r>
            <a:r>
              <a:rPr lang="zh-CN" altLang="en-US" dirty="0" smtClean="0"/>
              <a:t>；</a:t>
            </a:r>
            <a:endParaRPr lang="en-US" altLang="zh-CN" dirty="0" smtClean="0"/>
          </a:p>
          <a:p>
            <a:pPr lvl="1"/>
            <a:r>
              <a:rPr lang="zh-CN" altLang="en-US" dirty="0" smtClean="0"/>
              <a:t>效</a:t>
            </a:r>
            <a:r>
              <a:rPr lang="zh-CN" altLang="en-US" dirty="0"/>
              <a:t>率（零能源额外耗损建筑）</a:t>
            </a:r>
            <a:r>
              <a:rPr lang="zh-CN" altLang="en-US" dirty="0" smtClean="0"/>
              <a:t>；</a:t>
            </a:r>
            <a:endParaRPr lang="en-US" altLang="zh-CN" dirty="0" smtClean="0"/>
          </a:p>
          <a:p>
            <a:pPr lvl="1"/>
            <a:r>
              <a:rPr lang="zh-CN" altLang="en-US" dirty="0" smtClean="0"/>
              <a:t>扩</a:t>
            </a:r>
            <a:r>
              <a:rPr lang="zh-CN" altLang="en-US" dirty="0"/>
              <a:t>增人类的能力（医疗监控和照护）。</a:t>
            </a:r>
          </a:p>
        </p:txBody>
      </p:sp>
      <p:sp>
        <p:nvSpPr>
          <p:cNvPr id="4" name="日期占位符 3"/>
          <p:cNvSpPr>
            <a:spLocks noGrp="1"/>
          </p:cNvSpPr>
          <p:nvPr>
            <p:ph type="dt" sz="half" idx="10"/>
          </p:nvPr>
        </p:nvSpPr>
        <p:spPr/>
        <p:txBody>
          <a:bodyPr/>
          <a:lstStyle/>
          <a:p>
            <a:pPr>
              <a:defRPr/>
            </a:pPr>
            <a:fld id="{9FD41CD5-89FF-4815-9A8E-C21C31C05EB7}" type="datetime1">
              <a:rPr lang="zh-CN" altLang="en-US"/>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a:t>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信息物理系统</a:t>
            </a:r>
            <a:r>
              <a:rPr lang="en-US" altLang="zh-CN" dirty="0" smtClean="0"/>
              <a:t>CPS—</a:t>
            </a:r>
            <a:r>
              <a:rPr lang="zh-CN" altLang="en-US" dirty="0" smtClean="0"/>
              <a:t>方法</a:t>
            </a:r>
            <a:r>
              <a:rPr lang="en-US" altLang="zh-CN" dirty="0" smtClean="0"/>
              <a:t> </a:t>
            </a:r>
            <a:endParaRPr lang="zh-CN" altLang="en-US" dirty="0"/>
          </a:p>
        </p:txBody>
      </p:sp>
      <p:sp>
        <p:nvSpPr>
          <p:cNvPr id="3" name="内容占位符 2"/>
          <p:cNvSpPr>
            <a:spLocks noGrp="1"/>
          </p:cNvSpPr>
          <p:nvPr>
            <p:ph idx="1"/>
          </p:nvPr>
        </p:nvSpPr>
        <p:spPr>
          <a:xfrm>
            <a:off x="1" y="1124744"/>
            <a:ext cx="9144000" cy="4968552"/>
          </a:xfrm>
        </p:spPr>
        <p:txBody>
          <a:bodyPr/>
          <a:lstStyle/>
          <a:p>
            <a:r>
              <a:rPr lang="zh-CN" altLang="en-US" dirty="0"/>
              <a:t>信息物理系统包含了将来无处不在的环境感知、嵌入式计算、网络通信和网络控制等系统工程，使物理系统具有计算、通信、精确控制、远程协作和自治功能。它注重计算资源与物理资源的紧密结合与协调，主要用于一些智能系统上如设备互联，物联传感，智能家居，机器人，智能导航等。</a:t>
            </a:r>
          </a:p>
          <a:p>
            <a:r>
              <a:rPr lang="en-US" altLang="zh-CN" dirty="0"/>
              <a:t>CPS</a:t>
            </a:r>
            <a:r>
              <a:rPr lang="zh-CN" altLang="en-US" dirty="0"/>
              <a:t>是在环境感知的基础上，深度融合计算、通信和控制能力的可控可信可扩展的网络化物理设备系统</a:t>
            </a:r>
            <a:r>
              <a:rPr lang="zh-CN" altLang="en-US" dirty="0" smtClean="0"/>
              <a:t>，通</a:t>
            </a:r>
            <a:r>
              <a:rPr lang="zh-CN" altLang="en-US" dirty="0"/>
              <a:t>过计算进程和物理进程相互影响的反馈循环实现深度融合和实时交互来增加或扩展新的功能，以安全、可靠、高效和实时的方式检测或者控制一个物理实</a:t>
            </a:r>
            <a:r>
              <a:rPr lang="zh-CN" altLang="en-US" dirty="0" smtClean="0"/>
              <a:t>体</a:t>
            </a:r>
            <a:endParaRPr lang="zh-CN" altLang="en-US" dirty="0"/>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5</a:t>
            </a:fld>
            <a:endParaRPr lang="en-US" altLang="zh-CN"/>
          </a:p>
        </p:txBody>
      </p:sp>
    </p:spTree>
    <p:extLst>
      <p:ext uri="{BB962C8B-B14F-4D97-AF65-F5344CB8AC3E}">
        <p14:creationId xmlns:p14="http://schemas.microsoft.com/office/powerpoint/2010/main" val="24928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信息物理系统</a:t>
            </a:r>
            <a:r>
              <a:rPr lang="en-US" altLang="zh-CN" dirty="0" smtClean="0"/>
              <a:t>CPS--</a:t>
            </a:r>
            <a:r>
              <a:rPr lang="zh-CN" altLang="en-US" dirty="0" smtClean="0">
                <a:solidFill>
                  <a:srgbClr val="FF0000"/>
                </a:solidFill>
              </a:rPr>
              <a:t>原理</a:t>
            </a:r>
            <a:r>
              <a:rPr lang="en-US" altLang="zh-CN" dirty="0" smtClean="0"/>
              <a:t> </a:t>
            </a:r>
            <a:endParaRPr lang="zh-CN" altLang="en-US" dirty="0"/>
          </a:p>
        </p:txBody>
      </p:sp>
      <p:sp>
        <p:nvSpPr>
          <p:cNvPr id="3" name="内容占位符 2"/>
          <p:cNvSpPr>
            <a:spLocks noGrp="1"/>
          </p:cNvSpPr>
          <p:nvPr>
            <p:ph idx="1"/>
          </p:nvPr>
        </p:nvSpPr>
        <p:spPr>
          <a:xfrm>
            <a:off x="0" y="1052736"/>
            <a:ext cx="9144000" cy="5040560"/>
          </a:xfrm>
        </p:spPr>
        <p:txBody>
          <a:bodyPr/>
          <a:lstStyle/>
          <a:p>
            <a:r>
              <a:rPr lang="zh-CN" altLang="en-US" sz="2000" dirty="0" smtClean="0"/>
              <a:t>计</a:t>
            </a:r>
            <a:r>
              <a:rPr lang="zh-CN" altLang="en-US" sz="2000" dirty="0"/>
              <a:t>算机是专门用来进行数值计算和信息处理的单机系统</a:t>
            </a:r>
            <a:r>
              <a:rPr lang="zh-CN" altLang="en-US" sz="2000" dirty="0" smtClean="0"/>
              <a:t>，但</a:t>
            </a:r>
            <a:r>
              <a:rPr lang="zh-CN" altLang="en-US" sz="2000" dirty="0"/>
              <a:t>随着嵌入式系统的出现，计算机系统的作用已今非昔比，计算机已无处不在。嵌入式系统是指集成了计算机硬件和软件，为完成特定目的而设计的机电或电子系统，例如，手表、照相机、电冰箱等几乎能看到工业产品几乎都属于嵌入式系统。信息物理融合系统是对嵌入式系统最一般意义的扩展，它由一些能够相互通信的计算设备组成，这些设备能够通过传感器和作动器与物理世界实现反馈闭环交互。这样的系统也开始无处不在，且发展迅猛，从智能建筑、医疗设备、再到汽车以及车联网等，都是信息物理融合系统的应用。</a:t>
            </a:r>
          </a:p>
          <a:p>
            <a:r>
              <a:rPr lang="en-US" altLang="zh-CN" sz="2000" dirty="0"/>
              <a:t>CPS</a:t>
            </a:r>
            <a:r>
              <a:rPr lang="zh-CN" altLang="en-US" sz="2000" dirty="0"/>
              <a:t>赋予了人类和自然界一种新关系。</a:t>
            </a:r>
            <a:r>
              <a:rPr lang="en-US" altLang="zh-CN" sz="2000" dirty="0"/>
              <a:t>CPS</a:t>
            </a:r>
            <a:r>
              <a:rPr lang="zh-CN" altLang="en-US" sz="2000" dirty="0"/>
              <a:t>将计算，网络和物理进程结合在一起。物理进程受到网络的控制和监督；计算机收到它所控制物理进程的反馈信息。在</a:t>
            </a:r>
            <a:r>
              <a:rPr lang="en-US" altLang="zh-CN" sz="2000" dirty="0"/>
              <a:t>CPS</a:t>
            </a:r>
            <a:r>
              <a:rPr lang="zh-CN" altLang="en-US" sz="2000" dirty="0"/>
              <a:t>系统中，物理进程和其它进程紧密联系、相互关联，充分利用不同系统间结构的特点。</a:t>
            </a:r>
            <a:r>
              <a:rPr lang="en-US" altLang="zh-CN" sz="2000" dirty="0"/>
              <a:t>CPS</a:t>
            </a:r>
            <a:r>
              <a:rPr lang="zh-CN" altLang="en-US" sz="2000" dirty="0"/>
              <a:t>意味着监测各项物理进程并且执行相应的命令来改变它。换句话说，物理进程被计算系统所监视着。该系统和很多小设备向关联，他们拥有无线通信，感知存储和计算功能。在现实物理世界中，各项物理进程是自然发生的，而</a:t>
            </a:r>
            <a:r>
              <a:rPr lang="en-US" altLang="zh-CN" sz="2000" dirty="0"/>
              <a:t>CPS</a:t>
            </a:r>
            <a:r>
              <a:rPr lang="zh-CN" altLang="en-US" sz="2000" dirty="0"/>
              <a:t>是一种人为物理系统或者说是一种将人类和物理世界相结合的更为复杂的系统。</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6</a:t>
            </a:fld>
            <a:endParaRPr lang="en-US" altLang="zh-CN"/>
          </a:p>
        </p:txBody>
      </p:sp>
    </p:spTree>
    <p:extLst>
      <p:ext uri="{BB962C8B-B14F-4D97-AF65-F5344CB8AC3E}">
        <p14:creationId xmlns:p14="http://schemas.microsoft.com/office/powerpoint/2010/main" val="18338066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信息物理系统</a:t>
            </a:r>
            <a:r>
              <a:rPr lang="en-US" altLang="zh-CN" dirty="0" smtClean="0"/>
              <a:t>CPS——</a:t>
            </a:r>
            <a:r>
              <a:rPr lang="zh-CN" altLang="en-US" dirty="0" smtClean="0"/>
              <a:t>实例</a:t>
            </a:r>
            <a:r>
              <a:rPr lang="en-US" altLang="zh-CN" dirty="0" smtClean="0"/>
              <a:t> </a:t>
            </a:r>
            <a:endParaRPr lang="zh-CN" altLang="en-US" dirty="0"/>
          </a:p>
        </p:txBody>
      </p:sp>
      <p:sp>
        <p:nvSpPr>
          <p:cNvPr id="3" name="内容占位符 2"/>
          <p:cNvSpPr>
            <a:spLocks noGrp="1"/>
          </p:cNvSpPr>
          <p:nvPr>
            <p:ph idx="1"/>
          </p:nvPr>
        </p:nvSpPr>
        <p:spPr>
          <a:xfrm>
            <a:off x="0" y="1196752"/>
            <a:ext cx="9143999" cy="4896544"/>
          </a:xfrm>
        </p:spPr>
        <p:txBody>
          <a:bodyPr/>
          <a:lstStyle/>
          <a:p>
            <a:r>
              <a:rPr lang="zh-CN" altLang="en-US" sz="2400" dirty="0"/>
              <a:t>自主移动机器人团队就是</a:t>
            </a:r>
            <a:r>
              <a:rPr lang="en-US" altLang="zh-CN" sz="2400" dirty="0"/>
              <a:t>CPS</a:t>
            </a:r>
            <a:r>
              <a:rPr lang="zh-CN" altLang="en-US" sz="2400" dirty="0"/>
              <a:t>系统的一个典型例子。给这个能够自主移动的机器人团队分配特定的任务：他们要从未知的建筑平面图所示的某一间屋子内识别和检索某一目标</a:t>
            </a:r>
            <a:r>
              <a:rPr lang="zh-CN" altLang="en-US" sz="2400" dirty="0" smtClean="0"/>
              <a:t>。</a:t>
            </a:r>
            <a:endParaRPr lang="en-US" altLang="zh-CN" sz="2400" dirty="0" smtClean="0"/>
          </a:p>
          <a:p>
            <a:r>
              <a:rPr lang="zh-CN" altLang="en-US" sz="2400" dirty="0" smtClean="0"/>
              <a:t>为</a:t>
            </a:r>
            <a:r>
              <a:rPr lang="zh-CN" altLang="en-US" sz="2400" dirty="0"/>
              <a:t>了完成该任务，每一个机器人都需要安装多种传感器，用来收集关于物理世界的相关信息。例如，安装</a:t>
            </a:r>
            <a:r>
              <a:rPr lang="en-US" altLang="zh-CN" sz="2400" dirty="0"/>
              <a:t>GPS</a:t>
            </a:r>
            <a:r>
              <a:rPr lang="zh-CN" altLang="en-US" sz="2400" dirty="0"/>
              <a:t>接收器用于跟踪机器人的位置，安装照相机用于获取周围环境的快照，安装宏伟温度传感器用于检测人的存在</a:t>
            </a:r>
            <a:r>
              <a:rPr lang="zh-CN" altLang="en-US" sz="2400" dirty="0" smtClean="0"/>
              <a:t>。</a:t>
            </a:r>
            <a:endParaRPr lang="en-US" altLang="zh-CN" sz="2400" dirty="0" smtClean="0"/>
          </a:p>
          <a:p>
            <a:r>
              <a:rPr lang="zh-CN" altLang="en-US" sz="2400" dirty="0" smtClean="0"/>
              <a:t>该</a:t>
            </a:r>
            <a:r>
              <a:rPr lang="zh-CN" altLang="en-US" sz="2400" dirty="0"/>
              <a:t>系统主要的计算问题是如何利用上述传感器收集的信息来构造建筑物的完整地图，这就要求机器人团队中每个机器人都能通过无线链路以协调方式进行信息交换，机器人、障碍物和目标物的当前位置信息决定了每一个机器人的移动规划。要构造一个多机器人协同系统来完成上述任务，需要从控制、计算和通信相互协同的方式考</a:t>
            </a:r>
            <a:r>
              <a:rPr lang="zh-CN" altLang="en-US" sz="2400" dirty="0" smtClean="0"/>
              <a:t>虑</a:t>
            </a:r>
            <a:endParaRPr lang="zh-CN" altLang="en-US" sz="2400" dirty="0"/>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7</a:t>
            </a:fld>
            <a:endParaRPr lang="en-US" altLang="zh-CN"/>
          </a:p>
        </p:txBody>
      </p:sp>
    </p:spTree>
    <p:extLst>
      <p:ext uri="{BB962C8B-B14F-4D97-AF65-F5344CB8AC3E}">
        <p14:creationId xmlns:p14="http://schemas.microsoft.com/office/powerpoint/2010/main" val="3572071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信息物理系统</a:t>
            </a:r>
            <a:r>
              <a:rPr lang="en-US" altLang="zh-CN" dirty="0"/>
              <a:t>CPS </a:t>
            </a:r>
            <a:r>
              <a:rPr lang="zh-CN" altLang="en-US" dirty="0" smtClean="0"/>
              <a:t>特性</a:t>
            </a:r>
            <a:endParaRPr lang="zh-CN" altLang="en-US" dirty="0"/>
          </a:p>
        </p:txBody>
      </p:sp>
      <p:sp>
        <p:nvSpPr>
          <p:cNvPr id="3" name="内容占位符 2"/>
          <p:cNvSpPr>
            <a:spLocks noGrp="1"/>
          </p:cNvSpPr>
          <p:nvPr>
            <p:ph idx="1"/>
          </p:nvPr>
        </p:nvSpPr>
        <p:spPr>
          <a:xfrm>
            <a:off x="0" y="1196752"/>
            <a:ext cx="9144000" cy="4896544"/>
          </a:xfrm>
        </p:spPr>
        <p:txBody>
          <a:bodyPr/>
          <a:lstStyle/>
          <a:p>
            <a:r>
              <a:rPr lang="zh-CN" altLang="en-US" sz="1800" dirty="0"/>
              <a:t>信息物理系统</a:t>
            </a:r>
            <a:r>
              <a:rPr lang="en-US" altLang="zh-CN" sz="1800" dirty="0" smtClean="0"/>
              <a:t>(CPS</a:t>
            </a:r>
            <a:r>
              <a:rPr lang="en-US" altLang="zh-CN" sz="1800" dirty="0"/>
              <a:t>)</a:t>
            </a:r>
            <a:r>
              <a:rPr lang="zh-CN" altLang="en-US" sz="1800" dirty="0"/>
              <a:t>作为计算进程和物理进程的统一体，是集成计算、通信与控制于一体的下一代智能系统。信息物理系统通过人机交互接口实现和物理进程的交互，使用网络化空间以远程的、可靠的、实时的、安全的、协作的方式操控一个物理实体。但</a:t>
            </a:r>
            <a:r>
              <a:rPr lang="en-US" altLang="zh-CN" sz="1800" dirty="0"/>
              <a:t>CPS</a:t>
            </a:r>
            <a:r>
              <a:rPr lang="zh-CN" altLang="en-US" sz="1800" dirty="0"/>
              <a:t>系统具有以下要求：</a:t>
            </a:r>
          </a:p>
          <a:p>
            <a:r>
              <a:rPr lang="en-US" altLang="zh-CN" sz="1800" dirty="0"/>
              <a:t>1</a:t>
            </a:r>
            <a:r>
              <a:rPr lang="zh-CN" altLang="en-US" sz="1800" dirty="0"/>
              <a:t>）</a:t>
            </a:r>
            <a:r>
              <a:rPr lang="zh-CN" altLang="en-US" sz="1800" dirty="0">
                <a:solidFill>
                  <a:srgbClr val="FF0000"/>
                </a:solidFill>
              </a:rPr>
              <a:t>系统的实时性</a:t>
            </a:r>
            <a:r>
              <a:rPr lang="zh-CN" altLang="en-US" sz="1800" dirty="0"/>
              <a:t>：设计一种新的模型满足实时性要求是首要的任务。因为在这些系统中有大量的传感器，执行器和计算设备需要交换大量的信息。例如，由于传感器节点位置的不同，</a:t>
            </a:r>
            <a:r>
              <a:rPr lang="en-US" altLang="zh-CN" sz="1800" dirty="0"/>
              <a:t>CPS</a:t>
            </a:r>
            <a:r>
              <a:rPr lang="zh-CN" altLang="en-US" sz="1800" dirty="0"/>
              <a:t>网络拓扑结构会产生较大的变化，各系统间需要进行大量的信息交换，以适应不同的应用。</a:t>
            </a:r>
          </a:p>
          <a:p>
            <a:r>
              <a:rPr lang="en-US" altLang="zh-CN" sz="1800" dirty="0"/>
              <a:t>2</a:t>
            </a:r>
            <a:r>
              <a:rPr lang="zh-CN" altLang="en-US" sz="1800" dirty="0"/>
              <a:t>）</a:t>
            </a:r>
            <a:r>
              <a:rPr lang="zh-CN" altLang="en-US" sz="1800" dirty="0">
                <a:solidFill>
                  <a:srgbClr val="FF0000"/>
                </a:solidFill>
              </a:rPr>
              <a:t>鲁棒性和安全性</a:t>
            </a:r>
            <a:r>
              <a:rPr lang="zh-CN" altLang="en-US" sz="1800" dirty="0"/>
              <a:t>：通常情况下，系统间的信息交互必会受到物理世界的不确定因素的影响。不同于计算系统中的逻辑运算，</a:t>
            </a:r>
            <a:r>
              <a:rPr lang="en-US" altLang="zh-CN" sz="1800" dirty="0"/>
              <a:t>CPS</a:t>
            </a:r>
            <a:r>
              <a:rPr lang="zh-CN" altLang="en-US" sz="1800" dirty="0"/>
              <a:t>拥有较高的鲁棒性和安全性。</a:t>
            </a:r>
          </a:p>
          <a:p>
            <a:r>
              <a:rPr lang="en-US" altLang="zh-CN" sz="1800" dirty="0"/>
              <a:t>3</a:t>
            </a:r>
            <a:r>
              <a:rPr lang="zh-CN" altLang="en-US" sz="1800" dirty="0"/>
              <a:t>）</a:t>
            </a:r>
            <a:r>
              <a:rPr lang="zh-CN" altLang="en-US" sz="1800" dirty="0">
                <a:solidFill>
                  <a:srgbClr val="FF0000"/>
                </a:solidFill>
              </a:rPr>
              <a:t>建立动态系统模型</a:t>
            </a:r>
            <a:r>
              <a:rPr lang="zh-CN" altLang="en-US" sz="1800" dirty="0"/>
              <a:t>：物理系统和信息系统最</a:t>
            </a:r>
            <a:r>
              <a:rPr lang="zh-CN" altLang="en-US" sz="1800" dirty="0" smtClean="0"/>
              <a:t>大不</a:t>
            </a:r>
            <a:r>
              <a:rPr lang="zh-CN" altLang="en-US" sz="1800" dirty="0"/>
              <a:t>同是物理系统随着进</a:t>
            </a:r>
            <a:r>
              <a:rPr lang="zh-CN" altLang="en-US" sz="1800" dirty="0" smtClean="0"/>
              <a:t>程改</a:t>
            </a:r>
            <a:r>
              <a:rPr lang="zh-CN" altLang="en-US" sz="1800" dirty="0"/>
              <a:t>变不</a:t>
            </a:r>
            <a:r>
              <a:rPr lang="zh-CN" altLang="en-US" sz="1800" dirty="0" smtClean="0"/>
              <a:t>断实</a:t>
            </a:r>
            <a:r>
              <a:rPr lang="zh-CN" altLang="en-US" sz="1800" dirty="0"/>
              <a:t>时变化</a:t>
            </a:r>
            <a:r>
              <a:rPr lang="zh-CN" altLang="en-US" sz="1800" dirty="0" smtClean="0"/>
              <a:t>，信</a:t>
            </a:r>
            <a:r>
              <a:rPr lang="zh-CN" altLang="en-US" sz="1800" dirty="0"/>
              <a:t>息系统随着逻辑</a:t>
            </a:r>
            <a:r>
              <a:rPr lang="zh-CN" altLang="en-US" sz="1800" dirty="0" smtClean="0"/>
              <a:t>间改</a:t>
            </a:r>
            <a:r>
              <a:rPr lang="zh-CN" altLang="en-US" sz="1800" dirty="0"/>
              <a:t>变而变化。</a:t>
            </a:r>
            <a:r>
              <a:rPr lang="en-US" altLang="zh-CN" sz="1800" dirty="0"/>
              <a:t>CPS</a:t>
            </a:r>
            <a:r>
              <a:rPr lang="zh-CN" altLang="en-US" sz="1800" dirty="0"/>
              <a:t>融合这两</a:t>
            </a:r>
            <a:r>
              <a:rPr lang="zh-CN" altLang="en-US" sz="1800" dirty="0" smtClean="0"/>
              <a:t>者特</a:t>
            </a:r>
            <a:r>
              <a:rPr lang="zh-CN" altLang="en-US" sz="1800" dirty="0"/>
              <a:t>点建立相应动态模</a:t>
            </a:r>
            <a:r>
              <a:rPr lang="zh-CN" altLang="en-US" sz="1800" dirty="0" smtClean="0"/>
              <a:t>型</a:t>
            </a:r>
            <a:endParaRPr lang="zh-CN" altLang="en-US" sz="1800" dirty="0"/>
          </a:p>
          <a:p>
            <a:r>
              <a:rPr lang="en-US" altLang="zh-CN" sz="1800" dirty="0"/>
              <a:t>4</a:t>
            </a:r>
            <a:r>
              <a:rPr lang="zh-CN" altLang="en-US" sz="1800" dirty="0" smtClean="0"/>
              <a:t>）</a:t>
            </a:r>
            <a:r>
              <a:rPr lang="zh-CN" altLang="en-US" sz="1800" dirty="0" smtClean="0">
                <a:solidFill>
                  <a:srgbClr val="FF0000"/>
                </a:solidFill>
              </a:rPr>
              <a:t>反馈结构</a:t>
            </a:r>
            <a:r>
              <a:rPr lang="zh-CN" altLang="en-US" sz="1800" dirty="0" smtClean="0"/>
              <a:t>：</a:t>
            </a:r>
            <a:r>
              <a:rPr lang="zh-CN" altLang="en-US" sz="1800" dirty="0"/>
              <a:t>动</a:t>
            </a:r>
            <a:r>
              <a:rPr lang="zh-CN" altLang="en-US" sz="1800" dirty="0" smtClean="0"/>
              <a:t>态变</a:t>
            </a:r>
            <a:r>
              <a:rPr lang="zh-CN" altLang="en-US" sz="1800" dirty="0"/>
              <a:t>化会影响物理系</a:t>
            </a:r>
            <a:r>
              <a:rPr lang="zh-CN" altLang="en-US" sz="1800" dirty="0" smtClean="0"/>
              <a:t>统性</a:t>
            </a:r>
            <a:r>
              <a:rPr lang="zh-CN" altLang="en-US" sz="1800" dirty="0"/>
              <a:t>能，特别是无线传感器网络的性能。为了解决这个</a:t>
            </a:r>
            <a:r>
              <a:rPr lang="zh-CN" altLang="en-US" sz="1800" dirty="0" smtClean="0"/>
              <a:t>问题</a:t>
            </a:r>
            <a:r>
              <a:rPr lang="zh-CN" altLang="en-US" sz="1800" dirty="0"/>
              <a:t>，许多无线网络协议必须被设计成桥接各节点物理层和网络层的通信。反馈机制有统一的标准约束跨层和跨界点的信息交换，同时满足传统的设计和控制方案。反射结构提供特定的反射信息，这一类信息是非常重要的，他们包括感知数据，性能参数和数据的可用性。</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8</a:t>
            </a:fld>
            <a:endParaRPr lang="en-US" altLang="zh-CN"/>
          </a:p>
        </p:txBody>
      </p:sp>
    </p:spTree>
    <p:extLst>
      <p:ext uri="{BB962C8B-B14F-4D97-AF65-F5344CB8AC3E}">
        <p14:creationId xmlns:p14="http://schemas.microsoft.com/office/powerpoint/2010/main" val="13973541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信息物理系统</a:t>
            </a:r>
            <a:r>
              <a:rPr lang="en-US" altLang="zh-CN" dirty="0" smtClean="0"/>
              <a:t>CPS--</a:t>
            </a:r>
            <a:r>
              <a:rPr lang="zh-CN" altLang="en-US" dirty="0" smtClean="0">
                <a:solidFill>
                  <a:srgbClr val="FF0000"/>
                </a:solidFill>
              </a:rPr>
              <a:t>研</a:t>
            </a:r>
            <a:r>
              <a:rPr lang="zh-CN" altLang="en-US" dirty="0">
                <a:solidFill>
                  <a:srgbClr val="FF0000"/>
                </a:solidFill>
              </a:rPr>
              <a:t>究现状</a:t>
            </a:r>
          </a:p>
        </p:txBody>
      </p:sp>
      <p:sp>
        <p:nvSpPr>
          <p:cNvPr id="3" name="内容占位符 2"/>
          <p:cNvSpPr>
            <a:spLocks noGrp="1"/>
          </p:cNvSpPr>
          <p:nvPr>
            <p:ph idx="1"/>
          </p:nvPr>
        </p:nvSpPr>
        <p:spPr>
          <a:xfrm>
            <a:off x="0" y="1196752"/>
            <a:ext cx="9143999" cy="4680173"/>
          </a:xfrm>
        </p:spPr>
        <p:txBody>
          <a:bodyPr/>
          <a:lstStyle/>
          <a:p>
            <a:r>
              <a:rPr lang="zh-CN" altLang="en-US" sz="2400" dirty="0" smtClean="0"/>
              <a:t>从</a:t>
            </a:r>
            <a:r>
              <a:rPr lang="en-US" altLang="zh-CN" sz="2400" dirty="0" smtClean="0"/>
              <a:t>20</a:t>
            </a:r>
            <a:r>
              <a:rPr lang="zh-CN" altLang="en-US" sz="2400" dirty="0" smtClean="0"/>
              <a:t>世纪</a:t>
            </a:r>
            <a:r>
              <a:rPr lang="en-US" altLang="zh-CN" sz="2400" dirty="0" smtClean="0"/>
              <a:t>80</a:t>
            </a:r>
            <a:r>
              <a:rPr lang="zh-CN" altLang="en-US" sz="2400" dirty="0"/>
              <a:t>年代起一些特定形态的信息物理融合系统就在工业领域得到应用</a:t>
            </a:r>
            <a:r>
              <a:rPr lang="zh-CN" altLang="en-US" sz="2400" dirty="0" smtClean="0"/>
              <a:t>，直</a:t>
            </a:r>
            <a:r>
              <a:rPr lang="zh-CN" altLang="en-US" sz="2400" dirty="0"/>
              <a:t>到最</a:t>
            </a:r>
            <a:r>
              <a:rPr lang="zh-CN" altLang="en-US" sz="2400" dirty="0" smtClean="0"/>
              <a:t>近嵌</a:t>
            </a:r>
            <a:r>
              <a:rPr lang="zh-CN" altLang="en-US" sz="2400" dirty="0"/>
              <a:t>入式系统产品的部件才随着处理器、无线通信和传感器等技</a:t>
            </a:r>
            <a:r>
              <a:rPr lang="zh-CN" altLang="en-US" sz="2400" dirty="0" smtClean="0"/>
              <a:t>术成</a:t>
            </a:r>
            <a:r>
              <a:rPr lang="zh-CN" altLang="en-US" sz="2400" dirty="0"/>
              <a:t>熟以较</a:t>
            </a:r>
            <a:r>
              <a:rPr lang="zh-CN" altLang="en-US" sz="2400" dirty="0" smtClean="0"/>
              <a:t>低成</a:t>
            </a:r>
            <a:r>
              <a:rPr lang="zh-CN" altLang="en-US" sz="2400" dirty="0"/>
              <a:t>本就能具备较</a:t>
            </a:r>
            <a:r>
              <a:rPr lang="zh-CN" altLang="en-US" sz="2400" dirty="0" smtClean="0"/>
              <a:t>强性能</a:t>
            </a:r>
            <a:endParaRPr lang="en-US" altLang="zh-CN" sz="2400" dirty="0" smtClean="0"/>
          </a:p>
          <a:p>
            <a:r>
              <a:rPr lang="zh-CN" altLang="en-US" sz="2400" dirty="0" smtClean="0"/>
              <a:t>人</a:t>
            </a:r>
            <a:r>
              <a:rPr lang="zh-CN" altLang="en-US" sz="2400" dirty="0"/>
              <a:t>们逐渐认识到构造可靠的信息物理融合系统需要功能强大的计算平台作为支撑，而强大的计算平台的开发则需要先进的工具和开发方法</a:t>
            </a:r>
            <a:r>
              <a:rPr lang="zh-CN" altLang="en-US" sz="2400" dirty="0" smtClean="0"/>
              <a:t>。</a:t>
            </a:r>
            <a:endParaRPr lang="en-US" altLang="zh-CN" sz="2400" dirty="0" smtClean="0"/>
          </a:p>
          <a:p>
            <a:r>
              <a:rPr lang="zh-CN" altLang="en-US" sz="2400" dirty="0" smtClean="0"/>
              <a:t>在</a:t>
            </a:r>
            <a:r>
              <a:rPr lang="en-US" altLang="zh-CN" sz="2400" dirty="0"/>
              <a:t>21</a:t>
            </a:r>
            <a:r>
              <a:rPr lang="zh-CN" altLang="en-US" sz="2400" dirty="0"/>
              <a:t>世纪初，为了迎接这个挑战，人们开始研究集成控制、计算和通信的系统方法论，并逐渐形成一个新的学科：信息物理融合系统</a:t>
            </a:r>
            <a:r>
              <a:rPr lang="zh-CN" altLang="en-US" sz="2400" dirty="0" smtClean="0"/>
              <a:t>。</a:t>
            </a:r>
            <a:endParaRPr lang="en-US" altLang="zh-CN" sz="2400" dirty="0" smtClean="0"/>
          </a:p>
          <a:p>
            <a:r>
              <a:rPr lang="zh-CN" altLang="en-US" sz="2400" dirty="0" smtClean="0"/>
              <a:t>设</a:t>
            </a:r>
            <a:r>
              <a:rPr lang="zh-CN" altLang="en-US" sz="2400" dirty="0"/>
              <a:t>计信息物理融合系统的相关理论已经被美国政府部门列为主要优先研究的科学技术，这在汽车、航空电子、制造业和医疗设备等工业界也受到非常高的重</a:t>
            </a:r>
            <a:r>
              <a:rPr lang="zh-CN" altLang="en-US" sz="2400" dirty="0" smtClean="0"/>
              <a:t>视</a:t>
            </a:r>
            <a:endParaRPr lang="zh-CN" altLang="en-US" sz="2400" dirty="0"/>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9</a:t>
            </a:fld>
            <a:endParaRPr lang="en-US" altLang="zh-CN"/>
          </a:p>
        </p:txBody>
      </p:sp>
    </p:spTree>
    <p:extLst>
      <p:ext uri="{BB962C8B-B14F-4D97-AF65-F5344CB8AC3E}">
        <p14:creationId xmlns:p14="http://schemas.microsoft.com/office/powerpoint/2010/main" val="22808468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思考题</a:t>
            </a:r>
            <a:endParaRPr lang="zh-CN" altLang="en-US" dirty="0"/>
          </a:p>
        </p:txBody>
      </p:sp>
      <p:sp>
        <p:nvSpPr>
          <p:cNvPr id="3" name="内容占位符 2"/>
          <p:cNvSpPr>
            <a:spLocks noGrp="1"/>
          </p:cNvSpPr>
          <p:nvPr>
            <p:ph idx="1"/>
          </p:nvPr>
        </p:nvSpPr>
        <p:spPr/>
        <p:txBody>
          <a:bodyPr/>
          <a:lstStyle/>
          <a:p>
            <a:r>
              <a:rPr lang="en-US" altLang="zh-CN" dirty="0"/>
              <a:t>CPS</a:t>
            </a:r>
            <a:r>
              <a:rPr lang="zh-CN" altLang="en-US" dirty="0"/>
              <a:t>系统具有什么特点和优势？</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10</a:t>
            </a:fld>
            <a:endParaRPr lang="en-US" altLang="zh-CN"/>
          </a:p>
        </p:txBody>
      </p:sp>
    </p:spTree>
    <p:extLst>
      <p:ext uri="{BB962C8B-B14F-4D97-AF65-F5344CB8AC3E}">
        <p14:creationId xmlns:p14="http://schemas.microsoft.com/office/powerpoint/2010/main" val="14534874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t>2021/11/11</a:t>
            </a:fld>
            <a:endParaRPr lang="en-US" altLang="zh-CN"/>
          </a:p>
        </p:txBody>
      </p:sp>
      <p:sp>
        <p:nvSpPr>
          <p:cNvPr id="6147"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t>11</a:t>
            </a:fld>
            <a:endParaRPr lang="en-US" altLang="zh-CN" sz="1600" smtClean="0"/>
          </a:p>
        </p:txBody>
      </p:sp>
      <p:sp>
        <p:nvSpPr>
          <p:cNvPr id="2" name="文本框 1"/>
          <p:cNvSpPr txBox="1"/>
          <p:nvPr/>
        </p:nvSpPr>
        <p:spPr>
          <a:xfrm>
            <a:off x="2339752" y="2924944"/>
            <a:ext cx="4608512" cy="1015663"/>
          </a:xfrm>
          <a:prstGeom prst="rect">
            <a:avLst/>
          </a:prstGeom>
          <a:noFill/>
        </p:spPr>
        <p:txBody>
          <a:bodyPr wrap="square" rtlCol="0">
            <a:spAutoFit/>
          </a:bodyPr>
          <a:lstStyle/>
          <a:p>
            <a:r>
              <a:rPr lang="en-US" altLang="zh-CN" sz="6000" b="1" dirty="0" smtClean="0"/>
              <a:t>Thank You</a:t>
            </a:r>
            <a:r>
              <a:rPr lang="zh-CN" altLang="en-US" sz="6000" b="1" dirty="0" smtClean="0"/>
              <a:t>！</a:t>
            </a:r>
            <a:endParaRPr lang="zh-CN" altLang="en-US" sz="6000"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4737</TotalTime>
  <Words>2609</Words>
  <Application>Microsoft Office PowerPoint</Application>
  <PresentationFormat>全屏显示(4:3)</PresentationFormat>
  <Paragraphs>68</Paragraphs>
  <Slides>11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宋体</vt:lpstr>
      <vt:lpstr>Arial</vt:lpstr>
      <vt:lpstr>Times New Roman</vt:lpstr>
      <vt:lpstr>Wingdings</vt:lpstr>
      <vt:lpstr>Axis</vt:lpstr>
      <vt:lpstr>信息物理系统CPS  Cyber-Physical Systems</vt:lpstr>
      <vt:lpstr>信息物理系统CPS </vt:lpstr>
      <vt:lpstr>信息物理系统CPS的意义 </vt:lpstr>
      <vt:lpstr>信息物理系统CPS </vt:lpstr>
      <vt:lpstr>信息物理系统CPS—方法 </vt:lpstr>
      <vt:lpstr>信息物理系统CPS--原理 </vt:lpstr>
      <vt:lpstr>信息物理系统CPS——实例 </vt:lpstr>
      <vt:lpstr>信息物理系统CPS 特性</vt:lpstr>
      <vt:lpstr>信息物理系统CPS--研究现状</vt:lpstr>
      <vt:lpstr>思考题</vt:lpstr>
      <vt:lpstr>PowerPoint 演示文稿</vt:lpstr>
    </vt:vector>
  </TitlesOfParts>
  <Company>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nie</cp:lastModifiedBy>
  <cp:revision>910</cp:revision>
  <dcterms:created xsi:type="dcterms:W3CDTF">2005-03-03T04:54:00Z</dcterms:created>
  <dcterms:modified xsi:type="dcterms:W3CDTF">2021-11-14T06:51:53Z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F116C3EDCEB844DA810AB381055B1871</vt:lpwstr>
  </property>
  <property fmtid="{D5CDD505-2E9C-101B-9397-08002B2CF9AE}" pid="3" name="KSOProductBuildVer">
    <vt:lpwstr>2052-11.1.0.10495</vt:lpwstr>
  </property>
</Properties>
</file>