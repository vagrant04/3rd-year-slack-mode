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notesMasterIdLst>
    <p:notesMasterId r:id="rId34"/>
  </p:notesMasterIdLst>
  <p:sldIdLst>
    <p:sldId id="256" r:id="rId3"/>
    <p:sldId id="257" r:id="rId4"/>
    <p:sldId id="258" r:id="rId5"/>
    <p:sldId id="259" r:id="rId6"/>
    <p:sldId id="260" r:id="rId7"/>
    <p:sldId id="264" r:id="rId8"/>
    <p:sldId id="261" r:id="rId9"/>
    <p:sldId id="262" r:id="rId10"/>
    <p:sldId id="268" r:id="rId11"/>
    <p:sldId id="266"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67"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0"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C1C874-F327-4475-A902-B98FB672681D}" type="datetimeFigureOut">
              <a:rPr lang="zh-CN" altLang="en-US" smtClean="0"/>
              <a:t>2019/10/22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DCE3A4-53CB-4C8D-961E-9CDAEE82E399}" type="slidenum">
              <a:rPr lang="zh-CN" altLang="en-US" smtClean="0"/>
              <a:t>‹#›</a:t>
            </a:fld>
            <a:endParaRPr lang="zh-CN" altLang="en-US"/>
          </a:p>
        </p:txBody>
      </p:sp>
    </p:spTree>
    <p:extLst>
      <p:ext uri="{BB962C8B-B14F-4D97-AF65-F5344CB8AC3E}">
        <p14:creationId xmlns:p14="http://schemas.microsoft.com/office/powerpoint/2010/main" val="1613026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zh.wikipedia.org/wiki/%E8%BB%9F%E9%AB%94%E9%96%8B%E7%99%BC%E8%80%85"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zh.wikipedia.org/wiki/%E7%B5%90%E5%B0%8D%E7%A8%8B%E5%BC%8F%E8%A8%AD%E8%A8%88"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zh.wikipedia.org/wiki/%E6%9E%81%E9%99%90%E7%BC%96%E7%A8%8B"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（一开始）讨论软件编码的质量之前，要了解一下什么是软件编码。</a:t>
            </a:r>
            <a:endParaRPr lang="en-US" altLang="zh-CN" dirty="0" smtClean="0"/>
          </a:p>
          <a:p>
            <a:r>
              <a:rPr lang="zh-CN" altLang="en-US" dirty="0" smtClean="0"/>
              <a:t>（按）</a:t>
            </a:r>
            <a:endParaRPr lang="en-US" altLang="zh-CN" dirty="0" smtClean="0"/>
          </a:p>
          <a:p>
            <a:r>
              <a:rPr lang="zh-CN" altLang="en-US" dirty="0" smtClean="0"/>
              <a:t>传统的软件的一个生命周期分为这四个部分</a:t>
            </a:r>
            <a:endParaRPr lang="en-US" altLang="zh-CN" dirty="0" smtClean="0"/>
          </a:p>
          <a:p>
            <a:r>
              <a:rPr lang="zh-CN" altLang="en-US" dirty="0" smtClean="0"/>
              <a:t>（按）</a:t>
            </a:r>
            <a:endParaRPr lang="en-US" altLang="zh-CN" dirty="0" smtClean="0"/>
          </a:p>
          <a:p>
            <a:r>
              <a:rPr lang="zh-CN" altLang="en-US" dirty="0" smtClean="0"/>
              <a:t>具体到软件编码阶段，就是利用具体的编程语言，</a:t>
            </a:r>
            <a:r>
              <a:rPr lang="en-US" altLang="zh-CN" dirty="0" err="1" smtClean="0"/>
              <a:t>balabala</a:t>
            </a:r>
            <a:r>
              <a:rPr lang="zh-CN" altLang="en-US" dirty="0" smtClean="0"/>
              <a:t>，</a:t>
            </a:r>
            <a:endParaRPr lang="en-US" altLang="zh-CN" dirty="0" smtClean="0"/>
          </a:p>
          <a:p>
            <a:r>
              <a:rPr lang="zh-CN" altLang="en-US" dirty="0" smtClean="0"/>
              <a:t>所以说软件编码是软件工程的一个阶段</a:t>
            </a:r>
            <a:endParaRPr lang="en-US" altLang="zh-CN" dirty="0" smtClean="0"/>
          </a:p>
          <a:p>
            <a:r>
              <a:rPr lang="zh-CN" altLang="en-US" dirty="0" smtClean="0"/>
              <a:t>（按）</a:t>
            </a:r>
            <a:endParaRPr lang="en-US" altLang="zh-CN" dirty="0" smtClean="0"/>
          </a:p>
          <a:p>
            <a:r>
              <a:rPr lang="zh-CN" altLang="en-US" dirty="0" smtClean="0"/>
              <a:t>这是百度百科上的“软件编码”词条，看看就好</a:t>
            </a:r>
            <a:endParaRPr lang="en-US" altLang="zh-CN" dirty="0" smtClean="0"/>
          </a:p>
          <a:p>
            <a:r>
              <a:rPr lang="zh-CN" altLang="en-US" dirty="0" smtClean="0"/>
              <a:t>（最后）不同于需求分析、系统架构、软件测试和软件维护，软件编码存在于写</a:t>
            </a:r>
            <a:r>
              <a:rPr lang="en-US" altLang="zh-CN" dirty="0" err="1" smtClean="0"/>
              <a:t>oj</a:t>
            </a:r>
            <a:r>
              <a:rPr lang="zh-CN" altLang="en-US" dirty="0" smtClean="0"/>
              <a:t>题、写</a:t>
            </a:r>
            <a:r>
              <a:rPr lang="en-US" altLang="zh-CN" dirty="0" smtClean="0"/>
              <a:t>pa</a:t>
            </a:r>
            <a:r>
              <a:rPr lang="zh-CN" altLang="en-US" dirty="0" smtClean="0"/>
              <a:t>、以及完成一个工程项目，可以说和我们息息相关</a:t>
            </a:r>
            <a:endParaRPr lang="en-US" altLang="zh-CN" dirty="0" smtClean="0"/>
          </a:p>
          <a:p>
            <a:r>
              <a:rPr lang="zh-CN" altLang="en-US" dirty="0" smtClean="0"/>
              <a:t>其实就是写代码嘛</a:t>
            </a:r>
            <a:endParaRPr lang="en-US" altLang="zh-CN" dirty="0" smtClean="0"/>
          </a:p>
          <a:p>
            <a:r>
              <a:rPr lang="zh-CN" altLang="en-US" dirty="0" smtClean="0"/>
              <a:t>（按）</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249331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sz="1200" b="1" i="0" kern="1200" dirty="0" smtClean="0">
                <a:solidFill>
                  <a:schemeClr val="tx1"/>
                </a:solidFill>
                <a:effectLst/>
                <a:latin typeface="+mn-lt"/>
                <a:ea typeface="+mn-ea"/>
                <a:cs typeface="+mn-cs"/>
              </a:rPr>
              <a:t>那如何保障软件编码的质量呢？有以下三种方法</a:t>
            </a:r>
            <a:endParaRPr lang="en-US" altLang="zh-CN" sz="1200" b="1"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（按）</a:t>
            </a:r>
            <a:endParaRPr lang="en-US" altLang="zh-CN" sz="1200" b="1" i="0" kern="1200" dirty="0" smtClean="0">
              <a:solidFill>
                <a:schemeClr val="tx1"/>
              </a:solidFill>
              <a:effectLst/>
              <a:latin typeface="+mn-lt"/>
              <a:ea typeface="+mn-ea"/>
              <a:cs typeface="+mn-cs"/>
            </a:endParaRPr>
          </a:p>
          <a:p>
            <a:pPr marL="457200" indent="-457200">
              <a:buFont typeface="+mj-lt"/>
              <a:buAutoNum type="arabicPeriod"/>
            </a:pPr>
            <a:r>
              <a:rPr lang="zh-CN" altLang="en-US" sz="1200" dirty="0" smtClean="0"/>
              <a:t>编码规范</a:t>
            </a:r>
            <a:endParaRPr lang="en-US" altLang="zh-CN" sz="1200" dirty="0" smtClean="0"/>
          </a:p>
          <a:p>
            <a:pPr marL="457200" indent="-457200">
              <a:buFont typeface="+mj-lt"/>
              <a:buAutoNum type="arabicPeriod"/>
            </a:pPr>
            <a:r>
              <a:rPr lang="zh-CN" altLang="en-US" sz="1200" dirty="0" smtClean="0"/>
              <a:t>代码审查</a:t>
            </a:r>
            <a:endParaRPr lang="en-US" altLang="zh-CN" sz="1200" dirty="0" smtClean="0"/>
          </a:p>
          <a:p>
            <a:pPr marL="457200" indent="-457200">
              <a:buFont typeface="+mj-lt"/>
              <a:buAutoNum type="arabicPeriod"/>
            </a:pPr>
            <a:r>
              <a:rPr lang="zh-CN" altLang="en-US" sz="1200" dirty="0" smtClean="0"/>
              <a:t>单元测试</a:t>
            </a:r>
            <a:endParaRPr lang="en-US" altLang="zh-CN" sz="1200" dirty="0" smtClean="0"/>
          </a:p>
          <a:p>
            <a:endParaRPr lang="en-US" altLang="zh-CN" sz="1200" b="1" i="0" kern="1200" dirty="0" smtClean="0">
              <a:solidFill>
                <a:schemeClr val="tx1"/>
              </a:solidFill>
              <a:effectLst/>
              <a:latin typeface="+mn-lt"/>
              <a:ea typeface="+mn-ea"/>
              <a:cs typeface="+mn-cs"/>
            </a:endParaRPr>
          </a:p>
          <a:p>
            <a:r>
              <a:rPr lang="zh-CN" altLang="en-US" sz="1200" b="1" i="0" kern="1200" dirty="0" smtClean="0">
                <a:solidFill>
                  <a:schemeClr val="tx1"/>
                </a:solidFill>
                <a:effectLst/>
                <a:latin typeface="+mn-lt"/>
                <a:ea typeface="+mn-ea"/>
                <a:cs typeface="+mn-cs"/>
              </a:rPr>
              <a:t>（按）</a:t>
            </a:r>
            <a:endParaRPr lang="en-US" altLang="zh-CN" sz="1200" b="1" i="0" kern="1200" dirty="0" smtClean="0">
              <a:solidFill>
                <a:schemeClr val="tx1"/>
              </a:solidFill>
              <a:effectLst/>
              <a:latin typeface="+mn-lt"/>
              <a:ea typeface="+mn-ea"/>
              <a:cs typeface="+mn-cs"/>
            </a:endParaRPr>
          </a:p>
          <a:p>
            <a:r>
              <a:rPr lang="zh-CN" altLang="en-US" sz="1200" b="1" i="0" kern="1200" dirty="0" smtClean="0">
                <a:solidFill>
                  <a:schemeClr val="tx1"/>
                </a:solidFill>
                <a:effectLst/>
                <a:latin typeface="+mn-lt"/>
                <a:ea typeface="+mn-ea"/>
                <a:cs typeface="+mn-cs"/>
              </a:rPr>
              <a:t>这里要注意这些方法的实施主体是开发人员</a:t>
            </a:r>
            <a:endParaRPr lang="en-US" altLang="zh-CN" sz="1200" b="1"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而不是测试人员或项目管理人员。其实代码审查和单元测试也是属于软件测试的范畴，只不过它俩都需要软件编写者的参与。</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（最后）</a:t>
            </a:r>
            <a:endParaRPr lang="en-US" altLang="zh-CN" sz="1200" b="0" i="0" kern="1200" dirty="0" smtClean="0">
              <a:solidFill>
                <a:schemeClr val="tx1"/>
              </a:solidFill>
              <a:effectLst/>
              <a:latin typeface="+mn-lt"/>
              <a:ea typeface="+mn-ea"/>
              <a:cs typeface="+mn-cs"/>
            </a:endParaRPr>
          </a:p>
          <a:p>
            <a:r>
              <a:rPr lang="zh-CN" altLang="en-US" sz="1200" b="1" i="0" kern="1200" dirty="0" smtClean="0">
                <a:solidFill>
                  <a:schemeClr val="tx1"/>
                </a:solidFill>
                <a:effectLst/>
                <a:latin typeface="+mn-lt"/>
                <a:ea typeface="+mn-ea"/>
                <a:cs typeface="+mn-cs"/>
              </a:rPr>
              <a:t>编码阶段质量保证的含义重大，</a:t>
            </a:r>
            <a:r>
              <a:rPr lang="zh-CN" altLang="en-US" sz="1200" b="0" i="0" kern="1200" dirty="0" smtClean="0">
                <a:solidFill>
                  <a:schemeClr val="tx1"/>
                </a:solidFill>
                <a:effectLst/>
                <a:latin typeface="+mn-lt"/>
                <a:ea typeface="+mn-ea"/>
                <a:cs typeface="+mn-cs"/>
              </a:rPr>
              <a:t>除了设计错误外， 编码是唯一引入软件缺陷的地方。 </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20989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接下来，我将从这</a:t>
            </a:r>
            <a:r>
              <a:rPr lang="en-US" altLang="zh-CN" dirty="0" smtClean="0"/>
              <a:t>3</a:t>
            </a:r>
            <a:r>
              <a:rPr lang="zh-CN" altLang="en-US" dirty="0" smtClean="0"/>
              <a:t>个方法来介绍如何保障软件编码的质量</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550195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第一个是编码规范</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487331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这是编码规范在维基上的词条，其中包括了我们经常提及的</a:t>
            </a:r>
            <a:r>
              <a:rPr lang="zh-CN" altLang="en-US" b="1" dirty="0" smtClean="0"/>
              <a:t>代码风格</a:t>
            </a:r>
            <a:r>
              <a:rPr lang="zh-CN" altLang="en-US" dirty="0" smtClean="0"/>
              <a:t>，也就是</a:t>
            </a:r>
            <a:r>
              <a:rPr lang="en-US" altLang="zh-CN" b="1" dirty="0" smtClean="0"/>
              <a:t>coding style</a:t>
            </a:r>
          </a:p>
          <a:p>
            <a:r>
              <a:rPr lang="zh-CN" altLang="en-US" dirty="0" smtClean="0"/>
              <a:t>由定义说明了，</a:t>
            </a:r>
            <a:r>
              <a:rPr lang="zh-CN" altLang="en-US" b="1" dirty="0" smtClean="0"/>
              <a:t>不同的编程语言有不同的编码规范</a:t>
            </a:r>
            <a:endParaRPr lang="en-US" altLang="zh-CN" b="1" dirty="0" smtClean="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962271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举个我们最熟悉的例子</a:t>
            </a:r>
            <a:r>
              <a:rPr lang="en-US" altLang="zh-CN" sz="1200" b="0" i="0" kern="1200" dirty="0" smtClean="0">
                <a:solidFill>
                  <a:schemeClr val="tx1"/>
                </a:solidFill>
                <a:effectLst/>
                <a:latin typeface="+mn-lt"/>
                <a:ea typeface="+mn-ea"/>
                <a:cs typeface="+mn-cs"/>
              </a:rPr>
              <a:t>C++</a:t>
            </a: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编码规范包括</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文件组织和排版风格。 比如： 工程文件的目录组织、代 码 等 部 分 布 局 规 范 ， 缩 进 、空 格 、对齐、换行的方式， 注释的写法等 （花括号换行？）</a:t>
            </a:r>
          </a:p>
          <a:p>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命名规范。 比如变量、类、方法、文件等的命名方法 （匈牙利命名法，驼峰命名法）</a:t>
            </a:r>
          </a:p>
          <a:p>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如何安全、高效使用语言特性的指导原则。对于基于</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的编码来说， 这方面的指导原则主要包括如下几类：</a:t>
            </a:r>
          </a:p>
          <a:p>
            <a:pPr lvl="1"/>
            <a:r>
              <a:rPr lang="zh-CN" altLang="en-US" sz="1200" b="0" i="0" kern="1200" dirty="0" smtClean="0">
                <a:solidFill>
                  <a:schemeClr val="tx1"/>
                </a:solidFill>
                <a:effectLst/>
                <a:latin typeface="+mn-lt"/>
                <a:ea typeface="+mn-ea"/>
                <a:cs typeface="+mn-cs"/>
              </a:rPr>
              <a:t>类 的 设 计 和 声 明 （比 如 ： 基 类 的 析 构 函 数 都 应 该 是 虚 函数） </a:t>
            </a:r>
          </a:p>
          <a:p>
            <a:pPr lvl="1"/>
            <a:r>
              <a:rPr lang="zh-CN" altLang="en-US" sz="1200" b="0" i="0" kern="1200" dirty="0" smtClean="0">
                <a:solidFill>
                  <a:schemeClr val="tx1"/>
                </a:solidFill>
                <a:effectLst/>
                <a:latin typeface="+mn-lt"/>
                <a:ea typeface="+mn-ea"/>
                <a:cs typeface="+mn-cs"/>
              </a:rPr>
              <a:t>内存的申请与释放（比如：</a:t>
            </a:r>
            <a:r>
              <a:rPr lang="en-US" altLang="zh-CN" sz="1200" b="0" i="0" kern="1200" dirty="0" err="1" smtClean="0">
                <a:solidFill>
                  <a:schemeClr val="tx1"/>
                </a:solidFill>
                <a:effectLst/>
                <a:latin typeface="+mn-lt"/>
                <a:ea typeface="+mn-ea"/>
                <a:cs typeface="+mn-cs"/>
              </a:rPr>
              <a:t>new,delete</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new [] , delete []</a:t>
            </a:r>
            <a:r>
              <a:rPr lang="zh-CN" altLang="en-US" sz="1200" b="0" i="0" kern="1200" dirty="0" smtClean="0">
                <a:solidFill>
                  <a:schemeClr val="tx1"/>
                </a:solidFill>
                <a:effectLst/>
                <a:latin typeface="+mn-lt"/>
                <a:ea typeface="+mn-ea"/>
                <a:cs typeface="+mn-cs"/>
              </a:rPr>
              <a:t>要成对使用） </a:t>
            </a:r>
          </a:p>
          <a:p>
            <a:pPr lvl="1"/>
            <a:r>
              <a:rPr lang="zh-CN" altLang="en-US" sz="1200" b="0" i="0" kern="1200" dirty="0" smtClean="0">
                <a:solidFill>
                  <a:schemeClr val="tx1"/>
                </a:solidFill>
                <a:effectLst/>
                <a:latin typeface="+mn-lt"/>
                <a:ea typeface="+mn-ea"/>
                <a:cs typeface="+mn-cs"/>
              </a:rPr>
              <a:t>类和对象的初始化和清除 （比如： 包含资源管理的类应该自定义拷贝构造函数、赋值函数和析构函数） </a:t>
            </a:r>
          </a:p>
          <a:p>
            <a:pPr lvl="1"/>
            <a:r>
              <a:rPr lang="zh-CN" altLang="en-US" sz="1200" b="0" i="0" kern="1200" dirty="0" smtClean="0">
                <a:solidFill>
                  <a:schemeClr val="tx1"/>
                </a:solidFill>
                <a:effectLst/>
                <a:latin typeface="+mn-lt"/>
                <a:ea typeface="+mn-ea"/>
                <a:cs typeface="+mn-cs"/>
              </a:rPr>
              <a:t>异常处理（比如： 不要在析构函数中抛出异常函数）</a:t>
            </a:r>
          </a:p>
          <a:p>
            <a:pPr lvl="1"/>
            <a:r>
              <a:rPr lang="zh-CN" altLang="en-US" sz="1200" b="0" i="0" kern="1200" dirty="0" smtClean="0">
                <a:solidFill>
                  <a:schemeClr val="tx1"/>
                </a:solidFill>
                <a:effectLst/>
                <a:latin typeface="+mn-lt"/>
                <a:ea typeface="+mn-ea"/>
                <a:cs typeface="+mn-cs"/>
              </a:rPr>
              <a:t>兼容性和可移植性（比如： 不要假设不同源文件中静态或者全局变量的初始化顺序） </a:t>
            </a:r>
          </a:p>
          <a:p>
            <a:pPr lvl="1"/>
            <a:r>
              <a:rPr lang="zh-CN" altLang="en-US" sz="1200" b="0" i="0" kern="1200" dirty="0" smtClean="0">
                <a:solidFill>
                  <a:schemeClr val="tx1"/>
                </a:solidFill>
                <a:effectLst/>
                <a:latin typeface="+mn-lt"/>
                <a:ea typeface="+mn-ea"/>
                <a:cs typeface="+mn-cs"/>
              </a:rPr>
              <a:t>性能（比如： 减少临时对象、减少大尺寸的对象复制、恰当使用 </a:t>
            </a:r>
            <a:r>
              <a:rPr lang="en-US" altLang="zh-CN" sz="1200" b="0" i="0" kern="1200" dirty="0" smtClean="0">
                <a:solidFill>
                  <a:schemeClr val="tx1"/>
                </a:solidFill>
                <a:effectLst/>
                <a:latin typeface="+mn-lt"/>
                <a:ea typeface="+mn-ea"/>
                <a:cs typeface="+mn-cs"/>
              </a:rPr>
              <a:t>inline</a:t>
            </a:r>
            <a:r>
              <a:rPr lang="zh-CN" altLang="en-US" sz="1200" b="0" i="0" kern="1200" dirty="0" smtClean="0">
                <a:solidFill>
                  <a:schemeClr val="tx1"/>
                </a:solidFill>
                <a:effectLst/>
                <a:latin typeface="+mn-lt"/>
                <a:ea typeface="+mn-ea"/>
                <a:cs typeface="+mn-cs"/>
              </a:rPr>
              <a:t>函数） </a:t>
            </a:r>
            <a:endParaRPr lang="en-US" altLang="zh-CN" sz="1200" b="0" i="0" kern="1200" dirty="0" smtClean="0">
              <a:solidFill>
                <a:schemeClr val="tx1"/>
              </a:solidFill>
              <a:effectLst/>
              <a:latin typeface="+mn-lt"/>
              <a:ea typeface="+mn-ea"/>
              <a:cs typeface="+mn-cs"/>
            </a:endParaRPr>
          </a:p>
          <a:p>
            <a:pPr lvl="1"/>
            <a:endParaRPr lang="en-US" altLang="zh-CN" sz="1200" b="0" i="0" kern="1200" dirty="0" smtClean="0">
              <a:solidFill>
                <a:schemeClr val="tx1"/>
              </a:solidFill>
              <a:effectLst/>
              <a:latin typeface="+mn-lt"/>
              <a:ea typeface="+mn-ea"/>
              <a:cs typeface="+mn-cs"/>
            </a:endParaRPr>
          </a:p>
          <a:p>
            <a:pPr lvl="1"/>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pPr lvl="1"/>
            <a:r>
              <a:rPr lang="zh-CN" altLang="en-US" sz="1200" b="0" i="0" kern="1200" dirty="0" smtClean="0">
                <a:solidFill>
                  <a:schemeClr val="tx1"/>
                </a:solidFill>
                <a:effectLst/>
                <a:latin typeface="+mn-lt"/>
                <a:ea typeface="+mn-ea"/>
                <a:cs typeface="+mn-cs"/>
              </a:rPr>
              <a:t>如何确定一个团队的编码规范？一般是在编码以前，开发小组。。。</a:t>
            </a:r>
            <a:endParaRPr lang="en-US" altLang="zh-CN" sz="1200" b="0" i="0" kern="1200" dirty="0" smtClean="0">
              <a:solidFill>
                <a:schemeClr val="tx1"/>
              </a:solidFill>
              <a:effectLst/>
              <a:latin typeface="+mn-lt"/>
              <a:ea typeface="+mn-ea"/>
              <a:cs typeface="+mn-cs"/>
            </a:endParaRPr>
          </a:p>
          <a:p>
            <a:pPr lvl="1"/>
            <a:endParaRPr lang="en-US" altLang="zh-CN" sz="1200" b="0" i="0" kern="1200" dirty="0" smtClean="0">
              <a:solidFill>
                <a:schemeClr val="tx1"/>
              </a:solidFill>
              <a:effectLst/>
              <a:latin typeface="+mn-lt"/>
              <a:ea typeface="+mn-ea"/>
              <a:cs typeface="+mn-cs"/>
            </a:endParaRPr>
          </a:p>
          <a:p>
            <a:pPr lvl="1"/>
            <a:r>
              <a:rPr lang="zh-CN" altLang="en-US" sz="1200" b="0" i="0" kern="1200" dirty="0" smtClean="0">
                <a:solidFill>
                  <a:schemeClr val="tx1"/>
                </a:solidFill>
                <a:effectLst/>
                <a:latin typeface="+mn-lt"/>
                <a:ea typeface="+mn-ea"/>
                <a:cs typeface="+mn-cs"/>
              </a:rPr>
              <a:t>（最后）制定语言的编码规范往往由编程语言的官方来实现，比如说</a:t>
            </a:r>
            <a:endParaRPr lang="en-US" altLang="zh-CN" sz="1200" b="0" i="0" kern="1200" dirty="0" smtClean="0">
              <a:solidFill>
                <a:schemeClr val="tx1"/>
              </a:solidFill>
              <a:effectLst/>
              <a:latin typeface="+mn-lt"/>
              <a:ea typeface="+mn-ea"/>
              <a:cs typeface="+mn-cs"/>
            </a:endParaRPr>
          </a:p>
          <a:p>
            <a:pPr lvl="1"/>
            <a:r>
              <a:rPr lang="zh-CN" altLang="en-US" sz="1200" b="0" i="0" kern="1200" dirty="0" smtClean="0">
                <a:solidFill>
                  <a:schemeClr val="tx1"/>
                </a:solidFill>
                <a:effectLst/>
                <a:latin typeface="+mn-lt"/>
                <a:ea typeface="+mn-ea"/>
                <a:cs typeface="+mn-cs"/>
              </a:rPr>
              <a:t>（按）</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34859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dirty="0" smtClean="0"/>
              <a:t>Java</a:t>
            </a:r>
            <a:r>
              <a:rPr lang="zh-CN" altLang="en-US" dirty="0" smtClean="0"/>
              <a:t>、</a:t>
            </a:r>
            <a:r>
              <a:rPr lang="en-US" altLang="zh-CN" dirty="0" smtClean="0"/>
              <a:t>C#</a:t>
            </a:r>
            <a:r>
              <a:rPr lang="zh-CN" altLang="en-US" dirty="0" smtClean="0"/>
              <a:t>、</a:t>
            </a:r>
            <a:r>
              <a:rPr lang="en-US" altLang="zh-CN" dirty="0" smtClean="0"/>
              <a:t>python</a:t>
            </a:r>
            <a:r>
              <a:rPr lang="zh-CN" altLang="en-US" dirty="0" smtClean="0"/>
              <a:t>、</a:t>
            </a:r>
            <a:r>
              <a:rPr lang="en-US" altLang="zh-CN" dirty="0" err="1" smtClean="0"/>
              <a:t>kotlin</a:t>
            </a:r>
            <a:r>
              <a:rPr lang="zh-CN" altLang="en-US" dirty="0" smtClean="0"/>
              <a:t>就有官方的语言编码规范，可在官网上找到</a:t>
            </a:r>
            <a:endParaRPr lang="en-US" altLang="zh-CN" dirty="0" smtClean="0"/>
          </a:p>
          <a:p>
            <a:r>
              <a:rPr lang="zh-CN" altLang="en-US" dirty="0" smtClean="0"/>
              <a:t>（按）</a:t>
            </a:r>
            <a:endParaRPr lang="en-US" altLang="zh-CN" dirty="0" smtClean="0"/>
          </a:p>
          <a:p>
            <a:endParaRPr lang="en-US" altLang="zh-CN" dirty="0" smtClean="0"/>
          </a:p>
          <a:p>
            <a:r>
              <a:rPr lang="zh-CN" altLang="en-US" dirty="0" smtClean="0"/>
              <a:t>然后谷歌为了方便对开源代码贡献者的代码管理，制定了他们的代码编码规范，目前已经支持很多种语言</a:t>
            </a:r>
            <a:endParaRPr lang="en-US" altLang="zh-CN" dirty="0" smtClean="0"/>
          </a:p>
          <a:p>
            <a:r>
              <a:rPr lang="zh-CN" altLang="en-US" dirty="0" smtClean="0"/>
              <a:t>（按）</a:t>
            </a:r>
            <a:endParaRPr lang="en-US" altLang="zh-CN" dirty="0" smtClean="0"/>
          </a:p>
          <a:p>
            <a:endParaRPr lang="en-US" altLang="zh-CN" dirty="0" smtClean="0"/>
          </a:p>
          <a:p>
            <a:r>
              <a:rPr lang="zh-CN" altLang="en-US" dirty="0" smtClean="0"/>
              <a:t>（按）</a:t>
            </a:r>
            <a:endParaRPr lang="en-US" altLang="zh-CN" dirty="0" smtClean="0"/>
          </a:p>
          <a:p>
            <a:r>
              <a:rPr lang="zh-CN" altLang="en-US" dirty="0" smtClean="0"/>
              <a:t>阿里为了方便员工，也有自己的一套</a:t>
            </a:r>
            <a:r>
              <a:rPr lang="en-US" altLang="zh-CN" dirty="0" smtClean="0"/>
              <a:t>java</a:t>
            </a:r>
            <a:r>
              <a:rPr lang="zh-CN" altLang="en-US" dirty="0" smtClean="0"/>
              <a:t>编码规范，在今天年</a:t>
            </a:r>
            <a:r>
              <a:rPr lang="en-US" altLang="zh-CN" dirty="0" smtClean="0"/>
              <a:t>10</a:t>
            </a:r>
            <a:r>
              <a:rPr lang="zh-CN" altLang="en-US" dirty="0" smtClean="0"/>
              <a:t>月份完成了最终版本的修订</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680888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到目前为止，谷歌风格指南中文版已经支持</a:t>
            </a:r>
            <a:r>
              <a:rPr lang="en-US" altLang="zh-CN" dirty="0" smtClean="0"/>
              <a:t>5</a:t>
            </a:r>
            <a:r>
              <a:rPr lang="zh-CN" altLang="en-US" dirty="0" smtClean="0"/>
              <a:t>种语言</a:t>
            </a:r>
            <a:endParaRPr lang="en-US" altLang="zh-CN" dirty="0" smtClean="0"/>
          </a:p>
          <a:p>
            <a:r>
              <a:rPr lang="zh-CN" altLang="en-US" dirty="0" smtClean="0"/>
              <a:t>（按）</a:t>
            </a:r>
            <a:endParaRPr lang="en-US" altLang="zh-CN" dirty="0" smtClean="0"/>
          </a:p>
          <a:p>
            <a:r>
              <a:rPr lang="zh-CN" altLang="en-US" dirty="0" smtClean="0"/>
              <a:t>（按）</a:t>
            </a:r>
            <a:endParaRPr lang="en-US" altLang="zh-CN" dirty="0" smtClean="0"/>
          </a:p>
          <a:p>
            <a:endParaRPr lang="en-US" altLang="zh-CN" dirty="0" smtClean="0"/>
          </a:p>
          <a:p>
            <a:r>
              <a:rPr lang="zh-CN" altLang="en-US" dirty="0" smtClean="0"/>
              <a:t>这是阿里的</a:t>
            </a:r>
            <a:r>
              <a:rPr lang="en-US" altLang="zh-CN" dirty="0" smtClean="0"/>
              <a:t>java</a:t>
            </a:r>
            <a:r>
              <a:rPr lang="zh-CN" altLang="en-US" dirty="0" smtClean="0"/>
              <a:t>开发手册</a:t>
            </a:r>
            <a:endParaRPr lang="en-US" altLang="zh-CN" dirty="0" smtClean="0"/>
          </a:p>
          <a:p>
            <a:r>
              <a:rPr lang="zh-CN" altLang="en-US" dirty="0" smtClean="0"/>
              <a:t>（按）</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321228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人为的遵循编码规范有时候会很累，所以人们需要软件的帮助，比如</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代码排版工具 </a:t>
            </a:r>
            <a:r>
              <a:rPr lang="en-US" altLang="zh-CN" sz="1200" b="0" i="0" kern="1200" dirty="0" err="1" smtClean="0">
                <a:solidFill>
                  <a:schemeClr val="tx1"/>
                </a:solidFill>
                <a:effectLst/>
                <a:latin typeface="+mn-lt"/>
                <a:ea typeface="+mn-ea"/>
                <a:cs typeface="+mn-cs"/>
              </a:rPr>
              <a:t>SourceStyler</a:t>
            </a:r>
            <a:r>
              <a:rPr lang="en-US" altLang="zh-CN" sz="1200" b="0" i="0" kern="1200" dirty="0" smtClean="0">
                <a:solidFill>
                  <a:schemeClr val="tx1"/>
                </a:solidFill>
                <a:effectLst/>
                <a:latin typeface="+mn-lt"/>
                <a:ea typeface="+mn-ea"/>
                <a:cs typeface="+mn-cs"/>
              </a:rPr>
              <a:t> C++</a:t>
            </a: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它提供了超过</a:t>
            </a:r>
            <a:r>
              <a:rPr lang="en-US" altLang="zh-CN" sz="1200" b="0" i="0" kern="1200" dirty="0" smtClean="0">
                <a:solidFill>
                  <a:schemeClr val="tx1"/>
                </a:solidFill>
                <a:effectLst/>
                <a:latin typeface="+mn-lt"/>
                <a:ea typeface="+mn-ea"/>
                <a:cs typeface="+mn-cs"/>
              </a:rPr>
              <a:t>100 </a:t>
            </a:r>
            <a:r>
              <a:rPr lang="zh-CN" altLang="en-US" sz="1200" b="0" i="0" kern="1200" dirty="0" smtClean="0">
                <a:solidFill>
                  <a:schemeClr val="tx1"/>
                </a:solidFill>
                <a:effectLst/>
                <a:latin typeface="+mn-lt"/>
                <a:ea typeface="+mn-ea"/>
                <a:cs typeface="+mn-cs"/>
              </a:rPr>
              <a:t>个格 式 化 选 项（包 含 了 类 、 表 达 式 、 控 制 语 句 、 模 板 、 函 数 、 变 量</a:t>
            </a:r>
            <a:r>
              <a:rPr lang="en-US" altLang="zh-CN" sz="1200" b="0" i="0" kern="1200" dirty="0" smtClean="0">
                <a:solidFill>
                  <a:schemeClr val="tx1"/>
                </a:solidFill>
                <a:effectLst/>
                <a:latin typeface="+mn-lt"/>
                <a:ea typeface="+mn-ea"/>
                <a:cs typeface="+mn-cs"/>
              </a:rPr>
              <a:t>try-catch</a:t>
            </a:r>
            <a:r>
              <a:rPr lang="zh-CN" altLang="en-US" sz="1200" b="0" i="0" kern="1200" dirty="0" smtClean="0">
                <a:solidFill>
                  <a:schemeClr val="tx1"/>
                </a:solidFill>
                <a:effectLst/>
                <a:latin typeface="+mn-lt"/>
                <a:ea typeface="+mn-ea"/>
                <a:cs typeface="+mn-cs"/>
              </a:rPr>
              <a:t>块等不同元素的格式化选项） ，提供了实时预览功能，而且这款工具可以作为</a:t>
            </a:r>
            <a:r>
              <a:rPr lang="en-US" altLang="zh-CN" sz="1200" b="0" i="0" kern="1200" dirty="0" smtClean="0">
                <a:solidFill>
                  <a:schemeClr val="tx1"/>
                </a:solidFill>
                <a:effectLst/>
                <a:latin typeface="+mn-lt"/>
                <a:ea typeface="+mn-ea"/>
                <a:cs typeface="+mn-cs"/>
              </a:rPr>
              <a:t>visual studio </a:t>
            </a:r>
            <a:r>
              <a:rPr lang="zh-CN" altLang="en-US" sz="1200" b="0" i="0" kern="1200" dirty="0" smtClean="0">
                <a:solidFill>
                  <a:schemeClr val="tx1"/>
                </a:solidFill>
                <a:effectLst/>
                <a:latin typeface="+mn-lt"/>
                <a:ea typeface="+mn-ea"/>
                <a:cs typeface="+mn-cs"/>
              </a:rPr>
              <a:t>的插件，非常方便</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还有编码规范检查工具 </a:t>
            </a:r>
            <a:r>
              <a:rPr lang="en-US" altLang="zh-CN" sz="1200" b="0" i="0" kern="1200" dirty="0" err="1" smtClean="0">
                <a:solidFill>
                  <a:schemeClr val="tx1"/>
                </a:solidFill>
                <a:effectLst/>
                <a:latin typeface="+mn-lt"/>
                <a:ea typeface="+mn-ea"/>
                <a:cs typeface="+mn-cs"/>
              </a:rPr>
              <a:t>CodeWizard</a:t>
            </a:r>
            <a:r>
              <a:rPr lang="zh-CN" altLang="en-US" sz="1200" b="0" i="0" kern="1200" dirty="0" smtClean="0">
                <a:solidFill>
                  <a:schemeClr val="tx1"/>
                </a:solidFill>
                <a:effectLst/>
                <a:latin typeface="+mn-lt"/>
                <a:ea typeface="+mn-ea"/>
                <a:cs typeface="+mn-cs"/>
              </a:rPr>
              <a:t>，能够对源程序直接进行自动扫描、分析和检查。一旦发现违例，</a:t>
            </a:r>
            <a:r>
              <a:rPr lang="en-US" altLang="zh-CN" sz="1200" b="0" i="0" kern="1200" dirty="0" err="1" smtClean="0">
                <a:solidFill>
                  <a:schemeClr val="tx1"/>
                </a:solidFill>
                <a:effectLst/>
                <a:latin typeface="+mn-lt"/>
                <a:ea typeface="+mn-ea"/>
                <a:cs typeface="+mn-cs"/>
              </a:rPr>
              <a:t>CodeWizard</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产生一条错误信息告知程序员与哪条规则不符并作出解释， 同时显示出错的代码行。 </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dirty="0" smtClean="0"/>
              <a:t>此外阿里也开发出</a:t>
            </a:r>
            <a:r>
              <a:rPr lang="en-US" altLang="zh-CN" dirty="0" smtClean="0"/>
              <a:t>IDEA</a:t>
            </a:r>
            <a:r>
              <a:rPr lang="zh-CN" altLang="en-US" dirty="0" smtClean="0"/>
              <a:t>和</a:t>
            </a:r>
            <a:r>
              <a:rPr lang="en-US" altLang="zh-CN" dirty="0" smtClean="0"/>
              <a:t>eclipse</a:t>
            </a:r>
            <a:r>
              <a:rPr lang="zh-CN" altLang="en-US" dirty="0" smtClean="0"/>
              <a:t>的插件</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334120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这款插件对类的命名做出了提示</a:t>
            </a:r>
            <a:endParaRPr lang="en-US" altLang="zh-CN" dirty="0" smtClean="0"/>
          </a:p>
          <a:p>
            <a:r>
              <a:rPr lang="zh-CN" altLang="en-US" dirty="0" smtClean="0"/>
              <a:t>这是抽象类</a:t>
            </a:r>
            <a:endParaRPr lang="en-US" altLang="zh-CN" dirty="0" smtClean="0"/>
          </a:p>
          <a:p>
            <a:r>
              <a:rPr lang="zh-CN" altLang="en-US" dirty="0" smtClean="0"/>
              <a:t>（按）</a:t>
            </a:r>
            <a:endParaRPr lang="en-US" altLang="zh-CN" dirty="0" smtClean="0"/>
          </a:p>
          <a:p>
            <a:r>
              <a:rPr lang="zh-CN" altLang="en-US" dirty="0" smtClean="0"/>
              <a:t>这是</a:t>
            </a:r>
            <a:r>
              <a:rPr lang="en-US" altLang="zh-CN" dirty="0" smtClean="0"/>
              <a:t>Override</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007455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编码规范所带来的质量保障是远远不够的，一个程序员的编码不可避免的会有一些个人的局限性，所以这个时候就需要“代码审查”</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986413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什么是代码审查？</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代码评审就是</a:t>
            </a:r>
            <a:r>
              <a:rPr lang="en-US" altLang="zh-CN" sz="1200" b="0" i="0" kern="1200" dirty="0" smtClean="0">
                <a:solidFill>
                  <a:schemeClr val="tx1"/>
                </a:solidFill>
                <a:effectLst/>
                <a:latin typeface="+mn-lt"/>
                <a:ea typeface="+mn-ea"/>
                <a:cs typeface="+mn-cs"/>
              </a:rPr>
              <a:t>Code Inspection</a:t>
            </a:r>
            <a:r>
              <a:rPr lang="zh-CN" altLang="en-US" sz="1200" b="0" i="0" kern="1200" dirty="0" smtClean="0">
                <a:solidFill>
                  <a:schemeClr val="tx1"/>
                </a:solidFill>
                <a:effectLst/>
                <a:latin typeface="+mn-lt"/>
                <a:ea typeface="+mn-ea"/>
                <a:cs typeface="+mn-cs"/>
              </a:rPr>
              <a:t>，源 于 </a:t>
            </a:r>
            <a:r>
              <a:rPr lang="en-US" altLang="zh-CN" sz="1200" b="0" i="0" kern="1200" dirty="0" smtClean="0">
                <a:solidFill>
                  <a:schemeClr val="tx1"/>
                </a:solidFill>
                <a:effectLst/>
                <a:latin typeface="+mn-lt"/>
                <a:ea typeface="+mn-ea"/>
                <a:cs typeface="+mn-cs"/>
              </a:rPr>
              <a:t>IBM</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M.E.Fagan</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（按）（按）</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于</a:t>
            </a:r>
            <a:r>
              <a:rPr lang="en-US" altLang="zh-CN" sz="1200" b="0" i="0" kern="1200" dirty="0" smtClean="0">
                <a:solidFill>
                  <a:schemeClr val="tx1"/>
                </a:solidFill>
                <a:effectLst/>
                <a:latin typeface="+mn-lt"/>
                <a:ea typeface="+mn-ea"/>
                <a:cs typeface="+mn-cs"/>
              </a:rPr>
              <a:t>1976</a:t>
            </a:r>
            <a:r>
              <a:rPr lang="zh-CN" altLang="en-US" sz="1200" b="0" i="0" kern="1200" dirty="0" smtClean="0">
                <a:solidFill>
                  <a:schemeClr val="tx1"/>
                </a:solidFill>
                <a:effectLst/>
                <a:latin typeface="+mn-lt"/>
                <a:ea typeface="+mn-ea"/>
                <a:cs typeface="+mn-cs"/>
              </a:rPr>
              <a:t>年发表在</a:t>
            </a:r>
            <a:r>
              <a:rPr lang="en-US" altLang="zh-CN" sz="1200" b="0" i="0" kern="1200" dirty="0" smtClean="0">
                <a:solidFill>
                  <a:schemeClr val="tx1"/>
                </a:solidFill>
                <a:effectLst/>
                <a:latin typeface="+mn-lt"/>
                <a:ea typeface="+mn-ea"/>
                <a:cs typeface="+mn-cs"/>
              </a:rPr>
              <a:t>IBM Systems Journal</a:t>
            </a:r>
            <a:r>
              <a:rPr lang="zh-CN" altLang="en-US" sz="1200" b="0" i="0" kern="1200" dirty="0" smtClean="0">
                <a:solidFill>
                  <a:schemeClr val="tx1"/>
                </a:solidFill>
                <a:effectLst/>
                <a:latin typeface="+mn-lt"/>
                <a:ea typeface="+mn-ea"/>
                <a:cs typeface="+mn-cs"/>
              </a:rPr>
              <a:t>上的关于软件设计和代码评审的论文，是当时在 </a:t>
            </a:r>
            <a:r>
              <a:rPr lang="en-US" altLang="zh-CN" sz="1200" b="0" i="0" kern="1200" dirty="0" smtClean="0">
                <a:solidFill>
                  <a:schemeClr val="tx1"/>
                </a:solidFill>
                <a:effectLst/>
                <a:latin typeface="+mn-lt"/>
                <a:ea typeface="+mn-ea"/>
                <a:cs typeface="+mn-cs"/>
              </a:rPr>
              <a:t>IBM</a:t>
            </a:r>
            <a:r>
              <a:rPr lang="zh-CN" altLang="en-US" sz="1200" b="0" i="0" kern="1200" dirty="0" smtClean="0">
                <a:solidFill>
                  <a:schemeClr val="tx1"/>
                </a:solidFill>
                <a:effectLst/>
                <a:latin typeface="+mn-lt"/>
                <a:ea typeface="+mn-ea"/>
                <a:cs typeface="+mn-cs"/>
              </a:rPr>
              <a:t>制定出来并执行的一种非常严格的审查过程， </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kern="1200" dirty="0" smtClean="0">
                <a:solidFill>
                  <a:schemeClr val="tx1"/>
                </a:solidFill>
                <a:effectLst/>
                <a:latin typeface="+mn-lt"/>
                <a:ea typeface="+mn-ea"/>
                <a:cs typeface="+mn-cs"/>
              </a:rPr>
              <a:t>由专家小组以会议的形式</a:t>
            </a:r>
            <a:r>
              <a:rPr lang="zh-CN" altLang="en-US" sz="1200" b="0" i="0" kern="1200" dirty="0" smtClean="0">
                <a:solidFill>
                  <a:schemeClr val="tx1"/>
                </a:solidFill>
                <a:effectLst/>
                <a:latin typeface="+mn-lt"/>
                <a:ea typeface="+mn-ea"/>
                <a:cs typeface="+mn-cs"/>
              </a:rPr>
              <a:t>， 共同审核代码的质量，如今代码评审已经被作为软件开发的重要环节， 开始渗入到中小 开 发 团 队 和 项 目 。</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b="1" dirty="0" smtClean="0"/>
              <a:t>简而言之：就是专家小组审核代码的质量</a:t>
            </a:r>
            <a:endParaRPr lang="en-US" altLang="zh-CN" b="1" dirty="0" smtClean="0"/>
          </a:p>
          <a:p>
            <a:r>
              <a:rPr lang="zh-CN" altLang="en-US" b="0" dirty="0" smtClean="0"/>
              <a:t>（按）</a:t>
            </a:r>
            <a:endParaRPr lang="en-US" altLang="zh-CN" b="0" dirty="0" smtClean="0"/>
          </a:p>
          <a:p>
            <a:r>
              <a:rPr lang="zh-CN" altLang="en-US" b="0" dirty="0" smtClean="0"/>
              <a:t>当然，这对于程序的作者而言是一个挑战</a:t>
            </a:r>
            <a:endParaRPr lang="en-US" altLang="zh-CN" b="0" dirty="0" smtClean="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969708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（一开始）代码审查一般会分为三类</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第一类是</a:t>
            </a:r>
          </a:p>
          <a:p>
            <a:r>
              <a:rPr lang="zh-CN" altLang="en-US" sz="1200" b="0" i="0" kern="1200" dirty="0" smtClean="0">
                <a:solidFill>
                  <a:schemeClr val="tx1"/>
                </a:solidFill>
                <a:effectLst/>
                <a:latin typeface="+mn-lt"/>
                <a:ea typeface="+mn-ea"/>
                <a:cs typeface="+mn-cs"/>
              </a:rPr>
              <a:t>正式的代码审查，这种方法有仔细的流程，由多位参与者分阶段进行。</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正式的代码审查是传统审查代码的方式，由</a:t>
            </a:r>
            <a:r>
              <a:rPr lang="zh-CN" altLang="en-US" sz="1200" b="0" i="0" u="none" strike="noStrike" kern="1200" dirty="0" smtClean="0">
                <a:solidFill>
                  <a:schemeClr val="tx1"/>
                </a:solidFill>
                <a:effectLst/>
                <a:latin typeface="+mn-lt"/>
                <a:ea typeface="+mn-ea"/>
                <a:cs typeface="+mn-cs"/>
                <a:hlinkClick r:id="rId3" tooltip="软件开发者"/>
              </a:rPr>
              <a:t>软件开发者</a:t>
            </a:r>
            <a:r>
              <a:rPr lang="zh-CN" altLang="en-US" sz="1200" b="0" i="0" kern="1200" dirty="0" smtClean="0">
                <a:solidFill>
                  <a:schemeClr val="tx1"/>
                </a:solidFill>
                <a:effectLst/>
                <a:latin typeface="+mn-lt"/>
                <a:ea typeface="+mn-ea"/>
                <a:cs typeface="+mn-cs"/>
              </a:rPr>
              <a:t>参加一连串的会议，一行一行的审查代码，一般会使用打印好的原行码。</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会议之后，程序作者。。。</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所以正式的代码审查可以彻底的找到程序中的缺陷，但需要投入许多的资源，</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所以出现其它两种代码审查的方法</a:t>
            </a: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806306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sz="1200" b="0" i="0" u="none" strike="noStrike" kern="1200" dirty="0" smtClean="0">
                <a:solidFill>
                  <a:schemeClr val="tx1"/>
                </a:solidFill>
                <a:effectLst/>
                <a:latin typeface="+mn-lt"/>
                <a:ea typeface="+mn-ea"/>
                <a:cs typeface="+mn-cs"/>
                <a:hlinkClick r:id="rId3" tooltip="结对编程"/>
              </a:rPr>
              <a:t>第二种方法就是结对编程</a:t>
            </a:r>
            <a:r>
              <a:rPr lang="zh-CN" altLang="en-US" sz="1200" b="0" i="0" u="none" strike="noStrike"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是指两个程序员在一个计算机上共同工作，一个输入程序，另一个工程师审查他所输入的程序，结对编程是在</a:t>
            </a:r>
            <a:r>
              <a:rPr lang="zh-CN" altLang="en-US" sz="1200" b="0" i="0" u="none" strike="noStrike" kern="1200" dirty="0" smtClean="0">
                <a:solidFill>
                  <a:schemeClr val="tx1"/>
                </a:solidFill>
                <a:effectLst/>
                <a:latin typeface="+mn-lt"/>
                <a:ea typeface="+mn-ea"/>
                <a:cs typeface="+mn-cs"/>
                <a:hlinkClick r:id="rId4" tooltip="极限编程"/>
              </a:rPr>
              <a:t>极限编程</a:t>
            </a:r>
            <a:r>
              <a:rPr lang="zh-CN" altLang="en-US" sz="1200" b="0" i="0" kern="1200" dirty="0" smtClean="0">
                <a:solidFill>
                  <a:schemeClr val="tx1"/>
                </a:solidFill>
                <a:effectLst/>
                <a:latin typeface="+mn-lt"/>
                <a:ea typeface="+mn-ea"/>
                <a:cs typeface="+mn-cs"/>
              </a:rPr>
              <a:t>中常见的开发方式。</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哎呀放错图了，应该是这个</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（按）（按）</a:t>
            </a:r>
          </a:p>
          <a:p>
            <a:r>
              <a:rPr lang="zh-CN" altLang="en-US" sz="1200" b="0" i="0" kern="1200" dirty="0" smtClean="0">
                <a:solidFill>
                  <a:schemeClr val="tx1"/>
                </a:solidFill>
                <a:effectLst/>
                <a:latin typeface="+mn-lt"/>
                <a:ea typeface="+mn-ea"/>
                <a:cs typeface="+mn-cs"/>
              </a:rPr>
              <a:t>第三种方法是轻量型的非正式代码审查，它需要投入的资源比正式的代码审查要少，一般会是在正常软件开发流程中同时进行，有时也会将</a:t>
            </a:r>
            <a:r>
              <a:rPr lang="zh-CN" altLang="en-US" sz="1200" b="0" i="0" u="none" strike="noStrike" kern="1200" dirty="0" smtClean="0">
                <a:solidFill>
                  <a:schemeClr val="tx1"/>
                </a:solidFill>
                <a:effectLst/>
                <a:latin typeface="+mn-lt"/>
                <a:ea typeface="+mn-ea"/>
                <a:cs typeface="+mn-cs"/>
                <a:hlinkClick r:id="rId3" tooltip="结对编程"/>
              </a:rPr>
              <a:t>结对编程</a:t>
            </a:r>
            <a:r>
              <a:rPr lang="zh-CN" altLang="en-US" sz="1200" b="0" i="0" kern="1200" dirty="0" smtClean="0">
                <a:solidFill>
                  <a:schemeClr val="tx1"/>
                </a:solidFill>
                <a:effectLst/>
                <a:latin typeface="+mn-lt"/>
                <a:ea typeface="+mn-ea"/>
                <a:cs typeface="+mn-cs"/>
              </a:rPr>
              <a:t>视为轻量型代码审查的一种。它有两种方式，一种比较老，</a:t>
            </a:r>
          </a:p>
          <a:p>
            <a:r>
              <a:rPr lang="en-US" altLang="zh-CN" sz="1200" b="0" i="0" kern="1200" dirty="0" smtClean="0">
                <a:solidFill>
                  <a:schemeClr val="tx1"/>
                </a:solidFill>
                <a:effectLst/>
                <a:latin typeface="+mn-lt"/>
                <a:ea typeface="+mn-ea"/>
                <a:cs typeface="+mn-cs"/>
              </a:rPr>
              <a:t>1.Email</a:t>
            </a:r>
            <a:r>
              <a:rPr lang="zh-CN" altLang="en-US" sz="1200" b="0" i="0" kern="1200" dirty="0" smtClean="0">
                <a:solidFill>
                  <a:schemeClr val="tx1"/>
                </a:solidFill>
                <a:effectLst/>
                <a:latin typeface="+mn-lt"/>
                <a:ea typeface="+mn-ea"/>
                <a:cs typeface="+mn-cs"/>
              </a:rPr>
              <a:t>往返：在代码登录后，源代码管理系统自动将代码邮寄给审查者。</a:t>
            </a:r>
          </a:p>
          <a:p>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配合辅助工具的代码审查：作者及审查者利用配合代码审查的软件进行审查。</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现在一般都采用辅助工具而不是</a:t>
            </a:r>
            <a:r>
              <a:rPr lang="en-US" altLang="zh-CN" sz="1200" b="0" i="0" kern="1200" dirty="0" smtClean="0">
                <a:solidFill>
                  <a:schemeClr val="tx1"/>
                </a:solidFill>
                <a:effectLst/>
                <a:latin typeface="+mn-lt"/>
                <a:ea typeface="+mn-ea"/>
                <a:cs typeface="+mn-cs"/>
              </a:rPr>
              <a:t>email</a:t>
            </a:r>
            <a:endParaRPr lang="zh-CN" altLang="en-US" sz="1200" b="0" i="0" kern="1200" dirty="0" smtClean="0">
              <a:solidFill>
                <a:schemeClr val="tx1"/>
              </a:solidFill>
              <a:effectLst/>
              <a:latin typeface="+mn-lt"/>
              <a:ea typeface="+mn-ea"/>
              <a:cs typeface="+mn-cs"/>
            </a:endParaRPr>
          </a:p>
          <a:p>
            <a:endParaRPr lang="en-US" altLang="zh-CN" dirty="0" smtClean="0"/>
          </a:p>
          <a:p>
            <a:r>
              <a:rPr lang="zh-CN" altLang="en-US" dirty="0" smtClean="0"/>
              <a:t>有哪些辅助工具呢？</a:t>
            </a:r>
            <a:endParaRPr lang="en-US" altLang="zh-CN" dirty="0" smtClean="0"/>
          </a:p>
          <a:p>
            <a:r>
              <a:rPr lang="zh-CN" altLang="en-US" dirty="0" smtClean="0"/>
              <a:t>（按）</a:t>
            </a:r>
            <a:endParaRPr lang="en-US" altLang="zh-CN" dirty="0" smtClean="0"/>
          </a:p>
          <a:p>
            <a:r>
              <a:rPr lang="zh-CN" altLang="en-US" dirty="0" smtClean="0"/>
              <a:t>比如说</a:t>
            </a:r>
            <a:r>
              <a:rPr lang="zh-CN" altLang="en-US" sz="1200" b="1" i="0" kern="1200" dirty="0" smtClean="0">
                <a:solidFill>
                  <a:schemeClr val="tx1"/>
                </a:solidFill>
                <a:effectLst/>
                <a:latin typeface="+mn-lt"/>
                <a:ea typeface="+mn-ea"/>
                <a:cs typeface="+mn-cs"/>
              </a:rPr>
              <a:t>编译器 </a:t>
            </a:r>
            <a:r>
              <a:rPr lang="en-US" altLang="zh-CN" sz="1200" b="1"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以</a:t>
            </a:r>
            <a:r>
              <a:rPr lang="en-US" altLang="zh-CN" sz="1200" b="1" i="0" kern="1200" dirty="0" smtClean="0">
                <a:solidFill>
                  <a:schemeClr val="tx1"/>
                </a:solidFill>
                <a:effectLst/>
                <a:latin typeface="+mn-lt"/>
                <a:ea typeface="+mn-ea"/>
                <a:cs typeface="+mn-cs"/>
              </a:rPr>
              <a:t>Visual C++</a:t>
            </a:r>
            <a:r>
              <a:rPr lang="zh-CN" altLang="en-US" sz="1200" b="1" i="0" kern="1200" dirty="0" smtClean="0">
                <a:solidFill>
                  <a:schemeClr val="tx1"/>
                </a:solidFill>
                <a:effectLst/>
                <a:latin typeface="+mn-lt"/>
                <a:ea typeface="+mn-ea"/>
                <a:cs typeface="+mn-cs"/>
              </a:rPr>
              <a:t>为例</a:t>
            </a:r>
            <a:r>
              <a:rPr lang="en-US" altLang="zh-CN" sz="1200" b="1"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应该把编译时的警告级别开到最大， 也就是打开 </a:t>
            </a:r>
            <a:r>
              <a:rPr lang="en-US" altLang="zh-CN" sz="1200" b="0" i="0" kern="1200" dirty="0" smtClean="0">
                <a:solidFill>
                  <a:schemeClr val="tx1"/>
                </a:solidFill>
                <a:effectLst/>
                <a:latin typeface="+mn-lt"/>
                <a:ea typeface="+mn-ea"/>
                <a:cs typeface="+mn-cs"/>
              </a:rPr>
              <a:t>/W4</a:t>
            </a:r>
            <a:r>
              <a:rPr lang="zh-CN" altLang="en-US" sz="1200" b="0" i="0" kern="1200" dirty="0" smtClean="0">
                <a:solidFill>
                  <a:schemeClr val="tx1"/>
                </a:solidFill>
                <a:effectLst/>
                <a:latin typeface="+mn-lt"/>
                <a:ea typeface="+mn-ea"/>
                <a:cs typeface="+mn-cs"/>
              </a:rPr>
              <a:t>编译开关。 在此警告级别， 会给出条件表达式中出现赋值、变量没有初始化就使用、有符号 </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无符号的不匹配等警告。</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写小程序，比如 用</a:t>
            </a:r>
            <a:r>
              <a:rPr lang="en-US" altLang="zh-CN" sz="1200" b="0" i="0" kern="1200" dirty="0" err="1"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写</a:t>
            </a:r>
            <a:r>
              <a:rPr lang="en-US" altLang="zh-CN" sz="1200" b="0" i="0" kern="1200" dirty="0" err="1" smtClean="0">
                <a:solidFill>
                  <a:schemeClr val="tx1"/>
                </a:solidFill>
                <a:effectLst/>
                <a:latin typeface="+mn-lt"/>
                <a:ea typeface="+mn-ea"/>
                <a:cs typeface="+mn-cs"/>
              </a:rPr>
              <a:t>oj</a:t>
            </a:r>
            <a:r>
              <a:rPr lang="zh-CN" altLang="en-US" sz="1200" b="0" i="0" kern="1200" dirty="0" smtClean="0">
                <a:solidFill>
                  <a:schemeClr val="tx1"/>
                </a:solidFill>
                <a:effectLst/>
                <a:latin typeface="+mn-lt"/>
                <a:ea typeface="+mn-ea"/>
                <a:cs typeface="+mn-cs"/>
              </a:rPr>
              <a:t>的时候如果使用了</a:t>
            </a:r>
            <a:r>
              <a:rPr lang="en-US" altLang="zh-CN" sz="1200" b="0" i="0" kern="1200" dirty="0" err="1" smtClean="0">
                <a:solidFill>
                  <a:schemeClr val="tx1"/>
                </a:solidFill>
                <a:effectLst/>
                <a:latin typeface="+mn-lt"/>
                <a:ea typeface="+mn-ea"/>
                <a:cs typeface="+mn-cs"/>
              </a:rPr>
              <a:t>strcpy</a:t>
            </a:r>
            <a:r>
              <a:rPr lang="zh-CN" altLang="en-US" sz="1200" b="0" i="0" kern="1200" dirty="0" smtClean="0">
                <a:solidFill>
                  <a:schemeClr val="tx1"/>
                </a:solidFill>
                <a:effectLst/>
                <a:latin typeface="+mn-lt"/>
                <a:ea typeface="+mn-ea"/>
                <a:cs typeface="+mn-cs"/>
              </a:rPr>
              <a:t>函数，就会被警告而无法执行，所以写</a:t>
            </a:r>
            <a:r>
              <a:rPr lang="en-US" altLang="zh-CN" sz="1200" b="0" i="0" kern="1200" dirty="0" err="1" smtClean="0">
                <a:solidFill>
                  <a:schemeClr val="tx1"/>
                </a:solidFill>
                <a:effectLst/>
                <a:latin typeface="+mn-lt"/>
                <a:ea typeface="+mn-ea"/>
                <a:cs typeface="+mn-cs"/>
              </a:rPr>
              <a:t>oj</a:t>
            </a:r>
            <a:r>
              <a:rPr lang="zh-CN" altLang="en-US" sz="1200" b="0" i="0" kern="1200" dirty="0" smtClean="0">
                <a:solidFill>
                  <a:schemeClr val="tx1"/>
                </a:solidFill>
                <a:effectLst/>
                <a:latin typeface="+mn-lt"/>
                <a:ea typeface="+mn-ea"/>
                <a:cs typeface="+mn-cs"/>
              </a:rPr>
              <a:t>时往往会降低警告级别，因为</a:t>
            </a:r>
            <a:r>
              <a:rPr lang="en-US" altLang="zh-CN" sz="1200" b="0" i="0" kern="1200" dirty="0" err="1" smtClean="0">
                <a:solidFill>
                  <a:schemeClr val="tx1"/>
                </a:solidFill>
                <a:effectLst/>
                <a:latin typeface="+mn-lt"/>
                <a:ea typeface="+mn-ea"/>
                <a:cs typeface="+mn-cs"/>
              </a:rPr>
              <a:t>oj</a:t>
            </a:r>
            <a:r>
              <a:rPr lang="zh-CN" altLang="en-US" sz="1200" b="0" i="0" kern="1200" dirty="0" smtClean="0">
                <a:solidFill>
                  <a:schemeClr val="tx1"/>
                </a:solidFill>
                <a:effectLst/>
                <a:latin typeface="+mn-lt"/>
                <a:ea typeface="+mn-ea"/>
                <a:cs typeface="+mn-cs"/>
              </a:rPr>
              <a:t>只需要完成一个功能就好。</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做</a:t>
            </a:r>
            <a:r>
              <a:rPr lang="en-US" altLang="zh-CN" sz="1200" b="0" i="0" kern="1200" dirty="0" smtClean="0">
                <a:solidFill>
                  <a:schemeClr val="tx1"/>
                </a:solidFill>
                <a:effectLst/>
                <a:latin typeface="+mn-lt"/>
                <a:ea typeface="+mn-ea"/>
                <a:cs typeface="+mn-cs"/>
              </a:rPr>
              <a:t>pa</a:t>
            </a:r>
            <a:r>
              <a:rPr lang="zh-CN" altLang="en-US" sz="1200" b="0" i="0" kern="1200" dirty="0" smtClean="0">
                <a:solidFill>
                  <a:schemeClr val="tx1"/>
                </a:solidFill>
                <a:effectLst/>
                <a:latin typeface="+mn-lt"/>
                <a:ea typeface="+mn-ea"/>
                <a:cs typeface="+mn-cs"/>
              </a:rPr>
              <a:t>时就把所有的</a:t>
            </a:r>
            <a:r>
              <a:rPr lang="en-US" altLang="zh-CN" sz="1200" b="0" i="0" kern="1200" dirty="0" smtClean="0">
                <a:solidFill>
                  <a:schemeClr val="tx1"/>
                </a:solidFill>
                <a:effectLst/>
                <a:latin typeface="+mn-lt"/>
                <a:ea typeface="+mn-ea"/>
                <a:cs typeface="+mn-cs"/>
              </a:rPr>
              <a:t>warning</a:t>
            </a:r>
            <a:r>
              <a:rPr lang="zh-CN" altLang="en-US" sz="1200" b="0" i="0" kern="1200" dirty="0" smtClean="0">
                <a:solidFill>
                  <a:schemeClr val="tx1"/>
                </a:solidFill>
                <a:effectLst/>
                <a:latin typeface="+mn-lt"/>
                <a:ea typeface="+mn-ea"/>
                <a:cs typeface="+mn-cs"/>
              </a:rPr>
              <a:t>当作</a:t>
            </a:r>
            <a:r>
              <a:rPr lang="en-US" altLang="zh-CN" sz="1200" b="0" i="0" kern="1200" dirty="0" smtClean="0">
                <a:solidFill>
                  <a:schemeClr val="tx1"/>
                </a:solidFill>
                <a:effectLst/>
                <a:latin typeface="+mn-lt"/>
                <a:ea typeface="+mn-ea"/>
                <a:cs typeface="+mn-cs"/>
              </a:rPr>
              <a:t>error</a:t>
            </a:r>
            <a:r>
              <a:rPr lang="zh-CN" altLang="en-US" sz="1200" b="0" i="0" kern="1200" dirty="0" smtClean="0">
                <a:solidFill>
                  <a:schemeClr val="tx1"/>
                </a:solidFill>
                <a:effectLst/>
                <a:latin typeface="+mn-lt"/>
                <a:ea typeface="+mn-ea"/>
                <a:cs typeface="+mn-cs"/>
              </a:rPr>
              <a:t>，这就是一个非常高的警告级别</a:t>
            </a: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然后还要进行栈桢错误检查。 </a:t>
            </a:r>
          </a:p>
          <a:p>
            <a:r>
              <a:rPr lang="zh-CN" altLang="en-US" sz="1200" b="0" i="0" kern="1200" dirty="0" smtClean="0">
                <a:solidFill>
                  <a:schemeClr val="tx1"/>
                </a:solidFill>
                <a:effectLst/>
                <a:latin typeface="+mn-lt"/>
                <a:ea typeface="+mn-ea"/>
                <a:cs typeface="+mn-cs"/>
              </a:rPr>
              <a:t>进 行 运行时和编译时的安全性检查。 </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除了编译器之外，静态代码评审工具</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PC-Lint</a:t>
            </a:r>
            <a:r>
              <a:rPr lang="zh-CN" altLang="en-US" sz="1200" b="0" i="0" kern="1200" dirty="0" smtClean="0">
                <a:solidFill>
                  <a:schemeClr val="tx1"/>
                </a:solidFill>
                <a:effectLst/>
                <a:latin typeface="+mn-lt"/>
                <a:ea typeface="+mn-ea"/>
                <a:cs typeface="+mn-cs"/>
              </a:rPr>
              <a:t>可 以 发 现 标 准</a:t>
            </a:r>
            <a:r>
              <a:rPr lang="en-US" altLang="zh-CN" sz="1200" b="0" i="0" kern="1200" dirty="0" smtClean="0">
                <a:solidFill>
                  <a:schemeClr val="tx1"/>
                </a:solidFill>
                <a:effectLst/>
                <a:latin typeface="+mn-lt"/>
                <a:ea typeface="+mn-ea"/>
                <a:cs typeface="+mn-cs"/>
              </a:rPr>
              <a:t>C/C++</a:t>
            </a:r>
            <a:r>
              <a:rPr lang="zh-CN" altLang="en-US" sz="1200" b="0" i="0" kern="1200" dirty="0" smtClean="0">
                <a:solidFill>
                  <a:schemeClr val="tx1"/>
                </a:solidFill>
                <a:effectLst/>
                <a:latin typeface="+mn-lt"/>
                <a:ea typeface="+mn-ea"/>
                <a:cs typeface="+mn-cs"/>
              </a:rPr>
              <a:t>代 码 中 的</a:t>
            </a:r>
            <a:r>
              <a:rPr lang="en-US" altLang="zh-CN" sz="1200" b="0" i="0" kern="1200" dirty="0" smtClean="0">
                <a:solidFill>
                  <a:schemeClr val="tx1"/>
                </a:solidFill>
                <a:effectLst/>
                <a:latin typeface="+mn-lt"/>
                <a:ea typeface="+mn-ea"/>
                <a:cs typeface="+mn-cs"/>
              </a:rPr>
              <a:t>1000 </a:t>
            </a:r>
            <a:r>
              <a:rPr lang="zh-CN" altLang="en-US" sz="1200" b="0" i="0" kern="1200" dirty="0" smtClean="0">
                <a:solidFill>
                  <a:schemeClr val="tx1"/>
                </a:solidFill>
                <a:effectLst/>
                <a:latin typeface="+mn-lt"/>
                <a:ea typeface="+mn-ea"/>
                <a:cs typeface="+mn-cs"/>
              </a:rPr>
              <a:t>多个常见警告或错误。</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动态代码评审工具 </a:t>
            </a:r>
            <a:r>
              <a:rPr lang="en-US" altLang="zh-CN" sz="1200" b="0" i="0" kern="1200" dirty="0" smtClean="0">
                <a:solidFill>
                  <a:schemeClr val="tx1"/>
                </a:solidFill>
                <a:effectLst/>
                <a:latin typeface="+mn-lt"/>
                <a:ea typeface="+mn-ea"/>
                <a:cs typeface="+mn-cs"/>
              </a:rPr>
              <a:t>Purify</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Insure++</a:t>
            </a:r>
            <a:r>
              <a:rPr lang="zh-CN" altLang="en-US" sz="1200" b="0" i="0" kern="1200" dirty="0" smtClean="0">
                <a:solidFill>
                  <a:schemeClr val="tx1"/>
                </a:solidFill>
                <a:effectLst/>
                <a:latin typeface="+mn-lt"/>
                <a:ea typeface="+mn-ea"/>
                <a:cs typeface="+mn-cs"/>
              </a:rPr>
              <a:t>可以帮助发现运行时的内存错误</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（最后）这些工具都是比较有历史的，现在也出现了很多新的工具，比如这些</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374588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US" altLang="zh-CN" dirty="0" smtClean="0"/>
          </a:p>
          <a:p>
            <a:r>
              <a:rPr lang="zh-CN" altLang="en-US" dirty="0" smtClean="0"/>
              <a:t>当然，时下非常热门的机器学习也能运用于代码审查</a:t>
            </a:r>
            <a:endParaRPr lang="en-US" altLang="zh-CN" dirty="0" smtClean="0"/>
          </a:p>
          <a:p>
            <a:r>
              <a:rPr lang="zh-CN" altLang="en-US" dirty="0" smtClean="0"/>
              <a:t>（按）</a:t>
            </a:r>
            <a:endParaRPr lang="en-US" altLang="zh-CN" dirty="0" smtClean="0"/>
          </a:p>
          <a:p>
            <a:r>
              <a:rPr lang="zh-CN" altLang="en-US" dirty="0" smtClean="0"/>
              <a:t>这是</a:t>
            </a:r>
            <a:r>
              <a:rPr lang="en-US" altLang="zh-CN" dirty="0" smtClean="0"/>
              <a:t>IEEE</a:t>
            </a:r>
            <a:r>
              <a:rPr lang="zh-CN" altLang="en-US" dirty="0" smtClean="0"/>
              <a:t>上一篇</a:t>
            </a:r>
            <a:r>
              <a:rPr lang="en-US" altLang="zh-CN" dirty="0" smtClean="0"/>
              <a:t>17</a:t>
            </a:r>
            <a:r>
              <a:rPr lang="zh-CN" altLang="en-US" dirty="0" smtClean="0"/>
              <a:t>年的论文</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743964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作为程序的编写者，程序员如果想在代码评审的时候尽可能少的被发现出现</a:t>
            </a:r>
            <a:r>
              <a:rPr lang="en-US" altLang="zh-CN" dirty="0" smtClean="0"/>
              <a:t>bug</a:t>
            </a:r>
            <a:r>
              <a:rPr lang="zh-CN" altLang="en-US" dirty="0" smtClean="0"/>
              <a:t>，那</a:t>
            </a:r>
            <a:r>
              <a:rPr lang="en-US" altLang="zh-CN" dirty="0" smtClean="0"/>
              <a:t>ta</a:t>
            </a:r>
            <a:r>
              <a:rPr lang="zh-CN" altLang="en-US" dirty="0" smtClean="0"/>
              <a:t>可以选择进行单元测试</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1064046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（按）</a:t>
            </a:r>
            <a:endParaRPr lang="en-US" altLang="zh-CN" dirty="0" smtClean="0"/>
          </a:p>
          <a:p>
            <a:pPr marL="0" indent="0">
              <a:buFont typeface="Arial" panose="020B0604020202020204" pitchFamily="34" charset="0"/>
              <a:buNone/>
            </a:pPr>
            <a:r>
              <a:rPr lang="zh-CN" altLang="en-US" dirty="0" smtClean="0"/>
              <a:t>单元测试是软件开发过程中要进行的 </a:t>
            </a:r>
            <a:r>
              <a:rPr lang="zh-CN" altLang="en-US" b="1" dirty="0" smtClean="0"/>
              <a:t>最低级别 </a:t>
            </a:r>
            <a:r>
              <a:rPr lang="zh-CN" altLang="en-US" dirty="0" smtClean="0"/>
              <a:t>的测试活动，一般由 </a:t>
            </a:r>
            <a:r>
              <a:rPr lang="zh-CN" altLang="en-US" b="1" dirty="0" smtClean="0"/>
              <a:t>开发人员 </a:t>
            </a:r>
            <a:r>
              <a:rPr lang="zh-CN" altLang="en-US" dirty="0" smtClean="0"/>
              <a:t>来执行。写完一个模块之后，应该立即进行单元测试</a:t>
            </a:r>
            <a:endParaRPr lang="en-US" altLang="zh-CN" dirty="0" smtClean="0"/>
          </a:p>
          <a:p>
            <a:r>
              <a:rPr lang="zh-CN" altLang="en-US" sz="1200" b="0" i="0" kern="1200" dirty="0" smtClean="0">
                <a:solidFill>
                  <a:schemeClr val="tx1"/>
                </a:solidFill>
                <a:effectLst/>
                <a:latin typeface="+mn-lt"/>
                <a:ea typeface="+mn-ea"/>
                <a:cs typeface="+mn-cs"/>
              </a:rPr>
              <a:t>因为单元测试能够简化错误检测， 在减少开发时间和成本的同时提高软件质量</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这点大家都懂</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在单元测试中，软件的独立单元将在与程序的其他部分相隔离的情况下进行测试</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在许多面向对象语言，如</a:t>
            </a:r>
            <a:r>
              <a:rPr lang="en-US" altLang="zh-CN" dirty="0" smtClean="0"/>
              <a:t>C++</a:t>
            </a:r>
            <a:r>
              <a:rPr lang="zh-CN" altLang="en-US" dirty="0" smtClean="0"/>
              <a:t>与</a:t>
            </a:r>
            <a:r>
              <a:rPr lang="en-US" altLang="zh-CN" dirty="0" smtClean="0"/>
              <a:t>Java</a:t>
            </a:r>
            <a:r>
              <a:rPr lang="zh-CN" altLang="en-US" dirty="0" smtClean="0"/>
              <a:t>中，要进行测试的基本单元是类</a:t>
            </a: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为了彻底地。。。</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黑盒测试用例基于设计和规格文档 ，测试人员应该为设计和规格文档的每个入口建立至少一个测试用例 ，此外还需要为发现的每一个错误增加另外的测试用例 </a:t>
            </a:r>
            <a:endParaRPr lang="en-US" altLang="zh-CN"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白盒测试用例通过各种不同的输入充分地执行类的所有方法以发现缺陷 ：白盒测试的难点之一就是测试的覆盖性。</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任何时候一个类被修改后， 应该执行回归测试， 保证没有引入新的错误，并且原来的错误已经被更正了。</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 回归测试执行白盒和黑盒测试用例， 并且分析结果以确定类的质量是否得到的改善。</a:t>
            </a:r>
          </a:p>
          <a:p>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smtClean="0">
                <a:solidFill>
                  <a:schemeClr val="tx1"/>
                </a:solidFill>
                <a:effectLst/>
                <a:latin typeface="+mn-lt"/>
                <a:ea typeface="+mn-ea"/>
                <a:cs typeface="+mn-cs"/>
              </a:rPr>
              <a:t>黑盒测试、白盒测试、回归测试在</a:t>
            </a:r>
            <a:r>
              <a:rPr lang="zh-CN" altLang="en-US" sz="1200" b="0" i="0" kern="1200" dirty="0" smtClean="0">
                <a:solidFill>
                  <a:schemeClr val="tx1"/>
                </a:solidFill>
                <a:effectLst/>
                <a:latin typeface="+mn-lt"/>
                <a:ea typeface="+mn-ea"/>
                <a:cs typeface="+mn-cs"/>
              </a:rPr>
              <a:t>聂老师的</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软件测试</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课上有讲述，有兴趣的同学可以明年去选这门课，这里不多讲</a:t>
            </a:r>
            <a:endParaRPr lang="en-US" altLang="zh-CN" sz="1200" b="0" i="0" kern="1200" dirty="0" smtClean="0">
              <a:solidFill>
                <a:schemeClr val="tx1"/>
              </a:solidFill>
              <a:effectLst/>
              <a:latin typeface="+mn-lt"/>
              <a:ea typeface="+mn-ea"/>
              <a:cs typeface="+mn-cs"/>
            </a:endParaRP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712602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同样的，单元测试也有很多成熟的工具</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Junit</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CppUnit</a:t>
            </a:r>
            <a:r>
              <a:rPr lang="zh-CN" altLang="en-US" sz="1200" b="0" i="0" kern="1200" dirty="0" smtClean="0">
                <a:solidFill>
                  <a:schemeClr val="tx1"/>
                </a:solidFill>
                <a:effectLst/>
                <a:latin typeface="+mn-lt"/>
                <a:ea typeface="+mn-ea"/>
                <a:cs typeface="+mn-cs"/>
              </a:rPr>
              <a:t>和</a:t>
            </a:r>
            <a:r>
              <a:rPr lang="en-US" altLang="zh-CN" sz="1200" b="0" i="0" kern="1200" dirty="0" err="1" smtClean="0">
                <a:solidFill>
                  <a:schemeClr val="tx1"/>
                </a:solidFill>
                <a:effectLst/>
                <a:latin typeface="+mn-lt"/>
                <a:ea typeface="+mn-ea"/>
                <a:cs typeface="+mn-cs"/>
              </a:rPr>
              <a:t>xUnit</a:t>
            </a:r>
            <a:r>
              <a:rPr lang="zh-CN" altLang="en-US" sz="1200" b="0" i="0" kern="1200" dirty="0" smtClean="0">
                <a:solidFill>
                  <a:schemeClr val="tx1"/>
                </a:solidFill>
                <a:effectLst/>
                <a:latin typeface="+mn-lt"/>
                <a:ea typeface="+mn-ea"/>
                <a:cs typeface="+mn-cs"/>
              </a:rPr>
              <a:t>是分别针对</a:t>
            </a:r>
            <a:r>
              <a:rPr lang="en-US" altLang="zh-CN" sz="1200" b="0" i="0" kern="1200" dirty="0" smtClean="0">
                <a:solidFill>
                  <a:schemeClr val="tx1"/>
                </a:solidFill>
                <a:effectLst/>
                <a:latin typeface="+mn-lt"/>
                <a:ea typeface="+mn-ea"/>
                <a:cs typeface="+mn-cs"/>
              </a:rPr>
              <a:t>java</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C++</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.NET</a:t>
            </a:r>
            <a:r>
              <a:rPr lang="zh-CN" altLang="en-US" sz="1200" b="0" i="0" kern="1200" dirty="0" smtClean="0">
                <a:solidFill>
                  <a:schemeClr val="tx1"/>
                </a:solidFill>
                <a:effectLst/>
                <a:latin typeface="+mn-lt"/>
                <a:ea typeface="+mn-ea"/>
                <a:cs typeface="+mn-cs"/>
              </a:rPr>
              <a:t>框架的单元测试辅助工具</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它们都可以集成到主流的</a:t>
            </a:r>
            <a:r>
              <a:rPr lang="en-US" altLang="zh-CN" sz="1200" b="0" i="0" kern="1200" dirty="0" smtClean="0">
                <a:solidFill>
                  <a:schemeClr val="tx1"/>
                </a:solidFill>
                <a:effectLst/>
                <a:latin typeface="+mn-lt"/>
                <a:ea typeface="+mn-ea"/>
                <a:cs typeface="+mn-cs"/>
              </a:rPr>
              <a:t>IDE</a:t>
            </a:r>
            <a:r>
              <a:rPr lang="zh-CN" altLang="en-US" sz="1200" b="0" i="0" kern="1200" dirty="0" smtClean="0">
                <a:solidFill>
                  <a:schemeClr val="tx1"/>
                </a:solidFill>
                <a:effectLst/>
                <a:latin typeface="+mn-lt"/>
                <a:ea typeface="+mn-ea"/>
                <a:cs typeface="+mn-cs"/>
              </a:rPr>
              <a:t>如</a:t>
            </a:r>
            <a:r>
              <a:rPr lang="en-US" altLang="zh-CN" sz="1200" b="0" i="0" kern="1200" dirty="0" smtClean="0">
                <a:solidFill>
                  <a:schemeClr val="tx1"/>
                </a:solidFill>
                <a:effectLst/>
                <a:latin typeface="+mn-lt"/>
                <a:ea typeface="+mn-ea"/>
                <a:cs typeface="+mn-cs"/>
              </a:rPr>
              <a:t>eclipse</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IDEA</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visual studio</a:t>
            </a:r>
            <a:r>
              <a:rPr lang="zh-CN" altLang="en-US" sz="1200" b="0" i="0" kern="1200" dirty="0" smtClean="0">
                <a:solidFill>
                  <a:schemeClr val="tx1"/>
                </a:solidFill>
                <a:effectLst/>
                <a:latin typeface="+mn-lt"/>
                <a:ea typeface="+mn-ea"/>
                <a:cs typeface="+mn-cs"/>
              </a:rPr>
              <a:t>等</a:t>
            </a: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72960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那了解了上面这些内容之后，我们就可以在现实提高我们软件编码的质量</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9570504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开始编码前， 开发小组制定编码规范并达成共识。 以此规范为基 础 ， 在如</a:t>
            </a:r>
            <a:r>
              <a:rPr lang="en-US" altLang="zh-CN" sz="1200" b="0" i="0" kern="1200" dirty="0" err="1" smtClean="0">
                <a:solidFill>
                  <a:schemeClr val="tx1"/>
                </a:solidFill>
                <a:effectLst/>
                <a:latin typeface="+mn-lt"/>
                <a:ea typeface="+mn-ea"/>
                <a:cs typeface="+mn-cs"/>
              </a:rPr>
              <a:t>SourceStyle</a:t>
            </a:r>
            <a:r>
              <a:rPr lang="en-US" altLang="zh-CN" sz="1200" b="0" i="0" kern="1200" dirty="0" smtClean="0">
                <a:solidFill>
                  <a:schemeClr val="tx1"/>
                </a:solidFill>
                <a:effectLst/>
                <a:latin typeface="+mn-lt"/>
                <a:ea typeface="+mn-ea"/>
                <a:cs typeface="+mn-cs"/>
              </a:rPr>
              <a:t> C++ </a:t>
            </a:r>
            <a:r>
              <a:rPr lang="zh-CN" altLang="en-US" sz="1200" b="0" i="0" kern="1200" dirty="0" smtClean="0">
                <a:solidFill>
                  <a:schemeClr val="tx1"/>
                </a:solidFill>
                <a:effectLst/>
                <a:latin typeface="+mn-lt"/>
                <a:ea typeface="+mn-ea"/>
                <a:cs typeface="+mn-cs"/>
              </a:rPr>
              <a:t>和</a:t>
            </a:r>
            <a:r>
              <a:rPr lang="en-US" altLang="zh-CN" sz="1200" b="0" i="0" kern="1200" dirty="0" err="1" smtClean="0">
                <a:solidFill>
                  <a:schemeClr val="tx1"/>
                </a:solidFill>
                <a:effectLst/>
                <a:latin typeface="+mn-lt"/>
                <a:ea typeface="+mn-ea"/>
                <a:cs typeface="+mn-cs"/>
              </a:rPr>
              <a:t>CodeWizard</a:t>
            </a:r>
            <a:r>
              <a:rPr lang="zh-CN" altLang="en-US" sz="1200" b="0" i="0" kern="1200" dirty="0" smtClean="0">
                <a:solidFill>
                  <a:schemeClr val="tx1"/>
                </a:solidFill>
                <a:effectLst/>
                <a:latin typeface="+mn-lt"/>
                <a:ea typeface="+mn-ea"/>
                <a:cs typeface="+mn-cs"/>
              </a:rPr>
              <a:t>等代码规范插件上制定好规则，使 其 配 置符合编码规范的要求。 </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如果不能达成共识怎么办，那当然是</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（按）</a:t>
            </a:r>
            <a:endParaRPr lang="en-US" altLang="zh-CN"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编码过程中， 注意用</a:t>
            </a:r>
            <a:r>
              <a:rPr lang="en-US" altLang="zh-CN" sz="1200" b="0" i="0" kern="1200" dirty="0" err="1" smtClean="0">
                <a:solidFill>
                  <a:schemeClr val="tx1"/>
                </a:solidFill>
                <a:effectLst/>
                <a:latin typeface="+mn-lt"/>
                <a:ea typeface="+mn-ea"/>
                <a:cs typeface="+mn-cs"/>
              </a:rPr>
              <a:t>SourceStyle</a:t>
            </a:r>
            <a:r>
              <a:rPr lang="en-US" altLang="zh-CN" sz="1200" b="0" i="0" kern="1200" dirty="0" smtClean="0">
                <a:solidFill>
                  <a:schemeClr val="tx1"/>
                </a:solidFill>
                <a:effectLst/>
                <a:latin typeface="+mn-lt"/>
                <a:ea typeface="+mn-ea"/>
                <a:cs typeface="+mn-cs"/>
              </a:rPr>
              <a:t> C++ </a:t>
            </a:r>
            <a:r>
              <a:rPr lang="zh-CN" altLang="en-US" sz="1200" b="0" i="0" kern="1200" dirty="0" smtClean="0">
                <a:solidFill>
                  <a:schemeClr val="tx1"/>
                </a:solidFill>
                <a:effectLst/>
                <a:latin typeface="+mn-lt"/>
                <a:ea typeface="+mn-ea"/>
                <a:cs typeface="+mn-cs"/>
              </a:rPr>
              <a:t>格 式 化 和 布 局代码。 </a:t>
            </a:r>
            <a:r>
              <a:rPr lang="zh-CN" altLang="en-US" sz="1200" b="1" i="0" kern="1200" dirty="0" smtClean="0">
                <a:solidFill>
                  <a:schemeClr val="tx1"/>
                </a:solidFill>
                <a:effectLst/>
                <a:latin typeface="+mn-lt"/>
                <a:ea typeface="+mn-ea"/>
                <a:cs typeface="+mn-cs"/>
              </a:rPr>
              <a:t>每次代码编译完了</a:t>
            </a:r>
            <a:r>
              <a:rPr lang="zh-CN" altLang="en-US" sz="1200" b="0" i="0" kern="1200" dirty="0" smtClean="0">
                <a:solidFill>
                  <a:schemeClr val="tx1"/>
                </a:solidFill>
                <a:effectLst/>
                <a:latin typeface="+mn-lt"/>
                <a:ea typeface="+mn-ea"/>
                <a:cs typeface="+mn-cs"/>
              </a:rPr>
              <a:t>以后， 都要用</a:t>
            </a:r>
            <a:r>
              <a:rPr lang="en-US" altLang="zh-CN" sz="1200" b="0" i="0" kern="1200" dirty="0" err="1" smtClean="0">
                <a:solidFill>
                  <a:schemeClr val="tx1"/>
                </a:solidFill>
                <a:effectLst/>
                <a:latin typeface="+mn-lt"/>
                <a:ea typeface="+mn-ea"/>
                <a:cs typeface="+mn-cs"/>
              </a:rPr>
              <a:t>CodeWizard</a:t>
            </a:r>
            <a:r>
              <a:rPr lang="zh-CN" altLang="en-US" sz="1200" b="0" i="0" kern="1200" dirty="0" smtClean="0">
                <a:solidFill>
                  <a:schemeClr val="tx1"/>
                </a:solidFill>
                <a:effectLst/>
                <a:latin typeface="+mn-lt"/>
                <a:ea typeface="+mn-ea"/>
                <a:cs typeface="+mn-cs"/>
              </a:rPr>
              <a:t>检查一遍，修改违反编码规范的代码 </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就是说把</a:t>
            </a:r>
            <a:r>
              <a:rPr lang="en-US" altLang="zh-CN" sz="1200" b="0" i="0" kern="1200" dirty="0" err="1" smtClean="0">
                <a:solidFill>
                  <a:schemeClr val="tx1"/>
                </a:solidFill>
                <a:effectLst/>
                <a:latin typeface="+mn-lt"/>
                <a:ea typeface="+mn-ea"/>
                <a:cs typeface="+mn-cs"/>
              </a:rPr>
              <a:t>codewizard</a:t>
            </a:r>
            <a:r>
              <a:rPr lang="zh-CN" altLang="en-US" sz="1200" b="0" i="0" kern="1200" dirty="0" smtClean="0">
                <a:solidFill>
                  <a:schemeClr val="tx1"/>
                </a:solidFill>
                <a:effectLst/>
                <a:latin typeface="+mn-lt"/>
                <a:ea typeface="+mn-ea"/>
                <a:cs typeface="+mn-cs"/>
              </a:rPr>
              <a:t>这样的工具也视为一个编译器，有错误就去改</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（按）</a:t>
            </a:r>
          </a:p>
          <a:p>
            <a:r>
              <a:rPr lang="zh-CN" altLang="en-US" sz="1200" b="0" i="0" kern="1200" dirty="0" smtClean="0">
                <a:solidFill>
                  <a:schemeClr val="tx1"/>
                </a:solidFill>
                <a:effectLst/>
                <a:latin typeface="+mn-lt"/>
                <a:ea typeface="+mn-ea"/>
                <a:cs typeface="+mn-cs"/>
              </a:rPr>
              <a:t>编 写 </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执 行 相 关 的 单 元 测 试 ， 包 含 黑 盒 测 试 和 白 盒 测试。 用 </a:t>
            </a:r>
            <a:r>
              <a:rPr lang="en-US" altLang="zh-CN" sz="1200" b="0" i="0" kern="1200" dirty="0" err="1" smtClean="0">
                <a:solidFill>
                  <a:schemeClr val="tx1"/>
                </a:solidFill>
                <a:effectLst/>
                <a:latin typeface="+mn-lt"/>
                <a:ea typeface="+mn-ea"/>
                <a:cs typeface="+mn-cs"/>
              </a:rPr>
              <a:t>PureCoverage</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检查测试用例的测试覆盖性， 必要时增加测试用例， 至少达到行覆盖。</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 （按）</a:t>
            </a:r>
          </a:p>
          <a:p>
            <a:r>
              <a:rPr lang="zh-CN" altLang="en-US" sz="1200" b="0" i="0" kern="1200" dirty="0" smtClean="0">
                <a:solidFill>
                  <a:schemeClr val="tx1"/>
                </a:solidFill>
                <a:effectLst/>
                <a:latin typeface="+mn-lt"/>
                <a:ea typeface="+mn-ea"/>
                <a:cs typeface="+mn-cs"/>
              </a:rPr>
              <a:t>开发者自己检查相关代码。 结合编译器、</a:t>
            </a:r>
            <a:r>
              <a:rPr lang="en-US" altLang="zh-CN" sz="1200" b="0" i="0" kern="1200" dirty="0" smtClean="0">
                <a:solidFill>
                  <a:schemeClr val="tx1"/>
                </a:solidFill>
                <a:effectLst/>
                <a:latin typeface="+mn-lt"/>
                <a:ea typeface="+mn-ea"/>
                <a:cs typeface="+mn-cs"/>
              </a:rPr>
              <a:t>PC-Lint</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Purify </a:t>
            </a:r>
            <a:r>
              <a:rPr lang="zh-CN" altLang="en-US" sz="1200" b="0" i="0" kern="1200" dirty="0" smtClean="0">
                <a:solidFill>
                  <a:schemeClr val="tx1"/>
                </a:solidFill>
                <a:effectLst/>
                <a:latin typeface="+mn-lt"/>
                <a:ea typeface="+mn-ea"/>
                <a:cs typeface="+mn-cs"/>
              </a:rPr>
              <a:t>和 </a:t>
            </a:r>
            <a:r>
              <a:rPr lang="en-US" altLang="zh-CN" sz="1200" b="0" i="0" kern="1200" dirty="0" smtClean="0">
                <a:solidFill>
                  <a:schemeClr val="tx1"/>
                </a:solidFill>
                <a:effectLst/>
                <a:latin typeface="+mn-lt"/>
                <a:ea typeface="+mn-ea"/>
                <a:cs typeface="+mn-cs"/>
              </a:rPr>
              <a:t>Insure++ </a:t>
            </a:r>
            <a:r>
              <a:rPr lang="zh-CN" altLang="en-US" sz="1200" b="0" i="0" kern="1200" dirty="0" smtClean="0">
                <a:solidFill>
                  <a:schemeClr val="tx1"/>
                </a:solidFill>
                <a:effectLst/>
                <a:latin typeface="+mn-lt"/>
                <a:ea typeface="+mn-ea"/>
                <a:cs typeface="+mn-cs"/>
              </a:rPr>
              <a:t>分别对代码进行静态检查和动态检查。 修改相关缺陷。 每次代码修改以后， 都要执行回归测试 </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（按）</a:t>
            </a:r>
          </a:p>
          <a:p>
            <a:r>
              <a:rPr lang="zh-CN" altLang="en-US" sz="1200" b="0" i="0" kern="1200" dirty="0" smtClean="0">
                <a:solidFill>
                  <a:schemeClr val="tx1"/>
                </a:solidFill>
                <a:effectLst/>
                <a:latin typeface="+mn-lt"/>
                <a:ea typeface="+mn-ea"/>
                <a:cs typeface="+mn-cs"/>
              </a:rPr>
              <a:t>评审主持人准备代码评审会议和召开评审会议并记录评审小组指出的问题 </a:t>
            </a:r>
            <a:endParaRPr lang="en-US" altLang="zh-CN" sz="1200" b="0"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smtClean="0">
                <a:solidFill>
                  <a:schemeClr val="tx1"/>
                </a:solidFill>
                <a:effectLst/>
                <a:latin typeface="+mn-lt"/>
                <a:ea typeface="+mn-ea"/>
                <a:cs typeface="+mn-cs"/>
              </a:rPr>
              <a:t>（按）</a:t>
            </a:r>
          </a:p>
          <a:p>
            <a:r>
              <a:rPr lang="zh-CN" altLang="en-US" sz="1200" b="0" i="0" kern="1200" dirty="0" smtClean="0">
                <a:solidFill>
                  <a:schemeClr val="tx1"/>
                </a:solidFill>
                <a:effectLst/>
                <a:latin typeface="+mn-lt"/>
                <a:ea typeface="+mn-ea"/>
                <a:cs typeface="+mn-cs"/>
              </a:rPr>
              <a:t>开发者修改评审中指出的问题， 评审主持人负责追踪问题直到解决 </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F65D3AA-7803-4FAE-B933-6CE75334BBA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417467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442361E4-D6EB-4594-A8D8-0DE781470419}" type="datetime1">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316056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3"/>
          <p:cNvSpPr>
            <a:spLocks noGrp="1"/>
          </p:cNvSpPr>
          <p:nvPr>
            <p:ph type="dt" sz="half" idx="10"/>
          </p:nvPr>
        </p:nvSpPr>
        <p:spPr/>
        <p:txBody>
          <a:bodyPr/>
          <a:lstStyle/>
          <a:p>
            <a:fld id="{DFCE3791-789E-499C-ADAA-FA14266B512F}" type="datetime1">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2646415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10B894FA-0D64-407E-BD1E-D3A90E9DAC4D}" type="datetime1">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2983723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A9144EBA-1D3B-466F-941E-8D5C437ABC76}" type="datetime1">
              <a:rPr lang="zh-CN" altLang="en-US" smtClean="0"/>
              <a:t>2019/10/22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2272576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0FBDC805-7A35-44C0-A6FA-07AFB439FB75}" type="datetime1">
              <a:rPr lang="zh-CN" altLang="en-US" smtClean="0"/>
              <a:t>2019/10/22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1169683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7" name="Date Placeholder 2"/>
          <p:cNvSpPr>
            <a:spLocks noGrp="1"/>
          </p:cNvSpPr>
          <p:nvPr>
            <p:ph type="dt" sz="half" idx="10"/>
          </p:nvPr>
        </p:nvSpPr>
        <p:spPr/>
        <p:txBody>
          <a:bodyPr/>
          <a:lstStyle/>
          <a:p>
            <a:fld id="{0955DC33-4011-445F-A838-2BB103137364}" type="datetime1">
              <a:rPr lang="zh-CN" altLang="en-US" smtClean="0"/>
              <a:t>2019/10/22</a:t>
            </a:fld>
            <a:endParaRPr lang="zh-CN" altLang="en-US"/>
          </a:p>
        </p:txBody>
      </p:sp>
      <p:sp>
        <p:nvSpPr>
          <p:cNvPr id="5" name="Footer Placeholder 3"/>
          <p:cNvSpPr>
            <a:spLocks noGrp="1"/>
          </p:cNvSpPr>
          <p:nvPr>
            <p:ph type="ftr" sz="quarter" idx="11"/>
          </p:nvPr>
        </p:nvSpPr>
        <p:spPr/>
        <p:txBody>
          <a:bodyPr/>
          <a:lstStyle/>
          <a:p>
            <a:endParaRPr lang="zh-CN" altLang="en-US"/>
          </a:p>
        </p:txBody>
      </p:sp>
      <p:sp>
        <p:nvSpPr>
          <p:cNvPr id="6" name="Slide Number Placeholder 4"/>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2077722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E6EB53C-0C61-461B-BD23-D1B96124A350}" type="datetime1">
              <a:rPr lang="zh-CN" altLang="en-US" smtClean="0"/>
              <a:t>2019/10/22</a:t>
            </a:fld>
            <a:endParaRPr lang="zh-CN" altLang="en-US"/>
          </a:p>
        </p:txBody>
      </p:sp>
      <p:sp>
        <p:nvSpPr>
          <p:cNvPr id="5" name="Footer Placeholder 2"/>
          <p:cNvSpPr>
            <a:spLocks noGrp="1"/>
          </p:cNvSpPr>
          <p:nvPr>
            <p:ph type="ftr" sz="quarter" idx="11"/>
          </p:nvPr>
        </p:nvSpPr>
        <p:spPr/>
        <p:txBody>
          <a:bodyPr/>
          <a:lstStyle/>
          <a:p>
            <a:endParaRPr lang="zh-CN" altLang="en-US"/>
          </a:p>
        </p:txBody>
      </p:sp>
      <p:sp>
        <p:nvSpPr>
          <p:cNvPr id="6" name="Slide Number Placeholder 3"/>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2643511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7" name="Date Placeholder 4"/>
          <p:cNvSpPr>
            <a:spLocks noGrp="1"/>
          </p:cNvSpPr>
          <p:nvPr>
            <p:ph type="dt" sz="half" idx="10"/>
          </p:nvPr>
        </p:nvSpPr>
        <p:spPr/>
        <p:txBody>
          <a:bodyPr/>
          <a:lstStyle/>
          <a:p>
            <a:fld id="{BAC30A62-75ED-47B5-80ED-10BB54E1265E}" type="datetime1">
              <a:rPr lang="zh-CN" altLang="en-US" smtClean="0"/>
              <a:t>2019/10/22</a:t>
            </a:fld>
            <a:endParaRPr lang="zh-CN" altLang="en-US"/>
          </a:p>
        </p:txBody>
      </p:sp>
      <p:sp>
        <p:nvSpPr>
          <p:cNvPr id="5" name="Footer Placeholder 5"/>
          <p:cNvSpPr>
            <a:spLocks noGrp="1"/>
          </p:cNvSpPr>
          <p:nvPr>
            <p:ph type="ftr" sz="quarter" idx="11"/>
          </p:nvPr>
        </p:nvSpPr>
        <p:spPr/>
        <p:txBody>
          <a:bodyPr/>
          <a:lstStyle/>
          <a:p>
            <a:endParaRPr lang="zh-CN" altLang="en-US"/>
          </a:p>
        </p:txBody>
      </p:sp>
      <p:sp>
        <p:nvSpPr>
          <p:cNvPr id="6" name="Slide Number Placeholder 6"/>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295524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33525417-23AE-4E96-B805-52E1F9AFC310}" type="datetime1">
              <a:rPr lang="zh-CN" altLang="en-US" smtClean="0"/>
              <a:t>2019/10/22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883072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38D6AF3-9992-42F4-82C6-D802B398B429}" type="datetime1">
              <a:rPr lang="zh-CN" altLang="en-US" smtClean="0"/>
              <a:t>2019/10/22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460410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zh-CN" altLang="en-US" smtClean="0"/>
              <a:t>单击此处编辑母版标题样式</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898432F3-9125-44B3-BF5B-04F9E8AB47A7}" type="datetime1">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18701039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zh-CN" altLang="en-US" smtClean="0"/>
              <a:t>单击此处编辑母版标题样式</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smtClean="0"/>
              <a:t>单击此处编辑母版文本样式</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61DCEEF8-A325-4C8D-9B7C-23BA7542A845}" type="datetime1">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C23B4F-5EA2-44EC-8029-0D5CC05C08A6}" type="slidenum">
              <a:rPr lang="zh-CN" altLang="en-US" smtClean="0"/>
              <a:t>‹#›</a:t>
            </a:fld>
            <a:endParaRPr lang="zh-CN"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388487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C3C848A5-940F-4178-8E14-ACA81A4D02E1}" type="datetime1">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687565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36720A-95F5-4FB5-8BD4-6F83A1E571F6}" type="datetime1">
              <a:rPr lang="zh-CN" altLang="en-US" smtClean="0"/>
              <a:t>2019/10/22</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1910469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FE07CA3-4DE7-4A1D-9DEB-EF28DCC0CAB3}" type="datetime1">
              <a:rPr lang="zh-CN" altLang="en-US" smtClean="0"/>
              <a:t>2019/10/22</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363805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FBBAA4C-1F5D-48EA-9607-B6D6A38CB558}" type="datetime1">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1107044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0BA8FFE-1F02-4FFA-8AD3-6C549793294F}" type="datetime1">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34395325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50B07F9A-22BD-4743-9E2C-00D7EC5C9498}" type="datetimeFigureOut">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156359C-DEE2-4C0B-8C6A-638AAF9497B1}" type="slidenum">
              <a:rPr lang="zh-CN" altLang="en-US" smtClean="0"/>
              <a:t>‹#›</a:t>
            </a:fld>
            <a:endParaRPr lang="zh-CN" altLang="en-US"/>
          </a:p>
        </p:txBody>
      </p:sp>
    </p:spTree>
    <p:extLst>
      <p:ext uri="{BB962C8B-B14F-4D97-AF65-F5344CB8AC3E}">
        <p14:creationId xmlns:p14="http://schemas.microsoft.com/office/powerpoint/2010/main" val="25246872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0B07F9A-22BD-4743-9E2C-00D7EC5C9498}" type="datetimeFigureOut">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156359C-DEE2-4C0B-8C6A-638AAF9497B1}" type="slidenum">
              <a:rPr lang="zh-CN" altLang="en-US" smtClean="0"/>
              <a:t>‹#›</a:t>
            </a:fld>
            <a:endParaRPr lang="zh-CN" altLang="en-US"/>
          </a:p>
        </p:txBody>
      </p:sp>
    </p:spTree>
    <p:extLst>
      <p:ext uri="{BB962C8B-B14F-4D97-AF65-F5344CB8AC3E}">
        <p14:creationId xmlns:p14="http://schemas.microsoft.com/office/powerpoint/2010/main" val="2438486054"/>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50B07F9A-22BD-4743-9E2C-00D7EC5C9498}" type="datetimeFigureOut">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156359C-DEE2-4C0B-8C6A-638AAF9497B1}" type="slidenum">
              <a:rPr lang="zh-CN" altLang="en-US" smtClean="0"/>
              <a:t>‹#›</a:t>
            </a:fld>
            <a:endParaRPr lang="zh-CN" altLang="en-US"/>
          </a:p>
        </p:txBody>
      </p:sp>
    </p:spTree>
    <p:extLst>
      <p:ext uri="{BB962C8B-B14F-4D97-AF65-F5344CB8AC3E}">
        <p14:creationId xmlns:p14="http://schemas.microsoft.com/office/powerpoint/2010/main" val="629287526"/>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0B07F9A-22BD-4743-9E2C-00D7EC5C9498}" type="datetimeFigureOut">
              <a:rPr lang="zh-CN" altLang="en-US" smtClean="0"/>
              <a:t>2019/10/22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156359C-DEE2-4C0B-8C6A-638AAF9497B1}" type="slidenum">
              <a:rPr lang="zh-CN" altLang="en-US" smtClean="0"/>
              <a:t>‹#›</a:t>
            </a:fld>
            <a:endParaRPr lang="zh-CN" altLang="en-US"/>
          </a:p>
        </p:txBody>
      </p:sp>
    </p:spTree>
    <p:extLst>
      <p:ext uri="{BB962C8B-B14F-4D97-AF65-F5344CB8AC3E}">
        <p14:creationId xmlns:p14="http://schemas.microsoft.com/office/powerpoint/2010/main" val="1627665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0B07F9A-22BD-4743-9E2C-00D7EC5C9498}" type="datetimeFigureOut">
              <a:rPr lang="zh-CN" altLang="en-US" smtClean="0"/>
              <a:t>2019/10/22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156359C-DEE2-4C0B-8C6A-638AAF9497B1}" type="slidenum">
              <a:rPr lang="zh-CN" altLang="en-US" smtClean="0"/>
              <a:t>‹#›</a:t>
            </a:fld>
            <a:endParaRPr lang="zh-CN" altLang="en-US"/>
          </a:p>
        </p:txBody>
      </p:sp>
    </p:spTree>
    <p:extLst>
      <p:ext uri="{BB962C8B-B14F-4D97-AF65-F5344CB8AC3E}">
        <p14:creationId xmlns:p14="http://schemas.microsoft.com/office/powerpoint/2010/main" val="35990802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50B07F9A-22BD-4743-9E2C-00D7EC5C9498}" type="datetimeFigureOut">
              <a:rPr lang="zh-CN" altLang="en-US" smtClean="0"/>
              <a:t>2019/10/22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156359C-DEE2-4C0B-8C6A-638AAF9497B1}" type="slidenum">
              <a:rPr lang="zh-CN" altLang="en-US" smtClean="0"/>
              <a:t>‹#›</a:t>
            </a:fld>
            <a:endParaRPr lang="zh-CN" altLang="en-US"/>
          </a:p>
        </p:txBody>
      </p:sp>
    </p:spTree>
    <p:extLst>
      <p:ext uri="{BB962C8B-B14F-4D97-AF65-F5344CB8AC3E}">
        <p14:creationId xmlns:p14="http://schemas.microsoft.com/office/powerpoint/2010/main" val="1870760457"/>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B07F9A-22BD-4743-9E2C-00D7EC5C9498}" type="datetimeFigureOut">
              <a:rPr lang="zh-CN" altLang="en-US" smtClean="0"/>
              <a:t>2019/10/22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156359C-DEE2-4C0B-8C6A-638AAF9497B1}" type="slidenum">
              <a:rPr lang="zh-CN" altLang="en-US" smtClean="0"/>
              <a:t>‹#›</a:t>
            </a:fld>
            <a:endParaRPr lang="zh-CN" altLang="en-US"/>
          </a:p>
        </p:txBody>
      </p:sp>
      <p:sp>
        <p:nvSpPr>
          <p:cNvPr id="5" name="矩形 4"/>
          <p:cNvSpPr/>
          <p:nvPr userDrawn="1"/>
        </p:nvSpPr>
        <p:spPr>
          <a:xfrm>
            <a:off x="3855" y="-21824"/>
            <a:ext cx="12192000"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0" y="0"/>
            <a:ext cx="12192000" cy="6858000"/>
          </a:xfrm>
          <a:prstGeom prst="rect">
            <a:avLst/>
          </a:prstGeom>
        </p:spPr>
      </p:pic>
      <p:sp>
        <p:nvSpPr>
          <p:cNvPr id="7" name="矩形 6"/>
          <p:cNvSpPr/>
          <p:nvPr userDrawn="1"/>
        </p:nvSpPr>
        <p:spPr>
          <a:xfrm>
            <a:off x="0" y="3"/>
            <a:ext cx="12192000"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userDrawn="1"/>
        </p:nvPicPr>
        <p:blipFill rotWithShape="1">
          <a:blip r:embed="rId3"/>
          <a:srcRect l="5055" t="2160" r="86962" b="2657"/>
          <a:stretch/>
        </p:blipFill>
        <p:spPr>
          <a:xfrm>
            <a:off x="5" y="0"/>
            <a:ext cx="1056289" cy="6916424"/>
          </a:xfrm>
          <a:prstGeom prst="rect">
            <a:avLst/>
          </a:prstGeom>
        </p:spPr>
      </p:pic>
    </p:spTree>
    <p:extLst>
      <p:ext uri="{BB962C8B-B14F-4D97-AF65-F5344CB8AC3E}">
        <p14:creationId xmlns:p14="http://schemas.microsoft.com/office/powerpoint/2010/main" val="1742961540"/>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50B07F9A-22BD-4743-9E2C-00D7EC5C9498}" type="datetimeFigureOut">
              <a:rPr lang="zh-CN" altLang="en-US" smtClean="0"/>
              <a:t>2019/10/22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156359C-DEE2-4C0B-8C6A-638AAF9497B1}" type="slidenum">
              <a:rPr lang="zh-CN" altLang="en-US" smtClean="0"/>
              <a:t>‹#›</a:t>
            </a:fld>
            <a:endParaRPr lang="zh-CN" altLang="en-US"/>
          </a:p>
        </p:txBody>
      </p:sp>
    </p:spTree>
    <p:extLst>
      <p:ext uri="{BB962C8B-B14F-4D97-AF65-F5344CB8AC3E}">
        <p14:creationId xmlns:p14="http://schemas.microsoft.com/office/powerpoint/2010/main" val="18359957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50B07F9A-22BD-4743-9E2C-00D7EC5C9498}" type="datetimeFigureOut">
              <a:rPr lang="zh-CN" altLang="en-US" smtClean="0"/>
              <a:t>2019/10/22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156359C-DEE2-4C0B-8C6A-638AAF9497B1}" type="slidenum">
              <a:rPr lang="zh-CN" altLang="en-US" smtClean="0"/>
              <a:t>‹#›</a:t>
            </a:fld>
            <a:endParaRPr lang="zh-CN" altLang="en-US"/>
          </a:p>
        </p:txBody>
      </p:sp>
    </p:spTree>
    <p:extLst>
      <p:ext uri="{BB962C8B-B14F-4D97-AF65-F5344CB8AC3E}">
        <p14:creationId xmlns:p14="http://schemas.microsoft.com/office/powerpoint/2010/main" val="14812646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0B07F9A-22BD-4743-9E2C-00D7EC5C9498}" type="datetimeFigureOut">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156359C-DEE2-4C0B-8C6A-638AAF9497B1}" type="slidenum">
              <a:rPr lang="zh-CN" altLang="en-US" smtClean="0"/>
              <a:t>‹#›</a:t>
            </a:fld>
            <a:endParaRPr lang="zh-CN" altLang="en-US"/>
          </a:p>
        </p:txBody>
      </p:sp>
    </p:spTree>
    <p:extLst>
      <p:ext uri="{BB962C8B-B14F-4D97-AF65-F5344CB8AC3E}">
        <p14:creationId xmlns:p14="http://schemas.microsoft.com/office/powerpoint/2010/main" val="2096095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0B07F9A-22BD-4743-9E2C-00D7EC5C9498}" type="datetimeFigureOut">
              <a:rPr lang="zh-CN" altLang="en-US" smtClean="0"/>
              <a:t>2019/10/22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156359C-DEE2-4C0B-8C6A-638AAF9497B1}" type="slidenum">
              <a:rPr lang="zh-CN" altLang="en-US" smtClean="0"/>
              <a:t>‹#›</a:t>
            </a:fld>
            <a:endParaRPr lang="zh-CN" altLang="en-US"/>
          </a:p>
        </p:txBody>
      </p:sp>
    </p:spTree>
    <p:extLst>
      <p:ext uri="{BB962C8B-B14F-4D97-AF65-F5344CB8AC3E}">
        <p14:creationId xmlns:p14="http://schemas.microsoft.com/office/powerpoint/2010/main" val="1493793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E636129-D55E-4986-B211-F7929DDC3E14}" type="datetime1">
              <a:rPr lang="zh-CN" altLang="en-US" smtClean="0"/>
              <a:t>2019/10/22</a:t>
            </a:fld>
            <a:endParaRPr lang="zh-CN"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zh-CN"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0C23B4F-5EA2-44EC-8029-0D5CC05C08A6}" type="slidenum">
              <a:rPr lang="zh-CN" altLang="en-US" smtClean="0"/>
              <a:t>‹#›</a:t>
            </a:fld>
            <a:endParaRPr lang="zh-CN" altLang="en-US"/>
          </a:p>
        </p:txBody>
      </p:sp>
    </p:spTree>
    <p:extLst>
      <p:ext uri="{BB962C8B-B14F-4D97-AF65-F5344CB8AC3E}">
        <p14:creationId xmlns:p14="http://schemas.microsoft.com/office/powerpoint/2010/main" val="52920369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B07F9A-22BD-4743-9E2C-00D7EC5C9498}" type="datetimeFigureOut">
              <a:rPr lang="zh-CN" altLang="en-US" smtClean="0"/>
              <a:t>2019/10/22</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56359C-DEE2-4C0B-8C6A-638AAF9497B1}" type="slidenum">
              <a:rPr lang="zh-CN" altLang="en-US" smtClean="0"/>
              <a:t>‹#›</a:t>
            </a:fld>
            <a:endParaRPr lang="zh-CN" altLang="en-US"/>
          </a:p>
        </p:txBody>
      </p:sp>
    </p:spTree>
    <p:extLst>
      <p:ext uri="{BB962C8B-B14F-4D97-AF65-F5344CB8AC3E}">
        <p14:creationId xmlns:p14="http://schemas.microsoft.com/office/powerpoint/2010/main" val="311216564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10.jp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4.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4.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10.jp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4.xml"/><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4.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24.xml"/><Relationship Id="rId4" Type="http://schemas.openxmlformats.org/officeDocument/2006/relationships/image" Target="../media/image10.jp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24.xml"/><Relationship Id="rId4" Type="http://schemas.openxmlformats.org/officeDocument/2006/relationships/image" Target="../media/image10.jpg"/></Relationships>
</file>

<file path=ppt/slides/_rels/slide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24.xml"/><Relationship Id="rId5" Type="http://schemas.openxmlformats.org/officeDocument/2006/relationships/image" Target="../media/image25.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软件编码的质量</a:t>
            </a:r>
            <a:endParaRPr lang="zh-CN" altLang="en-US" dirty="0"/>
          </a:p>
        </p:txBody>
      </p:sp>
      <p:sp>
        <p:nvSpPr>
          <p:cNvPr id="3" name="副标题 2"/>
          <p:cNvSpPr>
            <a:spLocks noGrp="1"/>
          </p:cNvSpPr>
          <p:nvPr>
            <p:ph type="subTitle" idx="1"/>
          </p:nvPr>
        </p:nvSpPr>
        <p:spPr/>
        <p:txBody>
          <a:bodyPr/>
          <a:lstStyle/>
          <a:p>
            <a:r>
              <a:rPr lang="zh-CN" altLang="en-US" dirty="0"/>
              <a:t>陈博钏</a:t>
            </a:r>
            <a:r>
              <a:rPr lang="en-US" altLang="zh-CN" dirty="0" smtClean="0"/>
              <a:t>151220007</a:t>
            </a:r>
            <a:r>
              <a:rPr lang="zh-CN" altLang="en-US" dirty="0" smtClean="0"/>
              <a:t>等</a:t>
            </a:r>
            <a:endParaRPr lang="zh-CN" altLang="en-US" dirty="0"/>
          </a:p>
        </p:txBody>
      </p:sp>
      <p:sp>
        <p:nvSpPr>
          <p:cNvPr id="4" name="灯片编号占位符 3"/>
          <p:cNvSpPr>
            <a:spLocks noGrp="1"/>
          </p:cNvSpPr>
          <p:nvPr>
            <p:ph type="sldNum" sz="quarter" idx="12"/>
          </p:nvPr>
        </p:nvSpPr>
        <p:spPr/>
        <p:txBody>
          <a:bodyPr/>
          <a:lstStyle/>
          <a:p>
            <a:fld id="{90C23B4F-5EA2-44EC-8029-0D5CC05C08A6}" type="slidenum">
              <a:rPr lang="zh-CN" altLang="en-US" smtClean="0"/>
              <a:t>1</a:t>
            </a:fld>
            <a:endParaRPr lang="zh-CN" altLang="en-US"/>
          </a:p>
        </p:txBody>
      </p:sp>
    </p:spTree>
    <p:extLst>
      <p:ext uri="{BB962C8B-B14F-4D97-AF65-F5344CB8AC3E}">
        <p14:creationId xmlns:p14="http://schemas.microsoft.com/office/powerpoint/2010/main" val="14059661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Outline</a:t>
            </a:r>
            <a:endParaRPr lang="zh-CN" altLang="en-US" dirty="0"/>
          </a:p>
        </p:txBody>
      </p:sp>
      <p:sp>
        <p:nvSpPr>
          <p:cNvPr id="3" name="内容占位符 2"/>
          <p:cNvSpPr>
            <a:spLocks noGrp="1"/>
          </p:cNvSpPr>
          <p:nvPr>
            <p:ph idx="1"/>
          </p:nvPr>
        </p:nvSpPr>
        <p:spPr/>
        <p:txBody>
          <a:bodyPr>
            <a:normAutofit/>
          </a:bodyPr>
          <a:lstStyle/>
          <a:p>
            <a:r>
              <a:rPr lang="zh-CN" altLang="en-US" sz="2800" dirty="0" smtClean="0"/>
              <a:t>回顾：软件生命周期（</a:t>
            </a:r>
            <a:r>
              <a:rPr lang="en-US" altLang="zh-CN" sz="2800" dirty="0" smtClean="0"/>
              <a:t>SDLC</a:t>
            </a:r>
            <a:r>
              <a:rPr lang="zh-CN" altLang="en-US" sz="2800" dirty="0" smtClean="0"/>
              <a:t>）</a:t>
            </a:r>
            <a:endParaRPr lang="en-US" altLang="zh-CN" sz="2800" dirty="0" smtClean="0"/>
          </a:p>
          <a:p>
            <a:r>
              <a:rPr lang="zh-CN" altLang="en-US" sz="2800" dirty="0" smtClean="0"/>
              <a:t>软件编码的质量与度量</a:t>
            </a:r>
            <a:endParaRPr lang="en-US" altLang="zh-CN" sz="2800" dirty="0" smtClean="0"/>
          </a:p>
          <a:p>
            <a:r>
              <a:rPr lang="zh-CN" altLang="en-US" sz="2800" dirty="0" smtClean="0"/>
              <a:t>为什么要保证编码质量</a:t>
            </a:r>
            <a:endParaRPr lang="en-US" altLang="zh-CN" sz="2800" dirty="0" smtClean="0"/>
          </a:p>
          <a:p>
            <a:r>
              <a:rPr lang="zh-CN" altLang="en-US" sz="2800" dirty="0" smtClean="0"/>
              <a:t>如何保证编码质量</a:t>
            </a:r>
            <a:endParaRPr lang="en-US" altLang="zh-CN" sz="2800" dirty="0" smtClean="0"/>
          </a:p>
          <a:p>
            <a:r>
              <a:rPr lang="zh-CN" altLang="en-US" sz="2800" dirty="0" smtClean="0"/>
              <a:t>编码规范</a:t>
            </a:r>
            <a:endParaRPr lang="zh-CN" altLang="en-US" sz="2800" dirty="0"/>
          </a:p>
        </p:txBody>
      </p:sp>
      <p:sp>
        <p:nvSpPr>
          <p:cNvPr id="4" name="灯片编号占位符 3"/>
          <p:cNvSpPr>
            <a:spLocks noGrp="1"/>
          </p:cNvSpPr>
          <p:nvPr>
            <p:ph type="sldNum" sz="quarter" idx="12"/>
          </p:nvPr>
        </p:nvSpPr>
        <p:spPr/>
        <p:txBody>
          <a:bodyPr/>
          <a:lstStyle/>
          <a:p>
            <a:fld id="{90C23B4F-5EA2-44EC-8029-0D5CC05C08A6}" type="slidenum">
              <a:rPr lang="zh-CN" altLang="en-US" smtClean="0"/>
              <a:t>2</a:t>
            </a:fld>
            <a:endParaRPr lang="zh-CN" altLang="en-US"/>
          </a:p>
        </p:txBody>
      </p:sp>
    </p:spTree>
    <p:extLst>
      <p:ext uri="{BB962C8B-B14F-4D97-AF65-F5344CB8AC3E}">
        <p14:creationId xmlns:p14="http://schemas.microsoft.com/office/powerpoint/2010/main" val="31092787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软件生命周期（</a:t>
            </a:r>
            <a:r>
              <a:rPr lang="en-US" altLang="zh-CN" dirty="0" smtClean="0"/>
              <a:t>SDLC</a:t>
            </a:r>
            <a:r>
              <a:rPr lang="zh-CN" altLang="en-US" dirty="0" smtClean="0"/>
              <a:t>）</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sz="2400" dirty="0"/>
              <a:t> </a:t>
            </a:r>
            <a:r>
              <a:rPr lang="en-US" altLang="zh-CN" sz="2400" dirty="0" smtClean="0"/>
              <a:t>        </a:t>
            </a:r>
            <a:r>
              <a:rPr lang="zh-CN" altLang="en-US" sz="2400" dirty="0" smtClean="0"/>
              <a:t>软件生命周期</a:t>
            </a:r>
            <a:r>
              <a:rPr lang="en-US" altLang="zh-CN" sz="2400" dirty="0" smtClean="0"/>
              <a:t>(SDLC</a:t>
            </a:r>
            <a:r>
              <a:rPr lang="zh-CN" altLang="en-US" sz="2400" dirty="0" smtClean="0"/>
              <a:t>，</a:t>
            </a:r>
            <a:r>
              <a:rPr lang="en-US" altLang="zh-CN" sz="2400" dirty="0" smtClean="0"/>
              <a:t>Systems Development Life Cycle</a:t>
            </a:r>
            <a:r>
              <a:rPr lang="en-US" altLang="zh-CN" sz="2400" dirty="0"/>
              <a:t>)</a:t>
            </a:r>
            <a:r>
              <a:rPr lang="en-US" altLang="zh-CN" sz="2400" dirty="0" smtClean="0"/>
              <a:t> </a:t>
            </a:r>
            <a:r>
              <a:rPr lang="zh-CN" altLang="en-US" sz="2400" dirty="0" smtClean="0"/>
              <a:t>是指软件的产生直到报废或停止使用的生命周期。</a:t>
            </a:r>
            <a:endParaRPr lang="en-US" altLang="zh-CN" sz="2400" dirty="0" smtClean="0"/>
          </a:p>
          <a:p>
            <a:pPr marL="0" indent="0">
              <a:buNone/>
            </a:pPr>
            <a:r>
              <a:rPr lang="zh-CN" altLang="en-US" sz="2400" dirty="0" smtClean="0"/>
              <a:t>         周期内有问题定义、可行性分析、总体描述、系统设计、编码、调试和测试、验收与运行、维护升级到废弃等过程，每个过程有明确的任务，使规模大，结构复杂和管理复杂的软件开发变的容易控制和管理。</a:t>
            </a:r>
            <a:endParaRPr lang="zh-CN" altLang="en-US" sz="2400" dirty="0"/>
          </a:p>
        </p:txBody>
      </p:sp>
      <p:sp>
        <p:nvSpPr>
          <p:cNvPr id="26" name="灯片编号占位符 25"/>
          <p:cNvSpPr>
            <a:spLocks noGrp="1"/>
          </p:cNvSpPr>
          <p:nvPr>
            <p:ph type="sldNum" sz="quarter" idx="12"/>
          </p:nvPr>
        </p:nvSpPr>
        <p:spPr/>
        <p:txBody>
          <a:bodyPr/>
          <a:lstStyle/>
          <a:p>
            <a:fld id="{90C23B4F-5EA2-44EC-8029-0D5CC05C08A6}" type="slidenum">
              <a:rPr lang="zh-CN" altLang="en-US" smtClean="0"/>
              <a:t>3</a:t>
            </a:fld>
            <a:endParaRPr lang="zh-CN" altLang="en-US"/>
          </a:p>
        </p:txBody>
      </p:sp>
    </p:spTree>
    <p:extLst>
      <p:ext uri="{BB962C8B-B14F-4D97-AF65-F5344CB8AC3E}">
        <p14:creationId xmlns:p14="http://schemas.microsoft.com/office/powerpoint/2010/main" val="29492688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1"/>
          <p:cNvSpPr>
            <a:spLocks noGrp="1"/>
          </p:cNvSpPr>
          <p:nvPr>
            <p:ph type="title"/>
          </p:nvPr>
        </p:nvSpPr>
        <p:spPr/>
        <p:txBody>
          <a:bodyPr/>
          <a:lstStyle/>
          <a:p>
            <a:r>
              <a:rPr lang="zh-CN" altLang="en-US" dirty="0" smtClean="0"/>
              <a:t>软件生命周期（</a:t>
            </a:r>
            <a:r>
              <a:rPr lang="en-US" altLang="zh-CN" dirty="0" smtClean="0"/>
              <a:t>SDLC</a:t>
            </a:r>
            <a:r>
              <a:rPr lang="zh-CN" altLang="en-US" dirty="0" smtClean="0"/>
              <a:t>）</a:t>
            </a:r>
            <a:endParaRPr lang="zh-CN" altLang="en-US" dirty="0"/>
          </a:p>
        </p:txBody>
      </p:sp>
      <p:cxnSp>
        <p:nvCxnSpPr>
          <p:cNvPr id="27" name="AutoShape 72"/>
          <p:cNvCxnSpPr>
            <a:cxnSpLocks noChangeShapeType="1"/>
            <a:stCxn id="35" idx="3"/>
            <a:endCxn id="31" idx="1"/>
          </p:cNvCxnSpPr>
          <p:nvPr/>
        </p:nvCxnSpPr>
        <p:spPr bwMode="gray">
          <a:xfrm flipV="1">
            <a:off x="4601857" y="2246313"/>
            <a:ext cx="403225" cy="1709737"/>
          </a:xfrm>
          <a:prstGeom prst="bentConnector3">
            <a:avLst>
              <a:gd name="adj1" fmla="val 50000"/>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8" name="AutoShape 73"/>
          <p:cNvCxnSpPr>
            <a:cxnSpLocks noChangeShapeType="1"/>
            <a:stCxn id="35" idx="3"/>
          </p:cNvCxnSpPr>
          <p:nvPr/>
        </p:nvCxnSpPr>
        <p:spPr bwMode="gray">
          <a:xfrm>
            <a:off x="4601857" y="3956050"/>
            <a:ext cx="403225" cy="1766888"/>
          </a:xfrm>
          <a:prstGeom prst="bentConnector3">
            <a:avLst>
              <a:gd name="adj1" fmla="val 50000"/>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9" name="AutoShape 77"/>
          <p:cNvSpPr>
            <a:spLocks noChangeArrowheads="1"/>
          </p:cNvSpPr>
          <p:nvPr/>
        </p:nvSpPr>
        <p:spPr bwMode="gray">
          <a:xfrm>
            <a:off x="8310257" y="2338388"/>
            <a:ext cx="2451100" cy="555625"/>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a:latin typeface="Adobe 楷体 Std R" pitchFamily="18" charset="-122"/>
                <a:ea typeface="Adobe 楷体 Std R" pitchFamily="18" charset="-122"/>
              </a:rPr>
              <a:t>需求分析</a:t>
            </a:r>
            <a:endParaRPr lang="en-US" altLang="ko-KR" sz="2400" b="1" dirty="0">
              <a:latin typeface="Adobe 楷体 Std R" pitchFamily="18" charset="-122"/>
              <a:ea typeface="Adobe 楷体 Std R" pitchFamily="18" charset="-122"/>
            </a:endParaRPr>
          </a:p>
        </p:txBody>
      </p:sp>
      <p:sp>
        <p:nvSpPr>
          <p:cNvPr id="30" name="AutoShape 78"/>
          <p:cNvSpPr>
            <a:spLocks noChangeArrowheads="1"/>
          </p:cNvSpPr>
          <p:nvPr/>
        </p:nvSpPr>
        <p:spPr bwMode="gray">
          <a:xfrm>
            <a:off x="8342007" y="3003550"/>
            <a:ext cx="2451100" cy="555625"/>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a:latin typeface="Adobe 楷体 Std R" pitchFamily="18" charset="-122"/>
                <a:ea typeface="Adobe 楷体 Std R" pitchFamily="18" charset="-122"/>
              </a:rPr>
              <a:t>概要设计</a:t>
            </a:r>
            <a:endParaRPr lang="en-US" altLang="ko-KR" sz="2400" b="1" dirty="0">
              <a:latin typeface="Adobe 楷体 Std R" pitchFamily="18" charset="-122"/>
              <a:ea typeface="Adobe 楷体 Std R" pitchFamily="18" charset="-122"/>
            </a:endParaRPr>
          </a:p>
        </p:txBody>
      </p:sp>
      <p:sp>
        <p:nvSpPr>
          <p:cNvPr id="31" name="AutoShape 79"/>
          <p:cNvSpPr>
            <a:spLocks noChangeArrowheads="1"/>
          </p:cNvSpPr>
          <p:nvPr/>
        </p:nvSpPr>
        <p:spPr bwMode="gray">
          <a:xfrm>
            <a:off x="5005082" y="1690688"/>
            <a:ext cx="2451100" cy="1111250"/>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a:latin typeface="Adobe 楷体 Std R" pitchFamily="18" charset="-122"/>
                <a:ea typeface="Adobe 楷体 Std R" pitchFamily="18" charset="-122"/>
              </a:rPr>
              <a:t>定义阶段</a:t>
            </a:r>
            <a:endParaRPr lang="en-US" altLang="ko-KR" sz="2400" b="1" dirty="0">
              <a:latin typeface="Adobe 楷体 Std R" pitchFamily="18" charset="-122"/>
              <a:ea typeface="Adobe 楷体 Std R" pitchFamily="18" charset="-122"/>
            </a:endParaRPr>
          </a:p>
        </p:txBody>
      </p:sp>
      <p:sp>
        <p:nvSpPr>
          <p:cNvPr id="32" name="AutoShape 80"/>
          <p:cNvSpPr>
            <a:spLocks noChangeArrowheads="1"/>
          </p:cNvSpPr>
          <p:nvPr/>
        </p:nvSpPr>
        <p:spPr bwMode="gray">
          <a:xfrm>
            <a:off x="4990795" y="3332163"/>
            <a:ext cx="2451100" cy="1111250"/>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a:latin typeface="Adobe 楷体 Std R" pitchFamily="18" charset="-122"/>
                <a:ea typeface="Adobe 楷体 Std R" pitchFamily="18" charset="-122"/>
              </a:rPr>
              <a:t>开发阶段</a:t>
            </a:r>
            <a:endParaRPr lang="en-US" altLang="ko-KR" sz="2400" b="1" dirty="0">
              <a:latin typeface="Adobe 楷体 Std R" pitchFamily="18" charset="-122"/>
              <a:ea typeface="Adobe 楷体 Std R" pitchFamily="18" charset="-122"/>
            </a:endParaRPr>
          </a:p>
        </p:txBody>
      </p:sp>
      <p:sp>
        <p:nvSpPr>
          <p:cNvPr id="33" name="AutoShape 81"/>
          <p:cNvSpPr>
            <a:spLocks noChangeArrowheads="1"/>
          </p:cNvSpPr>
          <p:nvPr/>
        </p:nvSpPr>
        <p:spPr bwMode="gray">
          <a:xfrm>
            <a:off x="5005082" y="5167313"/>
            <a:ext cx="2451100" cy="1111250"/>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a:latin typeface="Adobe 楷体 Std R" pitchFamily="18" charset="-122"/>
                <a:ea typeface="Adobe 楷体 Std R" pitchFamily="18" charset="-122"/>
              </a:rPr>
              <a:t>运行与维护阶段</a:t>
            </a:r>
            <a:endParaRPr lang="en-US" altLang="ko-KR" sz="2400" b="1" dirty="0">
              <a:latin typeface="Adobe 楷体 Std R" pitchFamily="18" charset="-122"/>
              <a:ea typeface="Adobe 楷体 Std R" pitchFamily="18" charset="-122"/>
            </a:endParaRPr>
          </a:p>
        </p:txBody>
      </p:sp>
      <p:grpSp>
        <p:nvGrpSpPr>
          <p:cNvPr id="34" name="Group 86"/>
          <p:cNvGrpSpPr>
            <a:grpSpLocks/>
          </p:cNvGrpSpPr>
          <p:nvPr/>
        </p:nvGrpSpPr>
        <p:grpSpPr bwMode="auto">
          <a:xfrm>
            <a:off x="3263595" y="1981200"/>
            <a:ext cx="1439862" cy="3957638"/>
            <a:chOff x="1973" y="1605"/>
            <a:chExt cx="1814" cy="2493"/>
          </a:xfrm>
        </p:grpSpPr>
        <p:sp>
          <p:nvSpPr>
            <p:cNvPr id="35" name="AutoShape 76"/>
            <p:cNvSpPr>
              <a:spLocks noChangeArrowheads="1"/>
            </p:cNvSpPr>
            <p:nvPr/>
          </p:nvSpPr>
          <p:spPr bwMode="gray">
            <a:xfrm>
              <a:off x="2335" y="1605"/>
              <a:ext cx="1324" cy="2488"/>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zh-CN" altLang="en-US" sz="2400" b="1" dirty="0">
                  <a:latin typeface="Adobe 楷体 Std R" pitchFamily="18" charset="-122"/>
                  <a:ea typeface="Adobe 楷体 Std R" pitchFamily="18" charset="-122"/>
                </a:rPr>
                <a:t>软</a:t>
              </a:r>
              <a:endParaRPr lang="en-US" altLang="zh-CN" sz="2400" b="1" dirty="0">
                <a:latin typeface="Adobe 楷体 Std R" pitchFamily="18" charset="-122"/>
                <a:ea typeface="Adobe 楷体 Std R" pitchFamily="18" charset="-122"/>
              </a:endParaRPr>
            </a:p>
            <a:p>
              <a:pPr algn="ctr">
                <a:defRPr/>
              </a:pPr>
              <a:r>
                <a:rPr lang="zh-CN" altLang="en-US" sz="2400" b="1" dirty="0">
                  <a:latin typeface="Adobe 楷体 Std R" pitchFamily="18" charset="-122"/>
                  <a:ea typeface="Adobe 楷体 Std R" pitchFamily="18" charset="-122"/>
                </a:rPr>
                <a:t>件</a:t>
              </a:r>
              <a:endParaRPr lang="en-US" altLang="zh-CN" sz="2400" b="1" dirty="0">
                <a:latin typeface="Adobe 楷体 Std R" pitchFamily="18" charset="-122"/>
                <a:ea typeface="Adobe 楷体 Std R" pitchFamily="18" charset="-122"/>
              </a:endParaRPr>
            </a:p>
            <a:p>
              <a:pPr algn="ctr">
                <a:defRPr/>
              </a:pPr>
              <a:r>
                <a:rPr lang="zh-CN" altLang="en-US" sz="2400" b="1" dirty="0">
                  <a:latin typeface="Adobe 楷体 Std R" pitchFamily="18" charset="-122"/>
                  <a:ea typeface="Adobe 楷体 Std R" pitchFamily="18" charset="-122"/>
                </a:rPr>
                <a:t>生</a:t>
              </a:r>
              <a:endParaRPr lang="en-US" altLang="zh-CN" sz="2400" b="1" dirty="0">
                <a:latin typeface="Adobe 楷体 Std R" pitchFamily="18" charset="-122"/>
                <a:ea typeface="Adobe 楷体 Std R" pitchFamily="18" charset="-122"/>
              </a:endParaRPr>
            </a:p>
            <a:p>
              <a:pPr algn="ctr">
                <a:defRPr/>
              </a:pPr>
              <a:r>
                <a:rPr lang="zh-CN" altLang="en-US" sz="2400" b="1" dirty="0">
                  <a:latin typeface="Adobe 楷体 Std R" pitchFamily="18" charset="-122"/>
                  <a:ea typeface="Adobe 楷体 Std R" pitchFamily="18" charset="-122"/>
                </a:rPr>
                <a:t>命</a:t>
              </a:r>
              <a:endParaRPr lang="en-US" altLang="zh-CN" sz="2400" b="1" dirty="0">
                <a:latin typeface="Adobe 楷体 Std R" pitchFamily="18" charset="-122"/>
                <a:ea typeface="Adobe 楷体 Std R" pitchFamily="18" charset="-122"/>
              </a:endParaRPr>
            </a:p>
            <a:p>
              <a:pPr algn="ctr">
                <a:defRPr/>
              </a:pPr>
              <a:r>
                <a:rPr lang="zh-CN" altLang="en-US" sz="2400" b="1" dirty="0">
                  <a:latin typeface="Adobe 楷体 Std R" pitchFamily="18" charset="-122"/>
                  <a:ea typeface="Adobe 楷体 Std R" pitchFamily="18" charset="-122"/>
                </a:rPr>
                <a:t>周</a:t>
              </a:r>
              <a:endParaRPr lang="en-US" altLang="zh-CN" sz="2400" b="1" dirty="0">
                <a:latin typeface="Adobe 楷体 Std R" pitchFamily="18" charset="-122"/>
                <a:ea typeface="Adobe 楷体 Std R" pitchFamily="18" charset="-122"/>
              </a:endParaRPr>
            </a:p>
            <a:p>
              <a:pPr algn="ctr">
                <a:defRPr/>
              </a:pPr>
              <a:r>
                <a:rPr lang="zh-CN" altLang="en-US" sz="2400" b="1" dirty="0">
                  <a:latin typeface="Adobe 楷体 Std R" pitchFamily="18" charset="-122"/>
                  <a:ea typeface="Adobe 楷体 Std R" pitchFamily="18" charset="-122"/>
                </a:rPr>
                <a:t>期</a:t>
              </a:r>
            </a:p>
          </p:txBody>
        </p:sp>
        <p:pic>
          <p:nvPicPr>
            <p:cNvPr id="36" name="Picture 82" descr="shadow"/>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1973" y="3929"/>
              <a:ext cx="1814" cy="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37" name="Picture 84" descr="shadow"/>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8589657" y="5722938"/>
            <a:ext cx="2451100" cy="268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 name="AutoShape 77"/>
          <p:cNvSpPr>
            <a:spLocks noChangeArrowheads="1"/>
          </p:cNvSpPr>
          <p:nvPr/>
        </p:nvSpPr>
        <p:spPr bwMode="gray">
          <a:xfrm>
            <a:off x="8316607" y="1546225"/>
            <a:ext cx="2451100" cy="555625"/>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a:latin typeface="Adobe 楷体 Std R" pitchFamily="18" charset="-122"/>
                <a:ea typeface="Adobe 楷体 Std R" pitchFamily="18" charset="-122"/>
              </a:rPr>
              <a:t>可行性分析</a:t>
            </a:r>
            <a:endParaRPr lang="en-US" altLang="ko-KR" sz="2400" b="1" dirty="0">
              <a:latin typeface="Adobe 楷体 Std R" pitchFamily="18" charset="-122"/>
              <a:ea typeface="Adobe 楷体 Std R" pitchFamily="18" charset="-122"/>
            </a:endParaRPr>
          </a:p>
        </p:txBody>
      </p:sp>
      <p:sp>
        <p:nvSpPr>
          <p:cNvPr id="39" name="AutoShape 77"/>
          <p:cNvSpPr>
            <a:spLocks noChangeArrowheads="1"/>
          </p:cNvSpPr>
          <p:nvPr/>
        </p:nvSpPr>
        <p:spPr bwMode="gray">
          <a:xfrm>
            <a:off x="8342007" y="3609975"/>
            <a:ext cx="2451100" cy="555625"/>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a:latin typeface="Adobe 楷体 Std R" pitchFamily="18" charset="-122"/>
                <a:ea typeface="Adobe 楷体 Std R" pitchFamily="18" charset="-122"/>
              </a:rPr>
              <a:t>详细设计</a:t>
            </a:r>
            <a:endParaRPr lang="en-US" altLang="ko-KR" sz="2400" b="1" dirty="0">
              <a:latin typeface="Adobe 楷体 Std R" pitchFamily="18" charset="-122"/>
              <a:ea typeface="Adobe 楷体 Std R" pitchFamily="18" charset="-122"/>
            </a:endParaRPr>
          </a:p>
        </p:txBody>
      </p:sp>
      <p:sp>
        <p:nvSpPr>
          <p:cNvPr id="40" name="AutoShape 77"/>
          <p:cNvSpPr>
            <a:spLocks noChangeArrowheads="1"/>
          </p:cNvSpPr>
          <p:nvPr/>
        </p:nvSpPr>
        <p:spPr bwMode="gray">
          <a:xfrm>
            <a:off x="8337245" y="4276725"/>
            <a:ext cx="2451100" cy="555625"/>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a:solidFill>
                  <a:srgbClr val="92D050"/>
                </a:solidFill>
                <a:latin typeface="Adobe 楷体 Std R" pitchFamily="18" charset="-122"/>
                <a:ea typeface="Adobe 楷体 Std R" pitchFamily="18" charset="-122"/>
              </a:rPr>
              <a:t>编码</a:t>
            </a:r>
            <a:endParaRPr lang="en-US" altLang="ko-KR" sz="2400" b="1" dirty="0">
              <a:solidFill>
                <a:srgbClr val="92D050"/>
              </a:solidFill>
              <a:latin typeface="Adobe 楷体 Std R" pitchFamily="18" charset="-122"/>
              <a:ea typeface="Adobe 楷体 Std R" pitchFamily="18" charset="-122"/>
            </a:endParaRPr>
          </a:p>
        </p:txBody>
      </p:sp>
      <p:sp>
        <p:nvSpPr>
          <p:cNvPr id="41" name="AutoShape 77"/>
          <p:cNvSpPr>
            <a:spLocks noChangeArrowheads="1"/>
          </p:cNvSpPr>
          <p:nvPr/>
        </p:nvSpPr>
        <p:spPr bwMode="gray">
          <a:xfrm>
            <a:off x="8337245" y="5445125"/>
            <a:ext cx="2451100" cy="555625"/>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a:latin typeface="Adobe 楷体 Std R" pitchFamily="18" charset="-122"/>
                <a:ea typeface="Adobe 楷体 Std R" pitchFamily="18" charset="-122"/>
              </a:rPr>
              <a:t>维护</a:t>
            </a:r>
            <a:endParaRPr lang="en-US" altLang="ko-KR" sz="2400" b="1" dirty="0">
              <a:latin typeface="Adobe 楷体 Std R" pitchFamily="18" charset="-122"/>
              <a:ea typeface="Adobe 楷体 Std R" pitchFamily="18" charset="-122"/>
            </a:endParaRPr>
          </a:p>
        </p:txBody>
      </p:sp>
      <p:cxnSp>
        <p:nvCxnSpPr>
          <p:cNvPr id="42" name="直接箭头连接符 11"/>
          <p:cNvCxnSpPr>
            <a:cxnSpLocks noChangeShapeType="1"/>
          </p:cNvCxnSpPr>
          <p:nvPr/>
        </p:nvCxnSpPr>
        <p:spPr bwMode="auto">
          <a:xfrm>
            <a:off x="4803470" y="3956050"/>
            <a:ext cx="201612" cy="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肘形连接符 13"/>
          <p:cNvCxnSpPr>
            <a:cxnSpLocks noChangeShapeType="1"/>
            <a:stCxn id="31" idx="3"/>
            <a:endCxn id="38" idx="1"/>
          </p:cNvCxnSpPr>
          <p:nvPr/>
        </p:nvCxnSpPr>
        <p:spPr bwMode="auto">
          <a:xfrm flipV="1">
            <a:off x="7456182" y="1824038"/>
            <a:ext cx="860425" cy="422275"/>
          </a:xfrm>
          <a:prstGeom prst="bentConnector3">
            <a:avLst>
              <a:gd name="adj1" fmla="val 50000"/>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肘形连接符 19"/>
          <p:cNvCxnSpPr>
            <a:cxnSpLocks noChangeShapeType="1"/>
            <a:endCxn id="29" idx="1"/>
          </p:cNvCxnSpPr>
          <p:nvPr/>
        </p:nvCxnSpPr>
        <p:spPr bwMode="auto">
          <a:xfrm>
            <a:off x="7886395" y="2246313"/>
            <a:ext cx="423862" cy="369887"/>
          </a:xfrm>
          <a:prstGeom prst="bentConnector3">
            <a:avLst>
              <a:gd name="adj1" fmla="val 208"/>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肘形连接符 22"/>
          <p:cNvCxnSpPr>
            <a:cxnSpLocks noChangeShapeType="1"/>
            <a:stCxn id="32" idx="3"/>
            <a:endCxn id="30" idx="1"/>
          </p:cNvCxnSpPr>
          <p:nvPr/>
        </p:nvCxnSpPr>
        <p:spPr bwMode="auto">
          <a:xfrm flipV="1">
            <a:off x="7441895" y="3281363"/>
            <a:ext cx="900112" cy="606425"/>
          </a:xfrm>
          <a:prstGeom prst="bentConnector3">
            <a:avLst>
              <a:gd name="adj1" fmla="val 50000"/>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箭头连接符 29"/>
          <p:cNvCxnSpPr>
            <a:cxnSpLocks noChangeShapeType="1"/>
            <a:endCxn id="39" idx="1"/>
          </p:cNvCxnSpPr>
          <p:nvPr/>
        </p:nvCxnSpPr>
        <p:spPr bwMode="auto">
          <a:xfrm>
            <a:off x="7886395" y="3887788"/>
            <a:ext cx="455612" cy="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肘形连接符 16383"/>
          <p:cNvCxnSpPr>
            <a:cxnSpLocks noChangeShapeType="1"/>
            <a:endCxn id="40" idx="1"/>
          </p:cNvCxnSpPr>
          <p:nvPr/>
        </p:nvCxnSpPr>
        <p:spPr bwMode="auto">
          <a:xfrm rot="16200000" flipH="1">
            <a:off x="7722882" y="3940175"/>
            <a:ext cx="779463" cy="449263"/>
          </a:xfrm>
          <a:prstGeom prst="bentConnector2">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箭头连接符 16389"/>
          <p:cNvCxnSpPr>
            <a:cxnSpLocks noChangeShapeType="1"/>
            <a:stCxn id="33" idx="3"/>
            <a:endCxn id="41" idx="1"/>
          </p:cNvCxnSpPr>
          <p:nvPr/>
        </p:nvCxnSpPr>
        <p:spPr bwMode="auto">
          <a:xfrm>
            <a:off x="7456182" y="5722938"/>
            <a:ext cx="881063" cy="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文本框 55"/>
          <p:cNvSpPr txBox="1"/>
          <p:nvPr/>
        </p:nvSpPr>
        <p:spPr>
          <a:xfrm>
            <a:off x="419450" y="1968500"/>
            <a:ext cx="2134532" cy="3231654"/>
          </a:xfrm>
          <a:prstGeom prst="rect">
            <a:avLst/>
          </a:prstGeom>
          <a:noFill/>
        </p:spPr>
        <p:txBody>
          <a:bodyPr wrap="square" rtlCol="0">
            <a:spAutoFit/>
          </a:bodyPr>
          <a:lstStyle/>
          <a:p>
            <a:pPr algn="ctr"/>
            <a:r>
              <a:rPr lang="zh-CN" altLang="en-US" sz="2400" dirty="0" smtClean="0"/>
              <a:t>国家标准</a:t>
            </a:r>
            <a:r>
              <a:rPr lang="en-US" altLang="zh-CN" sz="2400" dirty="0" smtClean="0"/>
              <a:t>GB8566-1988《</a:t>
            </a:r>
            <a:r>
              <a:rPr lang="zh-CN" altLang="en-US" sz="2400" dirty="0" smtClean="0"/>
              <a:t>计算机软件开发规范</a:t>
            </a:r>
            <a:r>
              <a:rPr lang="en-US" altLang="zh-CN" sz="2400" dirty="0" smtClean="0"/>
              <a:t>》</a:t>
            </a:r>
            <a:r>
              <a:rPr lang="zh-CN" altLang="en-US" sz="2400" dirty="0" smtClean="0"/>
              <a:t>将软件生存周期分为了八个过程，三个阶段</a:t>
            </a:r>
          </a:p>
          <a:p>
            <a:endParaRPr lang="zh-CN" altLang="en-US" dirty="0" smtClean="0"/>
          </a:p>
          <a:p>
            <a:endParaRPr lang="zh-CN" altLang="en-US" dirty="0"/>
          </a:p>
        </p:txBody>
      </p:sp>
      <p:sp>
        <p:nvSpPr>
          <p:cNvPr id="57" name="AutoShape 78"/>
          <p:cNvSpPr>
            <a:spLocks noChangeArrowheads="1"/>
          </p:cNvSpPr>
          <p:nvPr/>
        </p:nvSpPr>
        <p:spPr bwMode="gray">
          <a:xfrm>
            <a:off x="8340420" y="4832350"/>
            <a:ext cx="2451100" cy="555625"/>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smtClean="0">
                <a:latin typeface="Adobe 楷体 Std R" pitchFamily="18" charset="-122"/>
                <a:ea typeface="Adobe 楷体 Std R" pitchFamily="18" charset="-122"/>
              </a:rPr>
              <a:t>组装测试</a:t>
            </a:r>
            <a:endParaRPr lang="en-US" altLang="ko-KR" sz="2400" b="1" dirty="0">
              <a:latin typeface="Adobe 楷体 Std R" pitchFamily="18" charset="-122"/>
              <a:ea typeface="Adobe 楷体 Std R" pitchFamily="18" charset="-122"/>
            </a:endParaRPr>
          </a:p>
        </p:txBody>
      </p:sp>
      <p:sp>
        <p:nvSpPr>
          <p:cNvPr id="58" name="AutoShape 77"/>
          <p:cNvSpPr>
            <a:spLocks noChangeArrowheads="1"/>
          </p:cNvSpPr>
          <p:nvPr/>
        </p:nvSpPr>
        <p:spPr bwMode="gray">
          <a:xfrm>
            <a:off x="8340420" y="5438775"/>
            <a:ext cx="2451100" cy="555625"/>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smtClean="0">
                <a:latin typeface="Adobe 楷体 Std R" pitchFamily="18" charset="-122"/>
                <a:ea typeface="Adobe 楷体 Std R" pitchFamily="18" charset="-122"/>
              </a:rPr>
              <a:t>确认测试</a:t>
            </a:r>
            <a:endParaRPr lang="en-US" altLang="ko-KR" sz="2400" b="1" dirty="0">
              <a:latin typeface="Adobe 楷体 Std R" pitchFamily="18" charset="-122"/>
              <a:ea typeface="Adobe 楷体 Std R" pitchFamily="18" charset="-122"/>
            </a:endParaRPr>
          </a:p>
        </p:txBody>
      </p:sp>
      <p:sp>
        <p:nvSpPr>
          <p:cNvPr id="59" name="AutoShape 77"/>
          <p:cNvSpPr>
            <a:spLocks noChangeArrowheads="1"/>
          </p:cNvSpPr>
          <p:nvPr/>
        </p:nvSpPr>
        <p:spPr bwMode="gray">
          <a:xfrm>
            <a:off x="8335658" y="6105525"/>
            <a:ext cx="2451100" cy="555625"/>
          </a:xfrm>
          <a:prstGeom prst="roundRect">
            <a:avLst>
              <a:gd name="adj" fmla="val 16667"/>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w="19050">
            <a:solidFill>
              <a:schemeClr val="bg2"/>
            </a:solidFill>
            <a:round/>
            <a:headEnd/>
            <a:tailEnd/>
          </a:ln>
        </p:spPr>
        <p:txBody>
          <a:bodyPr anchor="ctr"/>
          <a:lstStyle/>
          <a:p>
            <a:pPr algn="ctr" latinLnBrk="1">
              <a:defRPr/>
            </a:pPr>
            <a:r>
              <a:rPr lang="zh-CN" altLang="en-US" sz="2400" b="1" dirty="0" smtClean="0">
                <a:latin typeface="Adobe 楷体 Std R" pitchFamily="18" charset="-122"/>
                <a:ea typeface="Adobe 楷体 Std R" pitchFamily="18" charset="-122"/>
              </a:rPr>
              <a:t>使用和维护</a:t>
            </a:r>
            <a:endParaRPr lang="en-US" altLang="ko-KR" sz="2400" b="1" dirty="0">
              <a:latin typeface="Adobe 楷体 Std R" pitchFamily="18" charset="-122"/>
              <a:ea typeface="Adobe 楷体 Std R" pitchFamily="18" charset="-122"/>
            </a:endParaRPr>
          </a:p>
        </p:txBody>
      </p:sp>
      <p:cxnSp>
        <p:nvCxnSpPr>
          <p:cNvPr id="60" name="直接箭头连接符 29"/>
          <p:cNvCxnSpPr>
            <a:cxnSpLocks noChangeShapeType="1"/>
            <a:endCxn id="58" idx="1"/>
          </p:cNvCxnSpPr>
          <p:nvPr/>
        </p:nvCxnSpPr>
        <p:spPr bwMode="auto">
          <a:xfrm>
            <a:off x="7884808" y="5716588"/>
            <a:ext cx="455612" cy="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肘形连接符 16383"/>
          <p:cNvCxnSpPr>
            <a:cxnSpLocks noChangeShapeType="1"/>
            <a:endCxn id="59" idx="1"/>
          </p:cNvCxnSpPr>
          <p:nvPr/>
        </p:nvCxnSpPr>
        <p:spPr bwMode="auto">
          <a:xfrm rot="16200000" flipH="1">
            <a:off x="7721295" y="5768975"/>
            <a:ext cx="779463" cy="449263"/>
          </a:xfrm>
          <a:prstGeom prst="bentConnector2">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肘形连接符 22"/>
          <p:cNvCxnSpPr>
            <a:cxnSpLocks noChangeShapeType="1"/>
          </p:cNvCxnSpPr>
          <p:nvPr/>
        </p:nvCxnSpPr>
        <p:spPr bwMode="auto">
          <a:xfrm flipV="1">
            <a:off x="7434752" y="5116512"/>
            <a:ext cx="900112" cy="606425"/>
          </a:xfrm>
          <a:prstGeom prst="bentConnector3">
            <a:avLst>
              <a:gd name="adj1" fmla="val 50000"/>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灯片编号占位符 62"/>
          <p:cNvSpPr>
            <a:spLocks noGrp="1"/>
          </p:cNvSpPr>
          <p:nvPr>
            <p:ph type="sldNum" sz="quarter" idx="12"/>
          </p:nvPr>
        </p:nvSpPr>
        <p:spPr/>
        <p:txBody>
          <a:bodyPr/>
          <a:lstStyle/>
          <a:p>
            <a:fld id="{90C23B4F-5EA2-44EC-8029-0D5CC05C08A6}" type="slidenum">
              <a:rPr lang="zh-CN" altLang="en-US" smtClean="0"/>
              <a:t>4</a:t>
            </a:fld>
            <a:endParaRPr lang="zh-CN" altLang="en-US"/>
          </a:p>
        </p:txBody>
      </p:sp>
    </p:spTree>
    <p:extLst>
      <p:ext uri="{BB962C8B-B14F-4D97-AF65-F5344CB8AC3E}">
        <p14:creationId xmlns:p14="http://schemas.microsoft.com/office/powerpoint/2010/main" val="30641498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软件编码</a:t>
            </a:r>
            <a:endParaRPr lang="zh-CN" altLang="en-US" dirty="0"/>
          </a:p>
        </p:txBody>
      </p:sp>
      <p:sp>
        <p:nvSpPr>
          <p:cNvPr id="3" name="内容占位符 2"/>
          <p:cNvSpPr>
            <a:spLocks noGrp="1"/>
          </p:cNvSpPr>
          <p:nvPr>
            <p:ph idx="1"/>
          </p:nvPr>
        </p:nvSpPr>
        <p:spPr/>
        <p:txBody>
          <a:bodyPr>
            <a:normAutofit/>
          </a:bodyPr>
          <a:lstStyle/>
          <a:p>
            <a:r>
              <a:rPr lang="zh-CN" altLang="en-US" sz="2400" dirty="0" smtClean="0"/>
              <a:t>什么是编码？</a:t>
            </a:r>
            <a:endParaRPr lang="en-US" altLang="zh-CN" sz="2400" dirty="0" smtClean="0"/>
          </a:p>
          <a:p>
            <a:pPr marL="0" indent="0">
              <a:buNone/>
            </a:pPr>
            <a:r>
              <a:rPr lang="zh-CN" altLang="en-US" sz="2400" dirty="0" smtClean="0"/>
              <a:t>         编码是指根据选定的程序设计语言完成软件设计，即把软件设计的结果转换成计算机可运行的程序代码。</a:t>
            </a:r>
            <a:endParaRPr lang="en-US" altLang="zh-CN" sz="2400" dirty="0" smtClean="0"/>
          </a:p>
          <a:p>
            <a:pPr marL="0" indent="0">
              <a:buNone/>
            </a:pPr>
            <a:endParaRPr lang="en-US" altLang="zh-CN" sz="2400" dirty="0" smtClean="0"/>
          </a:p>
          <a:p>
            <a:r>
              <a:rPr lang="zh-CN" altLang="en-US" sz="2400" dirty="0" smtClean="0"/>
              <a:t>什么是好的编码？</a:t>
            </a:r>
            <a:endParaRPr lang="en-US" altLang="zh-CN" sz="2400" dirty="0" smtClean="0"/>
          </a:p>
          <a:p>
            <a:pPr marL="0" indent="0">
              <a:buNone/>
            </a:pPr>
            <a:r>
              <a:rPr lang="en-US" altLang="zh-CN" sz="2400" dirty="0" smtClean="0"/>
              <a:t>	</a:t>
            </a:r>
            <a:r>
              <a:rPr lang="zh-CN" altLang="en-US" sz="2400" dirty="0" smtClean="0"/>
              <a:t>正确性</a:t>
            </a:r>
            <a:endParaRPr lang="en-US" altLang="zh-CN" sz="2400" dirty="0" smtClean="0"/>
          </a:p>
          <a:p>
            <a:pPr marL="0" indent="0">
              <a:buNone/>
            </a:pPr>
            <a:r>
              <a:rPr lang="en-US" altLang="zh-CN" sz="2400" dirty="0"/>
              <a:t>	</a:t>
            </a:r>
            <a:r>
              <a:rPr lang="zh-CN" altLang="en-US" sz="2400" dirty="0" smtClean="0"/>
              <a:t>可读性</a:t>
            </a:r>
            <a:r>
              <a:rPr lang="zh-CN" altLang="en-US" sz="2400" dirty="0"/>
              <a:t>、</a:t>
            </a:r>
            <a:r>
              <a:rPr lang="zh-CN" altLang="en-US" sz="2400" dirty="0" smtClean="0"/>
              <a:t>易维护性</a:t>
            </a:r>
            <a:r>
              <a:rPr lang="zh-CN" altLang="en-US" sz="2400" dirty="0"/>
              <a:t>、</a:t>
            </a:r>
            <a:r>
              <a:rPr lang="zh-CN" altLang="en-US" sz="2400" dirty="0" smtClean="0"/>
              <a:t>安全性</a:t>
            </a:r>
            <a:r>
              <a:rPr lang="zh-CN" altLang="en-US" sz="2400" dirty="0"/>
              <a:t>、</a:t>
            </a:r>
            <a:r>
              <a:rPr lang="zh-CN" altLang="en-US" sz="2400" dirty="0" smtClean="0"/>
              <a:t>易复用性、重构难度</a:t>
            </a:r>
            <a:endParaRPr lang="en-US" altLang="zh-CN" sz="2400" dirty="0" smtClean="0"/>
          </a:p>
          <a:p>
            <a:pPr marL="0" indent="0">
              <a:buNone/>
            </a:pPr>
            <a:r>
              <a:rPr lang="en-US" altLang="zh-CN" sz="2400" dirty="0" smtClean="0"/>
              <a:t>	……</a:t>
            </a:r>
          </a:p>
        </p:txBody>
      </p:sp>
      <p:sp>
        <p:nvSpPr>
          <p:cNvPr id="4" name="灯片编号占位符 3"/>
          <p:cNvSpPr>
            <a:spLocks noGrp="1"/>
          </p:cNvSpPr>
          <p:nvPr>
            <p:ph type="sldNum" sz="quarter" idx="12"/>
          </p:nvPr>
        </p:nvSpPr>
        <p:spPr/>
        <p:txBody>
          <a:bodyPr/>
          <a:lstStyle/>
          <a:p>
            <a:fld id="{90C23B4F-5EA2-44EC-8029-0D5CC05C08A6}" type="slidenum">
              <a:rPr lang="zh-CN" altLang="en-US" smtClean="0"/>
              <a:t>5</a:t>
            </a:fld>
            <a:endParaRPr lang="zh-CN" altLang="en-US"/>
          </a:p>
        </p:txBody>
      </p:sp>
    </p:spTree>
    <p:extLst>
      <p:ext uri="{BB962C8B-B14F-4D97-AF65-F5344CB8AC3E}">
        <p14:creationId xmlns:p14="http://schemas.microsoft.com/office/powerpoint/2010/main" val="6910681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软件编码质量度量</a:t>
            </a:r>
            <a:endParaRPr lang="zh-CN" altLang="en-US" dirty="0"/>
          </a:p>
        </p:txBody>
      </p:sp>
      <p:sp>
        <p:nvSpPr>
          <p:cNvPr id="3" name="内容占位符 2"/>
          <p:cNvSpPr>
            <a:spLocks noGrp="1"/>
          </p:cNvSpPr>
          <p:nvPr>
            <p:ph idx="1"/>
          </p:nvPr>
        </p:nvSpPr>
        <p:spPr/>
        <p:txBody>
          <a:bodyPr>
            <a:normAutofit/>
          </a:bodyPr>
          <a:lstStyle/>
          <a:p>
            <a:r>
              <a:rPr lang="zh-CN" altLang="en-US" sz="2800" dirty="0" smtClean="0"/>
              <a:t>复杂性：环路复杂性</a:t>
            </a:r>
            <a:endParaRPr lang="en-US" altLang="zh-CN" sz="2800" dirty="0" smtClean="0"/>
          </a:p>
          <a:p>
            <a:r>
              <a:rPr lang="zh-CN" altLang="en-US" sz="2800" dirty="0" smtClean="0"/>
              <a:t>可维护性：设计要素</a:t>
            </a:r>
            <a:endParaRPr lang="en-US" altLang="zh-CN" sz="2800" dirty="0" smtClean="0"/>
          </a:p>
          <a:p>
            <a:r>
              <a:rPr lang="zh-CN" altLang="en-US" sz="2800" dirty="0" smtClean="0"/>
              <a:t>可理解性：内部注释的百分比、变量命名的约定</a:t>
            </a:r>
            <a:endParaRPr lang="en-US" altLang="zh-CN" sz="2800" dirty="0" smtClean="0"/>
          </a:p>
          <a:p>
            <a:r>
              <a:rPr lang="zh-CN" altLang="en-US" sz="2800" dirty="0"/>
              <a:t>可重用</a:t>
            </a:r>
            <a:r>
              <a:rPr lang="zh-CN" altLang="en-US" sz="2800" dirty="0" smtClean="0"/>
              <a:t>性：可重用部件的百分比</a:t>
            </a:r>
            <a:endParaRPr lang="en-US" altLang="zh-CN" sz="2800" dirty="0" smtClean="0"/>
          </a:p>
          <a:p>
            <a:r>
              <a:rPr lang="zh-CN" altLang="en-US" sz="2800" dirty="0" smtClean="0"/>
              <a:t>文档：可读性</a:t>
            </a:r>
            <a:endParaRPr lang="zh-CN" altLang="en-US" sz="2800" dirty="0"/>
          </a:p>
        </p:txBody>
      </p:sp>
      <p:sp>
        <p:nvSpPr>
          <p:cNvPr id="4" name="灯片编号占位符 3"/>
          <p:cNvSpPr>
            <a:spLocks noGrp="1"/>
          </p:cNvSpPr>
          <p:nvPr>
            <p:ph type="sldNum" sz="quarter" idx="12"/>
          </p:nvPr>
        </p:nvSpPr>
        <p:spPr/>
        <p:txBody>
          <a:bodyPr/>
          <a:lstStyle/>
          <a:p>
            <a:fld id="{90C23B4F-5EA2-44EC-8029-0D5CC05C08A6}" type="slidenum">
              <a:rPr lang="zh-CN" altLang="en-US" smtClean="0"/>
              <a:t>6</a:t>
            </a:fld>
            <a:endParaRPr lang="zh-CN" altLang="en-US"/>
          </a:p>
        </p:txBody>
      </p:sp>
    </p:spTree>
    <p:extLst>
      <p:ext uri="{BB962C8B-B14F-4D97-AF65-F5344CB8AC3E}">
        <p14:creationId xmlns:p14="http://schemas.microsoft.com/office/powerpoint/2010/main" val="37222382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为什么要保证编码质量</a:t>
            </a:r>
            <a:endParaRPr lang="zh-CN" altLang="en-US" dirty="0"/>
          </a:p>
        </p:txBody>
      </p:sp>
      <p:sp>
        <p:nvSpPr>
          <p:cNvPr id="3" name="内容占位符 2"/>
          <p:cNvSpPr>
            <a:spLocks noGrp="1"/>
          </p:cNvSpPr>
          <p:nvPr>
            <p:ph idx="1"/>
          </p:nvPr>
        </p:nvSpPr>
        <p:spPr/>
        <p:txBody>
          <a:bodyPr>
            <a:normAutofit/>
          </a:bodyPr>
          <a:lstStyle/>
          <a:p>
            <a:r>
              <a:rPr lang="zh-CN" altLang="en-US" sz="2800" dirty="0" smtClean="0"/>
              <a:t>软件质量的基础</a:t>
            </a:r>
            <a:endParaRPr lang="en-US" altLang="zh-CN" sz="2800" dirty="0" smtClean="0"/>
          </a:p>
          <a:p>
            <a:r>
              <a:rPr lang="zh-CN" altLang="en-US" sz="2800" dirty="0" smtClean="0"/>
              <a:t>提高软件的可靠性</a:t>
            </a:r>
            <a:endParaRPr lang="en-US" altLang="zh-CN" sz="2800" dirty="0" smtClean="0"/>
          </a:p>
          <a:p>
            <a:r>
              <a:rPr lang="zh-CN" altLang="en-US" sz="2800" dirty="0" smtClean="0"/>
              <a:t>提高团队的合作效率</a:t>
            </a:r>
            <a:endParaRPr lang="en-US" altLang="zh-CN" sz="2800" dirty="0" smtClean="0"/>
          </a:p>
          <a:p>
            <a:r>
              <a:rPr lang="zh-CN" altLang="en-US" sz="2800" dirty="0" smtClean="0"/>
              <a:t>降低软件测试的困难程度</a:t>
            </a:r>
            <a:endParaRPr lang="en-US" altLang="zh-CN" sz="2800" dirty="0" smtClean="0"/>
          </a:p>
          <a:p>
            <a:r>
              <a:rPr lang="zh-CN" altLang="en-US" sz="2800" dirty="0" smtClean="0"/>
              <a:t>降低软件后期的维护成本</a:t>
            </a:r>
            <a:endParaRPr lang="en-US" altLang="zh-CN" sz="2800" dirty="0" smtClean="0"/>
          </a:p>
          <a:p>
            <a:r>
              <a:rPr lang="zh-CN" altLang="en-US" sz="2800" dirty="0"/>
              <a:t>有利于开发人员的</a:t>
            </a:r>
            <a:r>
              <a:rPr lang="zh-CN" altLang="en-US" sz="2800" dirty="0" smtClean="0"/>
              <a:t>交接工作</a:t>
            </a:r>
            <a:endParaRPr lang="zh-CN" altLang="en-US" sz="2800" dirty="0"/>
          </a:p>
        </p:txBody>
      </p:sp>
      <p:sp>
        <p:nvSpPr>
          <p:cNvPr id="4" name="灯片编号占位符 3"/>
          <p:cNvSpPr>
            <a:spLocks noGrp="1"/>
          </p:cNvSpPr>
          <p:nvPr>
            <p:ph type="sldNum" sz="quarter" idx="12"/>
          </p:nvPr>
        </p:nvSpPr>
        <p:spPr/>
        <p:txBody>
          <a:bodyPr/>
          <a:lstStyle/>
          <a:p>
            <a:fld id="{90C23B4F-5EA2-44EC-8029-0D5CC05C08A6}" type="slidenum">
              <a:rPr lang="zh-CN" altLang="en-US" smtClean="0"/>
              <a:t>7</a:t>
            </a:fld>
            <a:endParaRPr lang="zh-CN" altLang="en-US"/>
          </a:p>
        </p:txBody>
      </p:sp>
    </p:spTree>
    <p:extLst>
      <p:ext uri="{BB962C8B-B14F-4D97-AF65-F5344CB8AC3E}">
        <p14:creationId xmlns:p14="http://schemas.microsoft.com/office/powerpoint/2010/main" val="16727465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如何保证编码质量</a:t>
            </a:r>
            <a:endParaRPr lang="zh-CN" altLang="en-US" dirty="0"/>
          </a:p>
        </p:txBody>
      </p:sp>
      <p:sp>
        <p:nvSpPr>
          <p:cNvPr id="3" name="内容占位符 2"/>
          <p:cNvSpPr>
            <a:spLocks noGrp="1"/>
          </p:cNvSpPr>
          <p:nvPr>
            <p:ph idx="1"/>
          </p:nvPr>
        </p:nvSpPr>
        <p:spPr>
          <a:xfrm>
            <a:off x="1103312" y="1229194"/>
            <a:ext cx="8946541" cy="5019206"/>
          </a:xfrm>
        </p:spPr>
        <p:txBody>
          <a:bodyPr>
            <a:normAutofit/>
          </a:bodyPr>
          <a:lstStyle/>
          <a:p>
            <a:r>
              <a:rPr lang="zh-CN" altLang="en-US" sz="3600" dirty="0" smtClean="0"/>
              <a:t>软件测试</a:t>
            </a:r>
            <a:endParaRPr lang="en-US" altLang="zh-CN" sz="3600" dirty="0" smtClean="0"/>
          </a:p>
          <a:p>
            <a:pPr marL="0" indent="0">
              <a:buNone/>
            </a:pPr>
            <a:r>
              <a:rPr lang="en-US" altLang="zh-CN" sz="2400" dirty="0"/>
              <a:t>	</a:t>
            </a:r>
            <a:r>
              <a:rPr lang="zh-CN" altLang="en-US" sz="2400" dirty="0" smtClean="0"/>
              <a:t>（同阶段的单元测试，以及随后的集成测试、系统测试、验收测试、回归测试等）</a:t>
            </a:r>
            <a:endParaRPr lang="en-US" altLang="zh-CN" sz="2400" dirty="0"/>
          </a:p>
          <a:p>
            <a:r>
              <a:rPr lang="zh-CN" altLang="en-US" sz="3600" dirty="0" smtClean="0"/>
              <a:t>代码审查</a:t>
            </a:r>
            <a:endParaRPr lang="en-US" altLang="zh-CN" sz="3600" dirty="0"/>
          </a:p>
          <a:p>
            <a:pPr marL="0" indent="0">
              <a:buNone/>
            </a:pPr>
            <a:r>
              <a:rPr lang="en-US" altLang="zh-CN" sz="2400" dirty="0"/>
              <a:t>	</a:t>
            </a:r>
            <a:r>
              <a:rPr lang="zh-CN" altLang="en-US" sz="2400" dirty="0" smtClean="0"/>
              <a:t>人工代码评审</a:t>
            </a:r>
            <a:endParaRPr lang="en-US" altLang="zh-CN" sz="2400" dirty="0" smtClean="0"/>
          </a:p>
          <a:p>
            <a:pPr marL="0" indent="0">
              <a:buNone/>
            </a:pPr>
            <a:r>
              <a:rPr lang="en-US" altLang="zh-CN" sz="2400" dirty="0"/>
              <a:t>	</a:t>
            </a:r>
            <a:r>
              <a:rPr lang="zh-CN" altLang="en-US" sz="2400" dirty="0" smtClean="0"/>
              <a:t>代码评审工具</a:t>
            </a:r>
            <a:endParaRPr lang="en-US" altLang="zh-CN" sz="2400" dirty="0"/>
          </a:p>
          <a:p>
            <a:r>
              <a:rPr lang="zh-CN" altLang="en-US" sz="3600" dirty="0" smtClean="0"/>
              <a:t>编码规范</a:t>
            </a:r>
            <a:endParaRPr lang="en-US" altLang="zh-CN" sz="3600" dirty="0" smtClean="0"/>
          </a:p>
          <a:p>
            <a:pPr marL="0" indent="0">
              <a:buNone/>
            </a:pPr>
            <a:r>
              <a:rPr lang="en-US" altLang="zh-CN" sz="2400" dirty="0"/>
              <a:t>	</a:t>
            </a:r>
            <a:r>
              <a:rPr lang="zh-CN" altLang="en-US" sz="2400" dirty="0" smtClean="0"/>
              <a:t>规定代码形式的标准</a:t>
            </a:r>
            <a:endParaRPr lang="zh-CN" altLang="en-US" sz="2400" dirty="0"/>
          </a:p>
        </p:txBody>
      </p:sp>
      <p:sp>
        <p:nvSpPr>
          <p:cNvPr id="4" name="灯片编号占位符 3"/>
          <p:cNvSpPr>
            <a:spLocks noGrp="1"/>
          </p:cNvSpPr>
          <p:nvPr>
            <p:ph type="sldNum" sz="quarter" idx="12"/>
          </p:nvPr>
        </p:nvSpPr>
        <p:spPr/>
        <p:txBody>
          <a:bodyPr/>
          <a:lstStyle/>
          <a:p>
            <a:fld id="{90C23B4F-5EA2-44EC-8029-0D5CC05C08A6}" type="slidenum">
              <a:rPr lang="zh-CN" altLang="en-US" smtClean="0"/>
              <a:t>8</a:t>
            </a:fld>
            <a:endParaRPr lang="zh-CN" altLang="en-US"/>
          </a:p>
        </p:txBody>
      </p:sp>
    </p:spTree>
    <p:extLst>
      <p:ext uri="{BB962C8B-B14F-4D97-AF65-F5344CB8AC3E}">
        <p14:creationId xmlns:p14="http://schemas.microsoft.com/office/powerpoint/2010/main" val="17383215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p:txBody>
          <a:bodyPr/>
          <a:lstStyle/>
          <a:p>
            <a:r>
              <a:rPr lang="zh-CN" altLang="en-US" sz="2400" dirty="0" smtClean="0"/>
              <a:t>内容：</a:t>
            </a:r>
            <a:endParaRPr lang="en-US" altLang="zh-CN" sz="2400" dirty="0" smtClean="0"/>
          </a:p>
          <a:p>
            <a:pPr marL="0" indent="0">
              <a:buNone/>
            </a:pPr>
            <a:r>
              <a:rPr lang="zh-CN" altLang="en-US" sz="2000" dirty="0" smtClean="0"/>
              <a:t>排版</a:t>
            </a:r>
            <a:endParaRPr lang="en-US" altLang="zh-CN" sz="2000" dirty="0"/>
          </a:p>
          <a:p>
            <a:pPr marL="0" indent="0">
              <a:buNone/>
            </a:pPr>
            <a:r>
              <a:rPr lang="zh-CN" altLang="en-US" sz="2000" dirty="0" smtClean="0"/>
              <a:t>注释</a:t>
            </a:r>
            <a:endParaRPr lang="en-US" altLang="zh-CN" sz="2000" dirty="0"/>
          </a:p>
          <a:p>
            <a:pPr marL="0" indent="0">
              <a:buNone/>
            </a:pPr>
            <a:r>
              <a:rPr lang="zh-CN" altLang="en-US" sz="2000" dirty="0" smtClean="0"/>
              <a:t>标识符</a:t>
            </a:r>
            <a:r>
              <a:rPr lang="zh-CN" altLang="en-US" sz="2000" dirty="0"/>
              <a:t>命名</a:t>
            </a:r>
          </a:p>
          <a:p>
            <a:pPr marL="0" indent="0">
              <a:buNone/>
            </a:pPr>
            <a:r>
              <a:rPr lang="zh-CN" altLang="en-US" sz="2000" dirty="0" smtClean="0"/>
              <a:t>可读性</a:t>
            </a:r>
            <a:endParaRPr lang="zh-CN" altLang="en-US" sz="2000" dirty="0"/>
          </a:p>
          <a:p>
            <a:pPr marL="0" indent="0">
              <a:buNone/>
            </a:pPr>
            <a:r>
              <a:rPr lang="zh-CN" altLang="en-US" sz="2000" dirty="0" smtClean="0"/>
              <a:t>变量</a:t>
            </a:r>
            <a:r>
              <a:rPr lang="zh-CN" altLang="en-US" sz="2000" dirty="0"/>
              <a:t>、结构</a:t>
            </a:r>
          </a:p>
          <a:p>
            <a:pPr marL="0" indent="0">
              <a:buNone/>
            </a:pPr>
            <a:r>
              <a:rPr lang="zh-CN" altLang="en-US" sz="2000" dirty="0" smtClean="0"/>
              <a:t>函数</a:t>
            </a:r>
            <a:r>
              <a:rPr lang="zh-CN" altLang="en-US" sz="2000" dirty="0"/>
              <a:t>、过程</a:t>
            </a:r>
            <a:endParaRPr lang="en-US" altLang="zh-CN" sz="2000" dirty="0"/>
          </a:p>
          <a:p>
            <a:pPr marL="0" indent="0">
              <a:buNone/>
            </a:pPr>
            <a:endParaRPr lang="zh-CN" altLang="en-US" dirty="0"/>
          </a:p>
        </p:txBody>
      </p:sp>
      <p:sp>
        <p:nvSpPr>
          <p:cNvPr id="4" name="内容占位符 3"/>
          <p:cNvSpPr>
            <a:spLocks noGrp="1"/>
          </p:cNvSpPr>
          <p:nvPr>
            <p:ph sz="half" idx="2"/>
          </p:nvPr>
        </p:nvSpPr>
        <p:spPr/>
        <p:txBody>
          <a:bodyPr/>
          <a:lstStyle/>
          <a:p>
            <a:r>
              <a:rPr lang="zh-CN" altLang="en-US" sz="2400" dirty="0" smtClean="0"/>
              <a:t>内容：</a:t>
            </a:r>
            <a:endParaRPr lang="en-US" altLang="zh-CN" sz="2400" dirty="0" smtClean="0"/>
          </a:p>
          <a:p>
            <a:pPr marL="0" indent="0">
              <a:buNone/>
            </a:pPr>
            <a:r>
              <a:rPr lang="zh-CN" altLang="en-US" sz="2000" dirty="0"/>
              <a:t>可测性</a:t>
            </a:r>
          </a:p>
          <a:p>
            <a:pPr marL="0" indent="0">
              <a:buNone/>
            </a:pPr>
            <a:r>
              <a:rPr lang="zh-CN" altLang="en-US" sz="2000" dirty="0" smtClean="0"/>
              <a:t>程序</a:t>
            </a:r>
            <a:r>
              <a:rPr lang="zh-CN" altLang="en-US" sz="2000" dirty="0"/>
              <a:t>效率</a:t>
            </a:r>
          </a:p>
          <a:p>
            <a:pPr marL="0" indent="0">
              <a:buNone/>
            </a:pPr>
            <a:r>
              <a:rPr lang="zh-CN" altLang="en-US" sz="2000" dirty="0" smtClean="0"/>
              <a:t>质量保证</a:t>
            </a:r>
            <a:endParaRPr lang="zh-CN" altLang="en-US" sz="2000" dirty="0"/>
          </a:p>
          <a:p>
            <a:pPr marL="0" indent="0">
              <a:buNone/>
            </a:pPr>
            <a:r>
              <a:rPr lang="zh-CN" altLang="en-US" sz="2000" dirty="0" smtClean="0"/>
              <a:t>代码</a:t>
            </a:r>
            <a:r>
              <a:rPr lang="zh-CN" altLang="en-US" sz="2000" dirty="0"/>
              <a:t>编辑、编译、审查</a:t>
            </a:r>
          </a:p>
          <a:p>
            <a:pPr marL="0" indent="0">
              <a:buNone/>
            </a:pPr>
            <a:r>
              <a:rPr lang="zh-CN" altLang="en-US" sz="2000" dirty="0" smtClean="0"/>
              <a:t>代码</a:t>
            </a:r>
            <a:r>
              <a:rPr lang="zh-CN" altLang="en-US" sz="2000" dirty="0"/>
              <a:t>测试、维护</a:t>
            </a:r>
          </a:p>
          <a:p>
            <a:pPr marL="0" indent="0">
              <a:buNone/>
            </a:pPr>
            <a:r>
              <a:rPr lang="zh-CN" altLang="en-US" sz="2000" dirty="0" smtClean="0"/>
              <a:t>宏</a:t>
            </a:r>
            <a:endParaRPr lang="zh-CN" altLang="en-US" sz="2000" dirty="0"/>
          </a:p>
          <a:p>
            <a:pPr marL="0" indent="0">
              <a:buNone/>
            </a:pPr>
            <a:endParaRPr lang="zh-CN" altLang="en-US" dirty="0"/>
          </a:p>
        </p:txBody>
      </p:sp>
      <p:sp>
        <p:nvSpPr>
          <p:cNvPr id="5" name="灯片编号占位符 4"/>
          <p:cNvSpPr>
            <a:spLocks noGrp="1"/>
          </p:cNvSpPr>
          <p:nvPr>
            <p:ph type="sldNum" sz="quarter" idx="12"/>
          </p:nvPr>
        </p:nvSpPr>
        <p:spPr/>
        <p:txBody>
          <a:bodyPr/>
          <a:lstStyle/>
          <a:p>
            <a:fld id="{90C23B4F-5EA2-44EC-8029-0D5CC05C08A6}" type="slidenum">
              <a:rPr lang="zh-CN" altLang="en-US" smtClean="0"/>
              <a:t>9</a:t>
            </a:fld>
            <a:endParaRPr lang="zh-CN" altLang="en-US"/>
          </a:p>
        </p:txBody>
      </p:sp>
      <p:sp>
        <p:nvSpPr>
          <p:cNvPr id="6" name="标题 1"/>
          <p:cNvSpPr>
            <a:spLocks noGrp="1"/>
          </p:cNvSpPr>
          <p:nvPr>
            <p:ph type="title"/>
          </p:nvPr>
        </p:nvSpPr>
        <p:spPr/>
        <p:txBody>
          <a:bodyPr/>
          <a:lstStyle/>
          <a:p>
            <a:r>
              <a:rPr lang="zh-CN" altLang="en-US" dirty="0" smtClean="0"/>
              <a:t>编码规范</a:t>
            </a:r>
            <a:r>
              <a:rPr lang="en-US" altLang="zh-CN" dirty="0" smtClean="0"/>
              <a:t/>
            </a:r>
            <a:br>
              <a:rPr lang="en-US" altLang="zh-CN" dirty="0" smtClean="0"/>
            </a:br>
            <a:endParaRPr lang="zh-CN" altLang="en-US" dirty="0"/>
          </a:p>
        </p:txBody>
      </p:sp>
    </p:spTree>
    <p:extLst>
      <p:ext uri="{BB962C8B-B14F-4D97-AF65-F5344CB8AC3E}">
        <p14:creationId xmlns:p14="http://schemas.microsoft.com/office/powerpoint/2010/main" val="19533693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dirty="0" smtClean="0"/>
              <a:t>编码规范</a:t>
            </a:r>
            <a:endParaRPr lang="zh-CN" altLang="en-US" dirty="0"/>
          </a:p>
        </p:txBody>
      </p:sp>
      <p:sp>
        <p:nvSpPr>
          <p:cNvPr id="3" name="内容占位符 2"/>
          <p:cNvSpPr>
            <a:spLocks noGrp="1"/>
          </p:cNvSpPr>
          <p:nvPr>
            <p:ph idx="1"/>
          </p:nvPr>
        </p:nvSpPr>
        <p:spPr/>
        <p:txBody>
          <a:bodyPr>
            <a:normAutofit/>
          </a:bodyPr>
          <a:lstStyle/>
          <a:p>
            <a:r>
              <a:rPr lang="zh-CN" altLang="en-US" sz="3200" dirty="0" smtClean="0"/>
              <a:t>如何保证编码符合编码规范</a:t>
            </a:r>
            <a:endParaRPr lang="en-US" altLang="zh-CN" sz="3200" dirty="0" smtClean="0"/>
          </a:p>
          <a:p>
            <a:endParaRPr lang="en-US" altLang="zh-CN" sz="3200" dirty="0"/>
          </a:p>
          <a:p>
            <a:pPr marL="0" indent="0">
              <a:buNone/>
            </a:pPr>
            <a:r>
              <a:rPr lang="en-US" altLang="zh-CN" sz="2800" dirty="0" smtClean="0"/>
              <a:t>1.</a:t>
            </a:r>
            <a:r>
              <a:rPr lang="zh-CN" altLang="en-US" sz="2800" dirty="0" smtClean="0"/>
              <a:t>程序员的职业素质</a:t>
            </a:r>
            <a:endParaRPr lang="en-US" altLang="zh-CN" sz="2800" dirty="0" smtClean="0"/>
          </a:p>
          <a:p>
            <a:pPr marL="0" indent="0">
              <a:buNone/>
            </a:pPr>
            <a:r>
              <a:rPr lang="en-US" altLang="zh-CN" sz="2800" dirty="0" smtClean="0"/>
              <a:t>2.</a:t>
            </a:r>
            <a:r>
              <a:rPr lang="zh-CN" altLang="en-US" sz="2800" dirty="0" smtClean="0"/>
              <a:t>代码走查和评审机制</a:t>
            </a:r>
            <a:endParaRPr lang="en-US" altLang="zh-CN" sz="2800" dirty="0" smtClean="0"/>
          </a:p>
          <a:p>
            <a:pPr marL="0" indent="0">
              <a:buNone/>
            </a:pPr>
            <a:r>
              <a:rPr lang="en-US" altLang="zh-CN" sz="2800" dirty="0" smtClean="0"/>
              <a:t>3.</a:t>
            </a:r>
            <a:r>
              <a:rPr lang="zh-CN" altLang="en-US" sz="2800" dirty="0" smtClean="0"/>
              <a:t>公司的规定等</a:t>
            </a:r>
            <a:endParaRPr lang="zh-CN" altLang="en-US" sz="2800" dirty="0"/>
          </a:p>
        </p:txBody>
      </p:sp>
      <p:sp>
        <p:nvSpPr>
          <p:cNvPr id="5" name="灯片编号占位符 4"/>
          <p:cNvSpPr>
            <a:spLocks noGrp="1"/>
          </p:cNvSpPr>
          <p:nvPr>
            <p:ph type="sldNum" sz="quarter" idx="12"/>
          </p:nvPr>
        </p:nvSpPr>
        <p:spPr/>
        <p:txBody>
          <a:bodyPr/>
          <a:lstStyle/>
          <a:p>
            <a:fld id="{90C23B4F-5EA2-44EC-8029-0D5CC05C08A6}" type="slidenum">
              <a:rPr lang="zh-CN" altLang="en-US" smtClean="0"/>
              <a:t>10</a:t>
            </a:fld>
            <a:endParaRPr lang="zh-CN" altLang="en-US"/>
          </a:p>
        </p:txBody>
      </p:sp>
    </p:spTree>
    <p:extLst>
      <p:ext uri="{BB962C8B-B14F-4D97-AF65-F5344CB8AC3E}">
        <p14:creationId xmlns:p14="http://schemas.microsoft.com/office/powerpoint/2010/main" val="11291772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2450146" y="359775"/>
            <a:ext cx="6392603" cy="1824623"/>
            <a:chOff x="1714580" y="430895"/>
            <a:chExt cx="4743859" cy="1354028"/>
          </a:xfrm>
        </p:grpSpPr>
        <p:sp>
          <p:nvSpPr>
            <p:cNvPr id="2" name="文本框 1"/>
            <p:cNvSpPr txBox="1"/>
            <p:nvPr/>
          </p:nvSpPr>
          <p:spPr>
            <a:xfrm>
              <a:off x="1714580" y="622143"/>
              <a:ext cx="4017584" cy="525313"/>
            </a:xfrm>
            <a:prstGeom prst="rect">
              <a:avLst/>
            </a:prstGeom>
            <a:noFill/>
          </p:spPr>
          <p:txBody>
            <a:bodyPr wrap="square" rtlCol="0">
              <a:spAutoFit/>
            </a:bodyPr>
            <a:lstStyle/>
            <a:p>
              <a:pPr defTabSz="457200"/>
              <a:r>
                <a:rPr lang="zh-CN" altLang="en-US" sz="4000" b="1" dirty="0">
                  <a:solidFill>
                    <a:prstClr val="black"/>
                  </a:solidFill>
                  <a:latin typeface="微软雅黑"/>
                  <a:ea typeface="微软雅黑"/>
                </a:rPr>
                <a:t>什么是软件编码？</a:t>
              </a:r>
            </a:p>
          </p:txBody>
        </p:sp>
        <p:grpSp>
          <p:nvGrpSpPr>
            <p:cNvPr id="3" name="组合 2"/>
            <p:cNvGrpSpPr/>
            <p:nvPr/>
          </p:nvGrpSpPr>
          <p:grpSpPr>
            <a:xfrm rot="13975182">
              <a:off x="5071681" y="398165"/>
              <a:ext cx="1354028" cy="1419488"/>
              <a:chOff x="8090235" y="3880211"/>
              <a:chExt cx="1354028" cy="1419488"/>
            </a:xfrm>
          </p:grpSpPr>
          <p:sp>
            <p:nvSpPr>
              <p:cNvPr id="4" name="等腰三角形 3"/>
              <p:cNvSpPr/>
              <p:nvPr/>
            </p:nvSpPr>
            <p:spPr>
              <a:xfrm rot="18941696">
                <a:off x="8216431" y="4752257"/>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prstClr val="black"/>
                  </a:solidFill>
                  <a:latin typeface="Consolas"/>
                  <a:ea typeface="微软雅黑"/>
                </a:endParaRPr>
              </a:p>
            </p:txBody>
          </p:sp>
          <p:sp>
            <p:nvSpPr>
              <p:cNvPr id="5" name="等腰三角形 4"/>
              <p:cNvSpPr/>
              <p:nvPr/>
            </p:nvSpPr>
            <p:spPr>
              <a:xfrm rot="3678182">
                <a:off x="8062840" y="3907606"/>
                <a:ext cx="397226" cy="34243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prstClr val="black"/>
                  </a:solidFill>
                  <a:latin typeface="Consolas"/>
                  <a:ea typeface="微软雅黑"/>
                </a:endParaRPr>
              </a:p>
            </p:txBody>
          </p:sp>
          <p:sp>
            <p:nvSpPr>
              <p:cNvPr id="6" name="等腰三角形 5"/>
              <p:cNvSpPr/>
              <p:nvPr/>
            </p:nvSpPr>
            <p:spPr>
              <a:xfrm rot="9480000">
                <a:off x="8803940" y="4800383"/>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prstClr val="black"/>
                  </a:solidFill>
                  <a:latin typeface="Consolas"/>
                  <a:ea typeface="微软雅黑"/>
                </a:endParaRPr>
              </a:p>
            </p:txBody>
          </p:sp>
          <p:grpSp>
            <p:nvGrpSpPr>
              <p:cNvPr id="7" name="组合 6"/>
              <p:cNvGrpSpPr/>
              <p:nvPr/>
            </p:nvGrpSpPr>
            <p:grpSpPr>
              <a:xfrm rot="8977127">
                <a:off x="8997555" y="4965082"/>
                <a:ext cx="446708" cy="334617"/>
                <a:chOff x="2822785" y="1265179"/>
                <a:chExt cx="930073" cy="696693"/>
              </a:xfrm>
              <a:solidFill>
                <a:srgbClr val="FFC000"/>
              </a:solidFill>
            </p:grpSpPr>
            <p:sp>
              <p:nvSpPr>
                <p:cNvPr id="8" name="等腰三角形 7"/>
                <p:cNvSpPr/>
                <p:nvPr/>
              </p:nvSpPr>
              <p:spPr>
                <a:xfrm rot="18941696">
                  <a:off x="2822785" y="1265179"/>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prstClr val="black"/>
                    </a:solidFill>
                    <a:latin typeface="Consolas"/>
                    <a:ea typeface="微软雅黑"/>
                  </a:endParaRPr>
                </a:p>
              </p:txBody>
            </p:sp>
            <p:sp>
              <p:nvSpPr>
                <p:cNvPr id="9" name="等腰三角形 8"/>
                <p:cNvSpPr/>
                <p:nvPr/>
              </p:nvSpPr>
              <p:spPr>
                <a:xfrm rot="9480000">
                  <a:off x="3485946" y="1731776"/>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prstClr val="black"/>
                    </a:solidFill>
                    <a:latin typeface="Consolas"/>
                    <a:ea typeface="微软雅黑"/>
                  </a:endParaRPr>
                </a:p>
              </p:txBody>
            </p:sp>
          </p:grpSp>
        </p:grpSp>
      </p:grpSp>
      <p:sp>
        <p:nvSpPr>
          <p:cNvPr id="10" name="文本框 9"/>
          <p:cNvSpPr txBox="1"/>
          <p:nvPr/>
        </p:nvSpPr>
        <p:spPr>
          <a:xfrm>
            <a:off x="2523417" y="1735333"/>
            <a:ext cx="5340637" cy="3108543"/>
          </a:xfrm>
          <a:prstGeom prst="rect">
            <a:avLst/>
          </a:prstGeom>
          <a:noFill/>
        </p:spPr>
        <p:txBody>
          <a:bodyPr wrap="square" rtlCol="0">
            <a:spAutoFit/>
          </a:bodyPr>
          <a:lstStyle/>
          <a:p>
            <a:pPr defTabSz="457200"/>
            <a:r>
              <a:rPr lang="zh-CN" altLang="en-US" sz="3600" b="1" dirty="0">
                <a:solidFill>
                  <a:prstClr val="black"/>
                </a:solidFill>
                <a:latin typeface="Consolas"/>
                <a:ea typeface="微软雅黑"/>
              </a:rPr>
              <a:t>软件的生命周期</a:t>
            </a:r>
            <a:r>
              <a:rPr lang="zh-CN" altLang="en-US" sz="3200" dirty="0">
                <a:solidFill>
                  <a:prstClr val="black"/>
                </a:solidFill>
                <a:latin typeface="Consolas"/>
                <a:ea typeface="微软雅黑"/>
              </a:rPr>
              <a:t>一般分为</a:t>
            </a:r>
            <a:endParaRPr lang="en-US" altLang="zh-CN" sz="3200" dirty="0">
              <a:solidFill>
                <a:prstClr val="black"/>
              </a:solidFill>
              <a:latin typeface="Consolas"/>
              <a:ea typeface="微软雅黑"/>
            </a:endParaRPr>
          </a:p>
          <a:p>
            <a:pPr marL="457189" indent="-457189" defTabSz="457200">
              <a:buFont typeface="+mj-lt"/>
              <a:buAutoNum type="arabicPeriod"/>
            </a:pPr>
            <a:r>
              <a:rPr lang="zh-CN" altLang="en-US" sz="3200" dirty="0">
                <a:solidFill>
                  <a:prstClr val="black"/>
                </a:solidFill>
                <a:latin typeface="Consolas"/>
                <a:ea typeface="微软雅黑"/>
              </a:rPr>
              <a:t>需求与分析</a:t>
            </a:r>
            <a:endParaRPr lang="en-US" altLang="zh-CN" sz="3200" dirty="0">
              <a:solidFill>
                <a:prstClr val="black"/>
              </a:solidFill>
              <a:latin typeface="Consolas"/>
              <a:ea typeface="微软雅黑"/>
            </a:endParaRPr>
          </a:p>
          <a:p>
            <a:pPr marL="457189" indent="-457189" defTabSz="457200">
              <a:buFont typeface="+mj-lt"/>
              <a:buAutoNum type="arabicPeriod"/>
            </a:pPr>
            <a:r>
              <a:rPr lang="zh-CN" altLang="en-US" sz="3200" dirty="0">
                <a:solidFill>
                  <a:prstClr val="black"/>
                </a:solidFill>
                <a:latin typeface="Consolas"/>
                <a:ea typeface="微软雅黑"/>
              </a:rPr>
              <a:t>设计与编码</a:t>
            </a:r>
            <a:endParaRPr lang="en-US" altLang="zh-CN" sz="3200" dirty="0">
              <a:solidFill>
                <a:prstClr val="black"/>
              </a:solidFill>
              <a:latin typeface="Consolas"/>
              <a:ea typeface="微软雅黑"/>
            </a:endParaRPr>
          </a:p>
          <a:p>
            <a:pPr marL="457189" indent="-457189" defTabSz="457200">
              <a:buFont typeface="+mj-lt"/>
              <a:buAutoNum type="arabicPeriod"/>
            </a:pPr>
            <a:r>
              <a:rPr lang="zh-CN" altLang="en-US" sz="3200" dirty="0">
                <a:solidFill>
                  <a:prstClr val="black"/>
                </a:solidFill>
                <a:latin typeface="Consolas"/>
                <a:ea typeface="微软雅黑"/>
              </a:rPr>
              <a:t>测试与集成</a:t>
            </a:r>
            <a:endParaRPr lang="en-US" altLang="zh-CN" sz="3200" dirty="0">
              <a:solidFill>
                <a:prstClr val="black"/>
              </a:solidFill>
              <a:latin typeface="Consolas"/>
              <a:ea typeface="微软雅黑"/>
            </a:endParaRPr>
          </a:p>
          <a:p>
            <a:pPr marL="457189" indent="-457189" defTabSz="457200">
              <a:buFont typeface="+mj-lt"/>
              <a:buAutoNum type="arabicPeriod"/>
            </a:pPr>
            <a:r>
              <a:rPr lang="zh-CN" altLang="en-US" sz="3200" dirty="0">
                <a:solidFill>
                  <a:prstClr val="black"/>
                </a:solidFill>
                <a:latin typeface="Consolas"/>
                <a:ea typeface="微软雅黑"/>
              </a:rPr>
              <a:t>发布与维护</a:t>
            </a:r>
            <a:endParaRPr lang="en-US" altLang="zh-CN" sz="3200" dirty="0">
              <a:solidFill>
                <a:prstClr val="black"/>
              </a:solidFill>
              <a:latin typeface="Consolas"/>
              <a:ea typeface="微软雅黑"/>
            </a:endParaRPr>
          </a:p>
          <a:p>
            <a:pPr defTabSz="457200"/>
            <a:r>
              <a:rPr lang="zh-CN" altLang="en-US" sz="3200" dirty="0">
                <a:solidFill>
                  <a:prstClr val="black"/>
                </a:solidFill>
                <a:latin typeface="Consolas"/>
                <a:ea typeface="微软雅黑"/>
              </a:rPr>
              <a:t>。。。。。</a:t>
            </a:r>
          </a:p>
        </p:txBody>
      </p:sp>
      <p:sp>
        <p:nvSpPr>
          <p:cNvPr id="11" name="文本框 10"/>
          <p:cNvSpPr txBox="1"/>
          <p:nvPr/>
        </p:nvSpPr>
        <p:spPr>
          <a:xfrm>
            <a:off x="2523417" y="5323843"/>
            <a:ext cx="6620587" cy="1138773"/>
          </a:xfrm>
          <a:prstGeom prst="rect">
            <a:avLst/>
          </a:prstGeom>
          <a:noFill/>
        </p:spPr>
        <p:txBody>
          <a:bodyPr wrap="square" rtlCol="0">
            <a:spAutoFit/>
          </a:bodyPr>
          <a:lstStyle/>
          <a:p>
            <a:pPr defTabSz="457200"/>
            <a:r>
              <a:rPr lang="zh-CN" altLang="en-US" sz="3600" b="1" dirty="0">
                <a:solidFill>
                  <a:prstClr val="black"/>
                </a:solidFill>
                <a:latin typeface="Consolas"/>
                <a:ea typeface="微软雅黑"/>
              </a:rPr>
              <a:t>编码阶段</a:t>
            </a:r>
            <a:r>
              <a:rPr lang="zh-CN" altLang="en-US" sz="3200" dirty="0">
                <a:solidFill>
                  <a:prstClr val="black"/>
                </a:solidFill>
                <a:latin typeface="Consolas"/>
                <a:ea typeface="微软雅黑"/>
              </a:rPr>
              <a:t>是利用具体的编程语言， 实现软件详细设计的过程</a:t>
            </a:r>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150" y="3430588"/>
            <a:ext cx="7924800" cy="1797051"/>
          </a:xfrm>
          <a:prstGeom prst="rect">
            <a:avLst/>
          </a:prstGeom>
        </p:spPr>
      </p:pic>
    </p:spTree>
    <p:extLst>
      <p:ext uri="{BB962C8B-B14F-4D97-AF65-F5344CB8AC3E}">
        <p14:creationId xmlns:p14="http://schemas.microsoft.com/office/powerpoint/2010/main" val="2544969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934240" y="2233832"/>
            <a:ext cx="9484683" cy="1569660"/>
          </a:xfrm>
          <a:prstGeom prst="rect">
            <a:avLst/>
          </a:prstGeom>
          <a:noFill/>
        </p:spPr>
        <p:txBody>
          <a:bodyPr wrap="square" rtlCol="0">
            <a:spAutoFit/>
          </a:bodyPr>
          <a:lstStyle/>
          <a:p>
            <a:pPr marL="457189" indent="-457189" defTabSz="457200">
              <a:buFont typeface="+mj-lt"/>
              <a:buAutoNum type="arabicPeriod"/>
            </a:pPr>
            <a:r>
              <a:rPr lang="zh-CN" altLang="en-US" sz="3200" dirty="0">
                <a:solidFill>
                  <a:prstClr val="black"/>
                </a:solidFill>
                <a:latin typeface="Consolas"/>
                <a:ea typeface="微软雅黑"/>
              </a:rPr>
              <a:t>编码规范（</a:t>
            </a:r>
            <a:r>
              <a:rPr lang="en-US" altLang="zh-CN" sz="3200" dirty="0">
                <a:solidFill>
                  <a:prstClr val="black"/>
                </a:solidFill>
                <a:latin typeface="Consolas"/>
                <a:ea typeface="微软雅黑"/>
              </a:rPr>
              <a:t>Coding Conventions</a:t>
            </a:r>
            <a:r>
              <a:rPr lang="zh-CN" altLang="en-US" sz="3200" dirty="0">
                <a:solidFill>
                  <a:prstClr val="black"/>
                </a:solidFill>
                <a:latin typeface="Consolas"/>
                <a:ea typeface="微软雅黑"/>
              </a:rPr>
              <a:t>）</a:t>
            </a:r>
            <a:endParaRPr lang="en-US" altLang="zh-CN" sz="3200" dirty="0">
              <a:solidFill>
                <a:prstClr val="black"/>
              </a:solidFill>
              <a:latin typeface="Consolas"/>
              <a:ea typeface="微软雅黑"/>
            </a:endParaRPr>
          </a:p>
          <a:p>
            <a:pPr marL="457189" indent="-457189" defTabSz="457200">
              <a:buFont typeface="+mj-lt"/>
              <a:buAutoNum type="arabicPeriod"/>
            </a:pPr>
            <a:r>
              <a:rPr lang="zh-CN" altLang="en-US" sz="3200" dirty="0">
                <a:solidFill>
                  <a:prstClr val="black"/>
                </a:solidFill>
                <a:latin typeface="Consolas"/>
                <a:ea typeface="微软雅黑"/>
              </a:rPr>
              <a:t>代码审查（</a:t>
            </a:r>
            <a:r>
              <a:rPr lang="en-US" altLang="zh-CN" sz="3200" dirty="0">
                <a:solidFill>
                  <a:prstClr val="black"/>
                </a:solidFill>
                <a:latin typeface="Consolas"/>
                <a:ea typeface="微软雅黑"/>
              </a:rPr>
              <a:t>Coding Inspection</a:t>
            </a:r>
            <a:r>
              <a:rPr lang="zh-CN" altLang="en-US" sz="3200" dirty="0">
                <a:solidFill>
                  <a:prstClr val="black"/>
                </a:solidFill>
                <a:latin typeface="Consolas"/>
                <a:ea typeface="微软雅黑"/>
              </a:rPr>
              <a:t>）</a:t>
            </a:r>
            <a:endParaRPr lang="en-US" altLang="zh-CN" sz="3200" dirty="0">
              <a:solidFill>
                <a:prstClr val="black"/>
              </a:solidFill>
              <a:latin typeface="Consolas"/>
              <a:ea typeface="微软雅黑"/>
            </a:endParaRPr>
          </a:p>
          <a:p>
            <a:pPr marL="457189" indent="-457189" defTabSz="457200">
              <a:buFont typeface="+mj-lt"/>
              <a:buAutoNum type="arabicPeriod"/>
            </a:pPr>
            <a:r>
              <a:rPr lang="zh-CN" altLang="en-US" sz="3200" dirty="0">
                <a:solidFill>
                  <a:prstClr val="black"/>
                </a:solidFill>
                <a:latin typeface="Consolas"/>
                <a:ea typeface="微软雅黑"/>
              </a:rPr>
              <a:t>单元测试（</a:t>
            </a:r>
            <a:r>
              <a:rPr lang="en-US" altLang="zh-CN" sz="3200" dirty="0">
                <a:solidFill>
                  <a:prstClr val="black"/>
                </a:solidFill>
                <a:latin typeface="Consolas"/>
                <a:ea typeface="微软雅黑"/>
              </a:rPr>
              <a:t>Unit Test</a:t>
            </a:r>
            <a:r>
              <a:rPr lang="zh-CN" altLang="en-US" sz="3200" dirty="0">
                <a:solidFill>
                  <a:prstClr val="black"/>
                </a:solidFill>
                <a:latin typeface="Consolas"/>
                <a:ea typeface="微软雅黑"/>
              </a:rPr>
              <a:t>）</a:t>
            </a:r>
            <a:endParaRPr lang="en-US" altLang="zh-CN" sz="3200" dirty="0">
              <a:solidFill>
                <a:prstClr val="black"/>
              </a:solidFill>
              <a:latin typeface="Consolas"/>
              <a:ea typeface="微软雅黑"/>
            </a:endParaRPr>
          </a:p>
        </p:txBody>
      </p:sp>
      <p:grpSp>
        <p:nvGrpSpPr>
          <p:cNvPr id="11" name="组合 10"/>
          <p:cNvGrpSpPr/>
          <p:nvPr/>
        </p:nvGrpSpPr>
        <p:grpSpPr>
          <a:xfrm>
            <a:off x="2991940" y="4242280"/>
            <a:ext cx="3029360" cy="1785105"/>
            <a:chOff x="7586088" y="2672726"/>
            <a:chExt cx="3029360" cy="1785104"/>
          </a:xfrm>
        </p:grpSpPr>
        <p:sp>
          <p:nvSpPr>
            <p:cNvPr id="13" name="文本框 12"/>
            <p:cNvSpPr txBox="1"/>
            <p:nvPr/>
          </p:nvSpPr>
          <p:spPr>
            <a:xfrm>
              <a:off x="7659661" y="2672726"/>
              <a:ext cx="2955787" cy="646331"/>
            </a:xfrm>
            <a:prstGeom prst="rect">
              <a:avLst/>
            </a:prstGeom>
            <a:noFill/>
          </p:spPr>
          <p:txBody>
            <a:bodyPr wrap="square" rtlCol="0">
              <a:spAutoFit/>
            </a:bodyPr>
            <a:lstStyle/>
            <a:p>
              <a:pPr defTabSz="457200"/>
              <a:r>
                <a:rPr lang="zh-CN" altLang="en-US" sz="3600" b="1" dirty="0">
                  <a:solidFill>
                    <a:prstClr val="black"/>
                  </a:solidFill>
                  <a:latin typeface="微软雅黑"/>
                  <a:ea typeface="微软雅黑"/>
                </a:rPr>
                <a:t>错误从哪来？</a:t>
              </a:r>
            </a:p>
          </p:txBody>
        </p:sp>
        <p:sp>
          <p:nvSpPr>
            <p:cNvPr id="14" name="文本框 13"/>
            <p:cNvSpPr txBox="1"/>
            <p:nvPr/>
          </p:nvSpPr>
          <p:spPr>
            <a:xfrm>
              <a:off x="7586088" y="3596056"/>
              <a:ext cx="2539281" cy="861774"/>
            </a:xfrm>
            <a:prstGeom prst="rect">
              <a:avLst/>
            </a:prstGeom>
            <a:noFill/>
          </p:spPr>
          <p:txBody>
            <a:bodyPr wrap="square" rtlCol="0">
              <a:spAutoFit/>
            </a:bodyPr>
            <a:lstStyle/>
            <a:p>
              <a:pPr marL="457189" indent="-457189" defTabSz="457200">
                <a:buFont typeface="+mj-lt"/>
                <a:buAutoNum type="arabicPeriod"/>
              </a:pPr>
              <a:r>
                <a:rPr lang="zh-CN" altLang="en-US" dirty="0">
                  <a:solidFill>
                    <a:prstClr val="black"/>
                  </a:solidFill>
                  <a:latin typeface="Consolas"/>
                  <a:ea typeface="微软雅黑"/>
                </a:rPr>
                <a:t>设计错误</a:t>
              </a:r>
              <a:endParaRPr lang="en-US" altLang="zh-CN" sz="2400" dirty="0">
                <a:solidFill>
                  <a:prstClr val="black"/>
                </a:solidFill>
                <a:latin typeface="Consolas"/>
                <a:ea typeface="微软雅黑"/>
              </a:endParaRPr>
            </a:p>
            <a:p>
              <a:pPr marL="457189" indent="-457189" defTabSz="457200">
                <a:buFont typeface="+mj-lt"/>
                <a:buAutoNum type="arabicPeriod"/>
              </a:pPr>
              <a:r>
                <a:rPr lang="zh-CN" altLang="en-US" sz="3200" b="1" dirty="0">
                  <a:solidFill>
                    <a:prstClr val="black"/>
                  </a:solidFill>
                  <a:latin typeface="Consolas"/>
                  <a:ea typeface="微软雅黑"/>
                </a:rPr>
                <a:t>编码错误</a:t>
              </a:r>
              <a:endParaRPr lang="en-US" altLang="zh-CN" sz="3200" b="1" dirty="0">
                <a:solidFill>
                  <a:prstClr val="black"/>
                </a:solidFill>
                <a:latin typeface="Consolas"/>
                <a:ea typeface="微软雅黑"/>
              </a:endParaRPr>
            </a:p>
          </p:txBody>
        </p:sp>
      </p:grpSp>
      <p:sp>
        <p:nvSpPr>
          <p:cNvPr id="12" name="文本框 11"/>
          <p:cNvSpPr txBox="1"/>
          <p:nvPr/>
        </p:nvSpPr>
        <p:spPr>
          <a:xfrm>
            <a:off x="5906140" y="3642114"/>
            <a:ext cx="5077019" cy="646331"/>
          </a:xfrm>
          <a:prstGeom prst="rect">
            <a:avLst/>
          </a:prstGeom>
          <a:noFill/>
        </p:spPr>
        <p:txBody>
          <a:bodyPr wrap="square" rtlCol="0">
            <a:spAutoFit/>
          </a:bodyPr>
          <a:lstStyle/>
          <a:p>
            <a:pPr defTabSz="457200"/>
            <a:r>
              <a:rPr lang="zh-CN" altLang="en-US" sz="3600" b="1" dirty="0">
                <a:solidFill>
                  <a:prstClr val="black"/>
                </a:solidFill>
                <a:latin typeface="微软雅黑"/>
                <a:ea typeface="微软雅黑"/>
              </a:rPr>
              <a:t>实施主体</a:t>
            </a:r>
            <a:r>
              <a:rPr lang="en-US" altLang="zh-CN" sz="3600" b="1" dirty="0">
                <a:solidFill>
                  <a:prstClr val="black"/>
                </a:solidFill>
                <a:latin typeface="微软雅黑"/>
                <a:ea typeface="微软雅黑"/>
              </a:rPr>
              <a:t>——</a:t>
            </a:r>
            <a:r>
              <a:rPr lang="zh-CN" altLang="en-US" sz="3600" b="1" dirty="0">
                <a:solidFill>
                  <a:prstClr val="black"/>
                </a:solidFill>
                <a:latin typeface="微软雅黑"/>
                <a:ea typeface="微软雅黑"/>
              </a:rPr>
              <a:t>开发人员</a:t>
            </a:r>
          </a:p>
        </p:txBody>
      </p:sp>
      <p:sp>
        <p:nvSpPr>
          <p:cNvPr id="15" name="圆角矩形 14"/>
          <p:cNvSpPr/>
          <p:nvPr/>
        </p:nvSpPr>
        <p:spPr>
          <a:xfrm>
            <a:off x="2401700" y="2242675"/>
            <a:ext cx="7951039" cy="1595187"/>
          </a:xfrm>
          <a:prstGeom prst="round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endParaRPr lang="zh-CN" altLang="en-US">
              <a:solidFill>
                <a:prstClr val="black"/>
              </a:solidFill>
              <a:latin typeface="Consolas"/>
              <a:ea typeface="微软雅黑"/>
            </a:endParaRPr>
          </a:p>
        </p:txBody>
      </p:sp>
      <p:grpSp>
        <p:nvGrpSpPr>
          <p:cNvPr id="17" name="组合 16"/>
          <p:cNvGrpSpPr/>
          <p:nvPr/>
        </p:nvGrpSpPr>
        <p:grpSpPr>
          <a:xfrm>
            <a:off x="2934240" y="359772"/>
            <a:ext cx="6392603" cy="1824622"/>
            <a:chOff x="1714580" y="430895"/>
            <a:chExt cx="4743859" cy="1354028"/>
          </a:xfrm>
        </p:grpSpPr>
        <p:sp>
          <p:nvSpPr>
            <p:cNvPr id="18" name="文本框 17"/>
            <p:cNvSpPr txBox="1"/>
            <p:nvPr/>
          </p:nvSpPr>
          <p:spPr>
            <a:xfrm>
              <a:off x="1714580" y="622143"/>
              <a:ext cx="4017584" cy="525313"/>
            </a:xfrm>
            <a:prstGeom prst="rect">
              <a:avLst/>
            </a:prstGeom>
            <a:noFill/>
          </p:spPr>
          <p:txBody>
            <a:bodyPr wrap="square" rtlCol="0">
              <a:spAutoFit/>
            </a:bodyPr>
            <a:lstStyle/>
            <a:p>
              <a:pPr defTabSz="457200"/>
              <a:r>
                <a:rPr lang="zh-CN" altLang="en-US" sz="4000" b="1" dirty="0">
                  <a:solidFill>
                    <a:prstClr val="black"/>
                  </a:solidFill>
                  <a:latin typeface="微软雅黑"/>
                  <a:ea typeface="微软雅黑"/>
                </a:rPr>
                <a:t>软件编码质量保障方法</a:t>
              </a:r>
            </a:p>
          </p:txBody>
        </p:sp>
        <p:grpSp>
          <p:nvGrpSpPr>
            <p:cNvPr id="19" name="组合 18"/>
            <p:cNvGrpSpPr/>
            <p:nvPr/>
          </p:nvGrpSpPr>
          <p:grpSpPr>
            <a:xfrm rot="13975182">
              <a:off x="5071681" y="398165"/>
              <a:ext cx="1354028" cy="1419488"/>
              <a:chOff x="8090235" y="3880211"/>
              <a:chExt cx="1354028" cy="1419488"/>
            </a:xfrm>
          </p:grpSpPr>
          <p:sp>
            <p:nvSpPr>
              <p:cNvPr id="20" name="等腰三角形 19"/>
              <p:cNvSpPr/>
              <p:nvPr/>
            </p:nvSpPr>
            <p:spPr>
              <a:xfrm rot="18941696">
                <a:off x="8216431" y="4752257"/>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prstClr val="black"/>
                  </a:solidFill>
                  <a:latin typeface="Consolas"/>
                  <a:ea typeface="微软雅黑"/>
                </a:endParaRPr>
              </a:p>
            </p:txBody>
          </p:sp>
          <p:sp>
            <p:nvSpPr>
              <p:cNvPr id="21" name="等腰三角形 20"/>
              <p:cNvSpPr/>
              <p:nvPr/>
            </p:nvSpPr>
            <p:spPr>
              <a:xfrm rot="3678182">
                <a:off x="8062840" y="3907606"/>
                <a:ext cx="397226" cy="34243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prstClr val="black"/>
                  </a:solidFill>
                  <a:latin typeface="Consolas"/>
                  <a:ea typeface="微软雅黑"/>
                </a:endParaRPr>
              </a:p>
            </p:txBody>
          </p:sp>
          <p:sp>
            <p:nvSpPr>
              <p:cNvPr id="22" name="等腰三角形 21"/>
              <p:cNvSpPr/>
              <p:nvPr/>
            </p:nvSpPr>
            <p:spPr>
              <a:xfrm rot="9480000">
                <a:off x="8803940" y="4800383"/>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prstClr val="black"/>
                  </a:solidFill>
                  <a:latin typeface="Consolas"/>
                  <a:ea typeface="微软雅黑"/>
                </a:endParaRPr>
              </a:p>
            </p:txBody>
          </p:sp>
          <p:grpSp>
            <p:nvGrpSpPr>
              <p:cNvPr id="23" name="组合 22"/>
              <p:cNvGrpSpPr/>
              <p:nvPr/>
            </p:nvGrpSpPr>
            <p:grpSpPr>
              <a:xfrm rot="8977127">
                <a:off x="8997555" y="4965082"/>
                <a:ext cx="446708" cy="334617"/>
                <a:chOff x="2822785" y="1265179"/>
                <a:chExt cx="930073" cy="696693"/>
              </a:xfrm>
              <a:solidFill>
                <a:srgbClr val="FFC000"/>
              </a:solidFill>
            </p:grpSpPr>
            <p:sp>
              <p:nvSpPr>
                <p:cNvPr id="24" name="等腰三角形 23"/>
                <p:cNvSpPr/>
                <p:nvPr/>
              </p:nvSpPr>
              <p:spPr>
                <a:xfrm rot="18941696">
                  <a:off x="2822785" y="1265179"/>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prstClr val="black"/>
                    </a:solidFill>
                    <a:latin typeface="Consolas"/>
                    <a:ea typeface="微软雅黑"/>
                  </a:endParaRPr>
                </a:p>
              </p:txBody>
            </p:sp>
            <p:sp>
              <p:nvSpPr>
                <p:cNvPr id="25" name="等腰三角形 24"/>
                <p:cNvSpPr/>
                <p:nvPr/>
              </p:nvSpPr>
              <p:spPr>
                <a:xfrm rot="9480000">
                  <a:off x="3485946" y="1731776"/>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prstClr val="black"/>
                    </a:solidFill>
                    <a:latin typeface="Consolas"/>
                    <a:ea typeface="微软雅黑"/>
                  </a:endParaRPr>
                </a:p>
              </p:txBody>
            </p:sp>
          </p:grpSp>
        </p:grpSp>
      </p:grpSp>
    </p:spTree>
    <p:extLst>
      <p:ext uri="{BB962C8B-B14F-4D97-AF65-F5344CB8AC3E}">
        <p14:creationId xmlns:p14="http://schemas.microsoft.com/office/powerpoint/2010/main" val="1916937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0" y="0"/>
            <a:ext cx="12192000" cy="6858000"/>
          </a:xfrm>
          <a:prstGeom prst="rect">
            <a:avLst/>
          </a:prstGeom>
        </p:spPr>
      </p:pic>
      <p:sp>
        <p:nvSpPr>
          <p:cNvPr id="3" name="矩形 2"/>
          <p:cNvSpPr/>
          <p:nvPr/>
        </p:nvSpPr>
        <p:spPr>
          <a:xfrm>
            <a:off x="0" y="13860"/>
            <a:ext cx="12192000"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pic>
        <p:nvPicPr>
          <p:cNvPr id="21" name="图片 20"/>
          <p:cNvPicPr>
            <a:picLocks noChangeAspect="1"/>
          </p:cNvPicPr>
          <p:nvPr/>
        </p:nvPicPr>
        <p:blipFill rotWithShape="1">
          <a:blip r:embed="rId4"/>
          <a:srcRect l="5055" t="2160" r="58234" b="2657"/>
          <a:stretch/>
        </p:blipFill>
        <p:spPr>
          <a:xfrm>
            <a:off x="3" y="0"/>
            <a:ext cx="4857749" cy="6916424"/>
          </a:xfrm>
          <a:prstGeom prst="rect">
            <a:avLst/>
          </a:prstGeom>
        </p:spPr>
      </p:pic>
      <p:sp>
        <p:nvSpPr>
          <p:cNvPr id="48" name="直角三角形 47"/>
          <p:cNvSpPr/>
          <p:nvPr/>
        </p:nvSpPr>
        <p:spPr>
          <a:xfrm rot="10800000" flipH="1">
            <a:off x="-1524000" y="-4"/>
            <a:ext cx="746760" cy="709263"/>
          </a:xfrm>
          <a:prstGeom prst="rtTriangle">
            <a:avLst/>
          </a:prstGeom>
          <a:solidFill>
            <a:schemeClr val="bg2">
              <a:lumMod val="75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sp>
        <p:nvSpPr>
          <p:cNvPr id="24" name="直角三角形 23"/>
          <p:cNvSpPr/>
          <p:nvPr/>
        </p:nvSpPr>
        <p:spPr>
          <a:xfrm flipH="1">
            <a:off x="4084321" y="6162584"/>
            <a:ext cx="772063" cy="733293"/>
          </a:xfrm>
          <a:prstGeom prst="rtTriangle">
            <a:avLst/>
          </a:prstGeom>
          <a:solidFill>
            <a:schemeClr val="bg2">
              <a:lumMod val="75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grpSp>
        <p:nvGrpSpPr>
          <p:cNvPr id="13" name="组合 12"/>
          <p:cNvGrpSpPr/>
          <p:nvPr/>
        </p:nvGrpSpPr>
        <p:grpSpPr>
          <a:xfrm>
            <a:off x="7697470" y="3191075"/>
            <a:ext cx="2791236" cy="646331"/>
            <a:chOff x="9116370" y="3230469"/>
            <a:chExt cx="2165132" cy="646329"/>
          </a:xfrm>
        </p:grpSpPr>
        <p:sp>
          <p:nvSpPr>
            <p:cNvPr id="5" name="文本框 4"/>
            <p:cNvSpPr txBox="1"/>
            <p:nvPr/>
          </p:nvSpPr>
          <p:spPr>
            <a:xfrm>
              <a:off x="9447610" y="3230469"/>
              <a:ext cx="1833892" cy="646329"/>
            </a:xfrm>
            <a:prstGeom prst="rect">
              <a:avLst/>
            </a:prstGeom>
            <a:noFill/>
          </p:spPr>
          <p:txBody>
            <a:bodyPr wrap="square" rtlCol="0">
              <a:spAutoFit/>
            </a:bodyPr>
            <a:lstStyle/>
            <a:p>
              <a:pPr defTabSz="457200"/>
              <a:r>
                <a:rPr lang="zh-CN" altLang="en-US" sz="3600" dirty="0">
                  <a:solidFill>
                    <a:prstClr val="black"/>
                  </a:solidFill>
                  <a:latin typeface="方正大黑简体" panose="03000509000000000000" pitchFamily="65" charset="-122"/>
                  <a:ea typeface="方正大黑简体" panose="03000509000000000000" pitchFamily="65" charset="-122"/>
                </a:rPr>
                <a:t>代码审查</a:t>
              </a:r>
            </a:p>
          </p:txBody>
        </p:sp>
        <p:sp>
          <p:nvSpPr>
            <p:cNvPr id="32" name="文本框 31"/>
            <p:cNvSpPr txBox="1"/>
            <p:nvPr/>
          </p:nvSpPr>
          <p:spPr>
            <a:xfrm>
              <a:off x="9116370" y="3230469"/>
              <a:ext cx="427027" cy="523219"/>
            </a:xfrm>
            <a:prstGeom prst="rect">
              <a:avLst/>
            </a:prstGeom>
            <a:noFill/>
          </p:spPr>
          <p:txBody>
            <a:bodyPr wrap="square" rtlCol="0">
              <a:spAutoFit/>
            </a:bodyPr>
            <a:lstStyle/>
            <a:p>
              <a:pPr defTabSz="457200"/>
              <a:r>
                <a:rPr lang="en-US" altLang="zh-CN" sz="2800" dirty="0">
                  <a:solidFill>
                    <a:prstClr val="black"/>
                  </a:solidFill>
                  <a:latin typeface="方正大黑简体" panose="03000509000000000000" pitchFamily="65" charset="-122"/>
                  <a:ea typeface="方正大黑简体" panose="03000509000000000000" pitchFamily="65" charset="-122"/>
                </a:rPr>
                <a:t>2.</a:t>
              </a:r>
              <a:endParaRPr lang="zh-CN" altLang="en-US" sz="2800" dirty="0">
                <a:solidFill>
                  <a:prstClr val="black"/>
                </a:solidFill>
                <a:latin typeface="方正大黑简体" panose="03000509000000000000" pitchFamily="65" charset="-122"/>
                <a:ea typeface="方正大黑简体" panose="03000509000000000000" pitchFamily="65" charset="-122"/>
              </a:endParaRPr>
            </a:p>
          </p:txBody>
        </p:sp>
      </p:grpSp>
      <p:grpSp>
        <p:nvGrpSpPr>
          <p:cNvPr id="14" name="组合 13"/>
          <p:cNvGrpSpPr/>
          <p:nvPr/>
        </p:nvGrpSpPr>
        <p:grpSpPr>
          <a:xfrm>
            <a:off x="7697470" y="4089687"/>
            <a:ext cx="2791236" cy="954107"/>
            <a:chOff x="9116370" y="4089690"/>
            <a:chExt cx="2791236" cy="954106"/>
          </a:xfrm>
        </p:grpSpPr>
        <p:sp>
          <p:nvSpPr>
            <p:cNvPr id="8" name="文本框 7"/>
            <p:cNvSpPr txBox="1"/>
            <p:nvPr/>
          </p:nvSpPr>
          <p:spPr>
            <a:xfrm>
              <a:off x="9494745" y="4089690"/>
              <a:ext cx="2412861" cy="646330"/>
            </a:xfrm>
            <a:prstGeom prst="rect">
              <a:avLst/>
            </a:prstGeom>
            <a:noFill/>
          </p:spPr>
          <p:txBody>
            <a:bodyPr wrap="square" rtlCol="0">
              <a:spAutoFit/>
            </a:bodyPr>
            <a:lstStyle/>
            <a:p>
              <a:pPr defTabSz="457200"/>
              <a:r>
                <a:rPr lang="zh-CN" altLang="en-US" sz="3600" dirty="0">
                  <a:solidFill>
                    <a:prstClr val="black"/>
                  </a:solidFill>
                  <a:latin typeface="方正大黑简体" panose="03000509000000000000" pitchFamily="65" charset="-122"/>
                  <a:ea typeface="方正大黑简体" panose="03000509000000000000" pitchFamily="65" charset="-122"/>
                </a:rPr>
                <a:t>单元测试</a:t>
              </a:r>
            </a:p>
          </p:txBody>
        </p:sp>
        <p:sp>
          <p:nvSpPr>
            <p:cNvPr id="40" name="文本框 39"/>
            <p:cNvSpPr txBox="1"/>
            <p:nvPr/>
          </p:nvSpPr>
          <p:spPr>
            <a:xfrm>
              <a:off x="9116370" y="4089690"/>
              <a:ext cx="427027" cy="954106"/>
            </a:xfrm>
            <a:prstGeom prst="rect">
              <a:avLst/>
            </a:prstGeom>
            <a:noFill/>
          </p:spPr>
          <p:txBody>
            <a:bodyPr wrap="square" rtlCol="0">
              <a:spAutoFit/>
            </a:bodyPr>
            <a:lstStyle/>
            <a:p>
              <a:pPr defTabSz="457200"/>
              <a:r>
                <a:rPr lang="en-US" altLang="zh-CN" sz="2800" dirty="0">
                  <a:solidFill>
                    <a:prstClr val="black"/>
                  </a:solidFill>
                  <a:latin typeface="方正大黑简体" panose="03000509000000000000" pitchFamily="65" charset="-122"/>
                  <a:ea typeface="方正大黑简体" panose="03000509000000000000" pitchFamily="65" charset="-122"/>
                </a:rPr>
                <a:t>3.</a:t>
              </a:r>
              <a:endParaRPr lang="zh-CN" altLang="en-US" sz="2800" dirty="0">
                <a:solidFill>
                  <a:prstClr val="black"/>
                </a:solidFill>
                <a:latin typeface="方正大黑简体" panose="03000509000000000000" pitchFamily="65" charset="-122"/>
                <a:ea typeface="方正大黑简体" panose="03000509000000000000" pitchFamily="65" charset="-122"/>
              </a:endParaRPr>
            </a:p>
          </p:txBody>
        </p:sp>
      </p:grpSp>
      <p:grpSp>
        <p:nvGrpSpPr>
          <p:cNvPr id="12" name="组合 11"/>
          <p:cNvGrpSpPr/>
          <p:nvPr/>
        </p:nvGrpSpPr>
        <p:grpSpPr>
          <a:xfrm>
            <a:off x="7697470" y="2292448"/>
            <a:ext cx="2970530" cy="646331"/>
            <a:chOff x="9116370" y="2292448"/>
            <a:chExt cx="2970530" cy="646330"/>
          </a:xfrm>
        </p:grpSpPr>
        <p:sp>
          <p:nvSpPr>
            <p:cNvPr id="4" name="文本框 3"/>
            <p:cNvSpPr txBox="1"/>
            <p:nvPr/>
          </p:nvSpPr>
          <p:spPr>
            <a:xfrm>
              <a:off x="9494745" y="2292448"/>
              <a:ext cx="2592155" cy="646330"/>
            </a:xfrm>
            <a:prstGeom prst="rect">
              <a:avLst/>
            </a:prstGeom>
            <a:noFill/>
          </p:spPr>
          <p:txBody>
            <a:bodyPr wrap="square" rtlCol="0">
              <a:spAutoFit/>
            </a:bodyPr>
            <a:lstStyle/>
            <a:p>
              <a:pPr defTabSz="457200"/>
              <a:r>
                <a:rPr lang="zh-CN" altLang="en-US" sz="3600" dirty="0">
                  <a:solidFill>
                    <a:prstClr val="black"/>
                  </a:solidFill>
                  <a:latin typeface="方正大黑简体" panose="03000509000000000000" pitchFamily="65" charset="-122"/>
                  <a:ea typeface="方正大黑简体" panose="03000509000000000000" pitchFamily="65" charset="-122"/>
                </a:rPr>
                <a:t>编码规范</a:t>
              </a:r>
            </a:p>
          </p:txBody>
        </p:sp>
        <p:sp>
          <p:nvSpPr>
            <p:cNvPr id="43" name="文本框 42"/>
            <p:cNvSpPr txBox="1"/>
            <p:nvPr/>
          </p:nvSpPr>
          <p:spPr>
            <a:xfrm>
              <a:off x="9116370" y="2292448"/>
              <a:ext cx="427027" cy="523219"/>
            </a:xfrm>
            <a:prstGeom prst="rect">
              <a:avLst/>
            </a:prstGeom>
            <a:noFill/>
          </p:spPr>
          <p:txBody>
            <a:bodyPr wrap="square" rtlCol="0">
              <a:spAutoFit/>
            </a:bodyPr>
            <a:lstStyle/>
            <a:p>
              <a:pPr defTabSz="457200"/>
              <a:r>
                <a:rPr lang="en-US" altLang="zh-CN" sz="2800" dirty="0">
                  <a:solidFill>
                    <a:prstClr val="black"/>
                  </a:solidFill>
                  <a:latin typeface="方正大黑简体" panose="03000509000000000000" pitchFamily="65" charset="-122"/>
                  <a:ea typeface="方正大黑简体" panose="03000509000000000000" pitchFamily="65" charset="-122"/>
                </a:rPr>
                <a:t>1.</a:t>
              </a:r>
              <a:endParaRPr lang="zh-CN" altLang="en-US" sz="2800" dirty="0">
                <a:solidFill>
                  <a:prstClr val="black"/>
                </a:solidFill>
                <a:latin typeface="方正大黑简体" panose="03000509000000000000" pitchFamily="65" charset="-122"/>
                <a:ea typeface="方正大黑简体" panose="03000509000000000000" pitchFamily="65" charset="-122"/>
              </a:endParaRPr>
            </a:p>
          </p:txBody>
        </p:sp>
      </p:grpSp>
      <p:grpSp>
        <p:nvGrpSpPr>
          <p:cNvPr id="7" name="组合 6"/>
          <p:cNvGrpSpPr/>
          <p:nvPr/>
        </p:nvGrpSpPr>
        <p:grpSpPr>
          <a:xfrm>
            <a:off x="5200409" y="2551143"/>
            <a:ext cx="1791187" cy="1783424"/>
            <a:chOff x="5200407" y="2551143"/>
            <a:chExt cx="1791186" cy="1783424"/>
          </a:xfrm>
        </p:grpSpPr>
        <p:sp>
          <p:nvSpPr>
            <p:cNvPr id="26" name="文本框 25"/>
            <p:cNvSpPr txBox="1"/>
            <p:nvPr/>
          </p:nvSpPr>
          <p:spPr>
            <a:xfrm>
              <a:off x="5201226" y="3105835"/>
              <a:ext cx="1789549" cy="646331"/>
            </a:xfrm>
            <a:prstGeom prst="rect">
              <a:avLst/>
            </a:prstGeom>
            <a:noFill/>
          </p:spPr>
          <p:txBody>
            <a:bodyPr wrap="square" rtlCol="0">
              <a:spAutoFit/>
            </a:bodyPr>
            <a:lstStyle/>
            <a:p>
              <a:pPr algn="ctr" defTabSz="457200"/>
              <a:r>
                <a:rPr lang="zh-CN" altLang="en-US" sz="3600" dirty="0">
                  <a:solidFill>
                    <a:prstClr val="black"/>
                  </a:solidFill>
                  <a:latin typeface="方正大黑简体" panose="03000509000000000000" pitchFamily="65" charset="-122"/>
                  <a:ea typeface="方正大黑简体" panose="03000509000000000000" pitchFamily="65" charset="-122"/>
                </a:rPr>
                <a:t>目录</a:t>
              </a:r>
              <a:endParaRPr lang="en-US" altLang="zh-CN" sz="3600" dirty="0">
                <a:solidFill>
                  <a:prstClr val="black"/>
                </a:solidFill>
                <a:latin typeface="方正大黑简体" panose="03000509000000000000" pitchFamily="65" charset="-122"/>
                <a:ea typeface="方正大黑简体" panose="03000509000000000000" pitchFamily="65" charset="-122"/>
              </a:endParaRPr>
            </a:p>
          </p:txBody>
        </p:sp>
        <p:sp>
          <p:nvSpPr>
            <p:cNvPr id="28" name="椭圆 27"/>
            <p:cNvSpPr/>
            <p:nvPr/>
          </p:nvSpPr>
          <p:spPr>
            <a:xfrm>
              <a:off x="5200407" y="2551143"/>
              <a:ext cx="1791186" cy="1783424"/>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grpSp>
    </p:spTree>
    <p:extLst>
      <p:ext uri="{BB962C8B-B14F-4D97-AF65-F5344CB8AC3E}">
        <p14:creationId xmlns:p14="http://schemas.microsoft.com/office/powerpoint/2010/main" val="28366924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0" y="0"/>
            <a:ext cx="12192000" cy="6858000"/>
          </a:xfrm>
          <a:prstGeom prst="rect">
            <a:avLst/>
          </a:prstGeom>
        </p:spPr>
      </p:pic>
      <p:sp>
        <p:nvSpPr>
          <p:cNvPr id="3" name="矩形 2"/>
          <p:cNvSpPr/>
          <p:nvPr/>
        </p:nvSpPr>
        <p:spPr>
          <a:xfrm>
            <a:off x="0" y="6"/>
            <a:ext cx="12192000"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756F67"/>
              </a:solidFill>
              <a:latin typeface="Consolas"/>
              <a:ea typeface="微软雅黑"/>
            </a:endParaRPr>
          </a:p>
        </p:txBody>
      </p:sp>
      <p:sp>
        <p:nvSpPr>
          <p:cNvPr id="4" name="文本框 3"/>
          <p:cNvSpPr txBox="1"/>
          <p:nvPr/>
        </p:nvSpPr>
        <p:spPr>
          <a:xfrm>
            <a:off x="6107231" y="3075061"/>
            <a:ext cx="3351447" cy="1200329"/>
          </a:xfrm>
          <a:prstGeom prst="rect">
            <a:avLst/>
          </a:prstGeom>
          <a:noFill/>
        </p:spPr>
        <p:txBody>
          <a:bodyPr wrap="square" rtlCol="0">
            <a:spAutoFit/>
          </a:bodyPr>
          <a:lstStyle/>
          <a:p>
            <a:pPr marL="742932" indent="-742932" algn="ctr" defTabSz="457200">
              <a:buFontTx/>
              <a:buAutoNum type="arabicPeriod"/>
            </a:pPr>
            <a:r>
              <a:rPr lang="zh-CN" altLang="en-US" sz="3600" dirty="0">
                <a:solidFill>
                  <a:prstClr val="black"/>
                </a:solidFill>
                <a:latin typeface="方正大黑简体" panose="03000509000000000000" pitchFamily="65" charset="-122"/>
                <a:ea typeface="方正大黑简体" panose="03000509000000000000" pitchFamily="65" charset="-122"/>
              </a:rPr>
              <a:t>编码规范</a:t>
            </a:r>
            <a:endParaRPr lang="en-US" altLang="zh-CN" sz="3600" dirty="0">
              <a:solidFill>
                <a:prstClr val="black"/>
              </a:solidFill>
              <a:latin typeface="方正大黑简体" panose="03000509000000000000" pitchFamily="65" charset="-122"/>
              <a:ea typeface="方正大黑简体" panose="03000509000000000000" pitchFamily="65" charset="-122"/>
            </a:endParaRPr>
          </a:p>
          <a:p>
            <a:pPr marL="742932" indent="-742932" algn="ctr" defTabSz="457200">
              <a:buFontTx/>
              <a:buAutoNum type="arabicPeriod"/>
            </a:pPr>
            <a:endParaRPr lang="zh-CN" altLang="en-US" sz="3600" dirty="0">
              <a:solidFill>
                <a:prstClr val="black"/>
              </a:solidFill>
              <a:latin typeface="方正大黑简体" panose="03000509000000000000" pitchFamily="65" charset="-122"/>
              <a:ea typeface="方正大黑简体" panose="03000509000000000000" pitchFamily="65" charset="-122"/>
            </a:endParaRPr>
          </a:p>
        </p:txBody>
      </p:sp>
      <p:sp>
        <p:nvSpPr>
          <p:cNvPr id="25" name="等腰三角形 24"/>
          <p:cNvSpPr/>
          <p:nvPr/>
        </p:nvSpPr>
        <p:spPr>
          <a:xfrm rot="5400000">
            <a:off x="4040230" y="2499423"/>
            <a:ext cx="2156621" cy="1859156"/>
          </a:xfrm>
          <a:prstGeom prst="triangle">
            <a:avLst/>
          </a:prstGeom>
          <a:blipFill dpi="0" rotWithShape="0">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white"/>
              </a:solidFill>
              <a:latin typeface="Consolas"/>
              <a:ea typeface="微软雅黑"/>
            </a:endParaRPr>
          </a:p>
        </p:txBody>
      </p:sp>
      <p:sp>
        <p:nvSpPr>
          <p:cNvPr id="50" name="直角三角形 49"/>
          <p:cNvSpPr/>
          <p:nvPr/>
        </p:nvSpPr>
        <p:spPr>
          <a:xfrm rot="3607112" flipH="1" flipV="1">
            <a:off x="3253999" y="2891781"/>
            <a:ext cx="1869916" cy="1074445"/>
          </a:xfrm>
          <a:prstGeom prst="rtTriangle">
            <a:avLst/>
          </a:prstGeom>
          <a:solidFill>
            <a:schemeClr val="bg2">
              <a:lumMod val="75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white"/>
              </a:solidFill>
              <a:latin typeface="Consolas"/>
              <a:ea typeface="微软雅黑"/>
            </a:endParaRPr>
          </a:p>
        </p:txBody>
      </p:sp>
      <p:grpSp>
        <p:nvGrpSpPr>
          <p:cNvPr id="11" name="组合 10"/>
          <p:cNvGrpSpPr/>
          <p:nvPr/>
        </p:nvGrpSpPr>
        <p:grpSpPr>
          <a:xfrm rot="15665791">
            <a:off x="992121" y="3986103"/>
            <a:ext cx="1354028" cy="1419488"/>
            <a:chOff x="8090235" y="3880211"/>
            <a:chExt cx="1354028" cy="1419488"/>
          </a:xfrm>
        </p:grpSpPr>
        <p:sp>
          <p:nvSpPr>
            <p:cNvPr id="12" name="等腰三角形 11"/>
            <p:cNvSpPr/>
            <p:nvPr/>
          </p:nvSpPr>
          <p:spPr>
            <a:xfrm rot="18941696">
              <a:off x="8216431" y="4752257"/>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sp>
          <p:nvSpPr>
            <p:cNvPr id="13" name="等腰三角形 12"/>
            <p:cNvSpPr/>
            <p:nvPr/>
          </p:nvSpPr>
          <p:spPr>
            <a:xfrm rot="3678182">
              <a:off x="8062840" y="3907606"/>
              <a:ext cx="397226" cy="34243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sp>
          <p:nvSpPr>
            <p:cNvPr id="14" name="等腰三角形 13"/>
            <p:cNvSpPr/>
            <p:nvPr/>
          </p:nvSpPr>
          <p:spPr>
            <a:xfrm rot="9480000">
              <a:off x="8803940" y="4800383"/>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grpSp>
          <p:nvGrpSpPr>
            <p:cNvPr id="15" name="组合 14"/>
            <p:cNvGrpSpPr/>
            <p:nvPr/>
          </p:nvGrpSpPr>
          <p:grpSpPr>
            <a:xfrm rot="8977127">
              <a:off x="8997555" y="4965082"/>
              <a:ext cx="446708" cy="334617"/>
              <a:chOff x="2822785" y="1265179"/>
              <a:chExt cx="930073" cy="696693"/>
            </a:xfrm>
            <a:solidFill>
              <a:srgbClr val="FFC000"/>
            </a:solidFill>
          </p:grpSpPr>
          <p:sp>
            <p:nvSpPr>
              <p:cNvPr id="16" name="等腰三角形 15"/>
              <p:cNvSpPr/>
              <p:nvPr/>
            </p:nvSpPr>
            <p:spPr>
              <a:xfrm rot="18941696">
                <a:off x="2822785" y="1265179"/>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sp>
            <p:nvSpPr>
              <p:cNvPr id="17" name="等腰三角形 16"/>
              <p:cNvSpPr/>
              <p:nvPr/>
            </p:nvSpPr>
            <p:spPr>
              <a:xfrm rot="9480000">
                <a:off x="3485946" y="1731776"/>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grpSp>
      </p:grpSp>
      <p:sp>
        <p:nvSpPr>
          <p:cNvPr id="5" name="文本框 4"/>
          <p:cNvSpPr txBox="1"/>
          <p:nvPr/>
        </p:nvSpPr>
        <p:spPr>
          <a:xfrm>
            <a:off x="6163737" y="3645809"/>
            <a:ext cx="4080933" cy="523220"/>
          </a:xfrm>
          <a:prstGeom prst="rect">
            <a:avLst/>
          </a:prstGeom>
          <a:noFill/>
        </p:spPr>
        <p:txBody>
          <a:bodyPr wrap="square" rtlCol="0">
            <a:spAutoFit/>
          </a:bodyPr>
          <a:lstStyle/>
          <a:p>
            <a:pPr defTabSz="457200"/>
            <a:r>
              <a:rPr lang="zh-CN" altLang="en-US" sz="2800" dirty="0">
                <a:solidFill>
                  <a:prstClr val="black"/>
                </a:solidFill>
                <a:latin typeface="Consolas"/>
                <a:ea typeface="微软雅黑"/>
              </a:rPr>
              <a:t>（</a:t>
            </a:r>
            <a:r>
              <a:rPr lang="en-US" altLang="zh-CN" sz="2800" dirty="0">
                <a:solidFill>
                  <a:prstClr val="black"/>
                </a:solidFill>
                <a:latin typeface="Consolas"/>
                <a:ea typeface="微软雅黑"/>
              </a:rPr>
              <a:t>Code conventions</a:t>
            </a:r>
            <a:r>
              <a:rPr lang="zh-CN" altLang="en-US" sz="2800" dirty="0">
                <a:solidFill>
                  <a:prstClr val="black"/>
                </a:solidFill>
                <a:latin typeface="Consolas"/>
                <a:ea typeface="微软雅黑"/>
              </a:rPr>
              <a:t>）</a:t>
            </a:r>
          </a:p>
        </p:txBody>
      </p:sp>
    </p:spTree>
    <p:extLst>
      <p:ext uri="{BB962C8B-B14F-4D97-AF65-F5344CB8AC3E}">
        <p14:creationId xmlns:p14="http://schemas.microsoft.com/office/powerpoint/2010/main" val="14846671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16164" y="640568"/>
            <a:ext cx="10693667" cy="707886"/>
          </a:xfrm>
          <a:prstGeom prst="rect">
            <a:avLst/>
          </a:prstGeom>
          <a:noFill/>
        </p:spPr>
        <p:txBody>
          <a:bodyPr wrap="square" rtlCol="0">
            <a:spAutoFit/>
          </a:bodyPr>
          <a:lstStyle/>
          <a:p>
            <a:pPr defTabSz="457200"/>
            <a:r>
              <a:rPr lang="en-US" altLang="zh-CN" sz="4000" dirty="0">
                <a:solidFill>
                  <a:prstClr val="black"/>
                </a:solidFill>
                <a:latin typeface="微软雅黑"/>
                <a:ea typeface="微软雅黑"/>
              </a:rPr>
              <a:t>Coding conventions in </a:t>
            </a:r>
            <a:r>
              <a:rPr lang="en-US" altLang="zh-CN" sz="4000" dirty="0">
                <a:solidFill>
                  <a:prstClr val="black"/>
                </a:solidFill>
                <a:latin typeface="Consolas"/>
                <a:ea typeface="方正大黑简体" panose="03000509000000000000" pitchFamily="65" charset="-122"/>
              </a:rPr>
              <a:t>Wikipedia</a:t>
            </a:r>
            <a:endParaRPr lang="en-US" altLang="zh-CN" sz="4000" dirty="0">
              <a:solidFill>
                <a:prstClr val="black"/>
              </a:solidFill>
              <a:latin typeface="微软雅黑"/>
              <a:ea typeface="微软雅黑"/>
            </a:endParaRPr>
          </a:p>
        </p:txBody>
      </p:sp>
      <p:pic>
        <p:nvPicPr>
          <p:cNvPr id="5" name="图片 4"/>
          <p:cNvPicPr>
            <a:picLocks noChangeAspect="1"/>
          </p:cNvPicPr>
          <p:nvPr/>
        </p:nvPicPr>
        <p:blipFill>
          <a:blip r:embed="rId3"/>
          <a:stretch>
            <a:fillRect/>
          </a:stretch>
        </p:blipFill>
        <p:spPr>
          <a:xfrm>
            <a:off x="1559861" y="1649875"/>
            <a:ext cx="8918633" cy="3558251"/>
          </a:xfrm>
          <a:prstGeom prst="rect">
            <a:avLst/>
          </a:prstGeom>
        </p:spPr>
      </p:pic>
    </p:spTree>
    <p:extLst>
      <p:ext uri="{BB962C8B-B14F-4D97-AF65-F5344CB8AC3E}">
        <p14:creationId xmlns:p14="http://schemas.microsoft.com/office/powerpoint/2010/main" val="4818087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2620702" y="559957"/>
            <a:ext cx="5149351" cy="707886"/>
          </a:xfrm>
          <a:prstGeom prst="rect">
            <a:avLst/>
          </a:prstGeom>
          <a:noFill/>
        </p:spPr>
        <p:txBody>
          <a:bodyPr wrap="square" rtlCol="0">
            <a:spAutoFit/>
          </a:bodyPr>
          <a:lstStyle/>
          <a:p>
            <a:pPr defTabSz="457200"/>
            <a:r>
              <a:rPr lang="zh-CN" altLang="en-US" sz="4000" dirty="0">
                <a:solidFill>
                  <a:prstClr val="black"/>
                </a:solidFill>
                <a:latin typeface="微软雅黑"/>
                <a:ea typeface="微软雅黑"/>
              </a:rPr>
              <a:t>举个例子：</a:t>
            </a:r>
            <a:r>
              <a:rPr lang="en-US" altLang="zh-CN" sz="4000" dirty="0" err="1">
                <a:solidFill>
                  <a:prstClr val="black"/>
                </a:solidFill>
                <a:latin typeface="微软雅黑"/>
                <a:ea typeface="微软雅黑"/>
              </a:rPr>
              <a:t>c++</a:t>
            </a:r>
            <a:endParaRPr lang="en-US" altLang="zh-CN" sz="4000" dirty="0">
              <a:solidFill>
                <a:prstClr val="black"/>
              </a:solidFill>
              <a:latin typeface="微软雅黑"/>
              <a:ea typeface="微软雅黑"/>
            </a:endParaRPr>
          </a:p>
        </p:txBody>
      </p:sp>
      <p:sp>
        <p:nvSpPr>
          <p:cNvPr id="5" name="文本框 4"/>
          <p:cNvSpPr txBox="1"/>
          <p:nvPr/>
        </p:nvSpPr>
        <p:spPr>
          <a:xfrm>
            <a:off x="2620701" y="1605024"/>
            <a:ext cx="7545272" cy="4524315"/>
          </a:xfrm>
          <a:prstGeom prst="rect">
            <a:avLst/>
          </a:prstGeom>
          <a:noFill/>
        </p:spPr>
        <p:txBody>
          <a:bodyPr wrap="square" rtlCol="0">
            <a:spAutoFit/>
          </a:bodyPr>
          <a:lstStyle/>
          <a:p>
            <a:pPr defTabSz="457200"/>
            <a:r>
              <a:rPr lang="en-US" altLang="zh-CN" sz="2000" dirty="0">
                <a:solidFill>
                  <a:prstClr val="black"/>
                </a:solidFill>
                <a:latin typeface="微软雅黑"/>
                <a:ea typeface="微软雅黑"/>
              </a:rPr>
              <a:t>C++</a:t>
            </a:r>
            <a:r>
              <a:rPr lang="zh-CN" altLang="en-US" sz="2000" dirty="0">
                <a:solidFill>
                  <a:prstClr val="black"/>
                </a:solidFill>
                <a:latin typeface="微软雅黑"/>
                <a:ea typeface="微软雅黑"/>
              </a:rPr>
              <a:t>编码规范一般包括如下几个方面：</a:t>
            </a:r>
            <a:endParaRPr lang="en-US" altLang="zh-CN" sz="2000" dirty="0">
              <a:solidFill>
                <a:prstClr val="black"/>
              </a:solidFill>
              <a:latin typeface="微软雅黑"/>
              <a:ea typeface="微软雅黑"/>
            </a:endParaRPr>
          </a:p>
          <a:p>
            <a:pPr marL="342891" indent="-342891" defTabSz="457200">
              <a:buFont typeface="Arial" panose="020B0604020202020204" pitchFamily="34" charset="0"/>
              <a:buChar char="•"/>
            </a:pPr>
            <a:r>
              <a:rPr lang="zh-CN" altLang="en-US" sz="2400" dirty="0">
                <a:solidFill>
                  <a:prstClr val="black"/>
                </a:solidFill>
                <a:latin typeface="微软雅黑"/>
                <a:ea typeface="微软雅黑"/>
              </a:rPr>
              <a:t>文件组织和排版风格（花括号换行？）</a:t>
            </a:r>
            <a:endParaRPr lang="en-US" altLang="zh-CN" sz="2400" dirty="0">
              <a:solidFill>
                <a:prstClr val="black"/>
              </a:solidFill>
              <a:latin typeface="微软雅黑"/>
              <a:ea typeface="微软雅黑"/>
            </a:endParaRPr>
          </a:p>
          <a:p>
            <a:pPr marL="342891" indent="-342891" defTabSz="457200">
              <a:buFont typeface="Arial" panose="020B0604020202020204" pitchFamily="34" charset="0"/>
              <a:buChar char="•"/>
            </a:pPr>
            <a:r>
              <a:rPr lang="zh-CN" altLang="en-US" sz="2400" dirty="0">
                <a:solidFill>
                  <a:prstClr val="black"/>
                </a:solidFill>
                <a:latin typeface="微软雅黑"/>
                <a:ea typeface="微软雅黑"/>
              </a:rPr>
              <a:t>命名规范（</a:t>
            </a:r>
            <a:r>
              <a:rPr lang="en-US" altLang="zh-CN" sz="2400" dirty="0" err="1">
                <a:solidFill>
                  <a:prstClr val="black"/>
                </a:solidFill>
                <a:latin typeface="微软雅黑"/>
                <a:ea typeface="微软雅黑"/>
              </a:rPr>
              <a:t>huluwa</a:t>
            </a:r>
            <a:r>
              <a:rPr lang="en-US" altLang="zh-CN" sz="2400" dirty="0">
                <a:solidFill>
                  <a:prstClr val="black"/>
                </a:solidFill>
                <a:latin typeface="微软雅黑"/>
                <a:ea typeface="微软雅黑"/>
              </a:rPr>
              <a:t> or </a:t>
            </a:r>
            <a:r>
              <a:rPr lang="en-US" altLang="zh-CN" sz="2400" dirty="0" err="1">
                <a:solidFill>
                  <a:prstClr val="black"/>
                </a:solidFill>
                <a:latin typeface="微软雅黑"/>
                <a:ea typeface="微软雅黑"/>
              </a:rPr>
              <a:t>l_huluwa</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a:t>
            </a:r>
            <a:endParaRPr lang="en-US" altLang="zh-CN" sz="2400" dirty="0">
              <a:solidFill>
                <a:prstClr val="black"/>
              </a:solidFill>
              <a:latin typeface="微软雅黑"/>
              <a:ea typeface="微软雅黑"/>
            </a:endParaRPr>
          </a:p>
          <a:p>
            <a:pPr marL="342891" indent="-342891" defTabSz="457200">
              <a:buFont typeface="Arial" panose="020B0604020202020204" pitchFamily="34" charset="0"/>
              <a:buChar char="•"/>
            </a:pPr>
            <a:r>
              <a:rPr lang="zh-CN" altLang="en-US" sz="2400" dirty="0">
                <a:solidFill>
                  <a:prstClr val="black"/>
                </a:solidFill>
                <a:latin typeface="微软雅黑"/>
                <a:ea typeface="微软雅黑"/>
              </a:rPr>
              <a:t>如何安全、高效使用语言特性的指导原则</a:t>
            </a:r>
            <a:endParaRPr lang="en-US" altLang="zh-CN" sz="2400" dirty="0">
              <a:solidFill>
                <a:prstClr val="black"/>
              </a:solidFill>
              <a:latin typeface="微软雅黑"/>
              <a:ea typeface="微软雅黑"/>
            </a:endParaRPr>
          </a:p>
          <a:p>
            <a:pPr marL="800080" lvl="1" indent="-342891" defTabSz="457200">
              <a:buFont typeface="Arial" panose="020B0604020202020204" pitchFamily="34" charset="0"/>
              <a:buChar char="•"/>
            </a:pPr>
            <a:r>
              <a:rPr lang="zh-CN" altLang="en-US" sz="2400" dirty="0">
                <a:solidFill>
                  <a:prstClr val="black"/>
                </a:solidFill>
                <a:latin typeface="微软雅黑"/>
                <a:ea typeface="微软雅黑"/>
              </a:rPr>
              <a:t>类的设计和声明（</a:t>
            </a:r>
            <a:r>
              <a:rPr lang="zh-CN" altLang="en-US" sz="2400" dirty="0">
                <a:solidFill>
                  <a:prstClr val="black"/>
                </a:solidFill>
                <a:latin typeface="Consolas"/>
                <a:ea typeface="微软雅黑"/>
              </a:rPr>
              <a:t>基类的析构函数都应该是虚函数） </a:t>
            </a:r>
          </a:p>
          <a:p>
            <a:pPr marL="800080" lvl="1" indent="-342891" defTabSz="457200">
              <a:buFont typeface="Arial" panose="020B0604020202020204" pitchFamily="34" charset="0"/>
              <a:buChar char="•"/>
            </a:pPr>
            <a:r>
              <a:rPr lang="zh-CN" altLang="en-US" sz="2400" dirty="0">
                <a:solidFill>
                  <a:prstClr val="black"/>
                </a:solidFill>
                <a:latin typeface="Consolas"/>
                <a:ea typeface="微软雅黑"/>
              </a:rPr>
              <a:t>内存的申请与释放（比如：</a:t>
            </a:r>
            <a:r>
              <a:rPr lang="en-US" altLang="zh-CN" sz="2400" dirty="0" err="1">
                <a:solidFill>
                  <a:prstClr val="black"/>
                </a:solidFill>
                <a:latin typeface="Consolas"/>
                <a:ea typeface="微软雅黑"/>
              </a:rPr>
              <a:t>new,delete</a:t>
            </a:r>
            <a:r>
              <a:rPr lang="zh-CN" altLang="en-US" sz="2400" dirty="0">
                <a:solidFill>
                  <a:prstClr val="black"/>
                </a:solidFill>
                <a:latin typeface="Consolas"/>
                <a:ea typeface="微软雅黑"/>
              </a:rPr>
              <a:t>和</a:t>
            </a:r>
            <a:r>
              <a:rPr lang="en-US" altLang="zh-CN" sz="2400" dirty="0">
                <a:solidFill>
                  <a:prstClr val="black"/>
                </a:solidFill>
                <a:latin typeface="Consolas"/>
                <a:ea typeface="微软雅黑"/>
              </a:rPr>
              <a:t>new [] , delete []</a:t>
            </a:r>
            <a:r>
              <a:rPr lang="zh-CN" altLang="en-US" sz="2400" dirty="0">
                <a:solidFill>
                  <a:prstClr val="black"/>
                </a:solidFill>
                <a:latin typeface="Consolas"/>
                <a:ea typeface="微软雅黑"/>
              </a:rPr>
              <a:t>要成对使用</a:t>
            </a:r>
            <a:r>
              <a:rPr lang="zh-CN" altLang="en-US" sz="2400" dirty="0">
                <a:solidFill>
                  <a:prstClr val="black"/>
                </a:solidFill>
                <a:latin typeface="微软雅黑"/>
                <a:ea typeface="微软雅黑"/>
              </a:rPr>
              <a:t>）</a:t>
            </a:r>
            <a:endParaRPr lang="en-US" altLang="zh-CN" sz="2400" dirty="0">
              <a:solidFill>
                <a:prstClr val="black"/>
              </a:solidFill>
              <a:latin typeface="微软雅黑"/>
              <a:ea typeface="微软雅黑"/>
            </a:endParaRPr>
          </a:p>
          <a:p>
            <a:pPr marL="800080" lvl="1" indent="-342891" defTabSz="457200">
              <a:buFont typeface="Arial" panose="020B0604020202020204" pitchFamily="34" charset="0"/>
              <a:buChar char="•"/>
            </a:pPr>
            <a:r>
              <a:rPr lang="zh-CN" altLang="en-US" sz="2400" dirty="0">
                <a:solidFill>
                  <a:prstClr val="black"/>
                </a:solidFill>
                <a:latin typeface="微软雅黑"/>
                <a:ea typeface="微软雅黑"/>
              </a:rPr>
              <a:t>类和对象的初始化和删除</a:t>
            </a:r>
            <a:endParaRPr lang="en-US" altLang="zh-CN" sz="2400" dirty="0">
              <a:solidFill>
                <a:prstClr val="black"/>
              </a:solidFill>
              <a:latin typeface="微软雅黑"/>
              <a:ea typeface="微软雅黑"/>
            </a:endParaRPr>
          </a:p>
          <a:p>
            <a:pPr marL="800080" lvl="1" indent="-342891" defTabSz="457200">
              <a:buFont typeface="Arial" panose="020B0604020202020204" pitchFamily="34" charset="0"/>
              <a:buChar char="•"/>
            </a:pPr>
            <a:r>
              <a:rPr lang="zh-CN" altLang="en-US" sz="2400" dirty="0">
                <a:solidFill>
                  <a:prstClr val="black"/>
                </a:solidFill>
                <a:latin typeface="微软雅黑"/>
                <a:ea typeface="微软雅黑"/>
              </a:rPr>
              <a:t>异常处理（</a:t>
            </a:r>
            <a:r>
              <a:rPr lang="zh-CN" altLang="en-US" sz="2400" dirty="0">
                <a:solidFill>
                  <a:prstClr val="black"/>
                </a:solidFill>
                <a:latin typeface="Consolas"/>
                <a:ea typeface="微软雅黑"/>
              </a:rPr>
              <a:t>不要在析构函数中抛出异常函数</a:t>
            </a:r>
            <a:r>
              <a:rPr lang="zh-CN" altLang="en-US" sz="2400" dirty="0">
                <a:solidFill>
                  <a:prstClr val="black"/>
                </a:solidFill>
                <a:latin typeface="微软雅黑"/>
                <a:ea typeface="微软雅黑"/>
              </a:rPr>
              <a:t>）</a:t>
            </a:r>
            <a:endParaRPr lang="en-US" altLang="zh-CN" sz="2400" dirty="0">
              <a:solidFill>
                <a:prstClr val="black"/>
              </a:solidFill>
              <a:latin typeface="微软雅黑"/>
              <a:ea typeface="微软雅黑"/>
            </a:endParaRPr>
          </a:p>
          <a:p>
            <a:pPr marL="800080" lvl="1" indent="-342891" defTabSz="457200">
              <a:buFont typeface="Arial" panose="020B0604020202020204" pitchFamily="34" charset="0"/>
              <a:buChar char="•"/>
            </a:pPr>
            <a:r>
              <a:rPr lang="zh-CN" altLang="en-US" sz="2400" dirty="0">
                <a:solidFill>
                  <a:prstClr val="black"/>
                </a:solidFill>
                <a:latin typeface="微软雅黑"/>
                <a:ea typeface="微软雅黑"/>
              </a:rPr>
              <a:t>兼容性和可移植性</a:t>
            </a:r>
            <a:endParaRPr lang="en-US" altLang="zh-CN" sz="2400" dirty="0">
              <a:solidFill>
                <a:prstClr val="black"/>
              </a:solidFill>
              <a:latin typeface="微软雅黑"/>
              <a:ea typeface="微软雅黑"/>
            </a:endParaRPr>
          </a:p>
          <a:p>
            <a:pPr marL="800080" lvl="1" indent="-342891" defTabSz="457200">
              <a:buFont typeface="Arial" panose="020B0604020202020204" pitchFamily="34" charset="0"/>
              <a:buChar char="•"/>
            </a:pPr>
            <a:r>
              <a:rPr lang="zh-CN" altLang="en-US" sz="2400" dirty="0">
                <a:solidFill>
                  <a:prstClr val="black"/>
                </a:solidFill>
                <a:latin typeface="微软雅黑"/>
                <a:ea typeface="微软雅黑"/>
              </a:rPr>
              <a:t>性能 （</a:t>
            </a:r>
            <a:r>
              <a:rPr lang="zh-CN" altLang="en-US" sz="2400" dirty="0">
                <a:solidFill>
                  <a:prstClr val="black"/>
                </a:solidFill>
                <a:latin typeface="Consolas"/>
                <a:ea typeface="微软雅黑"/>
              </a:rPr>
              <a:t>使用</a:t>
            </a:r>
            <a:r>
              <a:rPr lang="en-US" altLang="zh-CN" sz="2400" dirty="0">
                <a:solidFill>
                  <a:prstClr val="black"/>
                </a:solidFill>
                <a:latin typeface="Consolas"/>
                <a:ea typeface="微软雅黑"/>
              </a:rPr>
              <a:t>inline</a:t>
            </a:r>
            <a:r>
              <a:rPr lang="zh-CN" altLang="en-US" sz="2400" dirty="0">
                <a:solidFill>
                  <a:prstClr val="black"/>
                </a:solidFill>
                <a:latin typeface="Consolas"/>
                <a:ea typeface="微软雅黑"/>
              </a:rPr>
              <a:t>函数</a:t>
            </a:r>
            <a:r>
              <a:rPr lang="zh-CN" altLang="en-US" sz="2400" dirty="0">
                <a:solidFill>
                  <a:prstClr val="black"/>
                </a:solidFill>
                <a:latin typeface="微软雅黑"/>
                <a:ea typeface="微软雅黑"/>
              </a:rPr>
              <a:t>）</a:t>
            </a:r>
          </a:p>
        </p:txBody>
      </p:sp>
      <p:sp>
        <p:nvSpPr>
          <p:cNvPr id="4" name="文本框 3"/>
          <p:cNvSpPr txBox="1"/>
          <p:nvPr/>
        </p:nvSpPr>
        <p:spPr>
          <a:xfrm>
            <a:off x="2620701" y="1605024"/>
            <a:ext cx="7283712" cy="138499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defTabSz="457200"/>
            <a:r>
              <a:rPr lang="zh-CN" altLang="en-US" sz="2800" dirty="0">
                <a:solidFill>
                  <a:prstClr val="black"/>
                </a:solidFill>
                <a:latin typeface="微软雅黑"/>
                <a:ea typeface="微软雅黑"/>
              </a:rPr>
              <a:t>在编码以前， 开发小组要共同讨论， 在编码规范上形成共识， 并把确定的编码规范形成文档， 供开发人员编码过程中遵照</a:t>
            </a:r>
            <a:endParaRPr lang="en-US" altLang="zh-CN" sz="2800" dirty="0">
              <a:solidFill>
                <a:prstClr val="black"/>
              </a:solidFill>
              <a:latin typeface="微软雅黑"/>
              <a:ea typeface="微软雅黑"/>
            </a:endParaRPr>
          </a:p>
        </p:txBody>
      </p:sp>
    </p:spTree>
    <p:extLst>
      <p:ext uri="{BB962C8B-B14F-4D97-AF65-F5344CB8AC3E}">
        <p14:creationId xmlns:p14="http://schemas.microsoft.com/office/powerpoint/2010/main" val="1577853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0" nodeType="clickEffect">
                                  <p:stCondLst>
                                    <p:cond delay="0"/>
                                  </p:stCondLst>
                                  <p:childTnLst>
                                    <p:animEffect transition="out" filter="fade">
                                      <p:cBhvr>
                                        <p:cTn id="34" dur="500"/>
                                        <p:tgtEl>
                                          <p:spTgt spid="5">
                                            <p:txEl>
                                              <p:pRg st="0" end="0"/>
                                            </p:txEl>
                                          </p:spTgt>
                                        </p:tgtEl>
                                      </p:cBhvr>
                                    </p:animEffect>
                                    <p:set>
                                      <p:cBhvr>
                                        <p:cTn id="35" dur="1" fill="hold">
                                          <p:stCondLst>
                                            <p:cond delay="499"/>
                                          </p:stCondLst>
                                        </p:cTn>
                                        <p:tgtEl>
                                          <p:spTgt spid="5">
                                            <p:txEl>
                                              <p:pRg st="0" end="0"/>
                                            </p:txEl>
                                          </p:spTgt>
                                        </p:tgtEl>
                                        <p:attrNameLst>
                                          <p:attrName>style.visibility</p:attrName>
                                        </p:attrNameLst>
                                      </p:cBhvr>
                                      <p:to>
                                        <p:strVal val="hidden"/>
                                      </p:to>
                                    </p:set>
                                  </p:childTnLst>
                                </p:cTn>
                              </p:par>
                              <p:par>
                                <p:cTn id="36" presetID="10" presetClass="exit" presetSubtype="0" fill="hold" grpId="0" nodeType="withEffect">
                                  <p:stCondLst>
                                    <p:cond delay="0"/>
                                  </p:stCondLst>
                                  <p:childTnLst>
                                    <p:animEffect transition="out" filter="fade">
                                      <p:cBhvr>
                                        <p:cTn id="37" dur="500"/>
                                        <p:tgtEl>
                                          <p:spTgt spid="5">
                                            <p:txEl>
                                              <p:pRg st="1" end="1"/>
                                            </p:txEl>
                                          </p:spTgt>
                                        </p:tgtEl>
                                      </p:cBhvr>
                                    </p:animEffect>
                                    <p:set>
                                      <p:cBhvr>
                                        <p:cTn id="38" dur="1" fill="hold">
                                          <p:stCondLst>
                                            <p:cond delay="499"/>
                                          </p:stCondLst>
                                        </p:cTn>
                                        <p:tgtEl>
                                          <p:spTgt spid="5">
                                            <p:txEl>
                                              <p:pRg st="1" end="1"/>
                                            </p:txEl>
                                          </p:spTgt>
                                        </p:tgtEl>
                                        <p:attrNameLst>
                                          <p:attrName>style.visibility</p:attrName>
                                        </p:attrNameLst>
                                      </p:cBhvr>
                                      <p:to>
                                        <p:strVal val="hidden"/>
                                      </p:to>
                                    </p:set>
                                  </p:childTnLst>
                                </p:cTn>
                              </p:par>
                              <p:par>
                                <p:cTn id="39" presetID="10" presetClass="exit" presetSubtype="0" fill="hold" grpId="0" nodeType="withEffect">
                                  <p:stCondLst>
                                    <p:cond delay="0"/>
                                  </p:stCondLst>
                                  <p:childTnLst>
                                    <p:animEffect transition="out" filter="fade">
                                      <p:cBhvr>
                                        <p:cTn id="40" dur="500"/>
                                        <p:tgtEl>
                                          <p:spTgt spid="5">
                                            <p:txEl>
                                              <p:pRg st="2" end="2"/>
                                            </p:txEl>
                                          </p:spTgt>
                                        </p:tgtEl>
                                      </p:cBhvr>
                                    </p:animEffect>
                                    <p:set>
                                      <p:cBhvr>
                                        <p:cTn id="41" dur="1" fill="hold">
                                          <p:stCondLst>
                                            <p:cond delay="499"/>
                                          </p:stCondLst>
                                        </p:cTn>
                                        <p:tgtEl>
                                          <p:spTgt spid="5">
                                            <p:txEl>
                                              <p:pRg st="2" end="2"/>
                                            </p:txEl>
                                          </p:spTgt>
                                        </p:tgtEl>
                                        <p:attrNameLst>
                                          <p:attrName>style.visibility</p:attrName>
                                        </p:attrNameLst>
                                      </p:cBhvr>
                                      <p:to>
                                        <p:strVal val="hidden"/>
                                      </p:to>
                                    </p:set>
                                  </p:childTnLst>
                                </p:cTn>
                              </p:par>
                              <p:par>
                                <p:cTn id="42" presetID="10" presetClass="exit" presetSubtype="0" fill="hold" grpId="0" nodeType="withEffect">
                                  <p:stCondLst>
                                    <p:cond delay="0"/>
                                  </p:stCondLst>
                                  <p:childTnLst>
                                    <p:animEffect transition="out" filter="fade">
                                      <p:cBhvr>
                                        <p:cTn id="43" dur="500"/>
                                        <p:tgtEl>
                                          <p:spTgt spid="5">
                                            <p:txEl>
                                              <p:pRg st="3" end="3"/>
                                            </p:txEl>
                                          </p:spTgt>
                                        </p:tgtEl>
                                      </p:cBhvr>
                                    </p:animEffect>
                                    <p:set>
                                      <p:cBhvr>
                                        <p:cTn id="44" dur="1" fill="hold">
                                          <p:stCondLst>
                                            <p:cond delay="499"/>
                                          </p:stCondLst>
                                        </p:cTn>
                                        <p:tgtEl>
                                          <p:spTgt spid="5">
                                            <p:txEl>
                                              <p:pRg st="3" end="3"/>
                                            </p:txEl>
                                          </p:spTgt>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500"/>
                                        <p:tgtEl>
                                          <p:spTgt spid="5">
                                            <p:txEl>
                                              <p:pRg st="4" end="4"/>
                                            </p:txEl>
                                          </p:spTgt>
                                        </p:tgtEl>
                                      </p:cBhvr>
                                    </p:animEffect>
                                    <p:set>
                                      <p:cBhvr>
                                        <p:cTn id="47" dur="1" fill="hold">
                                          <p:stCondLst>
                                            <p:cond delay="499"/>
                                          </p:stCondLst>
                                        </p:cTn>
                                        <p:tgtEl>
                                          <p:spTgt spid="5">
                                            <p:txEl>
                                              <p:pRg st="4" end="4"/>
                                            </p:txEl>
                                          </p:spTgt>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5">
                                            <p:txEl>
                                              <p:pRg st="5" end="5"/>
                                            </p:txEl>
                                          </p:spTgt>
                                        </p:tgtEl>
                                      </p:cBhvr>
                                    </p:animEffect>
                                    <p:set>
                                      <p:cBhvr>
                                        <p:cTn id="50" dur="1" fill="hold">
                                          <p:stCondLst>
                                            <p:cond delay="499"/>
                                          </p:stCondLst>
                                        </p:cTn>
                                        <p:tgtEl>
                                          <p:spTgt spid="5">
                                            <p:txEl>
                                              <p:pRg st="5" end="5"/>
                                            </p:txEl>
                                          </p:spTgt>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5">
                                            <p:txEl>
                                              <p:pRg st="6" end="6"/>
                                            </p:txEl>
                                          </p:spTgt>
                                        </p:tgtEl>
                                      </p:cBhvr>
                                    </p:animEffect>
                                    <p:set>
                                      <p:cBhvr>
                                        <p:cTn id="53" dur="1" fill="hold">
                                          <p:stCondLst>
                                            <p:cond delay="499"/>
                                          </p:stCondLst>
                                        </p:cTn>
                                        <p:tgtEl>
                                          <p:spTgt spid="5">
                                            <p:txEl>
                                              <p:pRg st="6" end="6"/>
                                            </p:txEl>
                                          </p:spTgt>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500"/>
                                        <p:tgtEl>
                                          <p:spTgt spid="5">
                                            <p:txEl>
                                              <p:pRg st="7" end="7"/>
                                            </p:txEl>
                                          </p:spTgt>
                                        </p:tgtEl>
                                      </p:cBhvr>
                                    </p:animEffect>
                                    <p:set>
                                      <p:cBhvr>
                                        <p:cTn id="56" dur="1" fill="hold">
                                          <p:stCondLst>
                                            <p:cond delay="499"/>
                                          </p:stCondLst>
                                        </p:cTn>
                                        <p:tgtEl>
                                          <p:spTgt spid="5">
                                            <p:txEl>
                                              <p:pRg st="7" end="7"/>
                                            </p:txEl>
                                          </p:spTgt>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500"/>
                                        <p:tgtEl>
                                          <p:spTgt spid="5">
                                            <p:txEl>
                                              <p:pRg st="8" end="8"/>
                                            </p:txEl>
                                          </p:spTgt>
                                        </p:tgtEl>
                                      </p:cBhvr>
                                    </p:animEffect>
                                    <p:set>
                                      <p:cBhvr>
                                        <p:cTn id="59" dur="1" fill="hold">
                                          <p:stCondLst>
                                            <p:cond delay="499"/>
                                          </p:stCondLst>
                                        </p:cTn>
                                        <p:tgtEl>
                                          <p:spTgt spid="5">
                                            <p:txEl>
                                              <p:pRg st="8" end="8"/>
                                            </p:txEl>
                                          </p:spTgt>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500"/>
                                        <p:tgtEl>
                                          <p:spTgt spid="5">
                                            <p:txEl>
                                              <p:pRg st="9" end="9"/>
                                            </p:txEl>
                                          </p:spTgt>
                                        </p:tgtEl>
                                      </p:cBhvr>
                                    </p:animEffect>
                                    <p:set>
                                      <p:cBhvr>
                                        <p:cTn id="62" dur="1" fill="hold">
                                          <p:stCondLst>
                                            <p:cond delay="499"/>
                                          </p:stCondLst>
                                        </p:cTn>
                                        <p:tgtEl>
                                          <p:spTgt spid="5">
                                            <p:txEl>
                                              <p:pRg st="9" end="9"/>
                                            </p:txEl>
                                          </p:spTgt>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90065" y="554107"/>
            <a:ext cx="6239224" cy="707886"/>
          </a:xfrm>
          <a:prstGeom prst="rect">
            <a:avLst/>
          </a:prstGeom>
          <a:noFill/>
        </p:spPr>
        <p:txBody>
          <a:bodyPr wrap="square" rtlCol="0">
            <a:spAutoFit/>
          </a:bodyPr>
          <a:lstStyle/>
          <a:p>
            <a:pPr defTabSz="457200"/>
            <a:r>
              <a:rPr lang="zh-CN" altLang="en-US" sz="4000" dirty="0">
                <a:solidFill>
                  <a:prstClr val="black"/>
                </a:solidFill>
                <a:latin typeface="微软雅黑"/>
                <a:ea typeface="微软雅黑"/>
              </a:rPr>
              <a:t>官方语言编码规范</a:t>
            </a:r>
            <a:endParaRPr lang="en-US" altLang="zh-CN" sz="4000" dirty="0">
              <a:solidFill>
                <a:prstClr val="black"/>
              </a:solidFill>
              <a:latin typeface="微软雅黑"/>
              <a:ea typeface="微软雅黑"/>
            </a:endParaRPr>
          </a:p>
        </p:txBody>
      </p:sp>
      <p:sp>
        <p:nvSpPr>
          <p:cNvPr id="3" name="文本框 2"/>
          <p:cNvSpPr txBox="1"/>
          <p:nvPr/>
        </p:nvSpPr>
        <p:spPr>
          <a:xfrm>
            <a:off x="2790070" y="1417746"/>
            <a:ext cx="6769289" cy="1477328"/>
          </a:xfrm>
          <a:prstGeom prst="rect">
            <a:avLst/>
          </a:prstGeom>
          <a:noFill/>
        </p:spPr>
        <p:txBody>
          <a:bodyPr wrap="square" rtlCol="0">
            <a:spAutoFit/>
          </a:bodyPr>
          <a:lstStyle/>
          <a:p>
            <a:pPr marL="285744" indent="-285744" defTabSz="457200">
              <a:buFont typeface="Arial" panose="020B0604020202020204" pitchFamily="34" charset="0"/>
              <a:buChar char="•"/>
            </a:pPr>
            <a:r>
              <a:rPr lang="en-US" altLang="zh-CN" dirty="0">
                <a:solidFill>
                  <a:prstClr val="black"/>
                </a:solidFill>
                <a:latin typeface="Consolas"/>
                <a:ea typeface="微软雅黑"/>
              </a:rPr>
              <a:t>Java</a:t>
            </a:r>
          </a:p>
          <a:p>
            <a:pPr marL="285744" indent="-285744" defTabSz="457200">
              <a:buFont typeface="Arial" panose="020B0604020202020204" pitchFamily="34" charset="0"/>
              <a:buChar char="•"/>
            </a:pPr>
            <a:r>
              <a:rPr lang="en-US" altLang="zh-CN" dirty="0">
                <a:solidFill>
                  <a:prstClr val="black"/>
                </a:solidFill>
                <a:latin typeface="Consolas"/>
                <a:ea typeface="微软雅黑"/>
              </a:rPr>
              <a:t>C#</a:t>
            </a:r>
          </a:p>
          <a:p>
            <a:pPr marL="285744" indent="-285744" defTabSz="457200">
              <a:buFont typeface="Arial" panose="020B0604020202020204" pitchFamily="34" charset="0"/>
              <a:buChar char="•"/>
            </a:pPr>
            <a:r>
              <a:rPr lang="en-US" altLang="zh-CN" dirty="0">
                <a:solidFill>
                  <a:prstClr val="black"/>
                </a:solidFill>
                <a:latin typeface="Consolas"/>
                <a:ea typeface="微软雅黑"/>
              </a:rPr>
              <a:t>Python</a:t>
            </a:r>
          </a:p>
          <a:p>
            <a:pPr marL="285744" indent="-285744" defTabSz="457200">
              <a:buFont typeface="Arial" panose="020B0604020202020204" pitchFamily="34" charset="0"/>
              <a:buChar char="•"/>
            </a:pPr>
            <a:r>
              <a:rPr lang="en-US" altLang="zh-CN" dirty="0" err="1">
                <a:solidFill>
                  <a:prstClr val="black"/>
                </a:solidFill>
                <a:latin typeface="Consolas"/>
                <a:ea typeface="微软雅黑"/>
              </a:rPr>
              <a:t>Kotlin</a:t>
            </a:r>
            <a:endParaRPr lang="en-US" altLang="zh-CN" dirty="0">
              <a:solidFill>
                <a:prstClr val="black"/>
              </a:solidFill>
              <a:latin typeface="Consolas"/>
              <a:ea typeface="微软雅黑"/>
            </a:endParaRPr>
          </a:p>
          <a:p>
            <a:pPr marL="285744" indent="-285744" defTabSz="457200">
              <a:buFont typeface="Arial" panose="020B0604020202020204" pitchFamily="34" charset="0"/>
              <a:buChar char="•"/>
            </a:pPr>
            <a:r>
              <a:rPr lang="zh-CN" altLang="en-US" dirty="0">
                <a:solidFill>
                  <a:prstClr val="black"/>
                </a:solidFill>
                <a:latin typeface="Consolas"/>
                <a:ea typeface="微软雅黑"/>
              </a:rPr>
              <a:t>。。。</a:t>
            </a:r>
          </a:p>
        </p:txBody>
      </p:sp>
      <p:sp>
        <p:nvSpPr>
          <p:cNvPr id="4" name="文本框 3"/>
          <p:cNvSpPr txBox="1"/>
          <p:nvPr/>
        </p:nvSpPr>
        <p:spPr>
          <a:xfrm>
            <a:off x="2790067" y="3101968"/>
            <a:ext cx="6481219" cy="707886"/>
          </a:xfrm>
          <a:prstGeom prst="rect">
            <a:avLst/>
          </a:prstGeom>
          <a:noFill/>
        </p:spPr>
        <p:txBody>
          <a:bodyPr wrap="square" rtlCol="0">
            <a:spAutoFit/>
          </a:bodyPr>
          <a:lstStyle/>
          <a:p>
            <a:pPr defTabSz="457200"/>
            <a:r>
              <a:rPr lang="zh-CN" altLang="en-US" sz="4000" dirty="0">
                <a:solidFill>
                  <a:prstClr val="black"/>
                </a:solidFill>
                <a:latin typeface="微软雅黑"/>
                <a:ea typeface="微软雅黑"/>
              </a:rPr>
              <a:t>开源代码编码规范</a:t>
            </a:r>
            <a:endParaRPr lang="en-US" altLang="zh-CN" sz="4000" dirty="0">
              <a:solidFill>
                <a:prstClr val="black"/>
              </a:solidFill>
              <a:latin typeface="微软雅黑"/>
              <a:ea typeface="微软雅黑"/>
            </a:endParaRPr>
          </a:p>
        </p:txBody>
      </p:sp>
      <p:sp>
        <p:nvSpPr>
          <p:cNvPr id="5" name="文本框 4"/>
          <p:cNvSpPr txBox="1"/>
          <p:nvPr/>
        </p:nvSpPr>
        <p:spPr>
          <a:xfrm>
            <a:off x="2787912" y="3821661"/>
            <a:ext cx="7588156" cy="369332"/>
          </a:xfrm>
          <a:prstGeom prst="rect">
            <a:avLst/>
          </a:prstGeom>
          <a:noFill/>
        </p:spPr>
        <p:txBody>
          <a:bodyPr wrap="square" rtlCol="0">
            <a:spAutoFit/>
          </a:bodyPr>
          <a:lstStyle/>
          <a:p>
            <a:pPr marL="285744" indent="-285744" defTabSz="457200">
              <a:buFont typeface="Arial" panose="020B0604020202020204" pitchFamily="34" charset="0"/>
              <a:buChar char="•"/>
            </a:pPr>
            <a:r>
              <a:rPr lang="en-US" altLang="zh-CN" dirty="0">
                <a:solidFill>
                  <a:prstClr val="black"/>
                </a:solidFill>
                <a:latin typeface="Consolas"/>
                <a:ea typeface="微软雅黑"/>
              </a:rPr>
              <a:t>Style guides for Google-originated open-source projects</a:t>
            </a:r>
            <a:endParaRPr lang="zh-CN" altLang="en-US" dirty="0">
              <a:solidFill>
                <a:prstClr val="black"/>
              </a:solidFill>
              <a:latin typeface="Consolas"/>
              <a:ea typeface="微软雅黑"/>
            </a:endParaRPr>
          </a:p>
        </p:txBody>
      </p:sp>
      <p:sp>
        <p:nvSpPr>
          <p:cNvPr id="7" name="文本框 6"/>
          <p:cNvSpPr txBox="1"/>
          <p:nvPr/>
        </p:nvSpPr>
        <p:spPr>
          <a:xfrm>
            <a:off x="2781101" y="4586461"/>
            <a:ext cx="3335944" cy="707886"/>
          </a:xfrm>
          <a:prstGeom prst="rect">
            <a:avLst/>
          </a:prstGeom>
          <a:noFill/>
        </p:spPr>
        <p:txBody>
          <a:bodyPr wrap="square" rtlCol="0">
            <a:spAutoFit/>
          </a:bodyPr>
          <a:lstStyle/>
          <a:p>
            <a:pPr defTabSz="457200"/>
            <a:r>
              <a:rPr lang="zh-CN" altLang="en-US" sz="4000" dirty="0">
                <a:solidFill>
                  <a:prstClr val="black"/>
                </a:solidFill>
                <a:latin typeface="微软雅黑"/>
                <a:ea typeface="微软雅黑"/>
              </a:rPr>
              <a:t>企业编码规范</a:t>
            </a:r>
            <a:endParaRPr lang="en-US" altLang="zh-CN" sz="4000" dirty="0">
              <a:solidFill>
                <a:prstClr val="black"/>
              </a:solidFill>
              <a:latin typeface="微软雅黑"/>
              <a:ea typeface="微软雅黑"/>
            </a:endParaRPr>
          </a:p>
        </p:txBody>
      </p:sp>
      <p:sp>
        <p:nvSpPr>
          <p:cNvPr id="8" name="文本框 7"/>
          <p:cNvSpPr txBox="1"/>
          <p:nvPr/>
        </p:nvSpPr>
        <p:spPr>
          <a:xfrm>
            <a:off x="2790065" y="5362407"/>
            <a:ext cx="7779224" cy="369332"/>
          </a:xfrm>
          <a:prstGeom prst="rect">
            <a:avLst/>
          </a:prstGeom>
          <a:noFill/>
        </p:spPr>
        <p:txBody>
          <a:bodyPr wrap="square" rtlCol="0">
            <a:spAutoFit/>
          </a:bodyPr>
          <a:lstStyle/>
          <a:p>
            <a:pPr marL="285744" indent="-285744" defTabSz="457200">
              <a:buFont typeface="Arial" panose="020B0604020202020204" pitchFamily="34" charset="0"/>
              <a:buChar char="•"/>
            </a:pPr>
            <a:r>
              <a:rPr lang="en-US" altLang="zh-CN" dirty="0">
                <a:solidFill>
                  <a:prstClr val="black"/>
                </a:solidFill>
                <a:latin typeface="Consolas"/>
                <a:ea typeface="微软雅黑"/>
              </a:rPr>
              <a:t>Alibaba Java Coding Guidelines</a:t>
            </a:r>
            <a:endParaRPr lang="zh-CN" altLang="en-US" dirty="0">
              <a:solidFill>
                <a:prstClr val="black"/>
              </a:solidFill>
              <a:latin typeface="Consolas"/>
              <a:ea typeface="微软雅黑"/>
            </a:endParaRPr>
          </a:p>
        </p:txBody>
      </p:sp>
      <p:pic>
        <p:nvPicPr>
          <p:cNvPr id="6" name="图片 5"/>
          <p:cNvPicPr>
            <a:picLocks noChangeAspect="1"/>
          </p:cNvPicPr>
          <p:nvPr/>
        </p:nvPicPr>
        <p:blipFill>
          <a:blip r:embed="rId3"/>
          <a:stretch>
            <a:fillRect/>
          </a:stretch>
        </p:blipFill>
        <p:spPr>
          <a:xfrm>
            <a:off x="1563286" y="3153577"/>
            <a:ext cx="9006498" cy="934510"/>
          </a:xfrm>
          <a:prstGeom prst="rect">
            <a:avLst/>
          </a:prstGeom>
        </p:spPr>
      </p:pic>
    </p:spTree>
    <p:extLst>
      <p:ext uri="{BB962C8B-B14F-4D97-AF65-F5344CB8AC3E}">
        <p14:creationId xmlns:p14="http://schemas.microsoft.com/office/powerpoint/2010/main" val="1508408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6"/>
                                        </p:tgtEl>
                                      </p:cBhvr>
                                    </p:animEffect>
                                    <p:set>
                                      <p:cBhvr>
                                        <p:cTn id="21" dur="1" fill="hold">
                                          <p:stCondLst>
                                            <p:cond delay="499"/>
                                          </p:stCondLst>
                                        </p:cTn>
                                        <p:tgtEl>
                                          <p:spTgt spid="6"/>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847816" y="1988674"/>
            <a:ext cx="5080000" cy="3046988"/>
          </a:xfrm>
          <a:prstGeom prst="rect">
            <a:avLst/>
          </a:prstGeom>
          <a:noFill/>
        </p:spPr>
        <p:txBody>
          <a:bodyPr wrap="square" rtlCol="0">
            <a:spAutoFit/>
          </a:bodyPr>
          <a:lstStyle/>
          <a:p>
            <a:pPr defTabSz="457200"/>
            <a:r>
              <a:rPr lang="en-US" altLang="zh-CN" sz="2400" dirty="0">
                <a:solidFill>
                  <a:prstClr val="black"/>
                </a:solidFill>
                <a:latin typeface="微软雅黑"/>
                <a:ea typeface="微软雅黑"/>
              </a:rPr>
              <a:t>Google </a:t>
            </a:r>
            <a:r>
              <a:rPr lang="zh-CN" altLang="en-US" sz="2400" dirty="0">
                <a:solidFill>
                  <a:prstClr val="black"/>
                </a:solidFill>
                <a:latin typeface="微软雅黑"/>
                <a:ea typeface="微软雅黑"/>
              </a:rPr>
              <a:t>开源项目风格指南 </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中文版</a:t>
            </a:r>
            <a:r>
              <a:rPr lang="en-US" altLang="zh-CN" sz="2400" dirty="0">
                <a:solidFill>
                  <a:prstClr val="black"/>
                </a:solidFill>
                <a:latin typeface="微软雅黑"/>
                <a:ea typeface="微软雅黑"/>
              </a:rPr>
              <a:t>)</a:t>
            </a:r>
          </a:p>
          <a:p>
            <a:pPr marL="285744" indent="-285744" defTabSz="457200">
              <a:buFont typeface="Arial" panose="020B0604020202020204" pitchFamily="34" charset="0"/>
              <a:buChar char="•"/>
            </a:pPr>
            <a:r>
              <a:rPr lang="en-US" altLang="zh-CN" sz="2800" dirty="0">
                <a:solidFill>
                  <a:prstClr val="black"/>
                </a:solidFill>
                <a:latin typeface="微软雅黑"/>
                <a:ea typeface="微软雅黑"/>
              </a:rPr>
              <a:t>Google C++ </a:t>
            </a:r>
            <a:r>
              <a:rPr lang="zh-CN" altLang="en-US" sz="2800" dirty="0">
                <a:solidFill>
                  <a:prstClr val="black"/>
                </a:solidFill>
                <a:latin typeface="微软雅黑"/>
                <a:ea typeface="微软雅黑"/>
              </a:rPr>
              <a:t>风格指南</a:t>
            </a:r>
          </a:p>
          <a:p>
            <a:pPr marL="285744" indent="-285744" defTabSz="457200">
              <a:buFont typeface="Arial" panose="020B0604020202020204" pitchFamily="34" charset="0"/>
              <a:buChar char="•"/>
            </a:pPr>
            <a:r>
              <a:rPr lang="en-US" altLang="zh-CN" sz="2800" dirty="0">
                <a:solidFill>
                  <a:prstClr val="black"/>
                </a:solidFill>
                <a:latin typeface="微软雅黑"/>
                <a:ea typeface="微软雅黑"/>
              </a:rPr>
              <a:t>Google Objective-C </a:t>
            </a:r>
            <a:r>
              <a:rPr lang="zh-CN" altLang="en-US" sz="2800" dirty="0">
                <a:solidFill>
                  <a:prstClr val="black"/>
                </a:solidFill>
                <a:latin typeface="微软雅黑"/>
                <a:ea typeface="微软雅黑"/>
              </a:rPr>
              <a:t>风格指南</a:t>
            </a:r>
          </a:p>
          <a:p>
            <a:pPr marL="285744" indent="-285744" defTabSz="457200">
              <a:buFont typeface="Arial" panose="020B0604020202020204" pitchFamily="34" charset="0"/>
              <a:buChar char="•"/>
            </a:pPr>
            <a:r>
              <a:rPr lang="en-US" altLang="zh-CN" sz="2800" dirty="0">
                <a:solidFill>
                  <a:prstClr val="black"/>
                </a:solidFill>
                <a:latin typeface="微软雅黑"/>
                <a:ea typeface="微软雅黑"/>
              </a:rPr>
              <a:t>Google Python </a:t>
            </a:r>
            <a:r>
              <a:rPr lang="zh-CN" altLang="en-US" sz="2800" dirty="0">
                <a:solidFill>
                  <a:prstClr val="black"/>
                </a:solidFill>
                <a:latin typeface="微软雅黑"/>
                <a:ea typeface="微软雅黑"/>
              </a:rPr>
              <a:t>风格指南</a:t>
            </a:r>
          </a:p>
          <a:p>
            <a:pPr marL="285744" indent="-285744" defTabSz="457200">
              <a:buFont typeface="Arial" panose="020B0604020202020204" pitchFamily="34" charset="0"/>
              <a:buChar char="•"/>
            </a:pPr>
            <a:r>
              <a:rPr lang="en-US" altLang="zh-CN" sz="2800" dirty="0">
                <a:solidFill>
                  <a:prstClr val="black"/>
                </a:solidFill>
                <a:latin typeface="微软雅黑"/>
                <a:ea typeface="微软雅黑"/>
              </a:rPr>
              <a:t>Google JSON </a:t>
            </a:r>
            <a:r>
              <a:rPr lang="zh-CN" altLang="en-US" sz="2800" dirty="0">
                <a:solidFill>
                  <a:prstClr val="black"/>
                </a:solidFill>
                <a:latin typeface="微软雅黑"/>
                <a:ea typeface="微软雅黑"/>
              </a:rPr>
              <a:t>风格指南</a:t>
            </a:r>
          </a:p>
          <a:p>
            <a:pPr marL="285744" indent="-285744" defTabSz="457200">
              <a:buFont typeface="Arial" panose="020B0604020202020204" pitchFamily="34" charset="0"/>
              <a:buChar char="•"/>
            </a:pPr>
            <a:r>
              <a:rPr lang="en-US" altLang="zh-CN" sz="2800" dirty="0">
                <a:solidFill>
                  <a:prstClr val="black"/>
                </a:solidFill>
                <a:latin typeface="微软雅黑"/>
                <a:ea typeface="微软雅黑"/>
              </a:rPr>
              <a:t>Google Shell </a:t>
            </a:r>
            <a:r>
              <a:rPr lang="zh-CN" altLang="en-US" sz="2800" dirty="0">
                <a:solidFill>
                  <a:prstClr val="black"/>
                </a:solidFill>
                <a:latin typeface="微软雅黑"/>
                <a:ea typeface="微软雅黑"/>
              </a:rPr>
              <a:t>风格指南</a:t>
            </a:r>
          </a:p>
        </p:txBody>
      </p:sp>
      <p:pic>
        <p:nvPicPr>
          <p:cNvPr id="9" name="图片 8"/>
          <p:cNvPicPr>
            <a:picLocks noChangeAspect="1"/>
          </p:cNvPicPr>
          <p:nvPr/>
        </p:nvPicPr>
        <p:blipFill>
          <a:blip r:embed="rId3"/>
          <a:stretch>
            <a:fillRect/>
          </a:stretch>
        </p:blipFill>
        <p:spPr>
          <a:xfrm>
            <a:off x="2572320" y="1740717"/>
            <a:ext cx="6502315" cy="3542903"/>
          </a:xfrm>
          <a:prstGeom prst="rect">
            <a:avLst/>
          </a:prstGeom>
        </p:spPr>
      </p:pic>
      <p:pic>
        <p:nvPicPr>
          <p:cNvPr id="2" name="图片 1"/>
          <p:cNvPicPr>
            <a:picLocks noChangeAspect="1"/>
          </p:cNvPicPr>
          <p:nvPr/>
        </p:nvPicPr>
        <p:blipFill>
          <a:blip r:embed="rId4"/>
          <a:stretch>
            <a:fillRect/>
          </a:stretch>
        </p:blipFill>
        <p:spPr>
          <a:xfrm>
            <a:off x="2423238" y="1740716"/>
            <a:ext cx="8034602" cy="3951872"/>
          </a:xfrm>
          <a:prstGeom prst="rect">
            <a:avLst/>
          </a:prstGeom>
        </p:spPr>
      </p:pic>
    </p:spTree>
    <p:extLst>
      <p:ext uri="{BB962C8B-B14F-4D97-AF65-F5344CB8AC3E}">
        <p14:creationId xmlns:p14="http://schemas.microsoft.com/office/powerpoint/2010/main" val="372635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2697556" y="2364601"/>
            <a:ext cx="8120340" cy="523220"/>
          </a:xfrm>
          <a:prstGeom prst="rect">
            <a:avLst/>
          </a:prstGeom>
          <a:noFill/>
        </p:spPr>
        <p:txBody>
          <a:bodyPr wrap="square" rtlCol="0">
            <a:spAutoFit/>
          </a:bodyPr>
          <a:lstStyle/>
          <a:p>
            <a:pPr defTabSz="457200"/>
            <a:endParaRPr lang="en-US" altLang="zh-CN" sz="2800" dirty="0">
              <a:solidFill>
                <a:srgbClr val="756F67"/>
              </a:solidFill>
              <a:latin typeface="微软雅黑"/>
              <a:ea typeface="微软雅黑"/>
            </a:endParaRPr>
          </a:p>
        </p:txBody>
      </p:sp>
      <p:sp>
        <p:nvSpPr>
          <p:cNvPr id="4" name="文本框 3"/>
          <p:cNvSpPr txBox="1"/>
          <p:nvPr/>
        </p:nvSpPr>
        <p:spPr>
          <a:xfrm>
            <a:off x="2639096" y="540496"/>
            <a:ext cx="7603067" cy="707886"/>
          </a:xfrm>
          <a:prstGeom prst="rect">
            <a:avLst/>
          </a:prstGeom>
          <a:noFill/>
        </p:spPr>
        <p:txBody>
          <a:bodyPr wrap="square" rtlCol="0">
            <a:spAutoFit/>
          </a:bodyPr>
          <a:lstStyle/>
          <a:p>
            <a:pPr defTabSz="457200"/>
            <a:r>
              <a:rPr lang="zh-CN" altLang="en-US" sz="4000" dirty="0">
                <a:solidFill>
                  <a:prstClr val="black"/>
                </a:solidFill>
                <a:latin typeface="Consolas"/>
                <a:ea typeface="微软雅黑"/>
              </a:rPr>
              <a:t>编码规范执行的辅助工具</a:t>
            </a:r>
          </a:p>
        </p:txBody>
      </p:sp>
      <p:sp>
        <p:nvSpPr>
          <p:cNvPr id="5" name="文本框 4"/>
          <p:cNvSpPr txBox="1"/>
          <p:nvPr/>
        </p:nvSpPr>
        <p:spPr>
          <a:xfrm>
            <a:off x="2639097" y="1548027"/>
            <a:ext cx="6722535" cy="369332"/>
          </a:xfrm>
          <a:prstGeom prst="rect">
            <a:avLst/>
          </a:prstGeom>
          <a:noFill/>
        </p:spPr>
        <p:txBody>
          <a:bodyPr wrap="square" rtlCol="0">
            <a:spAutoFit/>
          </a:bodyPr>
          <a:lstStyle/>
          <a:p>
            <a:pPr defTabSz="457200"/>
            <a:r>
              <a:rPr lang="zh-CN" altLang="en-US" dirty="0">
                <a:solidFill>
                  <a:prstClr val="black"/>
                </a:solidFill>
                <a:latin typeface="Consolas"/>
                <a:ea typeface="微软雅黑"/>
              </a:rPr>
              <a:t>代码排版工具 </a:t>
            </a:r>
            <a:r>
              <a:rPr lang="en-US" altLang="zh-CN" dirty="0" err="1">
                <a:solidFill>
                  <a:prstClr val="black"/>
                </a:solidFill>
                <a:latin typeface="Consolas"/>
                <a:ea typeface="微软雅黑"/>
              </a:rPr>
              <a:t>SourceStyler</a:t>
            </a:r>
            <a:r>
              <a:rPr lang="en-US" altLang="zh-CN" dirty="0">
                <a:solidFill>
                  <a:prstClr val="black"/>
                </a:solidFill>
                <a:latin typeface="Consolas"/>
                <a:ea typeface="微软雅黑"/>
              </a:rPr>
              <a:t> C++</a:t>
            </a:r>
          </a:p>
        </p:txBody>
      </p:sp>
      <p:pic>
        <p:nvPicPr>
          <p:cNvPr id="7" name="图片 6"/>
          <p:cNvPicPr>
            <a:picLocks noChangeAspect="1"/>
          </p:cNvPicPr>
          <p:nvPr/>
        </p:nvPicPr>
        <p:blipFill>
          <a:blip r:embed="rId3"/>
          <a:stretch>
            <a:fillRect/>
          </a:stretch>
        </p:blipFill>
        <p:spPr>
          <a:xfrm>
            <a:off x="2310218" y="3423567"/>
            <a:ext cx="8260821" cy="2248645"/>
          </a:xfrm>
          <a:prstGeom prst="rect">
            <a:avLst/>
          </a:prstGeom>
        </p:spPr>
      </p:pic>
      <p:sp>
        <p:nvSpPr>
          <p:cNvPr id="2" name="文本框 1"/>
          <p:cNvSpPr txBox="1"/>
          <p:nvPr/>
        </p:nvSpPr>
        <p:spPr>
          <a:xfrm>
            <a:off x="2665828" y="2285799"/>
            <a:ext cx="4882152" cy="369332"/>
          </a:xfrm>
          <a:prstGeom prst="rect">
            <a:avLst/>
          </a:prstGeom>
          <a:noFill/>
        </p:spPr>
        <p:txBody>
          <a:bodyPr wrap="square" rtlCol="0">
            <a:spAutoFit/>
          </a:bodyPr>
          <a:lstStyle/>
          <a:p>
            <a:pPr defTabSz="457200"/>
            <a:r>
              <a:rPr lang="zh-CN" altLang="en-US" dirty="0">
                <a:solidFill>
                  <a:prstClr val="black"/>
                </a:solidFill>
                <a:latin typeface="Consolas"/>
                <a:ea typeface="微软雅黑"/>
              </a:rPr>
              <a:t>企业插件：</a:t>
            </a:r>
            <a:endParaRPr lang="en-US" altLang="zh-CN" dirty="0">
              <a:solidFill>
                <a:prstClr val="black"/>
              </a:solidFill>
              <a:latin typeface="Consolas"/>
              <a:ea typeface="微软雅黑"/>
            </a:endParaRPr>
          </a:p>
        </p:txBody>
      </p:sp>
      <p:sp>
        <p:nvSpPr>
          <p:cNvPr id="8" name="文本框 7"/>
          <p:cNvSpPr txBox="1"/>
          <p:nvPr/>
        </p:nvSpPr>
        <p:spPr>
          <a:xfrm>
            <a:off x="2639097" y="1923679"/>
            <a:ext cx="6722535" cy="369332"/>
          </a:xfrm>
          <a:prstGeom prst="rect">
            <a:avLst/>
          </a:prstGeom>
          <a:noFill/>
        </p:spPr>
        <p:txBody>
          <a:bodyPr wrap="square" rtlCol="0">
            <a:spAutoFit/>
          </a:bodyPr>
          <a:lstStyle/>
          <a:p>
            <a:pPr defTabSz="457200"/>
            <a:r>
              <a:rPr lang="zh-CN" altLang="en-US" dirty="0">
                <a:solidFill>
                  <a:prstClr val="black"/>
                </a:solidFill>
                <a:latin typeface="Consolas"/>
                <a:ea typeface="微软雅黑"/>
              </a:rPr>
              <a:t>编码规范检查工具 </a:t>
            </a:r>
            <a:r>
              <a:rPr lang="en-US" altLang="zh-CN" dirty="0" err="1">
                <a:solidFill>
                  <a:prstClr val="black"/>
                </a:solidFill>
                <a:latin typeface="Consolas"/>
                <a:ea typeface="微软雅黑"/>
              </a:rPr>
              <a:t>CodeWizard</a:t>
            </a:r>
            <a:endParaRPr lang="en-US" altLang="zh-CN" dirty="0">
              <a:solidFill>
                <a:prstClr val="black"/>
              </a:solidFill>
              <a:latin typeface="Consolas"/>
              <a:ea typeface="微软雅黑"/>
            </a:endParaRPr>
          </a:p>
        </p:txBody>
      </p:sp>
      <p:grpSp>
        <p:nvGrpSpPr>
          <p:cNvPr id="9" name="组合 8"/>
          <p:cNvGrpSpPr/>
          <p:nvPr/>
        </p:nvGrpSpPr>
        <p:grpSpPr>
          <a:xfrm>
            <a:off x="6757726" y="1442217"/>
            <a:ext cx="3361268" cy="1144087"/>
            <a:chOff x="6006756" y="1019175"/>
            <a:chExt cx="6096000" cy="744984"/>
          </a:xfrm>
        </p:grpSpPr>
        <p:sp>
          <p:nvSpPr>
            <p:cNvPr id="3" name="文本框 2"/>
            <p:cNvSpPr txBox="1"/>
            <p:nvPr/>
          </p:nvSpPr>
          <p:spPr>
            <a:xfrm>
              <a:off x="6006756" y="1204226"/>
              <a:ext cx="6096000" cy="420865"/>
            </a:xfrm>
            <a:prstGeom prst="rect">
              <a:avLst/>
            </a:prstGeom>
            <a:noFill/>
          </p:spPr>
          <p:txBody>
            <a:bodyPr wrap="square" rtlCol="0">
              <a:spAutoFit/>
            </a:bodyPr>
            <a:lstStyle/>
            <a:p>
              <a:pPr defTabSz="457200"/>
              <a:r>
                <a:rPr lang="zh-CN" altLang="en-US" dirty="0">
                  <a:solidFill>
                    <a:prstClr val="black"/>
                  </a:solidFill>
                  <a:latin typeface="Consolas"/>
                  <a:ea typeface="微软雅黑"/>
                </a:rPr>
                <a:t>类、表达式、控制语句、模板、函数、变量</a:t>
              </a:r>
              <a:r>
                <a:rPr lang="en-US" altLang="zh-CN" dirty="0">
                  <a:solidFill>
                    <a:prstClr val="black"/>
                  </a:solidFill>
                  <a:latin typeface="Consolas"/>
                  <a:ea typeface="微软雅黑"/>
                </a:rPr>
                <a:t>try-catch</a:t>
              </a:r>
              <a:r>
                <a:rPr lang="zh-CN" altLang="en-US" dirty="0">
                  <a:solidFill>
                    <a:prstClr val="black"/>
                  </a:solidFill>
                  <a:latin typeface="Consolas"/>
                  <a:ea typeface="微软雅黑"/>
                </a:rPr>
                <a:t>块</a:t>
              </a:r>
            </a:p>
          </p:txBody>
        </p:sp>
        <p:sp>
          <p:nvSpPr>
            <p:cNvPr id="6" name="矩形 5"/>
            <p:cNvSpPr/>
            <p:nvPr/>
          </p:nvSpPr>
          <p:spPr>
            <a:xfrm>
              <a:off x="6006756" y="1019175"/>
              <a:ext cx="5882641" cy="744984"/>
            </a:xfrm>
            <a:prstGeom prst="rect">
              <a:avLst/>
            </a:prstGeom>
            <a:noFill/>
            <a:ln>
              <a:solidFill>
                <a:schemeClr val="tx1"/>
              </a:solidFill>
            </a:ln>
            <a:effectLst>
              <a:glow rad="63500">
                <a:schemeClr val="accent1">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white"/>
                </a:solidFill>
                <a:latin typeface="Consolas"/>
                <a:ea typeface="微软雅黑"/>
              </a:endParaRPr>
            </a:p>
          </p:txBody>
        </p:sp>
      </p:grpSp>
    </p:spTree>
    <p:extLst>
      <p:ext uri="{BB962C8B-B14F-4D97-AF65-F5344CB8AC3E}">
        <p14:creationId xmlns:p14="http://schemas.microsoft.com/office/powerpoint/2010/main" val="3527601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nodePh="1">
                                  <p:stCondLst>
                                    <p:cond delay="0"/>
                                  </p:stCondLst>
                                  <p:endCondLst>
                                    <p:cond evt="begin" delay="0">
                                      <p:tn val="17"/>
                                    </p:cond>
                                  </p:end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5" grpId="0"/>
      <p:bldP spid="2"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594273" y="662408"/>
            <a:ext cx="7310140" cy="3489232"/>
          </a:xfrm>
          <a:prstGeom prst="rect">
            <a:avLst/>
          </a:prstGeom>
        </p:spPr>
      </p:pic>
      <p:pic>
        <p:nvPicPr>
          <p:cNvPr id="3" name="图片 2"/>
          <p:cNvPicPr>
            <a:picLocks noChangeAspect="1"/>
          </p:cNvPicPr>
          <p:nvPr/>
        </p:nvPicPr>
        <p:blipFill>
          <a:blip r:embed="rId4"/>
          <a:stretch>
            <a:fillRect/>
          </a:stretch>
        </p:blipFill>
        <p:spPr>
          <a:xfrm>
            <a:off x="1662136" y="662409"/>
            <a:ext cx="8867729" cy="3312459"/>
          </a:xfrm>
          <a:prstGeom prst="rect">
            <a:avLst/>
          </a:prstGeom>
        </p:spPr>
      </p:pic>
    </p:spTree>
    <p:extLst>
      <p:ext uri="{BB962C8B-B14F-4D97-AF65-F5344CB8AC3E}">
        <p14:creationId xmlns:p14="http://schemas.microsoft.com/office/powerpoint/2010/main" val="388999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2"/>
                                        </p:tgtEl>
                                      </p:cBhvr>
                                    </p:animEffect>
                                    <p:set>
                                      <p:cBhvr>
                                        <p:cTn id="11" dur="1" fill="hold">
                                          <p:stCondLst>
                                            <p:cond delay="499"/>
                                          </p:stCondLst>
                                        </p:cTn>
                                        <p:tgtEl>
                                          <p:spTgt spid="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0" y="0"/>
            <a:ext cx="12192000" cy="6858000"/>
          </a:xfrm>
          <a:prstGeom prst="rect">
            <a:avLst/>
          </a:prstGeom>
        </p:spPr>
      </p:pic>
      <p:sp>
        <p:nvSpPr>
          <p:cNvPr id="3" name="矩形 2"/>
          <p:cNvSpPr/>
          <p:nvPr/>
        </p:nvSpPr>
        <p:spPr>
          <a:xfrm>
            <a:off x="-15779" y="7675"/>
            <a:ext cx="12192000"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white"/>
              </a:solidFill>
              <a:latin typeface="Consolas"/>
              <a:ea typeface="微软雅黑"/>
            </a:endParaRPr>
          </a:p>
        </p:txBody>
      </p:sp>
      <p:sp>
        <p:nvSpPr>
          <p:cNvPr id="4" name="文本框 3"/>
          <p:cNvSpPr txBox="1"/>
          <p:nvPr/>
        </p:nvSpPr>
        <p:spPr>
          <a:xfrm>
            <a:off x="6107231" y="3075057"/>
            <a:ext cx="3351447" cy="707886"/>
          </a:xfrm>
          <a:prstGeom prst="rect">
            <a:avLst/>
          </a:prstGeom>
          <a:noFill/>
        </p:spPr>
        <p:txBody>
          <a:bodyPr wrap="square" rtlCol="0">
            <a:spAutoFit/>
          </a:bodyPr>
          <a:lstStyle/>
          <a:p>
            <a:pPr algn="ctr" defTabSz="457200"/>
            <a:r>
              <a:rPr lang="en-US" altLang="zh-CN" sz="4000" dirty="0">
                <a:solidFill>
                  <a:prstClr val="black"/>
                </a:solidFill>
                <a:latin typeface="方正大黑简体" panose="03000509000000000000" pitchFamily="65" charset="-122"/>
                <a:ea typeface="方正大黑简体" panose="03000509000000000000" pitchFamily="65" charset="-122"/>
              </a:rPr>
              <a:t>2.</a:t>
            </a:r>
            <a:r>
              <a:rPr lang="en-US" altLang="zh-CN" sz="3600" dirty="0">
                <a:solidFill>
                  <a:prstClr val="black"/>
                </a:solidFill>
                <a:latin typeface="方正大黑简体" panose="03000509000000000000" pitchFamily="65" charset="-122"/>
                <a:ea typeface="方正大黑简体" panose="03000509000000000000" pitchFamily="65" charset="-122"/>
              </a:rPr>
              <a:t> </a:t>
            </a:r>
            <a:r>
              <a:rPr lang="zh-CN" altLang="en-US" sz="3600" dirty="0">
                <a:solidFill>
                  <a:prstClr val="black"/>
                </a:solidFill>
                <a:latin typeface="方正大黑简体" panose="03000509000000000000" pitchFamily="65" charset="-122"/>
                <a:ea typeface="方正大黑简体" panose="03000509000000000000" pitchFamily="65" charset="-122"/>
              </a:rPr>
              <a:t>代码审查</a:t>
            </a:r>
            <a:endParaRPr lang="en-US" altLang="zh-CN" sz="3600" dirty="0">
              <a:solidFill>
                <a:prstClr val="black"/>
              </a:solidFill>
              <a:latin typeface="方正大黑简体" panose="03000509000000000000" pitchFamily="65" charset="-122"/>
              <a:ea typeface="方正大黑简体" panose="03000509000000000000" pitchFamily="65" charset="-122"/>
            </a:endParaRPr>
          </a:p>
        </p:txBody>
      </p:sp>
      <p:sp>
        <p:nvSpPr>
          <p:cNvPr id="25" name="等腰三角形 24"/>
          <p:cNvSpPr/>
          <p:nvPr/>
        </p:nvSpPr>
        <p:spPr>
          <a:xfrm rot="5400000">
            <a:off x="4040230" y="2499423"/>
            <a:ext cx="2156621" cy="1859156"/>
          </a:xfrm>
          <a:prstGeom prst="triangle">
            <a:avLst/>
          </a:prstGeom>
          <a:blipFill dpi="0" rotWithShape="0">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white"/>
              </a:solidFill>
              <a:latin typeface="Consolas"/>
              <a:ea typeface="微软雅黑"/>
            </a:endParaRPr>
          </a:p>
        </p:txBody>
      </p:sp>
      <p:sp>
        <p:nvSpPr>
          <p:cNvPr id="50" name="直角三角形 49"/>
          <p:cNvSpPr/>
          <p:nvPr/>
        </p:nvSpPr>
        <p:spPr>
          <a:xfrm rot="3607112" flipH="1" flipV="1">
            <a:off x="3253999" y="2891781"/>
            <a:ext cx="1869916" cy="1074445"/>
          </a:xfrm>
          <a:prstGeom prst="rtTriangle">
            <a:avLst/>
          </a:prstGeom>
          <a:solidFill>
            <a:schemeClr val="bg2">
              <a:lumMod val="75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white"/>
              </a:solidFill>
              <a:latin typeface="Consolas"/>
              <a:ea typeface="微软雅黑"/>
            </a:endParaRPr>
          </a:p>
        </p:txBody>
      </p:sp>
      <p:grpSp>
        <p:nvGrpSpPr>
          <p:cNvPr id="11" name="组合 10"/>
          <p:cNvGrpSpPr/>
          <p:nvPr/>
        </p:nvGrpSpPr>
        <p:grpSpPr>
          <a:xfrm rot="15665791">
            <a:off x="992121" y="3986103"/>
            <a:ext cx="1354028" cy="1419488"/>
            <a:chOff x="8090235" y="3880211"/>
            <a:chExt cx="1354028" cy="1419488"/>
          </a:xfrm>
        </p:grpSpPr>
        <p:sp>
          <p:nvSpPr>
            <p:cNvPr id="12" name="等腰三角形 11"/>
            <p:cNvSpPr/>
            <p:nvPr/>
          </p:nvSpPr>
          <p:spPr>
            <a:xfrm rot="18941696">
              <a:off x="8216431" y="4752257"/>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sp>
          <p:nvSpPr>
            <p:cNvPr id="13" name="等腰三角形 12"/>
            <p:cNvSpPr/>
            <p:nvPr/>
          </p:nvSpPr>
          <p:spPr>
            <a:xfrm rot="3678182">
              <a:off x="8062840" y="3907606"/>
              <a:ext cx="397226" cy="34243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sp>
          <p:nvSpPr>
            <p:cNvPr id="14" name="等腰三角形 13"/>
            <p:cNvSpPr/>
            <p:nvPr/>
          </p:nvSpPr>
          <p:spPr>
            <a:xfrm rot="9480000">
              <a:off x="8803940" y="4800383"/>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grpSp>
          <p:nvGrpSpPr>
            <p:cNvPr id="15" name="组合 14"/>
            <p:cNvGrpSpPr/>
            <p:nvPr/>
          </p:nvGrpSpPr>
          <p:grpSpPr>
            <a:xfrm rot="8977127">
              <a:off x="8997555" y="4965082"/>
              <a:ext cx="446708" cy="334617"/>
              <a:chOff x="2822785" y="1265179"/>
              <a:chExt cx="930073" cy="696693"/>
            </a:xfrm>
            <a:solidFill>
              <a:srgbClr val="FFC000"/>
            </a:solidFill>
          </p:grpSpPr>
          <p:sp>
            <p:nvSpPr>
              <p:cNvPr id="16" name="等腰三角形 15"/>
              <p:cNvSpPr/>
              <p:nvPr/>
            </p:nvSpPr>
            <p:spPr>
              <a:xfrm rot="18941696">
                <a:off x="2822785" y="1265179"/>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sp>
            <p:nvSpPr>
              <p:cNvPr id="17" name="等腰三角形 16"/>
              <p:cNvSpPr/>
              <p:nvPr/>
            </p:nvSpPr>
            <p:spPr>
              <a:xfrm rot="9480000">
                <a:off x="3485946" y="1731776"/>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grpSp>
      </p:grpSp>
      <p:sp>
        <p:nvSpPr>
          <p:cNvPr id="18" name="文本框 17"/>
          <p:cNvSpPr txBox="1"/>
          <p:nvPr/>
        </p:nvSpPr>
        <p:spPr>
          <a:xfrm>
            <a:off x="6163737" y="3645809"/>
            <a:ext cx="4080933" cy="523220"/>
          </a:xfrm>
          <a:prstGeom prst="rect">
            <a:avLst/>
          </a:prstGeom>
          <a:noFill/>
        </p:spPr>
        <p:txBody>
          <a:bodyPr wrap="square" rtlCol="0">
            <a:spAutoFit/>
          </a:bodyPr>
          <a:lstStyle/>
          <a:p>
            <a:pPr defTabSz="457200"/>
            <a:r>
              <a:rPr lang="zh-CN" altLang="en-US" sz="2800" dirty="0">
                <a:solidFill>
                  <a:prstClr val="black"/>
                </a:solidFill>
                <a:latin typeface="Consolas"/>
                <a:ea typeface="微软雅黑"/>
              </a:rPr>
              <a:t>（</a:t>
            </a:r>
            <a:r>
              <a:rPr lang="en-US" altLang="zh-CN" sz="2800" dirty="0">
                <a:solidFill>
                  <a:prstClr val="black"/>
                </a:solidFill>
                <a:latin typeface="Consolas"/>
                <a:ea typeface="微软雅黑"/>
              </a:rPr>
              <a:t>Code Inspection</a:t>
            </a:r>
            <a:r>
              <a:rPr lang="zh-CN" altLang="en-US" sz="2800" dirty="0">
                <a:solidFill>
                  <a:prstClr val="black"/>
                </a:solidFill>
                <a:latin typeface="Consolas"/>
                <a:ea typeface="微软雅黑"/>
              </a:rPr>
              <a:t>）</a:t>
            </a:r>
          </a:p>
        </p:txBody>
      </p:sp>
    </p:spTree>
    <p:extLst>
      <p:ext uri="{BB962C8B-B14F-4D97-AF65-F5344CB8AC3E}">
        <p14:creationId xmlns:p14="http://schemas.microsoft.com/office/powerpoint/2010/main" val="42721755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3"/>
          <a:stretch>
            <a:fillRect/>
          </a:stretch>
        </p:blipFill>
        <p:spPr>
          <a:xfrm>
            <a:off x="4665551" y="1848150"/>
            <a:ext cx="5924551" cy="4895851"/>
          </a:xfrm>
          <a:prstGeom prst="rect">
            <a:avLst/>
          </a:prstGeom>
        </p:spPr>
      </p:pic>
      <p:sp>
        <p:nvSpPr>
          <p:cNvPr id="2" name="文本框 1"/>
          <p:cNvSpPr txBox="1"/>
          <p:nvPr/>
        </p:nvSpPr>
        <p:spPr>
          <a:xfrm>
            <a:off x="2423260" y="471606"/>
            <a:ext cx="3911273" cy="646331"/>
          </a:xfrm>
          <a:prstGeom prst="rect">
            <a:avLst/>
          </a:prstGeom>
          <a:noFill/>
        </p:spPr>
        <p:txBody>
          <a:bodyPr wrap="square" rtlCol="0">
            <a:spAutoFit/>
          </a:bodyPr>
          <a:lstStyle/>
          <a:p>
            <a:pPr defTabSz="457200"/>
            <a:r>
              <a:rPr lang="zh-CN" altLang="en-US" sz="3600" b="1" dirty="0">
                <a:solidFill>
                  <a:prstClr val="black"/>
                </a:solidFill>
                <a:latin typeface="微软雅黑"/>
                <a:ea typeface="微软雅黑"/>
              </a:rPr>
              <a:t>什么是代码审查？</a:t>
            </a:r>
          </a:p>
        </p:txBody>
      </p:sp>
      <p:grpSp>
        <p:nvGrpSpPr>
          <p:cNvPr id="3" name="组合 2"/>
          <p:cNvGrpSpPr/>
          <p:nvPr/>
        </p:nvGrpSpPr>
        <p:grpSpPr>
          <a:xfrm rot="13975182">
            <a:off x="5713842" y="-77623"/>
            <a:ext cx="1354028" cy="1419488"/>
            <a:chOff x="8090235" y="3880211"/>
            <a:chExt cx="1354028" cy="1419488"/>
          </a:xfrm>
        </p:grpSpPr>
        <p:sp>
          <p:nvSpPr>
            <p:cNvPr id="4" name="等腰三角形 3"/>
            <p:cNvSpPr/>
            <p:nvPr/>
          </p:nvSpPr>
          <p:spPr>
            <a:xfrm rot="18941696">
              <a:off x="8216431" y="4752257"/>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srgbClr val="FFC20F"/>
                </a:solidFill>
                <a:latin typeface="Consolas"/>
                <a:ea typeface="微软雅黑"/>
              </a:endParaRPr>
            </a:p>
          </p:txBody>
        </p:sp>
        <p:sp>
          <p:nvSpPr>
            <p:cNvPr id="5" name="等腰三角形 4"/>
            <p:cNvSpPr/>
            <p:nvPr/>
          </p:nvSpPr>
          <p:spPr>
            <a:xfrm rot="3678182">
              <a:off x="8062840" y="3907606"/>
              <a:ext cx="397226" cy="34243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srgbClr val="FFC20F"/>
                </a:solidFill>
                <a:latin typeface="Consolas"/>
                <a:ea typeface="微软雅黑"/>
              </a:endParaRPr>
            </a:p>
          </p:txBody>
        </p:sp>
        <p:sp>
          <p:nvSpPr>
            <p:cNvPr id="6" name="等腰三角形 5"/>
            <p:cNvSpPr/>
            <p:nvPr/>
          </p:nvSpPr>
          <p:spPr>
            <a:xfrm rot="9480000">
              <a:off x="8803940" y="4800383"/>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srgbClr val="FFC20F"/>
                </a:solidFill>
                <a:latin typeface="Consolas"/>
                <a:ea typeface="微软雅黑"/>
              </a:endParaRPr>
            </a:p>
          </p:txBody>
        </p:sp>
        <p:grpSp>
          <p:nvGrpSpPr>
            <p:cNvPr id="7" name="组合 6"/>
            <p:cNvGrpSpPr/>
            <p:nvPr/>
          </p:nvGrpSpPr>
          <p:grpSpPr>
            <a:xfrm rot="8977127">
              <a:off x="8997555" y="4965082"/>
              <a:ext cx="446708" cy="334617"/>
              <a:chOff x="2822785" y="1265179"/>
              <a:chExt cx="930073" cy="696693"/>
            </a:xfrm>
            <a:solidFill>
              <a:srgbClr val="FFC000"/>
            </a:solidFill>
          </p:grpSpPr>
          <p:sp>
            <p:nvSpPr>
              <p:cNvPr id="8" name="等腰三角形 7"/>
              <p:cNvSpPr/>
              <p:nvPr/>
            </p:nvSpPr>
            <p:spPr>
              <a:xfrm rot="18941696">
                <a:off x="2822785" y="1265179"/>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srgbClr val="FFC20F"/>
                  </a:solidFill>
                  <a:latin typeface="Consolas"/>
                  <a:ea typeface="微软雅黑"/>
                </a:endParaRPr>
              </a:p>
            </p:txBody>
          </p:sp>
          <p:sp>
            <p:nvSpPr>
              <p:cNvPr id="9" name="等腰三角形 8"/>
              <p:cNvSpPr/>
              <p:nvPr/>
            </p:nvSpPr>
            <p:spPr>
              <a:xfrm rot="9480000">
                <a:off x="3485946" y="1731776"/>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zh-CN" altLang="en-US">
                  <a:solidFill>
                    <a:srgbClr val="FFC20F"/>
                  </a:solidFill>
                  <a:latin typeface="Consolas"/>
                  <a:ea typeface="微软雅黑"/>
                </a:endParaRPr>
              </a:p>
            </p:txBody>
          </p:sp>
        </p:grpSp>
      </p:grpSp>
      <p:sp>
        <p:nvSpPr>
          <p:cNvPr id="10" name="文本框 9"/>
          <p:cNvSpPr txBox="1"/>
          <p:nvPr/>
        </p:nvSpPr>
        <p:spPr>
          <a:xfrm>
            <a:off x="2423260" y="1396320"/>
            <a:ext cx="7729563" cy="584775"/>
          </a:xfrm>
          <a:prstGeom prst="rect">
            <a:avLst/>
          </a:prstGeom>
          <a:noFill/>
        </p:spPr>
        <p:txBody>
          <a:bodyPr wrap="square" rtlCol="0">
            <a:spAutoFit/>
          </a:bodyPr>
          <a:lstStyle/>
          <a:p>
            <a:pPr defTabSz="457200"/>
            <a:r>
              <a:rPr lang="zh-CN" altLang="en-US" sz="3200" dirty="0">
                <a:solidFill>
                  <a:prstClr val="black"/>
                </a:solidFill>
                <a:latin typeface="Consolas"/>
                <a:ea typeface="微软雅黑"/>
              </a:rPr>
              <a:t>简而言之：就是</a:t>
            </a:r>
            <a:r>
              <a:rPr lang="zh-CN" altLang="en-US" sz="3200" b="1" dirty="0">
                <a:solidFill>
                  <a:prstClr val="black"/>
                </a:solidFill>
                <a:latin typeface="Consolas"/>
                <a:ea typeface="微软雅黑"/>
              </a:rPr>
              <a:t>专家小组</a:t>
            </a:r>
            <a:r>
              <a:rPr lang="zh-CN" altLang="en-US" sz="3200" dirty="0">
                <a:solidFill>
                  <a:prstClr val="black"/>
                </a:solidFill>
                <a:latin typeface="Consolas"/>
                <a:ea typeface="微软雅黑"/>
              </a:rPr>
              <a:t>审核代码的质量</a:t>
            </a:r>
            <a:endParaRPr lang="en-US" altLang="zh-CN" sz="3200" dirty="0">
              <a:solidFill>
                <a:prstClr val="black"/>
              </a:solidFill>
              <a:latin typeface="Consolas"/>
              <a:ea typeface="微软雅黑"/>
            </a:endParaRPr>
          </a:p>
        </p:txBody>
      </p:sp>
      <p:pic>
        <p:nvPicPr>
          <p:cNvPr id="11" name="图片 10"/>
          <p:cNvPicPr>
            <a:picLocks noChangeAspect="1"/>
          </p:cNvPicPr>
          <p:nvPr/>
        </p:nvPicPr>
        <p:blipFill>
          <a:blip r:embed="rId4"/>
          <a:stretch>
            <a:fillRect/>
          </a:stretch>
        </p:blipFill>
        <p:spPr>
          <a:xfrm>
            <a:off x="2528168" y="2557981"/>
            <a:ext cx="3837751" cy="3679443"/>
          </a:xfrm>
          <a:prstGeom prst="rect">
            <a:avLst/>
          </a:prstGeom>
        </p:spPr>
      </p:pic>
      <p:sp>
        <p:nvSpPr>
          <p:cNvPr id="12" name="文本框 11"/>
          <p:cNvSpPr txBox="1"/>
          <p:nvPr/>
        </p:nvSpPr>
        <p:spPr>
          <a:xfrm>
            <a:off x="2423259" y="2039962"/>
            <a:ext cx="5342842" cy="1077218"/>
          </a:xfrm>
          <a:prstGeom prst="rect">
            <a:avLst/>
          </a:prstGeom>
          <a:noFill/>
        </p:spPr>
        <p:txBody>
          <a:bodyPr wrap="square" rtlCol="0">
            <a:spAutoFit/>
          </a:bodyPr>
          <a:lstStyle/>
          <a:p>
            <a:pPr defTabSz="457200"/>
            <a:r>
              <a:rPr lang="zh-CN" altLang="en-US" sz="3200" dirty="0">
                <a:solidFill>
                  <a:prstClr val="black"/>
                </a:solidFill>
                <a:latin typeface="Consolas"/>
                <a:ea typeface="微软雅黑"/>
              </a:rPr>
              <a:t>对于程序的编写者而言：</a:t>
            </a:r>
          </a:p>
          <a:p>
            <a:pPr defTabSz="457200"/>
            <a:endParaRPr lang="zh-CN" altLang="en-US" sz="3200" dirty="0">
              <a:solidFill>
                <a:prstClr val="black"/>
              </a:solidFill>
              <a:latin typeface="Consolas"/>
              <a:ea typeface="微软雅黑"/>
            </a:endParaRPr>
          </a:p>
        </p:txBody>
      </p:sp>
      <p:pic>
        <p:nvPicPr>
          <p:cNvPr id="13" name="图片 12"/>
          <p:cNvPicPr>
            <a:picLocks noChangeAspect="1"/>
          </p:cNvPicPr>
          <p:nvPr/>
        </p:nvPicPr>
        <p:blipFill>
          <a:blip r:embed="rId5"/>
          <a:stretch>
            <a:fillRect/>
          </a:stretch>
        </p:blipFill>
        <p:spPr>
          <a:xfrm>
            <a:off x="6202927" y="163538"/>
            <a:ext cx="3933825" cy="1876425"/>
          </a:xfrm>
          <a:prstGeom prst="rect">
            <a:avLst/>
          </a:prstGeom>
        </p:spPr>
      </p:pic>
    </p:spTree>
    <p:extLst>
      <p:ext uri="{BB962C8B-B14F-4D97-AF65-F5344CB8AC3E}">
        <p14:creationId xmlns:p14="http://schemas.microsoft.com/office/powerpoint/2010/main" val="2586852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nodeType="click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15"/>
                                        </p:tgtEl>
                                      </p:cBhvr>
                                    </p:animEffect>
                                    <p:set>
                                      <p:cBhvr>
                                        <p:cTn id="16" dur="1" fill="hold">
                                          <p:stCondLst>
                                            <p:cond delay="499"/>
                                          </p:stCondLst>
                                        </p:cTn>
                                        <p:tgtEl>
                                          <p:spTgt spid="1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75827" y="584885"/>
            <a:ext cx="8152599" cy="646331"/>
          </a:xfrm>
          <a:prstGeom prst="rect">
            <a:avLst/>
          </a:prstGeom>
          <a:noFill/>
        </p:spPr>
        <p:txBody>
          <a:bodyPr wrap="square" rtlCol="0">
            <a:spAutoFit/>
          </a:bodyPr>
          <a:lstStyle/>
          <a:p>
            <a:pPr defTabSz="457200"/>
            <a:r>
              <a:rPr lang="zh-CN" altLang="en-US" sz="3600" b="1" dirty="0">
                <a:solidFill>
                  <a:prstClr val="black"/>
                </a:solidFill>
                <a:latin typeface="Consolas"/>
                <a:ea typeface="微软雅黑"/>
              </a:rPr>
              <a:t>分类</a:t>
            </a:r>
          </a:p>
        </p:txBody>
      </p:sp>
      <p:sp>
        <p:nvSpPr>
          <p:cNvPr id="3" name="文本框 2"/>
          <p:cNvSpPr txBox="1"/>
          <p:nvPr/>
        </p:nvSpPr>
        <p:spPr>
          <a:xfrm>
            <a:off x="2675830" y="1403029"/>
            <a:ext cx="7199697" cy="523220"/>
          </a:xfrm>
          <a:prstGeom prst="rect">
            <a:avLst/>
          </a:prstGeom>
          <a:noFill/>
        </p:spPr>
        <p:txBody>
          <a:bodyPr wrap="square" rtlCol="0">
            <a:spAutoFit/>
          </a:bodyPr>
          <a:lstStyle/>
          <a:p>
            <a:pPr defTabSz="457200"/>
            <a:r>
              <a:rPr lang="en-US" altLang="zh-CN" sz="2800" dirty="0">
                <a:solidFill>
                  <a:prstClr val="black"/>
                </a:solidFill>
                <a:latin typeface="Consolas"/>
                <a:ea typeface="微软雅黑"/>
              </a:rPr>
              <a:t>1.</a:t>
            </a:r>
            <a:r>
              <a:rPr lang="zh-CN" altLang="en-US" sz="2800" dirty="0">
                <a:solidFill>
                  <a:prstClr val="black"/>
                </a:solidFill>
                <a:latin typeface="Consolas"/>
                <a:ea typeface="微软雅黑"/>
              </a:rPr>
              <a:t>正式代码审查（传统）</a:t>
            </a:r>
            <a:endParaRPr lang="en-US" altLang="zh-CN" sz="2800" dirty="0">
              <a:solidFill>
                <a:prstClr val="black"/>
              </a:solidFill>
              <a:latin typeface="Consolas"/>
              <a:ea typeface="微软雅黑"/>
            </a:endParaRPr>
          </a:p>
        </p:txBody>
      </p:sp>
      <p:sp>
        <p:nvSpPr>
          <p:cNvPr id="4" name="文本框 3"/>
          <p:cNvSpPr txBox="1"/>
          <p:nvPr/>
        </p:nvSpPr>
        <p:spPr>
          <a:xfrm>
            <a:off x="2675829" y="2304534"/>
            <a:ext cx="3195587" cy="461665"/>
          </a:xfrm>
          <a:prstGeom prst="rect">
            <a:avLst/>
          </a:prstGeom>
          <a:noFill/>
        </p:spPr>
        <p:txBody>
          <a:bodyPr wrap="square" rtlCol="0">
            <a:spAutoFit/>
          </a:bodyPr>
          <a:lstStyle/>
          <a:p>
            <a:pPr defTabSz="457200"/>
            <a:r>
              <a:rPr lang="zh-CN" altLang="en-US" sz="2400" dirty="0">
                <a:solidFill>
                  <a:prstClr val="black"/>
                </a:solidFill>
                <a:latin typeface="Consolas"/>
                <a:ea typeface="微软雅黑"/>
              </a:rPr>
              <a:t>参与人员（</a:t>
            </a:r>
            <a:r>
              <a:rPr lang="en-US" altLang="zh-CN" sz="2400" dirty="0">
                <a:solidFill>
                  <a:prstClr val="black"/>
                </a:solidFill>
                <a:latin typeface="Consolas"/>
                <a:ea typeface="微软雅黑"/>
              </a:rPr>
              <a:t>4~7</a:t>
            </a:r>
            <a:r>
              <a:rPr lang="zh-CN" altLang="en-US" sz="2400" dirty="0">
                <a:solidFill>
                  <a:prstClr val="black"/>
                </a:solidFill>
                <a:latin typeface="Consolas"/>
                <a:ea typeface="微软雅黑"/>
              </a:rPr>
              <a:t>人）</a:t>
            </a:r>
          </a:p>
        </p:txBody>
      </p:sp>
      <p:sp>
        <p:nvSpPr>
          <p:cNvPr id="5" name="文本框 4"/>
          <p:cNvSpPr txBox="1"/>
          <p:nvPr/>
        </p:nvSpPr>
        <p:spPr>
          <a:xfrm>
            <a:off x="2675825" y="2776166"/>
            <a:ext cx="4244740" cy="923330"/>
          </a:xfrm>
          <a:prstGeom prst="rect">
            <a:avLst/>
          </a:prstGeom>
          <a:noFill/>
        </p:spPr>
        <p:txBody>
          <a:bodyPr wrap="square" rtlCol="0">
            <a:spAutoFit/>
          </a:bodyPr>
          <a:lstStyle/>
          <a:p>
            <a:pPr marL="285744" indent="-285744" defTabSz="457200">
              <a:buFont typeface="Arial" panose="020B0604020202020204" pitchFamily="34" charset="0"/>
              <a:buChar char="•"/>
            </a:pPr>
            <a:r>
              <a:rPr lang="zh-CN" altLang="en-US" dirty="0">
                <a:solidFill>
                  <a:prstClr val="black"/>
                </a:solidFill>
                <a:latin typeface="Consolas"/>
                <a:ea typeface="微软雅黑"/>
              </a:rPr>
              <a:t>主持人（一般由质量工程师担任）</a:t>
            </a:r>
            <a:endParaRPr lang="en-US" altLang="zh-CN" dirty="0">
              <a:solidFill>
                <a:prstClr val="black"/>
              </a:solidFill>
              <a:latin typeface="Consolas"/>
              <a:ea typeface="微软雅黑"/>
            </a:endParaRPr>
          </a:p>
          <a:p>
            <a:pPr marL="285744" indent="-285744" defTabSz="457200">
              <a:buFont typeface="Arial" panose="020B0604020202020204" pitchFamily="34" charset="0"/>
              <a:buChar char="•"/>
            </a:pPr>
            <a:r>
              <a:rPr lang="zh-CN" altLang="en-US" dirty="0">
                <a:solidFill>
                  <a:prstClr val="black"/>
                </a:solidFill>
                <a:latin typeface="Consolas"/>
                <a:ea typeface="微软雅黑"/>
              </a:rPr>
              <a:t>程序作者</a:t>
            </a:r>
            <a:endParaRPr lang="en-US" altLang="zh-CN" dirty="0">
              <a:solidFill>
                <a:prstClr val="black"/>
              </a:solidFill>
              <a:latin typeface="Consolas"/>
              <a:ea typeface="微软雅黑"/>
            </a:endParaRPr>
          </a:p>
          <a:p>
            <a:pPr marL="285744" indent="-285744" defTabSz="457200">
              <a:buFont typeface="Arial" panose="020B0604020202020204" pitchFamily="34" charset="0"/>
              <a:buChar char="•"/>
            </a:pPr>
            <a:r>
              <a:rPr lang="zh-CN" altLang="en-US" dirty="0">
                <a:solidFill>
                  <a:prstClr val="black"/>
                </a:solidFill>
                <a:latin typeface="Consolas"/>
                <a:ea typeface="微软雅黑"/>
              </a:rPr>
              <a:t>其他审查人员</a:t>
            </a:r>
          </a:p>
        </p:txBody>
      </p:sp>
      <p:sp>
        <p:nvSpPr>
          <p:cNvPr id="6" name="文本框 5"/>
          <p:cNvSpPr txBox="1"/>
          <p:nvPr/>
        </p:nvSpPr>
        <p:spPr>
          <a:xfrm>
            <a:off x="2675829" y="3950453"/>
            <a:ext cx="2608445" cy="461665"/>
          </a:xfrm>
          <a:prstGeom prst="rect">
            <a:avLst/>
          </a:prstGeom>
          <a:noFill/>
        </p:spPr>
        <p:txBody>
          <a:bodyPr wrap="square" rtlCol="0">
            <a:spAutoFit/>
          </a:bodyPr>
          <a:lstStyle/>
          <a:p>
            <a:pPr defTabSz="457200"/>
            <a:r>
              <a:rPr lang="zh-CN" altLang="en-US" sz="2400" dirty="0">
                <a:solidFill>
                  <a:prstClr val="black"/>
                </a:solidFill>
                <a:latin typeface="Consolas"/>
                <a:ea typeface="微软雅黑"/>
              </a:rPr>
              <a:t>流程</a:t>
            </a:r>
          </a:p>
        </p:txBody>
      </p:sp>
      <p:sp>
        <p:nvSpPr>
          <p:cNvPr id="7" name="文本框 6"/>
          <p:cNvSpPr txBox="1"/>
          <p:nvPr/>
        </p:nvSpPr>
        <p:spPr>
          <a:xfrm>
            <a:off x="2675831" y="4470216"/>
            <a:ext cx="7687370" cy="2031325"/>
          </a:xfrm>
          <a:prstGeom prst="rect">
            <a:avLst/>
          </a:prstGeom>
          <a:noFill/>
        </p:spPr>
        <p:txBody>
          <a:bodyPr wrap="square" rtlCol="0">
            <a:spAutoFit/>
          </a:bodyPr>
          <a:lstStyle/>
          <a:p>
            <a:pPr marL="342891" indent="-342891" defTabSz="457200">
              <a:buFont typeface="+mj-lt"/>
              <a:buAutoNum type="arabicPeriod"/>
            </a:pPr>
            <a:r>
              <a:rPr lang="zh-CN" altLang="en-US" dirty="0">
                <a:solidFill>
                  <a:prstClr val="black"/>
                </a:solidFill>
                <a:latin typeface="Consolas"/>
                <a:ea typeface="微软雅黑"/>
              </a:rPr>
              <a:t>程序作者逐行对代码进行解释， 同时其他人可以提问题并且讨论是否存在错误</a:t>
            </a:r>
            <a:endParaRPr lang="en-US" altLang="zh-CN" dirty="0">
              <a:solidFill>
                <a:prstClr val="black"/>
              </a:solidFill>
              <a:latin typeface="Consolas"/>
              <a:ea typeface="微软雅黑"/>
            </a:endParaRPr>
          </a:p>
          <a:p>
            <a:pPr marL="342891" indent="-342891" defTabSz="457200">
              <a:buFont typeface="+mj-lt"/>
              <a:buAutoNum type="arabicPeriod"/>
            </a:pPr>
            <a:r>
              <a:rPr lang="zh-CN" altLang="en-US" dirty="0">
                <a:solidFill>
                  <a:prstClr val="black"/>
                </a:solidFill>
                <a:latin typeface="Consolas"/>
                <a:ea typeface="微软雅黑"/>
              </a:rPr>
              <a:t>根据一份检查清单（</a:t>
            </a:r>
            <a:r>
              <a:rPr lang="en-US" altLang="zh-CN" dirty="0">
                <a:solidFill>
                  <a:prstClr val="black"/>
                </a:solidFill>
                <a:latin typeface="Consolas"/>
                <a:ea typeface="微软雅黑"/>
              </a:rPr>
              <a:t>checklist</a:t>
            </a:r>
            <a:r>
              <a:rPr lang="zh-CN" altLang="en-US" dirty="0">
                <a:solidFill>
                  <a:prstClr val="black"/>
                </a:solidFill>
                <a:latin typeface="Consolas"/>
                <a:ea typeface="微软雅黑"/>
              </a:rPr>
              <a:t>）对程序进行检查 。一般要检查下列内容：</a:t>
            </a:r>
            <a:endParaRPr lang="en-US" altLang="zh-CN" dirty="0">
              <a:solidFill>
                <a:prstClr val="black"/>
              </a:solidFill>
              <a:latin typeface="Consolas"/>
              <a:ea typeface="微软雅黑"/>
            </a:endParaRPr>
          </a:p>
          <a:p>
            <a:pPr marL="800080" lvl="1" indent="-342891" defTabSz="457200">
              <a:buFont typeface="+mj-lt"/>
              <a:buAutoNum type="arabicPeriod"/>
            </a:pPr>
            <a:r>
              <a:rPr lang="zh-CN" altLang="en-US" dirty="0">
                <a:solidFill>
                  <a:prstClr val="black"/>
                </a:solidFill>
                <a:latin typeface="Consolas"/>
                <a:ea typeface="微软雅黑"/>
              </a:rPr>
              <a:t>编码风格与代码规范一致性</a:t>
            </a:r>
            <a:endParaRPr lang="en-US" altLang="zh-CN" dirty="0">
              <a:solidFill>
                <a:prstClr val="black"/>
              </a:solidFill>
              <a:latin typeface="Consolas"/>
              <a:ea typeface="微软雅黑"/>
            </a:endParaRPr>
          </a:p>
          <a:p>
            <a:pPr marL="800080" lvl="1" indent="-342891" defTabSz="457200">
              <a:buFont typeface="+mj-lt"/>
              <a:buAutoNum type="arabicPeriod"/>
            </a:pPr>
            <a:r>
              <a:rPr lang="zh-CN" altLang="en-US" dirty="0">
                <a:solidFill>
                  <a:prstClr val="black"/>
                </a:solidFill>
                <a:latin typeface="Consolas"/>
                <a:ea typeface="微软雅黑"/>
              </a:rPr>
              <a:t>代码满足基本的功能要求</a:t>
            </a:r>
            <a:endParaRPr lang="en-US" altLang="zh-CN" dirty="0">
              <a:solidFill>
                <a:prstClr val="black"/>
              </a:solidFill>
              <a:latin typeface="Consolas"/>
              <a:ea typeface="微软雅黑"/>
            </a:endParaRPr>
          </a:p>
          <a:p>
            <a:pPr marL="800080" lvl="1" indent="-342891" defTabSz="457200">
              <a:buFont typeface="+mj-lt"/>
              <a:buAutoNum type="arabicPeriod"/>
            </a:pPr>
            <a:r>
              <a:rPr lang="zh-CN" altLang="en-US" dirty="0">
                <a:solidFill>
                  <a:prstClr val="black"/>
                </a:solidFill>
                <a:latin typeface="Consolas"/>
                <a:ea typeface="微软雅黑"/>
              </a:rPr>
              <a:t>代码满足性能等非功能性需求</a:t>
            </a:r>
            <a:endParaRPr lang="en-US" altLang="zh-CN" dirty="0">
              <a:solidFill>
                <a:prstClr val="black"/>
              </a:solidFill>
              <a:latin typeface="Consolas"/>
              <a:ea typeface="微软雅黑"/>
            </a:endParaRPr>
          </a:p>
        </p:txBody>
      </p:sp>
      <p:sp>
        <p:nvSpPr>
          <p:cNvPr id="8" name="文本框 7"/>
          <p:cNvSpPr txBox="1"/>
          <p:nvPr/>
        </p:nvSpPr>
        <p:spPr>
          <a:xfrm>
            <a:off x="6920565" y="2098063"/>
            <a:ext cx="3048000" cy="1754326"/>
          </a:xfrm>
          <a:prstGeom prst="rect">
            <a:avLst/>
          </a:prstGeom>
          <a:noFill/>
        </p:spPr>
        <p:txBody>
          <a:bodyPr wrap="square" rtlCol="0">
            <a:spAutoFit/>
          </a:bodyPr>
          <a:lstStyle/>
          <a:p>
            <a:pPr defTabSz="457200"/>
            <a:r>
              <a:rPr lang="zh-CN" altLang="en-US" dirty="0">
                <a:solidFill>
                  <a:prstClr val="black"/>
                </a:solidFill>
                <a:latin typeface="Consolas"/>
                <a:ea typeface="微软雅黑"/>
              </a:rPr>
              <a:t>会议之后， 程序作者会收到一份错误和问题清单， 并负责修改程序。 评审主持人负责追踪评审中出现的问题直至问题解决</a:t>
            </a:r>
            <a:endParaRPr lang="en-US" altLang="zh-CN" dirty="0">
              <a:solidFill>
                <a:prstClr val="black"/>
              </a:solidFill>
              <a:latin typeface="Consolas"/>
              <a:ea typeface="微软雅黑"/>
            </a:endParaRPr>
          </a:p>
          <a:p>
            <a:pPr defTabSz="457200"/>
            <a:endParaRPr lang="zh-CN" altLang="en-US" dirty="0">
              <a:solidFill>
                <a:prstClr val="black"/>
              </a:solidFill>
              <a:latin typeface="Consolas"/>
              <a:ea typeface="微软雅黑"/>
            </a:endParaRPr>
          </a:p>
        </p:txBody>
      </p:sp>
    </p:spTree>
    <p:extLst>
      <p:ext uri="{BB962C8B-B14F-4D97-AF65-F5344CB8AC3E}">
        <p14:creationId xmlns:p14="http://schemas.microsoft.com/office/powerpoint/2010/main" val="652245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68630" y="486714"/>
            <a:ext cx="8614611" cy="1077218"/>
          </a:xfrm>
          <a:prstGeom prst="rect">
            <a:avLst/>
          </a:prstGeom>
          <a:noFill/>
        </p:spPr>
        <p:txBody>
          <a:bodyPr wrap="square" rtlCol="0">
            <a:spAutoFit/>
          </a:bodyPr>
          <a:lstStyle/>
          <a:p>
            <a:pPr defTabSz="457200"/>
            <a:r>
              <a:rPr lang="en-US" altLang="zh-CN" sz="3200" dirty="0">
                <a:solidFill>
                  <a:prstClr val="black"/>
                </a:solidFill>
                <a:latin typeface="Consolas"/>
                <a:ea typeface="微软雅黑"/>
              </a:rPr>
              <a:t>2.</a:t>
            </a:r>
            <a:r>
              <a:rPr lang="zh-CN" altLang="en-US" sz="3200" dirty="0">
                <a:solidFill>
                  <a:prstClr val="black"/>
                </a:solidFill>
                <a:latin typeface="Consolas"/>
                <a:ea typeface="微软雅黑"/>
              </a:rPr>
              <a:t>结对编程（常见与极限编程）</a:t>
            </a:r>
            <a:endParaRPr lang="en-US" altLang="zh-CN" sz="3200" dirty="0">
              <a:solidFill>
                <a:prstClr val="black"/>
              </a:solidFill>
              <a:latin typeface="Consolas"/>
              <a:ea typeface="微软雅黑"/>
            </a:endParaRPr>
          </a:p>
          <a:p>
            <a:pPr defTabSz="457200"/>
            <a:endParaRPr lang="en-US" altLang="zh-CN" sz="3200" dirty="0">
              <a:solidFill>
                <a:prstClr val="black"/>
              </a:solidFill>
              <a:latin typeface="Consolas"/>
              <a:ea typeface="微软雅黑"/>
            </a:endParaRPr>
          </a:p>
        </p:txBody>
      </p:sp>
      <p:sp>
        <p:nvSpPr>
          <p:cNvPr id="3" name="文本框 2"/>
          <p:cNvSpPr txBox="1"/>
          <p:nvPr/>
        </p:nvSpPr>
        <p:spPr>
          <a:xfrm>
            <a:off x="2624938" y="2484069"/>
            <a:ext cx="3909963" cy="584775"/>
          </a:xfrm>
          <a:prstGeom prst="rect">
            <a:avLst/>
          </a:prstGeom>
          <a:noFill/>
        </p:spPr>
        <p:txBody>
          <a:bodyPr wrap="square" rtlCol="0">
            <a:spAutoFit/>
          </a:bodyPr>
          <a:lstStyle/>
          <a:p>
            <a:pPr defTabSz="457200"/>
            <a:r>
              <a:rPr lang="zh-CN" altLang="en-US" sz="3200" dirty="0">
                <a:solidFill>
                  <a:prstClr val="black"/>
                </a:solidFill>
                <a:latin typeface="Consolas"/>
                <a:ea typeface="微软雅黑"/>
              </a:rPr>
              <a:t>代码评审的辅助工具</a:t>
            </a:r>
          </a:p>
        </p:txBody>
      </p:sp>
      <p:sp>
        <p:nvSpPr>
          <p:cNvPr id="4" name="文本框 3"/>
          <p:cNvSpPr txBox="1"/>
          <p:nvPr/>
        </p:nvSpPr>
        <p:spPr>
          <a:xfrm>
            <a:off x="2712065" y="3320703"/>
            <a:ext cx="7507707" cy="1200329"/>
          </a:xfrm>
          <a:prstGeom prst="rect">
            <a:avLst/>
          </a:prstGeom>
          <a:noFill/>
        </p:spPr>
        <p:txBody>
          <a:bodyPr wrap="square" rtlCol="0">
            <a:spAutoFit/>
          </a:bodyPr>
          <a:lstStyle/>
          <a:p>
            <a:pPr defTabSz="457200"/>
            <a:r>
              <a:rPr lang="zh-CN" altLang="en-US" dirty="0">
                <a:solidFill>
                  <a:prstClr val="black"/>
                </a:solidFill>
                <a:latin typeface="Consolas"/>
                <a:ea typeface="微软雅黑"/>
              </a:rPr>
              <a:t>编译器 </a:t>
            </a:r>
            <a:endParaRPr lang="en-US" altLang="zh-CN" dirty="0">
              <a:solidFill>
                <a:prstClr val="black"/>
              </a:solidFill>
              <a:latin typeface="Consolas"/>
              <a:ea typeface="微软雅黑"/>
            </a:endParaRPr>
          </a:p>
          <a:p>
            <a:pPr marL="285744" indent="-285744" defTabSz="457200">
              <a:buFont typeface="Arial" panose="020B0604020202020204" pitchFamily="34" charset="0"/>
              <a:buChar char="•"/>
            </a:pPr>
            <a:r>
              <a:rPr lang="zh-CN" altLang="en-US" dirty="0">
                <a:solidFill>
                  <a:prstClr val="black"/>
                </a:solidFill>
                <a:latin typeface="Consolas"/>
                <a:ea typeface="微软雅黑"/>
              </a:rPr>
              <a:t>把编译时的警告级别开到最大（</a:t>
            </a:r>
            <a:r>
              <a:rPr lang="en-US" altLang="zh-CN" dirty="0" err="1">
                <a:solidFill>
                  <a:prstClr val="black"/>
                </a:solidFill>
                <a:latin typeface="Consolas"/>
                <a:ea typeface="微软雅黑"/>
              </a:rPr>
              <a:t>oj</a:t>
            </a:r>
            <a:r>
              <a:rPr lang="zh-CN" altLang="en-US" dirty="0">
                <a:solidFill>
                  <a:prstClr val="black"/>
                </a:solidFill>
                <a:latin typeface="Consolas"/>
                <a:ea typeface="微软雅黑"/>
              </a:rPr>
              <a:t>程序</a:t>
            </a:r>
            <a:r>
              <a:rPr lang="en-US" altLang="zh-CN" dirty="0">
                <a:solidFill>
                  <a:prstClr val="black"/>
                </a:solidFill>
                <a:latin typeface="Consolas"/>
                <a:ea typeface="微软雅黑"/>
              </a:rPr>
              <a:t> vs </a:t>
            </a:r>
            <a:r>
              <a:rPr lang="zh-CN" altLang="en-US" dirty="0">
                <a:solidFill>
                  <a:prstClr val="black"/>
                </a:solidFill>
                <a:latin typeface="Consolas"/>
                <a:ea typeface="微软雅黑"/>
              </a:rPr>
              <a:t>像</a:t>
            </a:r>
            <a:r>
              <a:rPr lang="en-US" altLang="zh-CN" dirty="0">
                <a:solidFill>
                  <a:prstClr val="black"/>
                </a:solidFill>
                <a:latin typeface="Consolas"/>
                <a:ea typeface="微软雅黑"/>
              </a:rPr>
              <a:t>PA</a:t>
            </a:r>
            <a:r>
              <a:rPr lang="zh-CN" altLang="en-US" dirty="0">
                <a:solidFill>
                  <a:prstClr val="black"/>
                </a:solidFill>
                <a:latin typeface="Consolas"/>
                <a:ea typeface="微软雅黑"/>
              </a:rPr>
              <a:t>一样的工程）</a:t>
            </a:r>
            <a:endParaRPr lang="en-US" altLang="zh-CN" dirty="0">
              <a:solidFill>
                <a:prstClr val="black"/>
              </a:solidFill>
              <a:latin typeface="Consolas"/>
              <a:ea typeface="微软雅黑"/>
            </a:endParaRPr>
          </a:p>
          <a:p>
            <a:pPr marL="285744" indent="-285744" defTabSz="457200">
              <a:buFont typeface="Arial" panose="020B0604020202020204" pitchFamily="34" charset="0"/>
              <a:buChar char="•"/>
            </a:pPr>
            <a:r>
              <a:rPr lang="zh-CN" altLang="en-US" dirty="0">
                <a:solidFill>
                  <a:prstClr val="black"/>
                </a:solidFill>
                <a:latin typeface="Consolas"/>
                <a:ea typeface="微软雅黑"/>
              </a:rPr>
              <a:t>在调试版本中，进行栈桢</a:t>
            </a:r>
            <a:r>
              <a:rPr lang="en-US" altLang="zh-CN" dirty="0">
                <a:solidFill>
                  <a:prstClr val="black"/>
                </a:solidFill>
                <a:latin typeface="Consolas"/>
                <a:ea typeface="微软雅黑"/>
              </a:rPr>
              <a:t>(Stack Frame)</a:t>
            </a:r>
            <a:r>
              <a:rPr lang="zh-CN" altLang="en-US" dirty="0">
                <a:solidFill>
                  <a:prstClr val="black"/>
                </a:solidFill>
                <a:latin typeface="Consolas"/>
                <a:ea typeface="微软雅黑"/>
              </a:rPr>
              <a:t>错误检查</a:t>
            </a:r>
            <a:endParaRPr lang="en-US" altLang="zh-CN" dirty="0">
              <a:solidFill>
                <a:prstClr val="black"/>
              </a:solidFill>
              <a:latin typeface="Consolas"/>
              <a:ea typeface="微软雅黑"/>
            </a:endParaRPr>
          </a:p>
          <a:p>
            <a:pPr marL="285744" indent="-285744" defTabSz="457200">
              <a:buFont typeface="Arial" panose="020B0604020202020204" pitchFamily="34" charset="0"/>
              <a:buChar char="•"/>
            </a:pPr>
            <a:r>
              <a:rPr lang="zh-CN" altLang="en-US" dirty="0">
                <a:solidFill>
                  <a:prstClr val="black"/>
                </a:solidFill>
                <a:latin typeface="Consolas"/>
                <a:ea typeface="微软雅黑"/>
              </a:rPr>
              <a:t>进行运行时和编译时的安全性检查</a:t>
            </a:r>
            <a:endParaRPr lang="en-US" altLang="zh-CN" dirty="0">
              <a:solidFill>
                <a:prstClr val="black"/>
              </a:solidFill>
              <a:latin typeface="Consolas"/>
              <a:ea typeface="微软雅黑"/>
            </a:endParaRPr>
          </a:p>
        </p:txBody>
      </p:sp>
      <p:sp>
        <p:nvSpPr>
          <p:cNvPr id="5" name="文本框 4"/>
          <p:cNvSpPr txBox="1"/>
          <p:nvPr/>
        </p:nvSpPr>
        <p:spPr>
          <a:xfrm>
            <a:off x="2712064" y="4736923"/>
            <a:ext cx="7139407" cy="646331"/>
          </a:xfrm>
          <a:prstGeom prst="rect">
            <a:avLst/>
          </a:prstGeom>
          <a:noFill/>
        </p:spPr>
        <p:txBody>
          <a:bodyPr wrap="square" rtlCol="0">
            <a:spAutoFit/>
          </a:bodyPr>
          <a:lstStyle/>
          <a:p>
            <a:pPr defTabSz="457200"/>
            <a:r>
              <a:rPr lang="zh-CN" altLang="en-US" dirty="0">
                <a:solidFill>
                  <a:prstClr val="black"/>
                </a:solidFill>
                <a:latin typeface="Consolas"/>
                <a:ea typeface="微软雅黑"/>
              </a:rPr>
              <a:t>静态代码评审工具 </a:t>
            </a:r>
            <a:r>
              <a:rPr lang="en-US" altLang="zh-CN" dirty="0">
                <a:solidFill>
                  <a:prstClr val="black"/>
                </a:solidFill>
                <a:latin typeface="Consolas"/>
                <a:ea typeface="微软雅黑"/>
              </a:rPr>
              <a:t>PC-Lint ———— </a:t>
            </a:r>
            <a:r>
              <a:rPr lang="zh-CN" altLang="en-US" dirty="0">
                <a:solidFill>
                  <a:prstClr val="black"/>
                </a:solidFill>
                <a:latin typeface="Consolas"/>
                <a:ea typeface="微软雅黑"/>
              </a:rPr>
              <a:t>全面支持</a:t>
            </a:r>
            <a:r>
              <a:rPr lang="en-US" altLang="zh-CN" dirty="0">
                <a:solidFill>
                  <a:prstClr val="black"/>
                </a:solidFill>
                <a:latin typeface="Consolas"/>
                <a:ea typeface="微软雅黑"/>
              </a:rPr>
              <a:t>C</a:t>
            </a:r>
            <a:r>
              <a:rPr lang="zh-CN" altLang="en-US" dirty="0">
                <a:solidFill>
                  <a:prstClr val="black"/>
                </a:solidFill>
                <a:latin typeface="Consolas"/>
                <a:ea typeface="微软雅黑"/>
              </a:rPr>
              <a:t>和</a:t>
            </a:r>
            <a:r>
              <a:rPr lang="en-US" altLang="zh-CN" dirty="0">
                <a:solidFill>
                  <a:prstClr val="black"/>
                </a:solidFill>
                <a:latin typeface="Consolas"/>
                <a:ea typeface="微软雅黑"/>
              </a:rPr>
              <a:t>C++ </a:t>
            </a:r>
            <a:r>
              <a:rPr lang="zh-CN" altLang="en-US" dirty="0">
                <a:solidFill>
                  <a:prstClr val="black"/>
                </a:solidFill>
                <a:latin typeface="Consolas"/>
                <a:ea typeface="微软雅黑"/>
              </a:rPr>
              <a:t>的代码审查</a:t>
            </a:r>
            <a:endParaRPr lang="en-US" altLang="zh-CN" dirty="0">
              <a:solidFill>
                <a:prstClr val="black"/>
              </a:solidFill>
              <a:latin typeface="Consolas"/>
              <a:ea typeface="微软雅黑"/>
            </a:endParaRPr>
          </a:p>
          <a:p>
            <a:pPr defTabSz="457200"/>
            <a:endParaRPr lang="zh-CN" altLang="en-US" dirty="0">
              <a:solidFill>
                <a:prstClr val="black"/>
              </a:solidFill>
              <a:latin typeface="Consolas"/>
              <a:ea typeface="微软雅黑"/>
            </a:endParaRPr>
          </a:p>
        </p:txBody>
      </p:sp>
      <p:sp>
        <p:nvSpPr>
          <p:cNvPr id="6" name="文本框 5"/>
          <p:cNvSpPr txBox="1"/>
          <p:nvPr/>
        </p:nvSpPr>
        <p:spPr>
          <a:xfrm>
            <a:off x="2712067" y="5383249"/>
            <a:ext cx="8106075" cy="923330"/>
          </a:xfrm>
          <a:prstGeom prst="rect">
            <a:avLst/>
          </a:prstGeom>
          <a:noFill/>
        </p:spPr>
        <p:txBody>
          <a:bodyPr wrap="square" rtlCol="0">
            <a:spAutoFit/>
          </a:bodyPr>
          <a:lstStyle/>
          <a:p>
            <a:pPr defTabSz="457200"/>
            <a:r>
              <a:rPr lang="zh-CN" altLang="en-US" dirty="0">
                <a:solidFill>
                  <a:prstClr val="black"/>
                </a:solidFill>
                <a:latin typeface="Consolas"/>
                <a:ea typeface="微软雅黑"/>
              </a:rPr>
              <a:t>动态代码评审工具</a:t>
            </a:r>
            <a:r>
              <a:rPr lang="en-US" altLang="zh-CN" dirty="0">
                <a:solidFill>
                  <a:prstClr val="black"/>
                </a:solidFill>
                <a:latin typeface="Consolas"/>
                <a:ea typeface="微软雅黑"/>
              </a:rPr>
              <a:t> ———— Purify</a:t>
            </a:r>
            <a:r>
              <a:rPr lang="zh-CN" altLang="en-US" dirty="0">
                <a:solidFill>
                  <a:prstClr val="black"/>
                </a:solidFill>
                <a:latin typeface="Consolas"/>
                <a:ea typeface="微软雅黑"/>
              </a:rPr>
              <a:t>和</a:t>
            </a:r>
            <a:r>
              <a:rPr lang="en-US" altLang="zh-CN" dirty="0">
                <a:solidFill>
                  <a:prstClr val="black"/>
                </a:solidFill>
                <a:latin typeface="Consolas"/>
                <a:ea typeface="微软雅黑"/>
              </a:rPr>
              <a:t>Insure++</a:t>
            </a:r>
          </a:p>
          <a:p>
            <a:pPr defTabSz="457200"/>
            <a:r>
              <a:rPr lang="zh-CN" altLang="en-US" dirty="0">
                <a:solidFill>
                  <a:prstClr val="black"/>
                </a:solidFill>
                <a:latin typeface="Consolas"/>
                <a:ea typeface="微软雅黑"/>
              </a:rPr>
              <a:t>程序的运行时错误大部分都和内存错误有关</a:t>
            </a:r>
            <a:endParaRPr lang="en-US" altLang="zh-CN" dirty="0">
              <a:solidFill>
                <a:prstClr val="black"/>
              </a:solidFill>
              <a:latin typeface="Consolas"/>
              <a:ea typeface="微软雅黑"/>
            </a:endParaRPr>
          </a:p>
          <a:p>
            <a:pPr marL="285744" indent="-285744" defTabSz="457200">
              <a:buFont typeface="Arial" panose="020B0604020202020204" pitchFamily="34" charset="0"/>
              <a:buChar char="•"/>
            </a:pPr>
            <a:endParaRPr lang="zh-CN" altLang="en-US" dirty="0">
              <a:solidFill>
                <a:prstClr val="black"/>
              </a:solidFill>
              <a:latin typeface="Consolas"/>
              <a:ea typeface="微软雅黑"/>
            </a:endParaRPr>
          </a:p>
        </p:txBody>
      </p:sp>
      <p:sp>
        <p:nvSpPr>
          <p:cNvPr id="7" name="文本框 6"/>
          <p:cNvSpPr txBox="1"/>
          <p:nvPr/>
        </p:nvSpPr>
        <p:spPr>
          <a:xfrm>
            <a:off x="2568626" y="1179211"/>
            <a:ext cx="4586707" cy="1354217"/>
          </a:xfrm>
          <a:prstGeom prst="rect">
            <a:avLst/>
          </a:prstGeom>
          <a:noFill/>
        </p:spPr>
        <p:txBody>
          <a:bodyPr wrap="square" rtlCol="0">
            <a:spAutoFit/>
          </a:bodyPr>
          <a:lstStyle/>
          <a:p>
            <a:pPr defTabSz="457200"/>
            <a:r>
              <a:rPr lang="en-US" altLang="zh-CN" sz="2800" dirty="0">
                <a:solidFill>
                  <a:prstClr val="black"/>
                </a:solidFill>
                <a:latin typeface="Consolas"/>
                <a:ea typeface="微软雅黑"/>
              </a:rPr>
              <a:t>3.</a:t>
            </a:r>
            <a:r>
              <a:rPr lang="zh-CN" altLang="en-US" sz="2800" dirty="0">
                <a:solidFill>
                  <a:prstClr val="black"/>
                </a:solidFill>
                <a:latin typeface="Consolas"/>
                <a:ea typeface="微软雅黑"/>
              </a:rPr>
              <a:t>轻量型的非正式代码审查</a:t>
            </a:r>
            <a:endParaRPr lang="en-US" altLang="zh-CN" sz="2800" dirty="0">
              <a:solidFill>
                <a:prstClr val="black"/>
              </a:solidFill>
              <a:latin typeface="Consolas"/>
              <a:ea typeface="微软雅黑"/>
            </a:endParaRPr>
          </a:p>
          <a:p>
            <a:pPr marL="285744" indent="-285744" defTabSz="457200">
              <a:buFont typeface="Arial" panose="020B0604020202020204" pitchFamily="34" charset="0"/>
              <a:buChar char="•"/>
            </a:pPr>
            <a:r>
              <a:rPr lang="en-US" altLang="zh-CN" dirty="0">
                <a:solidFill>
                  <a:prstClr val="black"/>
                </a:solidFill>
                <a:latin typeface="Consolas"/>
                <a:ea typeface="微软雅黑"/>
              </a:rPr>
              <a:t>Email</a:t>
            </a:r>
            <a:r>
              <a:rPr lang="zh-CN" altLang="en-US" dirty="0">
                <a:solidFill>
                  <a:prstClr val="black"/>
                </a:solidFill>
                <a:latin typeface="Consolas"/>
                <a:ea typeface="微软雅黑"/>
              </a:rPr>
              <a:t>往返（较老）</a:t>
            </a:r>
            <a:endParaRPr lang="en-US" altLang="zh-CN" dirty="0">
              <a:solidFill>
                <a:prstClr val="black"/>
              </a:solidFill>
              <a:latin typeface="Consolas"/>
              <a:ea typeface="微软雅黑"/>
            </a:endParaRPr>
          </a:p>
          <a:p>
            <a:pPr marL="285744" indent="-285744" defTabSz="457200">
              <a:buFont typeface="Arial" panose="020B0604020202020204" pitchFamily="34" charset="0"/>
              <a:buChar char="•"/>
            </a:pPr>
            <a:r>
              <a:rPr lang="zh-CN" altLang="en-US" dirty="0">
                <a:solidFill>
                  <a:prstClr val="black"/>
                </a:solidFill>
                <a:latin typeface="Consolas"/>
                <a:ea typeface="微软雅黑"/>
              </a:rPr>
              <a:t>辅助工具</a:t>
            </a:r>
          </a:p>
          <a:p>
            <a:pPr defTabSz="457200"/>
            <a:endParaRPr lang="zh-CN" altLang="en-US" dirty="0">
              <a:solidFill>
                <a:prstClr val="black"/>
              </a:solidFill>
              <a:latin typeface="Consolas"/>
              <a:ea typeface="微软雅黑"/>
            </a:endParaRPr>
          </a:p>
        </p:txBody>
      </p:sp>
      <p:pic>
        <p:nvPicPr>
          <p:cNvPr id="8" name="图片 7"/>
          <p:cNvPicPr>
            <a:picLocks noChangeAspect="1"/>
          </p:cNvPicPr>
          <p:nvPr/>
        </p:nvPicPr>
        <p:blipFill>
          <a:blip r:embed="rId3"/>
          <a:stretch>
            <a:fillRect/>
          </a:stretch>
        </p:blipFill>
        <p:spPr>
          <a:xfrm>
            <a:off x="5804268" y="140855"/>
            <a:ext cx="4191000" cy="2838451"/>
          </a:xfrm>
          <a:prstGeom prst="rect">
            <a:avLst/>
          </a:prstGeom>
        </p:spPr>
      </p:pic>
      <p:pic>
        <p:nvPicPr>
          <p:cNvPr id="10" name="图片 9"/>
          <p:cNvPicPr>
            <a:picLocks noChangeAspect="1"/>
          </p:cNvPicPr>
          <p:nvPr/>
        </p:nvPicPr>
        <p:blipFill>
          <a:blip r:embed="rId4"/>
          <a:stretch>
            <a:fillRect/>
          </a:stretch>
        </p:blipFill>
        <p:spPr>
          <a:xfrm>
            <a:off x="5804268" y="133137"/>
            <a:ext cx="4412880" cy="3191783"/>
          </a:xfrm>
          <a:prstGeom prst="rect">
            <a:avLst/>
          </a:prstGeom>
        </p:spPr>
      </p:pic>
    </p:spTree>
    <p:extLst>
      <p:ext uri="{BB962C8B-B14F-4D97-AF65-F5344CB8AC3E}">
        <p14:creationId xmlns:p14="http://schemas.microsoft.com/office/powerpoint/2010/main" val="203037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8"/>
                                        </p:tgtEl>
                                      </p:cBhvr>
                                    </p:animEffect>
                                    <p:set>
                                      <p:cBhvr>
                                        <p:cTn id="15" dur="1" fill="hold">
                                          <p:stCondLst>
                                            <p:cond delay="499"/>
                                          </p:stCondLst>
                                        </p:cTn>
                                        <p:tgtEl>
                                          <p:spTgt spid="8"/>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500"/>
                                        <p:tgtEl>
                                          <p:spTgt spid="10"/>
                                        </p:tgtEl>
                                      </p:cBhvr>
                                    </p:animEffect>
                                    <p:set>
                                      <p:cBhvr>
                                        <p:cTn id="18" dur="1" fill="hold">
                                          <p:stCondLst>
                                            <p:cond delay="499"/>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35878" y="585322"/>
            <a:ext cx="9278753" cy="646331"/>
          </a:xfrm>
          <a:prstGeom prst="rect">
            <a:avLst/>
          </a:prstGeom>
          <a:noFill/>
        </p:spPr>
        <p:txBody>
          <a:bodyPr wrap="square" rtlCol="0">
            <a:spAutoFit/>
          </a:bodyPr>
          <a:lstStyle/>
          <a:p>
            <a:pPr defTabSz="457200"/>
            <a:r>
              <a:rPr lang="en-US" altLang="zh-CN" sz="3600" b="1" dirty="0">
                <a:solidFill>
                  <a:prstClr val="black"/>
                </a:solidFill>
                <a:latin typeface="Consolas"/>
                <a:ea typeface="微软雅黑"/>
              </a:rPr>
              <a:t>More...</a:t>
            </a:r>
            <a:endParaRPr lang="zh-CN" altLang="en-US" sz="3600" b="1" dirty="0">
              <a:solidFill>
                <a:prstClr val="black"/>
              </a:solidFill>
              <a:latin typeface="Consolas"/>
              <a:ea typeface="微软雅黑"/>
            </a:endParaRPr>
          </a:p>
        </p:txBody>
      </p:sp>
      <p:sp>
        <p:nvSpPr>
          <p:cNvPr id="3" name="文本框 2"/>
          <p:cNvSpPr txBox="1"/>
          <p:nvPr/>
        </p:nvSpPr>
        <p:spPr>
          <a:xfrm>
            <a:off x="2635875" y="1159086"/>
            <a:ext cx="7731193" cy="2677656"/>
          </a:xfrm>
          <a:prstGeom prst="rect">
            <a:avLst/>
          </a:prstGeom>
          <a:noFill/>
        </p:spPr>
        <p:txBody>
          <a:bodyPr wrap="square" rtlCol="0">
            <a:spAutoFit/>
          </a:bodyPr>
          <a:lstStyle/>
          <a:p>
            <a:pPr marL="285744" indent="-285744" defTabSz="457200">
              <a:buFont typeface="Arial" panose="020B0604020202020204" pitchFamily="34" charset="0"/>
              <a:buChar char="•"/>
            </a:pPr>
            <a:r>
              <a:rPr lang="en-US" altLang="zh-CN" sz="2800" dirty="0">
                <a:solidFill>
                  <a:prstClr val="black"/>
                </a:solidFill>
                <a:latin typeface="Consolas"/>
                <a:ea typeface="微软雅黑"/>
              </a:rPr>
              <a:t>Code Reviewer</a:t>
            </a:r>
          </a:p>
          <a:p>
            <a:pPr marL="285744" indent="-285744" defTabSz="457200">
              <a:buFont typeface="Arial" panose="020B0604020202020204" pitchFamily="34" charset="0"/>
              <a:buChar char="•"/>
            </a:pPr>
            <a:r>
              <a:rPr lang="en-US" altLang="zh-CN" sz="2800" dirty="0" err="1">
                <a:solidFill>
                  <a:prstClr val="black"/>
                </a:solidFill>
                <a:latin typeface="Consolas"/>
                <a:ea typeface="微软雅黑"/>
              </a:rPr>
              <a:t>SmartBear</a:t>
            </a:r>
            <a:endParaRPr lang="en-US" altLang="zh-CN" sz="2800" dirty="0">
              <a:solidFill>
                <a:prstClr val="black"/>
              </a:solidFill>
              <a:latin typeface="Consolas"/>
              <a:ea typeface="微软雅黑"/>
            </a:endParaRPr>
          </a:p>
          <a:p>
            <a:pPr marL="285744" indent="-285744" defTabSz="457200">
              <a:buFont typeface="Arial" panose="020B0604020202020204" pitchFamily="34" charset="0"/>
              <a:buChar char="•"/>
            </a:pPr>
            <a:r>
              <a:rPr lang="en-US" altLang="zh-CN" sz="2800" dirty="0">
                <a:solidFill>
                  <a:prstClr val="black"/>
                </a:solidFill>
                <a:latin typeface="Consolas"/>
                <a:ea typeface="微软雅黑"/>
              </a:rPr>
              <a:t>Crucible</a:t>
            </a:r>
          </a:p>
          <a:p>
            <a:pPr marL="285744" indent="-285744" defTabSz="457200">
              <a:buFont typeface="Arial" panose="020B0604020202020204" pitchFamily="34" charset="0"/>
              <a:buChar char="•"/>
            </a:pPr>
            <a:r>
              <a:rPr lang="en-US" altLang="zh-CN" sz="2800" dirty="0" err="1">
                <a:solidFill>
                  <a:prstClr val="black"/>
                </a:solidFill>
                <a:latin typeface="Consolas"/>
                <a:ea typeface="微软雅黑"/>
              </a:rPr>
              <a:t>CodeStriker</a:t>
            </a:r>
            <a:endParaRPr lang="en-US" altLang="zh-CN" sz="2800" dirty="0">
              <a:solidFill>
                <a:prstClr val="black"/>
              </a:solidFill>
              <a:latin typeface="Consolas"/>
              <a:ea typeface="微软雅黑"/>
            </a:endParaRPr>
          </a:p>
          <a:p>
            <a:pPr marL="285744" indent="-285744" defTabSz="457200">
              <a:buFont typeface="Arial" panose="020B0604020202020204" pitchFamily="34" charset="0"/>
              <a:buChar char="•"/>
            </a:pPr>
            <a:r>
              <a:rPr lang="en-US" altLang="zh-CN" sz="2800" dirty="0" err="1">
                <a:solidFill>
                  <a:prstClr val="black"/>
                </a:solidFill>
                <a:latin typeface="Consolas"/>
                <a:ea typeface="微软雅黑"/>
              </a:rPr>
              <a:t>Codebrag</a:t>
            </a:r>
            <a:endParaRPr lang="en-US" altLang="zh-CN" sz="2800" dirty="0">
              <a:solidFill>
                <a:prstClr val="black"/>
              </a:solidFill>
              <a:latin typeface="Consolas"/>
              <a:ea typeface="微软雅黑"/>
            </a:endParaRPr>
          </a:p>
          <a:p>
            <a:pPr marL="285744" indent="-285744" defTabSz="457200">
              <a:buFont typeface="Arial" panose="020B0604020202020204" pitchFamily="34" charset="0"/>
              <a:buChar char="•"/>
            </a:pPr>
            <a:endParaRPr lang="zh-CN" altLang="en-US" sz="2800" dirty="0">
              <a:solidFill>
                <a:prstClr val="black"/>
              </a:solidFill>
              <a:latin typeface="Consolas"/>
              <a:ea typeface="微软雅黑"/>
            </a:endParaRPr>
          </a:p>
        </p:txBody>
      </p:sp>
      <p:sp>
        <p:nvSpPr>
          <p:cNvPr id="4" name="文本框 3"/>
          <p:cNvSpPr txBox="1"/>
          <p:nvPr/>
        </p:nvSpPr>
        <p:spPr>
          <a:xfrm>
            <a:off x="2635875" y="3421610"/>
            <a:ext cx="6266047" cy="584775"/>
          </a:xfrm>
          <a:prstGeom prst="rect">
            <a:avLst/>
          </a:prstGeom>
          <a:noFill/>
        </p:spPr>
        <p:txBody>
          <a:bodyPr wrap="square" rtlCol="0">
            <a:spAutoFit/>
          </a:bodyPr>
          <a:lstStyle/>
          <a:p>
            <a:pPr defTabSz="457200"/>
            <a:r>
              <a:rPr lang="zh-CN" altLang="en-US" sz="3200" b="1" dirty="0">
                <a:solidFill>
                  <a:prstClr val="black"/>
                </a:solidFill>
                <a:latin typeface="Consolas"/>
                <a:ea typeface="微软雅黑"/>
              </a:rPr>
              <a:t>运用</a:t>
            </a:r>
            <a:r>
              <a:rPr lang="en-US" altLang="zh-CN" sz="3200" b="1" dirty="0">
                <a:solidFill>
                  <a:prstClr val="black"/>
                </a:solidFill>
                <a:latin typeface="Consolas"/>
                <a:ea typeface="微软雅黑"/>
              </a:rPr>
              <a:t>ML</a:t>
            </a:r>
            <a:r>
              <a:rPr lang="zh-CN" altLang="en-US" sz="3200" b="1" dirty="0">
                <a:solidFill>
                  <a:prstClr val="black"/>
                </a:solidFill>
                <a:latin typeface="Consolas"/>
                <a:ea typeface="微软雅黑"/>
              </a:rPr>
              <a:t>来进行审查</a:t>
            </a:r>
          </a:p>
        </p:txBody>
      </p:sp>
      <p:pic>
        <p:nvPicPr>
          <p:cNvPr id="5" name="图片 4"/>
          <p:cNvPicPr>
            <a:picLocks noChangeAspect="1"/>
          </p:cNvPicPr>
          <p:nvPr/>
        </p:nvPicPr>
        <p:blipFill>
          <a:blip r:embed="rId3"/>
          <a:stretch>
            <a:fillRect/>
          </a:stretch>
        </p:blipFill>
        <p:spPr>
          <a:xfrm>
            <a:off x="2754212" y="4006386"/>
            <a:ext cx="7194031" cy="2125839"/>
          </a:xfrm>
          <a:prstGeom prst="rect">
            <a:avLst/>
          </a:prstGeom>
        </p:spPr>
      </p:pic>
    </p:spTree>
    <p:extLst>
      <p:ext uri="{BB962C8B-B14F-4D97-AF65-F5344CB8AC3E}">
        <p14:creationId xmlns:p14="http://schemas.microsoft.com/office/powerpoint/2010/main" val="192612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0" y="0"/>
            <a:ext cx="12192000" cy="6858000"/>
          </a:xfrm>
          <a:prstGeom prst="rect">
            <a:avLst/>
          </a:prstGeom>
        </p:spPr>
      </p:pic>
      <p:sp>
        <p:nvSpPr>
          <p:cNvPr id="3" name="矩形 2"/>
          <p:cNvSpPr/>
          <p:nvPr/>
        </p:nvSpPr>
        <p:spPr>
          <a:xfrm>
            <a:off x="0" y="6"/>
            <a:ext cx="12192000"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solidFill>
                <a:prstClr val="white"/>
              </a:solidFill>
              <a:latin typeface="Consolas"/>
              <a:ea typeface="微软雅黑"/>
            </a:endParaRPr>
          </a:p>
        </p:txBody>
      </p:sp>
      <p:sp>
        <p:nvSpPr>
          <p:cNvPr id="4" name="文本框 3"/>
          <p:cNvSpPr txBox="1"/>
          <p:nvPr/>
        </p:nvSpPr>
        <p:spPr>
          <a:xfrm>
            <a:off x="6107231" y="3075058"/>
            <a:ext cx="3351447" cy="707886"/>
          </a:xfrm>
          <a:prstGeom prst="rect">
            <a:avLst/>
          </a:prstGeom>
          <a:noFill/>
        </p:spPr>
        <p:txBody>
          <a:bodyPr wrap="square" rtlCol="0">
            <a:spAutoFit/>
          </a:bodyPr>
          <a:lstStyle/>
          <a:p>
            <a:pPr algn="ctr" defTabSz="457200"/>
            <a:r>
              <a:rPr lang="en-US" altLang="zh-CN" sz="4000" dirty="0">
                <a:solidFill>
                  <a:srgbClr val="756F67"/>
                </a:solidFill>
                <a:latin typeface="方正大黑简体" panose="03000509000000000000" pitchFamily="65" charset="-122"/>
                <a:ea typeface="方正大黑简体" panose="03000509000000000000" pitchFamily="65" charset="-122"/>
              </a:rPr>
              <a:t>3. </a:t>
            </a:r>
            <a:r>
              <a:rPr lang="zh-CN" altLang="en-US" sz="4000" dirty="0">
                <a:solidFill>
                  <a:srgbClr val="756F67"/>
                </a:solidFill>
                <a:latin typeface="方正大黑简体" panose="03000509000000000000" pitchFamily="65" charset="-122"/>
                <a:ea typeface="方正大黑简体" panose="03000509000000000000" pitchFamily="65" charset="-122"/>
              </a:rPr>
              <a:t>单元测试</a:t>
            </a:r>
            <a:endParaRPr lang="zh-CN" altLang="en-US" sz="3600" dirty="0">
              <a:solidFill>
                <a:srgbClr val="756F67"/>
              </a:solidFill>
              <a:latin typeface="方正大黑简体" panose="03000509000000000000" pitchFamily="65" charset="-122"/>
              <a:ea typeface="方正大黑简体" panose="03000509000000000000" pitchFamily="65" charset="-122"/>
            </a:endParaRPr>
          </a:p>
        </p:txBody>
      </p:sp>
      <p:sp>
        <p:nvSpPr>
          <p:cNvPr id="25" name="等腰三角形 24"/>
          <p:cNvSpPr/>
          <p:nvPr/>
        </p:nvSpPr>
        <p:spPr>
          <a:xfrm rot="5400000">
            <a:off x="4040230" y="2499423"/>
            <a:ext cx="2156621" cy="1859156"/>
          </a:xfrm>
          <a:prstGeom prst="triangle">
            <a:avLst/>
          </a:prstGeom>
          <a:blipFill dpi="0" rotWithShape="0">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white"/>
              </a:solidFill>
              <a:latin typeface="Consolas"/>
              <a:ea typeface="微软雅黑"/>
            </a:endParaRPr>
          </a:p>
        </p:txBody>
      </p:sp>
      <p:sp>
        <p:nvSpPr>
          <p:cNvPr id="50" name="直角三角形 49"/>
          <p:cNvSpPr/>
          <p:nvPr/>
        </p:nvSpPr>
        <p:spPr>
          <a:xfrm rot="3607112" flipH="1" flipV="1">
            <a:off x="3253999" y="2891781"/>
            <a:ext cx="1869916" cy="1074445"/>
          </a:xfrm>
          <a:prstGeom prst="rtTriangle">
            <a:avLst/>
          </a:prstGeom>
          <a:solidFill>
            <a:schemeClr val="bg2">
              <a:lumMod val="75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white"/>
              </a:solidFill>
              <a:latin typeface="Consolas"/>
              <a:ea typeface="微软雅黑"/>
            </a:endParaRPr>
          </a:p>
        </p:txBody>
      </p:sp>
      <p:grpSp>
        <p:nvGrpSpPr>
          <p:cNvPr id="11" name="组合 10"/>
          <p:cNvGrpSpPr/>
          <p:nvPr/>
        </p:nvGrpSpPr>
        <p:grpSpPr>
          <a:xfrm rot="15665791">
            <a:off x="992121" y="3986103"/>
            <a:ext cx="1354028" cy="1419488"/>
            <a:chOff x="8090235" y="3880211"/>
            <a:chExt cx="1354028" cy="1419488"/>
          </a:xfrm>
        </p:grpSpPr>
        <p:sp>
          <p:nvSpPr>
            <p:cNvPr id="12" name="等腰三角形 11"/>
            <p:cNvSpPr/>
            <p:nvPr/>
          </p:nvSpPr>
          <p:spPr>
            <a:xfrm rot="18941696">
              <a:off x="8216431" y="4752257"/>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sp>
          <p:nvSpPr>
            <p:cNvPr id="13" name="等腰三角形 12"/>
            <p:cNvSpPr/>
            <p:nvPr/>
          </p:nvSpPr>
          <p:spPr>
            <a:xfrm rot="3678182">
              <a:off x="8062840" y="3907606"/>
              <a:ext cx="397226" cy="34243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sp>
          <p:nvSpPr>
            <p:cNvPr id="14" name="等腰三角形 13"/>
            <p:cNvSpPr/>
            <p:nvPr/>
          </p:nvSpPr>
          <p:spPr>
            <a:xfrm rot="9480000">
              <a:off x="8803940" y="4800383"/>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grpSp>
          <p:nvGrpSpPr>
            <p:cNvPr id="15" name="组合 14"/>
            <p:cNvGrpSpPr/>
            <p:nvPr/>
          </p:nvGrpSpPr>
          <p:grpSpPr>
            <a:xfrm rot="8977127">
              <a:off x="8997555" y="4965082"/>
              <a:ext cx="446708" cy="334617"/>
              <a:chOff x="2822785" y="1265179"/>
              <a:chExt cx="930073" cy="696693"/>
            </a:xfrm>
            <a:solidFill>
              <a:srgbClr val="FFC000"/>
            </a:solidFill>
          </p:grpSpPr>
          <p:sp>
            <p:nvSpPr>
              <p:cNvPr id="16" name="等腰三角形 15"/>
              <p:cNvSpPr/>
              <p:nvPr/>
            </p:nvSpPr>
            <p:spPr>
              <a:xfrm rot="18941696">
                <a:off x="2822785" y="1265179"/>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sp>
            <p:nvSpPr>
              <p:cNvPr id="17" name="等腰三角形 16"/>
              <p:cNvSpPr/>
              <p:nvPr/>
            </p:nvSpPr>
            <p:spPr>
              <a:xfrm rot="9480000">
                <a:off x="3485946" y="1731776"/>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srgbClr val="FFC20F"/>
                  </a:solidFill>
                  <a:latin typeface="Consolas"/>
                  <a:ea typeface="微软雅黑"/>
                </a:endParaRPr>
              </a:p>
            </p:txBody>
          </p:sp>
        </p:grpSp>
      </p:grpSp>
      <p:sp>
        <p:nvSpPr>
          <p:cNvPr id="18" name="文本框 17"/>
          <p:cNvSpPr txBox="1"/>
          <p:nvPr/>
        </p:nvSpPr>
        <p:spPr>
          <a:xfrm>
            <a:off x="6723297" y="3645808"/>
            <a:ext cx="4080933" cy="523220"/>
          </a:xfrm>
          <a:prstGeom prst="rect">
            <a:avLst/>
          </a:prstGeom>
          <a:noFill/>
        </p:spPr>
        <p:txBody>
          <a:bodyPr wrap="square" rtlCol="0">
            <a:spAutoFit/>
          </a:bodyPr>
          <a:lstStyle/>
          <a:p>
            <a:pPr defTabSz="457200"/>
            <a:r>
              <a:rPr lang="zh-CN" altLang="en-US" sz="2800" dirty="0">
                <a:solidFill>
                  <a:prstClr val="black"/>
                </a:solidFill>
                <a:latin typeface="Consolas"/>
                <a:ea typeface="微软雅黑"/>
              </a:rPr>
              <a:t>（</a:t>
            </a:r>
            <a:r>
              <a:rPr lang="en-US" altLang="zh-CN" sz="2800" dirty="0">
                <a:solidFill>
                  <a:prstClr val="black"/>
                </a:solidFill>
                <a:latin typeface="Consolas"/>
                <a:ea typeface="微软雅黑"/>
              </a:rPr>
              <a:t>Unit test</a:t>
            </a:r>
            <a:r>
              <a:rPr lang="zh-CN" altLang="en-US" sz="2800" dirty="0">
                <a:solidFill>
                  <a:prstClr val="black"/>
                </a:solidFill>
                <a:latin typeface="Consolas"/>
                <a:ea typeface="微软雅黑"/>
              </a:rPr>
              <a:t>）</a:t>
            </a:r>
          </a:p>
        </p:txBody>
      </p:sp>
    </p:spTree>
    <p:extLst>
      <p:ext uri="{BB962C8B-B14F-4D97-AF65-F5344CB8AC3E}">
        <p14:creationId xmlns:p14="http://schemas.microsoft.com/office/powerpoint/2010/main" val="2823790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26733" y="1395104"/>
            <a:ext cx="7873465" cy="830997"/>
          </a:xfrm>
          <a:prstGeom prst="rect">
            <a:avLst/>
          </a:prstGeom>
          <a:noFill/>
        </p:spPr>
        <p:txBody>
          <a:bodyPr wrap="square" rtlCol="0">
            <a:spAutoFit/>
          </a:bodyPr>
          <a:lstStyle/>
          <a:p>
            <a:pPr marL="285744" indent="-285744" defTabSz="457200">
              <a:buFont typeface="Arial" panose="020B0604020202020204" pitchFamily="34" charset="0"/>
              <a:buChar char="•"/>
            </a:pPr>
            <a:r>
              <a:rPr lang="zh-CN" altLang="en-US" sz="2400" dirty="0">
                <a:solidFill>
                  <a:prstClr val="black"/>
                </a:solidFill>
                <a:latin typeface="Consolas"/>
                <a:ea typeface="微软雅黑"/>
              </a:rPr>
              <a:t>软件开发过程中要进行的 </a:t>
            </a:r>
            <a:r>
              <a:rPr lang="zh-CN" altLang="en-US" sz="2400" b="1" dirty="0">
                <a:solidFill>
                  <a:prstClr val="black"/>
                </a:solidFill>
                <a:latin typeface="Consolas"/>
                <a:ea typeface="微软雅黑"/>
              </a:rPr>
              <a:t>最低级别 </a:t>
            </a:r>
            <a:r>
              <a:rPr lang="zh-CN" altLang="en-US" sz="2400" dirty="0">
                <a:solidFill>
                  <a:prstClr val="black"/>
                </a:solidFill>
                <a:latin typeface="Consolas"/>
                <a:ea typeface="微软雅黑"/>
              </a:rPr>
              <a:t>的测试活动</a:t>
            </a:r>
            <a:endParaRPr lang="en-US" altLang="zh-CN" sz="2400" dirty="0">
              <a:solidFill>
                <a:prstClr val="black"/>
              </a:solidFill>
              <a:latin typeface="Consolas"/>
              <a:ea typeface="微软雅黑"/>
            </a:endParaRPr>
          </a:p>
          <a:p>
            <a:pPr marL="285744" indent="-285744" defTabSz="457200">
              <a:buFont typeface="Arial" panose="020B0604020202020204" pitchFamily="34" charset="0"/>
              <a:buChar char="•"/>
            </a:pPr>
            <a:r>
              <a:rPr lang="zh-CN" altLang="en-US" sz="2400" dirty="0">
                <a:solidFill>
                  <a:prstClr val="black"/>
                </a:solidFill>
                <a:latin typeface="Consolas"/>
                <a:ea typeface="微软雅黑"/>
              </a:rPr>
              <a:t>一般由 </a:t>
            </a:r>
            <a:r>
              <a:rPr lang="zh-CN" altLang="en-US" sz="2400" b="1" dirty="0">
                <a:solidFill>
                  <a:prstClr val="black"/>
                </a:solidFill>
                <a:latin typeface="Consolas"/>
                <a:ea typeface="微软雅黑"/>
              </a:rPr>
              <a:t>开发人员 </a:t>
            </a:r>
            <a:r>
              <a:rPr lang="zh-CN" altLang="en-US" sz="2400" dirty="0">
                <a:solidFill>
                  <a:prstClr val="black"/>
                </a:solidFill>
                <a:latin typeface="Consolas"/>
                <a:ea typeface="微软雅黑"/>
              </a:rPr>
              <a:t>来执行</a:t>
            </a:r>
            <a:endParaRPr lang="en-US" altLang="zh-CN" sz="2400" dirty="0">
              <a:solidFill>
                <a:prstClr val="black"/>
              </a:solidFill>
              <a:latin typeface="Consolas"/>
              <a:ea typeface="微软雅黑"/>
            </a:endParaRPr>
          </a:p>
        </p:txBody>
      </p:sp>
      <p:sp>
        <p:nvSpPr>
          <p:cNvPr id="3" name="文本框 2"/>
          <p:cNvSpPr txBox="1"/>
          <p:nvPr/>
        </p:nvSpPr>
        <p:spPr>
          <a:xfrm>
            <a:off x="2526733" y="540502"/>
            <a:ext cx="4061861" cy="646331"/>
          </a:xfrm>
          <a:prstGeom prst="rect">
            <a:avLst/>
          </a:prstGeom>
          <a:noFill/>
        </p:spPr>
        <p:txBody>
          <a:bodyPr wrap="square" rtlCol="0">
            <a:spAutoFit/>
          </a:bodyPr>
          <a:lstStyle/>
          <a:p>
            <a:pPr defTabSz="457200"/>
            <a:r>
              <a:rPr lang="zh-CN" altLang="en-US" sz="3600" dirty="0">
                <a:solidFill>
                  <a:prstClr val="black"/>
                </a:solidFill>
                <a:latin typeface="Consolas"/>
                <a:ea typeface="微软雅黑"/>
              </a:rPr>
              <a:t>单元测试</a:t>
            </a:r>
          </a:p>
        </p:txBody>
      </p:sp>
      <p:sp>
        <p:nvSpPr>
          <p:cNvPr id="4" name="文本框 3"/>
          <p:cNvSpPr txBox="1"/>
          <p:nvPr/>
        </p:nvSpPr>
        <p:spPr>
          <a:xfrm>
            <a:off x="2526729" y="2410924"/>
            <a:ext cx="4967765" cy="707886"/>
          </a:xfrm>
          <a:prstGeom prst="rect">
            <a:avLst/>
          </a:prstGeom>
          <a:noFill/>
        </p:spPr>
        <p:txBody>
          <a:bodyPr wrap="square" rtlCol="0">
            <a:spAutoFit/>
          </a:bodyPr>
          <a:lstStyle/>
          <a:p>
            <a:pPr defTabSz="457200"/>
            <a:r>
              <a:rPr lang="zh-CN" altLang="en-US" sz="2000" dirty="0">
                <a:solidFill>
                  <a:prstClr val="black"/>
                </a:solidFill>
                <a:latin typeface="Consolas"/>
                <a:ea typeface="微软雅黑"/>
              </a:rPr>
              <a:t>在单元测试中，软件的独立单元将在与程序的其他部分</a:t>
            </a:r>
            <a:r>
              <a:rPr lang="zh-CN" altLang="en-US" sz="2000" b="1" dirty="0">
                <a:solidFill>
                  <a:prstClr val="black"/>
                </a:solidFill>
                <a:latin typeface="Consolas"/>
                <a:ea typeface="微软雅黑"/>
              </a:rPr>
              <a:t>相隔离</a:t>
            </a:r>
            <a:r>
              <a:rPr lang="zh-CN" altLang="en-US" sz="2000" dirty="0">
                <a:solidFill>
                  <a:prstClr val="black"/>
                </a:solidFill>
                <a:latin typeface="Consolas"/>
                <a:ea typeface="微软雅黑"/>
              </a:rPr>
              <a:t>的情况下进行测试</a:t>
            </a:r>
          </a:p>
        </p:txBody>
      </p:sp>
      <p:sp>
        <p:nvSpPr>
          <p:cNvPr id="5" name="文本框 4"/>
          <p:cNvSpPr txBox="1"/>
          <p:nvPr/>
        </p:nvSpPr>
        <p:spPr>
          <a:xfrm>
            <a:off x="2526730" y="3412156"/>
            <a:ext cx="7084195" cy="400110"/>
          </a:xfrm>
          <a:prstGeom prst="rect">
            <a:avLst/>
          </a:prstGeom>
          <a:noFill/>
        </p:spPr>
        <p:txBody>
          <a:bodyPr wrap="square" rtlCol="0">
            <a:spAutoFit/>
          </a:bodyPr>
          <a:lstStyle/>
          <a:p>
            <a:pPr defTabSz="457200"/>
            <a:r>
              <a:rPr lang="zh-CN" altLang="en-US" sz="2000" dirty="0">
                <a:solidFill>
                  <a:prstClr val="black"/>
                </a:solidFill>
                <a:latin typeface="Consolas"/>
                <a:ea typeface="微软雅黑"/>
              </a:rPr>
              <a:t>在</a:t>
            </a:r>
            <a:r>
              <a:rPr lang="en-US" altLang="zh-CN" sz="2000" dirty="0">
                <a:solidFill>
                  <a:prstClr val="black"/>
                </a:solidFill>
                <a:latin typeface="Consolas"/>
                <a:ea typeface="微软雅黑"/>
              </a:rPr>
              <a:t>C++</a:t>
            </a:r>
            <a:r>
              <a:rPr lang="zh-CN" altLang="en-US" sz="2000" dirty="0">
                <a:solidFill>
                  <a:prstClr val="black"/>
                </a:solidFill>
                <a:latin typeface="Consolas"/>
                <a:ea typeface="微软雅黑"/>
              </a:rPr>
              <a:t>与</a:t>
            </a:r>
            <a:r>
              <a:rPr lang="en-US" altLang="zh-CN" sz="2000" dirty="0">
                <a:solidFill>
                  <a:prstClr val="black"/>
                </a:solidFill>
                <a:latin typeface="Consolas"/>
                <a:ea typeface="微软雅黑"/>
              </a:rPr>
              <a:t>Java</a:t>
            </a:r>
            <a:r>
              <a:rPr lang="zh-CN" altLang="en-US" sz="2000" dirty="0">
                <a:solidFill>
                  <a:prstClr val="black"/>
                </a:solidFill>
                <a:latin typeface="Consolas"/>
                <a:ea typeface="微软雅黑"/>
              </a:rPr>
              <a:t>中，要进行测试的基本单元是</a:t>
            </a:r>
            <a:r>
              <a:rPr lang="zh-CN" altLang="en-US" sz="2000" b="1" dirty="0">
                <a:solidFill>
                  <a:prstClr val="black"/>
                </a:solidFill>
                <a:latin typeface="Consolas"/>
                <a:ea typeface="微软雅黑"/>
              </a:rPr>
              <a:t>类</a:t>
            </a:r>
          </a:p>
        </p:txBody>
      </p:sp>
      <p:sp>
        <p:nvSpPr>
          <p:cNvPr id="6" name="文本框 5"/>
          <p:cNvSpPr txBox="1"/>
          <p:nvPr/>
        </p:nvSpPr>
        <p:spPr>
          <a:xfrm>
            <a:off x="2526730" y="4269273"/>
            <a:ext cx="8024730" cy="1938992"/>
          </a:xfrm>
          <a:prstGeom prst="rect">
            <a:avLst/>
          </a:prstGeom>
          <a:noFill/>
        </p:spPr>
        <p:txBody>
          <a:bodyPr wrap="square" rtlCol="0">
            <a:spAutoFit/>
          </a:bodyPr>
          <a:lstStyle/>
          <a:p>
            <a:pPr defTabSz="457200"/>
            <a:r>
              <a:rPr lang="zh-CN" altLang="en-US" sz="2000" dirty="0">
                <a:solidFill>
                  <a:prstClr val="black"/>
                </a:solidFill>
                <a:latin typeface="Consolas"/>
                <a:ea typeface="微软雅黑"/>
              </a:rPr>
              <a:t>为了彻底地测试类的结构和功能性， 设计两种类型的测试用例：</a:t>
            </a:r>
            <a:endParaRPr lang="en-US" altLang="zh-CN" sz="2000" dirty="0">
              <a:solidFill>
                <a:prstClr val="black"/>
              </a:solidFill>
              <a:latin typeface="Consolas"/>
              <a:ea typeface="微软雅黑"/>
            </a:endParaRPr>
          </a:p>
          <a:p>
            <a:pPr defTabSz="457200"/>
            <a:r>
              <a:rPr lang="zh-CN" altLang="en-US" sz="2000" dirty="0">
                <a:solidFill>
                  <a:prstClr val="black"/>
                </a:solidFill>
                <a:latin typeface="Consolas"/>
                <a:ea typeface="微软雅黑"/>
              </a:rPr>
              <a:t>黑盒和白盒</a:t>
            </a:r>
            <a:endParaRPr lang="en-US" altLang="zh-CN" sz="2000" dirty="0">
              <a:solidFill>
                <a:prstClr val="black"/>
              </a:solidFill>
              <a:latin typeface="Consolas"/>
              <a:ea typeface="微软雅黑"/>
            </a:endParaRPr>
          </a:p>
          <a:p>
            <a:pPr marL="285744" indent="-285744" defTabSz="457200">
              <a:buFont typeface="Arial" panose="020B0604020202020204" pitchFamily="34" charset="0"/>
              <a:buChar char="•"/>
            </a:pPr>
            <a:r>
              <a:rPr lang="zh-CN" altLang="en-US" sz="2000" dirty="0">
                <a:solidFill>
                  <a:prstClr val="black"/>
                </a:solidFill>
                <a:latin typeface="Consolas"/>
                <a:ea typeface="微软雅黑"/>
              </a:rPr>
              <a:t>黑盒测试用例基于设计和规格文档 </a:t>
            </a:r>
            <a:endParaRPr lang="en-US" altLang="zh-CN" sz="2000" dirty="0">
              <a:solidFill>
                <a:prstClr val="black"/>
              </a:solidFill>
              <a:latin typeface="Consolas"/>
              <a:ea typeface="微软雅黑"/>
            </a:endParaRPr>
          </a:p>
          <a:p>
            <a:pPr marL="285744" indent="-285744" defTabSz="457200">
              <a:buFont typeface="Arial" panose="020B0604020202020204" pitchFamily="34" charset="0"/>
              <a:buChar char="•"/>
            </a:pPr>
            <a:r>
              <a:rPr lang="zh-CN" altLang="en-US" sz="2000" dirty="0">
                <a:solidFill>
                  <a:prstClr val="black"/>
                </a:solidFill>
                <a:latin typeface="Consolas"/>
                <a:ea typeface="微软雅黑"/>
              </a:rPr>
              <a:t>白盒测试用例通过各种不同的输入充分地执行类的所有方法以发现缺陷</a:t>
            </a:r>
            <a:endParaRPr lang="en-US" altLang="zh-CN" sz="2000" dirty="0">
              <a:solidFill>
                <a:prstClr val="black"/>
              </a:solidFill>
              <a:latin typeface="Consolas"/>
              <a:ea typeface="微软雅黑"/>
            </a:endParaRPr>
          </a:p>
          <a:p>
            <a:pPr defTabSz="457200"/>
            <a:r>
              <a:rPr lang="zh-CN" altLang="en-US" sz="2000" dirty="0">
                <a:solidFill>
                  <a:prstClr val="black"/>
                </a:solidFill>
                <a:latin typeface="Consolas"/>
                <a:ea typeface="微软雅黑"/>
              </a:rPr>
              <a:t>任何时候一个类被修改后， 应该执行回归测试</a:t>
            </a:r>
            <a:endParaRPr lang="en-US" altLang="zh-CN" sz="2000" dirty="0">
              <a:solidFill>
                <a:prstClr val="black"/>
              </a:solidFill>
              <a:latin typeface="Consolas"/>
              <a:ea typeface="微软雅黑"/>
            </a:endParaRPr>
          </a:p>
        </p:txBody>
      </p:sp>
    </p:spTree>
    <p:extLst>
      <p:ext uri="{BB962C8B-B14F-4D97-AF65-F5344CB8AC3E}">
        <p14:creationId xmlns:p14="http://schemas.microsoft.com/office/powerpoint/2010/main" val="2532133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553626" y="2009944"/>
            <a:ext cx="6590375" cy="2554545"/>
          </a:xfrm>
          <a:prstGeom prst="rect">
            <a:avLst/>
          </a:prstGeom>
          <a:noFill/>
        </p:spPr>
        <p:txBody>
          <a:bodyPr wrap="square" rtlCol="0">
            <a:spAutoFit/>
          </a:bodyPr>
          <a:lstStyle/>
          <a:p>
            <a:pPr marL="285744" indent="-285744" defTabSz="457200">
              <a:buFont typeface="Arial" panose="020B0604020202020204" pitchFamily="34" charset="0"/>
              <a:buChar char="•"/>
            </a:pPr>
            <a:r>
              <a:rPr lang="en-US" altLang="zh-CN" sz="3200" dirty="0">
                <a:solidFill>
                  <a:prstClr val="black"/>
                </a:solidFill>
                <a:latin typeface="Consolas"/>
                <a:ea typeface="微软雅黑"/>
              </a:rPr>
              <a:t>Java</a:t>
            </a:r>
            <a:r>
              <a:rPr lang="zh-CN" altLang="en-US" sz="3200" dirty="0">
                <a:solidFill>
                  <a:prstClr val="black"/>
                </a:solidFill>
                <a:latin typeface="Consolas"/>
                <a:ea typeface="微软雅黑"/>
              </a:rPr>
              <a:t>：</a:t>
            </a:r>
            <a:r>
              <a:rPr lang="en-US" altLang="zh-CN" sz="3200" dirty="0">
                <a:solidFill>
                  <a:prstClr val="black"/>
                </a:solidFill>
                <a:latin typeface="Consolas"/>
                <a:ea typeface="微软雅黑"/>
              </a:rPr>
              <a:t>JUnit</a:t>
            </a:r>
          </a:p>
          <a:p>
            <a:pPr marL="285744" indent="-285744" defTabSz="457200">
              <a:buFont typeface="Arial" panose="020B0604020202020204" pitchFamily="34" charset="0"/>
              <a:buChar char="•"/>
            </a:pPr>
            <a:r>
              <a:rPr lang="en-US" altLang="zh-CN" sz="3200" dirty="0">
                <a:solidFill>
                  <a:prstClr val="black"/>
                </a:solidFill>
                <a:latin typeface="Consolas"/>
                <a:ea typeface="微软雅黑"/>
              </a:rPr>
              <a:t>C++</a:t>
            </a:r>
            <a:r>
              <a:rPr lang="zh-CN" altLang="en-US" sz="3200" dirty="0">
                <a:solidFill>
                  <a:prstClr val="black"/>
                </a:solidFill>
                <a:latin typeface="Consolas"/>
                <a:ea typeface="微软雅黑"/>
              </a:rPr>
              <a:t>：</a:t>
            </a:r>
            <a:r>
              <a:rPr lang="en-US" altLang="zh-CN" sz="3200" dirty="0" err="1">
                <a:solidFill>
                  <a:prstClr val="black"/>
                </a:solidFill>
                <a:latin typeface="Consolas"/>
                <a:ea typeface="微软雅黑"/>
              </a:rPr>
              <a:t>CppUnit</a:t>
            </a:r>
            <a:endParaRPr lang="en-US" altLang="zh-CN" sz="3200" dirty="0">
              <a:solidFill>
                <a:prstClr val="black"/>
              </a:solidFill>
              <a:latin typeface="Consolas"/>
              <a:ea typeface="微软雅黑"/>
            </a:endParaRPr>
          </a:p>
          <a:p>
            <a:pPr marL="285744" indent="-285744" defTabSz="457200">
              <a:buFont typeface="Arial" panose="020B0604020202020204" pitchFamily="34" charset="0"/>
              <a:buChar char="•"/>
            </a:pPr>
            <a:r>
              <a:rPr lang="en-US" altLang="zh-CN" sz="3200" dirty="0">
                <a:solidFill>
                  <a:prstClr val="black"/>
                </a:solidFill>
                <a:latin typeface="Consolas"/>
                <a:ea typeface="微软雅黑"/>
              </a:rPr>
              <a:t>.NET</a:t>
            </a:r>
            <a:r>
              <a:rPr lang="zh-CN" altLang="en-US" sz="3200" dirty="0">
                <a:solidFill>
                  <a:prstClr val="black"/>
                </a:solidFill>
                <a:latin typeface="Consolas"/>
                <a:ea typeface="微软雅黑"/>
              </a:rPr>
              <a:t>框架：</a:t>
            </a:r>
            <a:r>
              <a:rPr lang="en-US" altLang="zh-CN" sz="3200" dirty="0" err="1">
                <a:solidFill>
                  <a:prstClr val="black"/>
                </a:solidFill>
                <a:latin typeface="Consolas"/>
                <a:ea typeface="微软雅黑"/>
              </a:rPr>
              <a:t>xUnit</a:t>
            </a:r>
            <a:endParaRPr lang="en-US" altLang="zh-CN" sz="3200" dirty="0">
              <a:solidFill>
                <a:prstClr val="black"/>
              </a:solidFill>
              <a:latin typeface="Consolas"/>
              <a:ea typeface="微软雅黑"/>
            </a:endParaRPr>
          </a:p>
          <a:p>
            <a:pPr marL="285744" indent="-285744" defTabSz="457200">
              <a:buFont typeface="Arial" panose="020B0604020202020204" pitchFamily="34" charset="0"/>
              <a:buChar char="•"/>
            </a:pPr>
            <a:r>
              <a:rPr lang="zh-CN" altLang="en-US" sz="3200" dirty="0">
                <a:solidFill>
                  <a:prstClr val="black"/>
                </a:solidFill>
                <a:latin typeface="Consolas"/>
                <a:ea typeface="微软雅黑"/>
              </a:rPr>
              <a:t>覆盖性分析工具：</a:t>
            </a:r>
            <a:r>
              <a:rPr lang="en-US" altLang="zh-CN" sz="3200" dirty="0" err="1">
                <a:solidFill>
                  <a:prstClr val="black"/>
                </a:solidFill>
                <a:latin typeface="Consolas"/>
                <a:ea typeface="微软雅黑"/>
              </a:rPr>
              <a:t>PureCoverage</a:t>
            </a:r>
            <a:endParaRPr lang="en-US" altLang="zh-CN" sz="3200" dirty="0">
              <a:solidFill>
                <a:prstClr val="black"/>
              </a:solidFill>
              <a:latin typeface="Consolas"/>
              <a:ea typeface="微软雅黑"/>
            </a:endParaRPr>
          </a:p>
          <a:p>
            <a:pPr marL="285744" indent="-285744" defTabSz="457200">
              <a:buFont typeface="Arial" panose="020B0604020202020204" pitchFamily="34" charset="0"/>
              <a:buChar char="•"/>
            </a:pPr>
            <a:endParaRPr lang="en-US" altLang="zh-CN" sz="3200" dirty="0">
              <a:solidFill>
                <a:prstClr val="black"/>
              </a:solidFill>
              <a:latin typeface="Consolas"/>
              <a:ea typeface="微软雅黑"/>
            </a:endParaRPr>
          </a:p>
        </p:txBody>
      </p:sp>
      <p:sp>
        <p:nvSpPr>
          <p:cNvPr id="5" name="文本框 4"/>
          <p:cNvSpPr txBox="1"/>
          <p:nvPr/>
        </p:nvSpPr>
        <p:spPr>
          <a:xfrm>
            <a:off x="2455017" y="499039"/>
            <a:ext cx="4061861" cy="646331"/>
          </a:xfrm>
          <a:prstGeom prst="rect">
            <a:avLst/>
          </a:prstGeom>
          <a:noFill/>
        </p:spPr>
        <p:txBody>
          <a:bodyPr wrap="square" rtlCol="0">
            <a:spAutoFit/>
          </a:bodyPr>
          <a:lstStyle/>
          <a:p>
            <a:pPr defTabSz="457200"/>
            <a:r>
              <a:rPr lang="zh-CN" altLang="en-US" sz="3600" dirty="0">
                <a:solidFill>
                  <a:prstClr val="black"/>
                </a:solidFill>
                <a:latin typeface="Consolas"/>
                <a:ea typeface="微软雅黑"/>
              </a:rPr>
              <a:t>单元测试辅助工具</a:t>
            </a:r>
          </a:p>
        </p:txBody>
      </p:sp>
    </p:spTree>
    <p:extLst>
      <p:ext uri="{BB962C8B-B14F-4D97-AF65-F5344CB8AC3E}">
        <p14:creationId xmlns:p14="http://schemas.microsoft.com/office/powerpoint/2010/main" val="212169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0" y="0"/>
            <a:ext cx="12192000" cy="6858000"/>
          </a:xfrm>
          <a:prstGeom prst="rect">
            <a:avLst/>
          </a:prstGeom>
        </p:spPr>
      </p:pic>
      <p:sp>
        <p:nvSpPr>
          <p:cNvPr id="3" name="矩形 2"/>
          <p:cNvSpPr/>
          <p:nvPr/>
        </p:nvSpPr>
        <p:spPr>
          <a:xfrm>
            <a:off x="-13648" y="2"/>
            <a:ext cx="12192000"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solidFill>
                <a:prstClr val="black"/>
              </a:solidFill>
              <a:latin typeface="Consolas"/>
              <a:ea typeface="微软雅黑"/>
            </a:endParaRPr>
          </a:p>
        </p:txBody>
      </p:sp>
      <p:sp>
        <p:nvSpPr>
          <p:cNvPr id="4" name="文本框 3"/>
          <p:cNvSpPr txBox="1"/>
          <p:nvPr/>
        </p:nvSpPr>
        <p:spPr>
          <a:xfrm>
            <a:off x="6107231" y="3075063"/>
            <a:ext cx="3351447" cy="646331"/>
          </a:xfrm>
          <a:prstGeom prst="rect">
            <a:avLst/>
          </a:prstGeom>
          <a:noFill/>
        </p:spPr>
        <p:txBody>
          <a:bodyPr wrap="square" rtlCol="0">
            <a:spAutoFit/>
          </a:bodyPr>
          <a:lstStyle/>
          <a:p>
            <a:pPr algn="ctr" defTabSz="457200"/>
            <a:r>
              <a:rPr lang="zh-CN" altLang="en-US" sz="3600" dirty="0">
                <a:solidFill>
                  <a:prstClr val="black"/>
                </a:solidFill>
                <a:latin typeface="方正大黑简体" panose="03000509000000000000" pitchFamily="65" charset="-122"/>
                <a:ea typeface="方正大黑简体" panose="03000509000000000000" pitchFamily="65" charset="-122"/>
              </a:rPr>
              <a:t>总结</a:t>
            </a:r>
          </a:p>
        </p:txBody>
      </p:sp>
      <p:sp>
        <p:nvSpPr>
          <p:cNvPr id="25" name="等腰三角形 24"/>
          <p:cNvSpPr/>
          <p:nvPr/>
        </p:nvSpPr>
        <p:spPr>
          <a:xfrm rot="5400000">
            <a:off x="4040230" y="2499423"/>
            <a:ext cx="2156621" cy="1859156"/>
          </a:xfrm>
          <a:prstGeom prst="triangle">
            <a:avLst/>
          </a:prstGeom>
          <a:blipFill dpi="0" rotWithShape="0">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sp>
        <p:nvSpPr>
          <p:cNvPr id="50" name="直角三角形 49"/>
          <p:cNvSpPr/>
          <p:nvPr/>
        </p:nvSpPr>
        <p:spPr>
          <a:xfrm rot="3607112" flipH="1" flipV="1">
            <a:off x="3253999" y="2891781"/>
            <a:ext cx="1869916" cy="1074445"/>
          </a:xfrm>
          <a:prstGeom prst="rtTriangle">
            <a:avLst/>
          </a:prstGeom>
          <a:solidFill>
            <a:schemeClr val="bg2">
              <a:lumMod val="75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grpSp>
        <p:nvGrpSpPr>
          <p:cNvPr id="11" name="组合 10"/>
          <p:cNvGrpSpPr/>
          <p:nvPr/>
        </p:nvGrpSpPr>
        <p:grpSpPr>
          <a:xfrm rot="15665791">
            <a:off x="992121" y="3986103"/>
            <a:ext cx="1354028" cy="1419488"/>
            <a:chOff x="8090235" y="3880211"/>
            <a:chExt cx="1354028" cy="1419488"/>
          </a:xfrm>
        </p:grpSpPr>
        <p:sp>
          <p:nvSpPr>
            <p:cNvPr id="12" name="等腰三角形 11"/>
            <p:cNvSpPr/>
            <p:nvPr/>
          </p:nvSpPr>
          <p:spPr>
            <a:xfrm rot="18941696">
              <a:off x="8216431" y="4752257"/>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sp>
          <p:nvSpPr>
            <p:cNvPr id="13" name="等腰三角形 12"/>
            <p:cNvSpPr/>
            <p:nvPr/>
          </p:nvSpPr>
          <p:spPr>
            <a:xfrm rot="3678182">
              <a:off x="8062840" y="3907606"/>
              <a:ext cx="397226" cy="342435"/>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sp>
          <p:nvSpPr>
            <p:cNvPr id="14" name="等腰三角形 13"/>
            <p:cNvSpPr/>
            <p:nvPr/>
          </p:nvSpPr>
          <p:spPr>
            <a:xfrm rot="9480000">
              <a:off x="8803940" y="4800383"/>
              <a:ext cx="266912" cy="23009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grpSp>
          <p:nvGrpSpPr>
            <p:cNvPr id="15" name="组合 14"/>
            <p:cNvGrpSpPr/>
            <p:nvPr/>
          </p:nvGrpSpPr>
          <p:grpSpPr>
            <a:xfrm rot="8977127">
              <a:off x="8997555" y="4965082"/>
              <a:ext cx="446708" cy="334617"/>
              <a:chOff x="2822785" y="1265179"/>
              <a:chExt cx="930073" cy="696693"/>
            </a:xfrm>
            <a:solidFill>
              <a:srgbClr val="FFC000"/>
            </a:solidFill>
          </p:grpSpPr>
          <p:sp>
            <p:nvSpPr>
              <p:cNvPr id="16" name="等腰三角形 15"/>
              <p:cNvSpPr/>
              <p:nvPr/>
            </p:nvSpPr>
            <p:spPr>
              <a:xfrm rot="18941696">
                <a:off x="2822785" y="1265179"/>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sp>
            <p:nvSpPr>
              <p:cNvPr id="17" name="等腰三角形 16"/>
              <p:cNvSpPr/>
              <p:nvPr/>
            </p:nvSpPr>
            <p:spPr>
              <a:xfrm rot="9480000">
                <a:off x="3485946" y="1731776"/>
                <a:ext cx="266912" cy="23009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grpSp>
      </p:grpSp>
      <p:sp>
        <p:nvSpPr>
          <p:cNvPr id="18" name="文本框 17"/>
          <p:cNvSpPr txBox="1"/>
          <p:nvPr/>
        </p:nvSpPr>
        <p:spPr>
          <a:xfrm>
            <a:off x="6337452" y="3645808"/>
            <a:ext cx="4080933" cy="523220"/>
          </a:xfrm>
          <a:prstGeom prst="rect">
            <a:avLst/>
          </a:prstGeom>
          <a:noFill/>
        </p:spPr>
        <p:txBody>
          <a:bodyPr wrap="square" rtlCol="0">
            <a:spAutoFit/>
          </a:bodyPr>
          <a:lstStyle/>
          <a:p>
            <a:pPr defTabSz="457200"/>
            <a:r>
              <a:rPr lang="zh-CN" altLang="en-US" sz="2800" dirty="0">
                <a:solidFill>
                  <a:prstClr val="black"/>
                </a:solidFill>
                <a:latin typeface="Consolas"/>
                <a:ea typeface="微软雅黑"/>
              </a:rPr>
              <a:t>（</a:t>
            </a:r>
            <a:r>
              <a:rPr lang="en-US" altLang="zh-CN" sz="2800" dirty="0">
                <a:solidFill>
                  <a:prstClr val="black"/>
                </a:solidFill>
                <a:latin typeface="Consolas"/>
                <a:ea typeface="微软雅黑"/>
              </a:rPr>
              <a:t>Conclusion</a:t>
            </a:r>
            <a:r>
              <a:rPr lang="zh-CN" altLang="en-US" sz="2800" dirty="0">
                <a:solidFill>
                  <a:prstClr val="black"/>
                </a:solidFill>
                <a:latin typeface="Consolas"/>
                <a:ea typeface="微软雅黑"/>
              </a:rPr>
              <a:t>）</a:t>
            </a:r>
          </a:p>
        </p:txBody>
      </p:sp>
    </p:spTree>
    <p:extLst>
      <p:ext uri="{BB962C8B-B14F-4D97-AF65-F5344CB8AC3E}">
        <p14:creationId xmlns:p14="http://schemas.microsoft.com/office/powerpoint/2010/main" val="22955868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0" y="0"/>
            <a:ext cx="12192000" cy="6858000"/>
          </a:xfrm>
          <a:prstGeom prst="rect">
            <a:avLst/>
          </a:prstGeom>
        </p:spPr>
      </p:pic>
      <p:sp>
        <p:nvSpPr>
          <p:cNvPr id="3" name="矩形 2"/>
          <p:cNvSpPr/>
          <p:nvPr/>
        </p:nvSpPr>
        <p:spPr>
          <a:xfrm>
            <a:off x="13480" y="-21823"/>
            <a:ext cx="12192000"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black"/>
              </a:solidFill>
              <a:latin typeface="Consolas"/>
              <a:ea typeface="微软雅黑"/>
            </a:endParaRPr>
          </a:p>
        </p:txBody>
      </p:sp>
      <p:sp>
        <p:nvSpPr>
          <p:cNvPr id="4" name="文本框 3"/>
          <p:cNvSpPr txBox="1"/>
          <p:nvPr/>
        </p:nvSpPr>
        <p:spPr>
          <a:xfrm>
            <a:off x="2976283" y="295837"/>
            <a:ext cx="6104964" cy="646331"/>
          </a:xfrm>
          <a:prstGeom prst="rect">
            <a:avLst/>
          </a:prstGeom>
          <a:noFill/>
        </p:spPr>
        <p:txBody>
          <a:bodyPr wrap="square" rtlCol="0">
            <a:spAutoFit/>
          </a:bodyPr>
          <a:lstStyle/>
          <a:p>
            <a:pPr algn="ctr" defTabSz="457200"/>
            <a:r>
              <a:rPr lang="zh-CN" altLang="en-US" sz="3600" dirty="0">
                <a:solidFill>
                  <a:prstClr val="black"/>
                </a:solidFill>
                <a:latin typeface="微软雅黑"/>
                <a:ea typeface="微软雅黑"/>
              </a:rPr>
              <a:t>软件编码过程（以</a:t>
            </a:r>
            <a:r>
              <a:rPr lang="en-US" altLang="zh-CN" sz="3600" dirty="0">
                <a:solidFill>
                  <a:prstClr val="black"/>
                </a:solidFill>
                <a:latin typeface="微软雅黑"/>
                <a:ea typeface="微软雅黑"/>
              </a:rPr>
              <a:t>C++</a:t>
            </a:r>
            <a:r>
              <a:rPr lang="zh-CN" altLang="en-US" sz="3600">
                <a:solidFill>
                  <a:prstClr val="black"/>
                </a:solidFill>
                <a:latin typeface="微软雅黑"/>
                <a:ea typeface="微软雅黑"/>
              </a:rPr>
              <a:t>为例）</a:t>
            </a:r>
            <a:endParaRPr lang="zh-CN" altLang="en-US" sz="4800" dirty="0">
              <a:solidFill>
                <a:prstClr val="black"/>
              </a:solidFill>
              <a:latin typeface="微软雅黑"/>
              <a:ea typeface="微软雅黑"/>
            </a:endParaRPr>
          </a:p>
        </p:txBody>
      </p:sp>
      <p:grpSp>
        <p:nvGrpSpPr>
          <p:cNvPr id="7" name="组合 6"/>
          <p:cNvGrpSpPr/>
          <p:nvPr/>
        </p:nvGrpSpPr>
        <p:grpSpPr>
          <a:xfrm>
            <a:off x="1469309" y="966368"/>
            <a:ext cx="1712279" cy="2456551"/>
            <a:chOff x="1160825" y="2030717"/>
            <a:chExt cx="1712279" cy="2456550"/>
          </a:xfrm>
        </p:grpSpPr>
        <p:sp>
          <p:nvSpPr>
            <p:cNvPr id="19" name="文本框 18"/>
            <p:cNvSpPr txBox="1"/>
            <p:nvPr/>
          </p:nvSpPr>
          <p:spPr>
            <a:xfrm>
              <a:off x="1265013" y="3194605"/>
              <a:ext cx="1503903" cy="1292662"/>
            </a:xfrm>
            <a:prstGeom prst="rect">
              <a:avLst/>
            </a:prstGeom>
            <a:noFill/>
          </p:spPr>
          <p:txBody>
            <a:bodyPr wrap="square" rtlCol="0">
              <a:spAutoFit/>
            </a:bodyPr>
            <a:lstStyle/>
            <a:p>
              <a:pPr defTabSz="457200">
                <a:lnSpc>
                  <a:spcPct val="130000"/>
                </a:lnSpc>
              </a:pPr>
              <a:r>
                <a:rPr lang="zh-CN" altLang="en-US" sz="2000" dirty="0">
                  <a:solidFill>
                    <a:prstClr val="black"/>
                  </a:solidFill>
                  <a:latin typeface="冬青黑体简体中文 W3" panose="020B0300000000000000" pitchFamily="34" charset="-122"/>
                  <a:ea typeface="冬青黑体简体中文 W3" panose="020B0300000000000000" pitchFamily="34" charset="-122"/>
                </a:rPr>
                <a:t>达成共识</a:t>
              </a:r>
              <a:endParaRPr lang="zh-CN" altLang="en-US" sz="4000" dirty="0">
                <a:solidFill>
                  <a:prstClr val="black"/>
                </a:solidFill>
                <a:latin typeface="冬青黑体简体中文 W3" panose="020B0300000000000000" pitchFamily="34" charset="-122"/>
                <a:ea typeface="冬青黑体简体中文 W3" panose="020B0300000000000000" pitchFamily="34" charset="-122"/>
              </a:endParaRPr>
            </a:p>
            <a:p>
              <a:pPr defTabSz="457200">
                <a:lnSpc>
                  <a:spcPct val="130000"/>
                </a:lnSpc>
              </a:pPr>
              <a:endParaRPr lang="zh-CN" altLang="en-US" sz="4000" dirty="0">
                <a:solidFill>
                  <a:prstClr val="black"/>
                </a:solidFill>
                <a:latin typeface="冬青黑体简体中文 W3" panose="020B0300000000000000" pitchFamily="34" charset="-122"/>
                <a:ea typeface="冬青黑体简体中文 W3" panose="020B0300000000000000" pitchFamily="34" charset="-122"/>
              </a:endParaRPr>
            </a:p>
          </p:txBody>
        </p:sp>
        <p:sp>
          <p:nvSpPr>
            <p:cNvPr id="55" name="燕尾形 54"/>
            <p:cNvSpPr/>
            <p:nvPr/>
          </p:nvSpPr>
          <p:spPr>
            <a:xfrm>
              <a:off x="1160825" y="2030717"/>
              <a:ext cx="1712279" cy="1026330"/>
            </a:xfrm>
            <a:prstGeom prst="chevron">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25000"/>
                </a:lnSpc>
              </a:pPr>
              <a:r>
                <a:rPr lang="en-US" altLang="zh-CN" sz="4400" dirty="0">
                  <a:solidFill>
                    <a:prstClr val="black"/>
                  </a:solidFill>
                  <a:latin typeface="冬青黑体简体中文 W3" panose="020B0300000000000000" pitchFamily="34" charset="-122"/>
                  <a:ea typeface="冬青黑体简体中文 W3" panose="020B0300000000000000" pitchFamily="34" charset="-122"/>
                </a:rPr>
                <a:t>1</a:t>
              </a:r>
              <a:endParaRPr lang="zh-CN" altLang="en-US" sz="4400" dirty="0">
                <a:solidFill>
                  <a:prstClr val="black"/>
                </a:solidFill>
                <a:latin typeface="冬青黑体简体中文 W3" panose="020B0300000000000000" pitchFamily="34" charset="-122"/>
                <a:ea typeface="冬青黑体简体中文 W3" panose="020B0300000000000000" pitchFamily="34" charset="-122"/>
              </a:endParaRPr>
            </a:p>
          </p:txBody>
        </p:sp>
      </p:grpSp>
      <p:grpSp>
        <p:nvGrpSpPr>
          <p:cNvPr id="8" name="组合 7"/>
          <p:cNvGrpSpPr/>
          <p:nvPr/>
        </p:nvGrpSpPr>
        <p:grpSpPr>
          <a:xfrm>
            <a:off x="3186461" y="1979689"/>
            <a:ext cx="1689407" cy="2056439"/>
            <a:chOff x="3256688" y="2030717"/>
            <a:chExt cx="1689406" cy="2056439"/>
          </a:xfrm>
        </p:grpSpPr>
        <p:sp>
          <p:nvSpPr>
            <p:cNvPr id="35" name="文本框 34"/>
            <p:cNvSpPr txBox="1"/>
            <p:nvPr/>
          </p:nvSpPr>
          <p:spPr>
            <a:xfrm>
              <a:off x="3361339" y="3194604"/>
              <a:ext cx="1480103" cy="892552"/>
            </a:xfrm>
            <a:prstGeom prst="rect">
              <a:avLst/>
            </a:prstGeom>
            <a:noFill/>
          </p:spPr>
          <p:txBody>
            <a:bodyPr wrap="square" rtlCol="0">
              <a:spAutoFit/>
            </a:bodyPr>
            <a:lstStyle/>
            <a:p>
              <a:pPr defTabSz="457200">
                <a:lnSpc>
                  <a:spcPct val="130000"/>
                </a:lnSpc>
              </a:pPr>
              <a:r>
                <a:rPr lang="zh-CN" altLang="en-US" sz="2000" dirty="0">
                  <a:solidFill>
                    <a:prstClr val="black"/>
                  </a:solidFill>
                  <a:latin typeface="冬青黑体简体中文 W3" panose="020B0300000000000000" pitchFamily="34" charset="-122"/>
                  <a:ea typeface="冬青黑体简体中文 W3" panose="020B0300000000000000" pitchFamily="34" charset="-122"/>
                </a:rPr>
                <a:t>格式化和 布局代码</a:t>
              </a:r>
            </a:p>
          </p:txBody>
        </p:sp>
        <p:sp>
          <p:nvSpPr>
            <p:cNvPr id="56" name="燕尾形 55"/>
            <p:cNvSpPr/>
            <p:nvPr/>
          </p:nvSpPr>
          <p:spPr>
            <a:xfrm>
              <a:off x="3256688" y="2030717"/>
              <a:ext cx="1689406" cy="1026330"/>
            </a:xfrm>
            <a:prstGeom prst="chevron">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25000"/>
                </a:lnSpc>
              </a:pPr>
              <a:r>
                <a:rPr lang="en-US" altLang="zh-CN" sz="4400" dirty="0">
                  <a:solidFill>
                    <a:prstClr val="black"/>
                  </a:solidFill>
                  <a:latin typeface="冬青黑体简体中文 W3" panose="020B0300000000000000" pitchFamily="34" charset="-122"/>
                  <a:ea typeface="冬青黑体简体中文 W3" panose="020B0300000000000000" pitchFamily="34" charset="-122"/>
                </a:rPr>
                <a:t>2</a:t>
              </a:r>
              <a:endParaRPr lang="zh-CN" altLang="en-US" sz="4400" dirty="0">
                <a:solidFill>
                  <a:prstClr val="black"/>
                </a:solidFill>
                <a:latin typeface="冬青黑体简体中文 W3" panose="020B0300000000000000" pitchFamily="34" charset="-122"/>
                <a:ea typeface="冬青黑体简体中文 W3" panose="020B0300000000000000" pitchFamily="34" charset="-122"/>
              </a:endParaRPr>
            </a:p>
          </p:txBody>
        </p:sp>
      </p:grpSp>
      <p:grpSp>
        <p:nvGrpSpPr>
          <p:cNvPr id="10" name="组合 9"/>
          <p:cNvGrpSpPr/>
          <p:nvPr/>
        </p:nvGrpSpPr>
        <p:grpSpPr>
          <a:xfrm>
            <a:off x="4706482" y="3001973"/>
            <a:ext cx="1689407" cy="1605823"/>
            <a:chOff x="5032100" y="1806600"/>
            <a:chExt cx="1689406" cy="1605822"/>
          </a:xfrm>
        </p:grpSpPr>
        <p:sp>
          <p:nvSpPr>
            <p:cNvPr id="28" name="文本框 27"/>
            <p:cNvSpPr txBox="1"/>
            <p:nvPr/>
          </p:nvSpPr>
          <p:spPr>
            <a:xfrm>
              <a:off x="5149450" y="2919979"/>
              <a:ext cx="1491275" cy="492443"/>
            </a:xfrm>
            <a:prstGeom prst="rect">
              <a:avLst/>
            </a:prstGeom>
            <a:noFill/>
          </p:spPr>
          <p:txBody>
            <a:bodyPr wrap="square" rtlCol="0">
              <a:spAutoFit/>
            </a:bodyPr>
            <a:lstStyle/>
            <a:p>
              <a:pPr defTabSz="457200">
                <a:lnSpc>
                  <a:spcPct val="130000"/>
                </a:lnSpc>
              </a:pPr>
              <a:r>
                <a:rPr lang="zh-CN" altLang="en-US" sz="2000" dirty="0">
                  <a:solidFill>
                    <a:prstClr val="black"/>
                  </a:solidFill>
                  <a:latin typeface="冬青黑体简体中文 W3" panose="020B0300000000000000" pitchFamily="34" charset="-122"/>
                  <a:ea typeface="冬青黑体简体中文 W3" panose="020B0300000000000000" pitchFamily="34" charset="-122"/>
                </a:rPr>
                <a:t>单 元 测 试 </a:t>
              </a:r>
            </a:p>
          </p:txBody>
        </p:sp>
        <p:sp>
          <p:nvSpPr>
            <p:cNvPr id="57" name="燕尾形 56"/>
            <p:cNvSpPr/>
            <p:nvPr/>
          </p:nvSpPr>
          <p:spPr>
            <a:xfrm>
              <a:off x="5032100" y="1806600"/>
              <a:ext cx="1689406" cy="1026330"/>
            </a:xfrm>
            <a:prstGeom prst="chevron">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25000"/>
                </a:lnSpc>
              </a:pPr>
              <a:r>
                <a:rPr lang="en-US" altLang="zh-CN" sz="4400" dirty="0">
                  <a:solidFill>
                    <a:prstClr val="black"/>
                  </a:solidFill>
                  <a:latin typeface="冬青黑体简体中文 W3" panose="020B0300000000000000" pitchFamily="34" charset="-122"/>
                  <a:ea typeface="冬青黑体简体中文 W3" panose="020B0300000000000000" pitchFamily="34" charset="-122"/>
                </a:rPr>
                <a:t>3</a:t>
              </a:r>
              <a:endParaRPr lang="zh-CN" altLang="en-US" sz="4400" dirty="0">
                <a:solidFill>
                  <a:prstClr val="black"/>
                </a:solidFill>
                <a:latin typeface="冬青黑体简体中文 W3" panose="020B0300000000000000" pitchFamily="34" charset="-122"/>
                <a:ea typeface="冬青黑体简体中文 W3" panose="020B0300000000000000" pitchFamily="34" charset="-122"/>
              </a:endParaRPr>
            </a:p>
          </p:txBody>
        </p:sp>
      </p:grpSp>
      <p:grpSp>
        <p:nvGrpSpPr>
          <p:cNvPr id="11" name="组合 10"/>
          <p:cNvGrpSpPr/>
          <p:nvPr/>
        </p:nvGrpSpPr>
        <p:grpSpPr>
          <a:xfrm>
            <a:off x="6266707" y="4022368"/>
            <a:ext cx="1689407" cy="2056439"/>
            <a:chOff x="6708863" y="2030717"/>
            <a:chExt cx="1689406" cy="2056439"/>
          </a:xfrm>
        </p:grpSpPr>
        <p:sp>
          <p:nvSpPr>
            <p:cNvPr id="37" name="文本框 36"/>
            <p:cNvSpPr txBox="1"/>
            <p:nvPr/>
          </p:nvSpPr>
          <p:spPr>
            <a:xfrm>
              <a:off x="6810218" y="3194604"/>
              <a:ext cx="1486699" cy="892552"/>
            </a:xfrm>
            <a:prstGeom prst="rect">
              <a:avLst/>
            </a:prstGeom>
            <a:noFill/>
          </p:spPr>
          <p:txBody>
            <a:bodyPr wrap="square" rtlCol="0">
              <a:spAutoFit/>
            </a:bodyPr>
            <a:lstStyle/>
            <a:p>
              <a:pPr defTabSz="457200">
                <a:lnSpc>
                  <a:spcPct val="130000"/>
                </a:lnSpc>
              </a:pPr>
              <a:r>
                <a:rPr lang="zh-CN" altLang="en-US" sz="2000" dirty="0">
                  <a:solidFill>
                    <a:prstClr val="black"/>
                  </a:solidFill>
                  <a:latin typeface="冬青黑体简体中文 W3" panose="020B0300000000000000" pitchFamily="34" charset="-122"/>
                  <a:ea typeface="冬青黑体简体中文 W3" panose="020B0300000000000000" pitchFamily="34" charset="-122"/>
                </a:rPr>
                <a:t>静态检查</a:t>
              </a:r>
              <a:endParaRPr lang="en-US" altLang="zh-CN" sz="2000" dirty="0">
                <a:solidFill>
                  <a:prstClr val="black"/>
                </a:solidFill>
                <a:latin typeface="冬青黑体简体中文 W3" panose="020B0300000000000000" pitchFamily="34" charset="-122"/>
                <a:ea typeface="冬青黑体简体中文 W3" panose="020B0300000000000000" pitchFamily="34" charset="-122"/>
              </a:endParaRPr>
            </a:p>
            <a:p>
              <a:pPr defTabSz="457200">
                <a:lnSpc>
                  <a:spcPct val="130000"/>
                </a:lnSpc>
              </a:pPr>
              <a:r>
                <a:rPr lang="zh-CN" altLang="en-US" sz="2000" dirty="0">
                  <a:solidFill>
                    <a:prstClr val="black"/>
                  </a:solidFill>
                  <a:latin typeface="冬青黑体简体中文 W3" panose="020B0300000000000000" pitchFamily="34" charset="-122"/>
                  <a:ea typeface="冬青黑体简体中文 W3" panose="020B0300000000000000" pitchFamily="34" charset="-122"/>
                </a:rPr>
                <a:t>动态检查</a:t>
              </a:r>
            </a:p>
          </p:txBody>
        </p:sp>
        <p:sp>
          <p:nvSpPr>
            <p:cNvPr id="58" name="燕尾形 57"/>
            <p:cNvSpPr/>
            <p:nvPr/>
          </p:nvSpPr>
          <p:spPr>
            <a:xfrm>
              <a:off x="6708863" y="2030717"/>
              <a:ext cx="1689406" cy="1026330"/>
            </a:xfrm>
            <a:prstGeom prst="chevron">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25000"/>
                </a:lnSpc>
              </a:pPr>
              <a:r>
                <a:rPr lang="en-US" altLang="zh-CN" sz="4400" dirty="0">
                  <a:solidFill>
                    <a:prstClr val="black"/>
                  </a:solidFill>
                  <a:latin typeface="冬青黑体简体中文 W3" panose="020B0300000000000000" pitchFamily="34" charset="-122"/>
                  <a:ea typeface="冬青黑体简体中文 W3" panose="020B0300000000000000" pitchFamily="34" charset="-122"/>
                </a:rPr>
                <a:t>4</a:t>
              </a:r>
              <a:endParaRPr lang="zh-CN" altLang="en-US" sz="4400" dirty="0">
                <a:solidFill>
                  <a:prstClr val="black"/>
                </a:solidFill>
                <a:latin typeface="冬青黑体简体中文 W3" panose="020B0300000000000000" pitchFamily="34" charset="-122"/>
                <a:ea typeface="冬青黑体简体中文 W3" panose="020B0300000000000000" pitchFamily="34" charset="-122"/>
              </a:endParaRPr>
            </a:p>
          </p:txBody>
        </p:sp>
      </p:grpSp>
      <p:grpSp>
        <p:nvGrpSpPr>
          <p:cNvPr id="14" name="组合 13"/>
          <p:cNvGrpSpPr/>
          <p:nvPr/>
        </p:nvGrpSpPr>
        <p:grpSpPr>
          <a:xfrm>
            <a:off x="7779559" y="2515942"/>
            <a:ext cx="1689407" cy="1520380"/>
            <a:chOff x="9282462" y="1536670"/>
            <a:chExt cx="1689406" cy="1520378"/>
          </a:xfrm>
        </p:grpSpPr>
        <p:sp>
          <p:nvSpPr>
            <p:cNvPr id="48" name="文本框 47"/>
            <p:cNvSpPr txBox="1"/>
            <p:nvPr/>
          </p:nvSpPr>
          <p:spPr>
            <a:xfrm>
              <a:off x="9282462" y="1536670"/>
              <a:ext cx="1642067" cy="492442"/>
            </a:xfrm>
            <a:prstGeom prst="rect">
              <a:avLst/>
            </a:prstGeom>
            <a:noFill/>
          </p:spPr>
          <p:txBody>
            <a:bodyPr wrap="square" rtlCol="0">
              <a:spAutoFit/>
            </a:bodyPr>
            <a:lstStyle/>
            <a:p>
              <a:pPr defTabSz="457200">
                <a:lnSpc>
                  <a:spcPct val="130000"/>
                </a:lnSpc>
              </a:pPr>
              <a:r>
                <a:rPr lang="zh-CN" altLang="en-US" sz="2000" dirty="0">
                  <a:solidFill>
                    <a:prstClr val="black"/>
                  </a:solidFill>
                  <a:latin typeface="冬青黑体简体中文 W3" panose="020B0300000000000000" pitchFamily="34" charset="-122"/>
                  <a:ea typeface="冬青黑体简体中文 W3" panose="020B0300000000000000" pitchFamily="34" charset="-122"/>
                </a:rPr>
                <a:t>代码评审</a:t>
              </a:r>
            </a:p>
          </p:txBody>
        </p:sp>
        <p:sp>
          <p:nvSpPr>
            <p:cNvPr id="59" name="燕尾形 58"/>
            <p:cNvSpPr/>
            <p:nvPr/>
          </p:nvSpPr>
          <p:spPr>
            <a:xfrm>
              <a:off x="9282462" y="2030718"/>
              <a:ext cx="1689406" cy="1026330"/>
            </a:xfrm>
            <a:prstGeom prst="chevron">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25000"/>
                </a:lnSpc>
              </a:pPr>
              <a:r>
                <a:rPr lang="en-US" altLang="zh-CN" sz="4400" dirty="0">
                  <a:solidFill>
                    <a:prstClr val="black"/>
                  </a:solidFill>
                  <a:latin typeface="冬青黑体简体中文 W3" panose="020B0300000000000000" pitchFamily="34" charset="-122"/>
                  <a:ea typeface="冬青黑体简体中文 W3" panose="020B0300000000000000" pitchFamily="34" charset="-122"/>
                </a:rPr>
                <a:t>5</a:t>
              </a:r>
              <a:endParaRPr lang="zh-CN" altLang="en-US" sz="4400" dirty="0">
                <a:solidFill>
                  <a:prstClr val="black"/>
                </a:solidFill>
                <a:latin typeface="冬青黑体简体中文 W3" panose="020B0300000000000000" pitchFamily="34" charset="-122"/>
                <a:ea typeface="冬青黑体简体中文 W3" panose="020B0300000000000000" pitchFamily="34" charset="-122"/>
              </a:endParaRPr>
            </a:p>
          </p:txBody>
        </p:sp>
      </p:grpSp>
      <p:pic>
        <p:nvPicPr>
          <p:cNvPr id="9" name="图片 8"/>
          <p:cNvPicPr>
            <a:picLocks noChangeAspect="1"/>
          </p:cNvPicPr>
          <p:nvPr/>
        </p:nvPicPr>
        <p:blipFill>
          <a:blip r:embed="rId5"/>
          <a:stretch>
            <a:fillRect/>
          </a:stretch>
        </p:blipFill>
        <p:spPr>
          <a:xfrm>
            <a:off x="1313367" y="2622696"/>
            <a:ext cx="1803988" cy="1550848"/>
          </a:xfrm>
          <a:prstGeom prst="rect">
            <a:avLst/>
          </a:prstGeom>
        </p:spPr>
      </p:pic>
      <p:grpSp>
        <p:nvGrpSpPr>
          <p:cNvPr id="27" name="组合 26"/>
          <p:cNvGrpSpPr/>
          <p:nvPr/>
        </p:nvGrpSpPr>
        <p:grpSpPr>
          <a:xfrm>
            <a:off x="9047139" y="1490414"/>
            <a:ext cx="1934679" cy="1518774"/>
            <a:chOff x="9037189" y="1538275"/>
            <a:chExt cx="1934678" cy="1518772"/>
          </a:xfrm>
        </p:grpSpPr>
        <p:sp>
          <p:nvSpPr>
            <p:cNvPr id="29" name="文本框 28"/>
            <p:cNvSpPr txBox="1"/>
            <p:nvPr/>
          </p:nvSpPr>
          <p:spPr>
            <a:xfrm>
              <a:off x="9037189" y="1538275"/>
              <a:ext cx="1642067" cy="492442"/>
            </a:xfrm>
            <a:prstGeom prst="rect">
              <a:avLst/>
            </a:prstGeom>
            <a:noFill/>
          </p:spPr>
          <p:txBody>
            <a:bodyPr wrap="square" rtlCol="0">
              <a:spAutoFit/>
            </a:bodyPr>
            <a:lstStyle/>
            <a:p>
              <a:pPr algn="ctr" defTabSz="457200">
                <a:lnSpc>
                  <a:spcPct val="130000"/>
                </a:lnSpc>
              </a:pPr>
              <a:r>
                <a:rPr lang="zh-CN" altLang="en-US" sz="2000" dirty="0">
                  <a:solidFill>
                    <a:prstClr val="black"/>
                  </a:solidFill>
                  <a:latin typeface="冬青黑体简体中文 W3" panose="020B0300000000000000" pitchFamily="34" charset="-122"/>
                  <a:ea typeface="冬青黑体简体中文 W3" panose="020B0300000000000000" pitchFamily="34" charset="-122"/>
                </a:rPr>
                <a:t>修改</a:t>
              </a:r>
            </a:p>
          </p:txBody>
        </p:sp>
        <p:sp>
          <p:nvSpPr>
            <p:cNvPr id="30" name="燕尾形 29"/>
            <p:cNvSpPr/>
            <p:nvPr/>
          </p:nvSpPr>
          <p:spPr>
            <a:xfrm>
              <a:off x="9282461" y="2030717"/>
              <a:ext cx="1689406" cy="1026330"/>
            </a:xfrm>
            <a:prstGeom prst="chevron">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lnSpc>
                  <a:spcPct val="125000"/>
                </a:lnSpc>
              </a:pPr>
              <a:r>
                <a:rPr lang="en-US" altLang="zh-CN" sz="4400" dirty="0">
                  <a:solidFill>
                    <a:prstClr val="black"/>
                  </a:solidFill>
                  <a:latin typeface="冬青黑体简体中文 W3" panose="020B0300000000000000" pitchFamily="34" charset="-122"/>
                  <a:ea typeface="冬青黑体简体中文 W3" panose="020B0300000000000000" pitchFamily="34" charset="-122"/>
                </a:rPr>
                <a:t>6</a:t>
              </a:r>
              <a:endParaRPr lang="zh-CN" altLang="en-US" sz="4400" dirty="0">
                <a:solidFill>
                  <a:prstClr val="black"/>
                </a:solidFill>
                <a:latin typeface="冬青黑体简体中文 W3" panose="020B0300000000000000" pitchFamily="34" charset="-122"/>
                <a:ea typeface="冬青黑体简体中文 W3" panose="020B0300000000000000" pitchFamily="34" charset="-122"/>
              </a:endParaRPr>
            </a:p>
          </p:txBody>
        </p:sp>
      </p:grpSp>
    </p:spTree>
    <p:extLst>
      <p:ext uri="{BB962C8B-B14F-4D97-AF65-F5344CB8AC3E}">
        <p14:creationId xmlns:p14="http://schemas.microsoft.com/office/powerpoint/2010/main" val="3371742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638541"/>
            <a:ext cx="10515600" cy="1325563"/>
          </a:xfrm>
        </p:spPr>
        <p:txBody>
          <a:bodyPr/>
          <a:lstStyle/>
          <a:p>
            <a:pPr algn="ctr"/>
            <a:r>
              <a:rPr lang="zh-CN" altLang="en-US" sz="6000" dirty="0" smtClean="0"/>
              <a:t>谢谢</a:t>
            </a:r>
            <a:endParaRPr lang="zh-CN" altLang="en-US" sz="6000" dirty="0"/>
          </a:p>
        </p:txBody>
      </p:sp>
      <p:sp>
        <p:nvSpPr>
          <p:cNvPr id="3" name="灯片编号占位符 2"/>
          <p:cNvSpPr>
            <a:spLocks noGrp="1"/>
          </p:cNvSpPr>
          <p:nvPr>
            <p:ph type="sldNum" sz="quarter" idx="12"/>
          </p:nvPr>
        </p:nvSpPr>
        <p:spPr/>
        <p:txBody>
          <a:bodyPr/>
          <a:lstStyle/>
          <a:p>
            <a:fld id="{90C23B4F-5EA2-44EC-8029-0D5CC05C08A6}" type="slidenum">
              <a:rPr lang="zh-CN" altLang="en-US" smtClean="0"/>
              <a:t>31</a:t>
            </a:fld>
            <a:endParaRPr lang="zh-CN" altLang="en-US"/>
          </a:p>
        </p:txBody>
      </p:sp>
    </p:spTree>
    <p:extLst>
      <p:ext uri="{BB962C8B-B14F-4D97-AF65-F5344CB8AC3E}">
        <p14:creationId xmlns:p14="http://schemas.microsoft.com/office/powerpoint/2010/main" val="16806987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离子">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nsolas+微软雅黑">
      <a:majorFont>
        <a:latin typeface="Consolas"/>
        <a:ea typeface="微软雅黑"/>
        <a:cs typeface=""/>
      </a:majorFont>
      <a:minorFont>
        <a:latin typeface="Consolas"/>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538</TotalTime>
  <Words>5150</Words>
  <Application>Microsoft Office PowerPoint</Application>
  <PresentationFormat>宽屏</PresentationFormat>
  <Paragraphs>408</Paragraphs>
  <Slides>31</Slides>
  <Notes>20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31</vt:i4>
      </vt:variant>
    </vt:vector>
  </HeadingPairs>
  <TitlesOfParts>
    <vt:vector size="43" baseType="lpstr">
      <vt:lpstr>Adobe 楷体 Std R</vt:lpstr>
      <vt:lpstr>Century Gothic</vt:lpstr>
      <vt:lpstr>冬青黑体简体中文 W3</vt:lpstr>
      <vt:lpstr>方正大黑简体</vt:lpstr>
      <vt:lpstr>宋体</vt:lpstr>
      <vt:lpstr>微软雅黑</vt:lpstr>
      <vt:lpstr>Arial</vt:lpstr>
      <vt:lpstr>Calibri</vt:lpstr>
      <vt:lpstr>Consolas</vt:lpstr>
      <vt:lpstr>Wingdings 3</vt:lpstr>
      <vt:lpstr>离子</vt:lpstr>
      <vt:lpstr>Office 主题</vt:lpstr>
      <vt:lpstr>软件编码的质量</vt:lpstr>
      <vt:lpstr>Outline</vt:lpstr>
      <vt:lpstr>软件生命周期（SDLC）</vt:lpstr>
      <vt:lpstr>软件生命周期（SDLC）</vt:lpstr>
      <vt:lpstr>软件编码</vt:lpstr>
      <vt:lpstr>软件编码质量度量</vt:lpstr>
      <vt:lpstr>为什么要保证编码质量</vt:lpstr>
      <vt:lpstr>如何保证编码质量</vt:lpstr>
      <vt:lpstr>编码规范 </vt:lpstr>
      <vt:lpstr>编码规范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软件编码的质量</dc:title>
  <dc:creator>lenovo</dc:creator>
  <cp:lastModifiedBy>nie</cp:lastModifiedBy>
  <cp:revision>21</cp:revision>
  <dcterms:created xsi:type="dcterms:W3CDTF">2015-10-18T11:27:52Z</dcterms:created>
  <dcterms:modified xsi:type="dcterms:W3CDTF">2019-10-22T01:09:09Z</dcterms:modified>
</cp:coreProperties>
</file>