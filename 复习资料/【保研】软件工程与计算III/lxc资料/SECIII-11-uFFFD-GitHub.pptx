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67F72-4075-4E71-8CC6-E410F71E3225}" type="datetimeFigureOut">
              <a:rPr lang="zh-CN" altLang="en-US"/>
              <a:t>2024/6/16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E0A5F-5B77-40EA-A566-FC3DC3F0AA94}" type="slidenum">
              <a:r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nuraghazra/github-readme-stat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t>GitHub 开源情报分析系统</a:t>
            </a:r>
            <a:endParaRPr lang="zh-CN"/>
          </a:p>
          <a:p>
            <a:pPr>
              <a:lnSpc>
                <a:spcPct val="130000"/>
              </a:lnSpc>
              <a:buNone/>
            </a:pPr>
            <a:r>
              <a:rPr lang="zh-CN" sz="3983"/>
              <a:t>迭代三</a:t>
            </a:r>
            <a:r>
              <a:rPr lang="en-US" sz="3983"/>
              <a:t> - </a:t>
            </a:r>
            <a:r>
              <a:rPr lang="zh-CN" sz="3983"/>
              <a:t>仓库质量评估系统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8842"/>
            <a:ext cx="9144000" cy="2485797"/>
          </a:xfrm>
        </p:spPr>
        <p:txBody>
          <a:bodyPr>
            <a:normAutofit fontScale="625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sz="4462"/>
              <a:t>第</a:t>
            </a:r>
            <a:r>
              <a:rPr lang="en-US" sz="4462"/>
              <a:t> 11 </a:t>
            </a:r>
            <a:r>
              <a:rPr lang="zh-CN" sz="4462"/>
              <a:t>组</a:t>
            </a:r>
            <a:r>
              <a:rPr lang="en-US" sz="4462"/>
              <a:t> uFFFD</a:t>
            </a:r>
            <a:endParaRPr lang="zh-CN"/>
          </a:p>
          <a:p>
            <a:pPr>
              <a:buFont typeface="Arial" panose="020B0604020202020204" pitchFamily="34" charset="0"/>
              <a:buNone/>
            </a:pPr>
            <a:r>
              <a:rPr lang="zh-CN"/>
              <a:t>李薛成</a:t>
            </a:r>
            <a:r>
              <a:rPr lang="en-US"/>
              <a:t> 211850016</a:t>
            </a:r>
            <a:endParaRPr/>
          </a:p>
          <a:p>
            <a:pPr>
              <a:buFont typeface="Arial" panose="020B0604020202020204" pitchFamily="34" charset="0"/>
              <a:buNone/>
            </a:pPr>
            <a:r>
              <a:rPr lang="zh-CN"/>
              <a:t>杜凌霄</a:t>
            </a:r>
            <a:r>
              <a:rPr lang="en-US"/>
              <a:t> 211250066</a:t>
            </a:r>
            <a:endParaRPr/>
          </a:p>
          <a:p>
            <a:pPr>
              <a:buFont typeface="Arial" panose="020B0604020202020204" pitchFamily="34" charset="0"/>
              <a:buNone/>
            </a:pPr>
            <a:r>
              <a:rPr lang="zh-CN"/>
              <a:t>陈昊洋</a:t>
            </a:r>
            <a:r>
              <a:rPr lang="en-US"/>
              <a:t> 211250068</a:t>
            </a:r>
            <a:endParaRPr/>
          </a:p>
          <a:p>
            <a:pPr>
              <a:buFont typeface="Arial" panose="020B0604020202020204" pitchFamily="34" charset="0"/>
              <a:buNone/>
            </a:pPr>
            <a:r>
              <a:rPr lang="zh-CN"/>
              <a:t>黄梓彦</a:t>
            </a:r>
            <a:r>
              <a:rPr lang="en-US"/>
              <a:t> 211250070</a:t>
            </a:r>
            <a:endParaRPr/>
          </a:p>
          <a:p>
            <a:pPr>
              <a:buFont typeface="Arial" panose="020B0604020202020204" pitchFamily="34" charset="0"/>
              <a:buNone/>
            </a:pPr>
            <a:r>
              <a:rPr lang="zh-CN"/>
              <a:t>凌翊宸</a:t>
            </a:r>
            <a:r>
              <a:rPr lang="en-US"/>
              <a:t> 211250076</a:t>
            </a:r>
            <a:endParaRPr/>
          </a:p>
          <a:p>
            <a:pPr>
              <a:buFont typeface="Arial" panose="020B0604020202020204" pitchFamily="34" charset="0"/>
              <a:buNone/>
            </a:pPr>
            <a:r>
              <a:rPr lang="zh-CN"/>
              <a:t>张哲恺</a:t>
            </a:r>
            <a:r>
              <a:rPr lang="en-US"/>
              <a:t> 211250245</a:t>
            </a:r>
            <a:endParaRPr/>
          </a:p>
          <a:p>
            <a:pPr>
              <a:buFont typeface="Arial" panose="020B0604020202020204" pitchFamily="34" charset="0"/>
              <a:buNone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迭代三</a:t>
            </a:r>
            <a:r>
              <a:rPr lang="en-US"/>
              <a:t> - </a:t>
            </a:r>
            <a:r>
              <a:t>仓库质量评估系统</a:t>
            </a:r>
            <a:r>
              <a:rPr lang="en-US"/>
              <a:t> - </a:t>
            </a:r>
            <a:r>
              <a:rPr lang="zh-CN"/>
              <a:t>需求列表</a:t>
            </a:r>
            <a:endParaRPr/>
          </a:p>
        </p:txBody>
      </p:sp>
      <p:sp>
        <p:nvSpPr>
          <p:cNvPr id="37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/>
              <a:t>评估仓库的</a:t>
            </a:r>
            <a:r>
              <a:rPr lang="en-US"/>
              <a:t> Star </a:t>
            </a:r>
            <a:r>
              <a:rPr lang="zh-CN"/>
              <a:t>质量</a:t>
            </a:r>
            <a:r>
              <a:rPr lang="en-US"/>
              <a:t>, </a:t>
            </a:r>
            <a:r>
              <a:rPr lang="zh-CN"/>
              <a:t>即评估相应用户的活跃程度</a:t>
            </a:r>
            <a:r>
              <a:rPr lang="en-US"/>
              <a:t>/</a:t>
            </a:r>
            <a:r>
              <a:rPr lang="zh-CN"/>
              <a:t>影响评分</a:t>
            </a:r>
            <a:r>
              <a:rPr lang="en-US"/>
              <a:t>.</a:t>
            </a:r>
            <a:endParaRPr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/>
              <a:t>评估仓库的</a:t>
            </a:r>
            <a:r>
              <a:rPr lang="en-US"/>
              <a:t> Star </a:t>
            </a:r>
            <a:r>
              <a:rPr lang="zh-CN"/>
              <a:t>诚信指数</a:t>
            </a:r>
            <a:r>
              <a:rPr lang="en-US"/>
              <a:t>, </a:t>
            </a:r>
            <a:r>
              <a:rPr lang="zh-CN"/>
              <a:t>即仓库是否有购买水军的嫌疑</a:t>
            </a:r>
            <a:r>
              <a:rPr lang="en-US"/>
              <a:t>.</a:t>
            </a:r>
            <a:endParaRPr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/>
              <a:t>评估仓库的开源程度</a:t>
            </a:r>
            <a:r>
              <a:rPr lang="en-US"/>
              <a:t>, </a:t>
            </a:r>
            <a:r>
              <a:rPr lang="zh-CN"/>
              <a:t>其是否含有许可证</a:t>
            </a:r>
            <a:r>
              <a:rPr lang="en-US"/>
              <a:t>, </a:t>
            </a:r>
            <a:r>
              <a:rPr lang="zh-CN"/>
              <a:t>是否为</a:t>
            </a:r>
            <a:r>
              <a:rPr lang="en-US"/>
              <a:t>"</a:t>
            </a:r>
            <a:r>
              <a:rPr lang="zh-CN"/>
              <a:t>虚假开源</a:t>
            </a:r>
            <a:r>
              <a:rPr lang="en-US"/>
              <a:t>".</a:t>
            </a:r>
            <a:endParaRPr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/>
              <a:t>评估仓库的可复现性</a:t>
            </a:r>
            <a:r>
              <a:rPr lang="en-US"/>
              <a:t>, </a:t>
            </a:r>
            <a:r>
              <a:rPr lang="zh-CN"/>
              <a:t>判断其是否有潜在的恶意代码</a:t>
            </a:r>
            <a:r>
              <a:rPr lang="en-US"/>
              <a:t>/</a:t>
            </a:r>
            <a:r>
              <a:rPr lang="zh-CN"/>
              <a:t>虚假开源</a:t>
            </a:r>
            <a:r>
              <a:rPr lang="en-US"/>
              <a:t>.</a:t>
            </a:r>
            <a:endParaRPr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600"/>
              <a:t>由于</a:t>
            </a:r>
            <a:r>
              <a:rPr lang="en-US" sz="1600"/>
              <a:t> GitHub Rate Limit </a:t>
            </a:r>
            <a:r>
              <a:rPr lang="zh-CN" sz="1600"/>
              <a:t>限制</a:t>
            </a:r>
            <a:r>
              <a:rPr lang="en-US" sz="1600"/>
              <a:t>, </a:t>
            </a:r>
            <a:r>
              <a:rPr lang="zh-CN" sz="1600"/>
              <a:t>迭代三中精细爬取的仓库仅为每天的</a:t>
            </a:r>
            <a:r>
              <a:rPr lang="en-US" sz="1600"/>
              <a:t> Trending </a:t>
            </a:r>
            <a:r>
              <a:rPr lang="zh-CN" sz="1600"/>
              <a:t>仓库</a:t>
            </a:r>
            <a:r>
              <a:rPr lang="en-US" sz="1600"/>
              <a:t>, </a:t>
            </a:r>
            <a:r>
              <a:rPr lang="zh-CN" sz="1600"/>
              <a:t>故以这些仓库作为评估目标</a:t>
            </a:r>
            <a:r>
              <a:rPr lang="en-US" sz="1600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质量</a:t>
            </a:r>
            <a:r>
              <a:rPr lang="en-US"/>
              <a:t> - </a:t>
            </a:r>
            <a:r>
              <a:rPr lang="zh-CN"/>
              <a:t>用户评分</a:t>
            </a:r>
            <a:endParaRPr/>
          </a:p>
        </p:txBody>
      </p:sp>
      <p:sp>
        <p:nvSpPr>
          <p:cNvPr id="40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参考</a:t>
            </a:r>
            <a:r>
              <a:rPr lang="en-US"/>
              <a:t> </a:t>
            </a:r>
            <a:r>
              <a:rPr>
                <a:hlinkClick r:id="rId2"/>
              </a:rPr>
              <a:t>anuraghazra/github-readme-stats</a:t>
            </a:r>
            <a:r>
              <a:t> </a:t>
            </a:r>
            <a:r>
              <a:rPr lang="zh-CN"/>
              <a:t>的部分实现</a:t>
            </a:r>
            <a:r>
              <a:rPr lang="en-US"/>
              <a:t>, </a:t>
            </a:r>
            <a:r>
              <a:rPr lang="zh-CN"/>
              <a:t>完成对</a:t>
            </a:r>
            <a:r>
              <a:rPr lang="en-US"/>
              <a:t> Star </a:t>
            </a:r>
            <a:r>
              <a:rPr lang="zh-CN"/>
              <a:t>该仓库的用户的活跃度评分</a:t>
            </a:r>
            <a:r>
              <a:rPr lang="en-US"/>
              <a:t>, </a:t>
            </a:r>
            <a:r>
              <a:rPr lang="zh-CN"/>
              <a:t>具体评分维度为近一年中的</a:t>
            </a:r>
            <a:r>
              <a:rPr lang="en-US"/>
              <a:t>: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Commit </a:t>
            </a:r>
            <a:r>
              <a:rPr lang="zh-CN" sz="2800"/>
              <a:t>数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Pull Request </a:t>
            </a:r>
            <a:r>
              <a:rPr lang="zh-CN" sz="2800"/>
              <a:t>数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Issue </a:t>
            </a:r>
            <a:r>
              <a:rPr lang="zh-CN" sz="2800"/>
              <a:t>数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zh-CN" sz="2800"/>
              <a:t>得到的总</a:t>
            </a:r>
            <a:r>
              <a:rPr lang="en-US" sz="2800"/>
              <a:t> Star </a:t>
            </a:r>
            <a:r>
              <a:rPr lang="zh-CN" sz="2800"/>
              <a:t>数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/>
              <a:t>Follower </a:t>
            </a:r>
            <a:r>
              <a:rPr lang="zh-CN" sz="2800"/>
              <a:t>数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得到的分数区间为</a:t>
            </a:r>
            <a:r>
              <a:rPr lang="en-US"/>
              <a:t> [0, 1].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加权平均</a:t>
            </a:r>
            <a:r>
              <a:rPr lang="en-US"/>
              <a:t>, </a:t>
            </a:r>
            <a:r>
              <a:rPr lang="zh-CN"/>
              <a:t>换算得到仓库</a:t>
            </a:r>
            <a:r>
              <a:rPr lang="en-US"/>
              <a:t> Star </a:t>
            </a:r>
            <a:r>
              <a:rPr lang="zh-CN"/>
              <a:t>质量</a:t>
            </a:r>
            <a:r>
              <a:rPr lang="en-US"/>
              <a:t> [0, 5].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endParaRPr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8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329" y="2741806"/>
            <a:ext cx="3084196" cy="3776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诚信指数评估</a:t>
            </a:r>
            <a:r>
              <a:rPr lang="en-US"/>
              <a:t> - </a:t>
            </a:r>
            <a:r>
              <a:rPr lang="zh-CN"/>
              <a:t>水军识别</a:t>
            </a:r>
            <a:endParaRPr/>
          </a:p>
        </p:txBody>
      </p:sp>
      <p:sp>
        <p:nvSpPr>
          <p:cNvPr id="4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/>
              <a:t> </a:t>
            </a:r>
            <a:r>
              <a:rPr sz="2600"/>
              <a:t>水军 (</a:t>
            </a:r>
            <a:r>
              <a:rPr lang="zh-CN" sz="2600"/>
              <a:t>即</a:t>
            </a:r>
            <a:r>
              <a:rPr lang="en-US" sz="2600"/>
              <a:t>"</a:t>
            </a:r>
            <a:r>
              <a:rPr lang="zh-CN" sz="2600"/>
              <a:t>虚假</a:t>
            </a:r>
            <a:r>
              <a:rPr lang="en-US" sz="2600"/>
              <a:t> </a:t>
            </a:r>
            <a:r>
              <a:rPr sz="2600"/>
              <a:t>Star") </a:t>
            </a:r>
            <a:r>
              <a:rPr lang="zh-CN" sz="2600"/>
              <a:t>仓库往往</a:t>
            </a:r>
            <a:r>
              <a:rPr sz="2600"/>
              <a:t>具有以下特点</a:t>
            </a:r>
            <a:r>
              <a:rPr lang="en-US" sz="2600"/>
              <a:t>: 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sz="2400"/>
              <a:t>用户平均质量低</a:t>
            </a:r>
            <a:r>
              <a:rPr lang="en-US" sz="2400"/>
              <a:t>.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/>
              <a:t>Star </a:t>
            </a:r>
            <a:r>
              <a:rPr lang="zh-CN" sz="2400"/>
              <a:t>增长</a:t>
            </a:r>
            <a:r>
              <a:rPr sz="2400"/>
              <a:t>集中在某一时间段</a:t>
            </a:r>
            <a:r>
              <a:rPr lang="en-US" sz="2400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sz="2600"/>
              <a:t>而正常的仓库</a:t>
            </a:r>
            <a:r>
              <a:rPr lang="en-US" sz="2600"/>
              <a:t> Star </a:t>
            </a:r>
            <a:r>
              <a:rPr sz="2600"/>
              <a:t>的特点是</a:t>
            </a:r>
            <a:r>
              <a:rPr lang="en-US" sz="2600"/>
              <a:t>: 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/>
              <a:t>Star </a:t>
            </a:r>
            <a:r>
              <a:rPr lang="zh-CN" sz="2600"/>
              <a:t>分布</a:t>
            </a:r>
            <a:r>
              <a:rPr sz="2600"/>
              <a:t>可近似看作对仓库所涉人群的随机采样</a:t>
            </a:r>
            <a:r>
              <a:rPr lang="en-US" sz="2600"/>
              <a:t>. 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sz="2600"/>
              <a:t>优质用户和普通用户的比例保持稳定</a:t>
            </a:r>
            <a:r>
              <a:rPr lang="en-US" sz="2600"/>
              <a:t>. </a:t>
            </a:r>
            <a:r>
              <a:rPr sz="1600"/>
              <a:t>优质用户指</a:t>
            </a:r>
            <a:r>
              <a:rPr lang="zh-CN" sz="1600"/>
              <a:t>活跃度评分较高的用户</a:t>
            </a:r>
            <a:r>
              <a:rPr lang="en-US" sz="1600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sz="2600"/>
              <a:t>水军 Star 会降低仓库 Star 质量</a:t>
            </a:r>
            <a:r>
              <a:rPr lang="en-US" sz="2600"/>
              <a:t>, </a:t>
            </a:r>
            <a:r>
              <a:rPr sz="2600"/>
              <a:t>并导致优质用户占比剧烈波动</a:t>
            </a:r>
            <a:r>
              <a:rPr lang="en-US" sz="2600"/>
              <a:t>(</a:t>
            </a:r>
            <a:r>
              <a:rPr lang="zh-CN" sz="2600"/>
              <a:t>降低</a:t>
            </a:r>
            <a:r>
              <a:rPr lang="en-US" sz="2600"/>
              <a:t>).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sz="2600"/>
              <a:t>因此可以通过方差来刻画</a:t>
            </a:r>
            <a:r>
              <a:rPr lang="en-US" sz="2600"/>
              <a:t> Star </a:t>
            </a:r>
            <a:r>
              <a:rPr sz="2600"/>
              <a:t>优质率的波动</a:t>
            </a:r>
            <a:r>
              <a:rPr lang="en-US" sz="2600"/>
              <a:t>, </a:t>
            </a:r>
            <a:r>
              <a:rPr sz="2600"/>
              <a:t>进而刻画水军的可能性</a:t>
            </a:r>
            <a:r>
              <a:rPr lang="en-US" sz="2600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2600"/>
              <a:t>以此来评估仓库</a:t>
            </a:r>
            <a:r>
              <a:rPr lang="en-US" sz="2600"/>
              <a:t> Star </a:t>
            </a:r>
            <a:r>
              <a:rPr lang="zh-CN" sz="2600"/>
              <a:t>的诚信指数</a:t>
            </a:r>
            <a:r>
              <a:rPr lang="en-US" sz="2600"/>
              <a:t> [0, 5].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诚信指数评估</a:t>
            </a:r>
            <a:r>
              <a:rPr lang="en-US"/>
              <a:t> - </a:t>
            </a:r>
            <a:r>
              <a:rPr lang="zh-CN"/>
              <a:t>水军识别算法</a:t>
            </a:r>
            <a:endParaRPr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44" y="1531016"/>
            <a:ext cx="8591312" cy="5088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诚信指数评估</a:t>
            </a:r>
            <a:r>
              <a:rPr lang="en-US"/>
              <a:t> - </a:t>
            </a:r>
            <a:r>
              <a:rPr lang="zh-CN"/>
              <a:t>水军识别算法</a:t>
            </a:r>
            <a:endParaRPr/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179" y="1565234"/>
            <a:ext cx="9225641" cy="4892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诚信指数评估</a:t>
            </a:r>
            <a:r>
              <a:rPr lang="en-US"/>
              <a:t> - </a:t>
            </a:r>
            <a:r>
              <a:rPr lang="zh-CN"/>
              <a:t>结果分析</a:t>
            </a:r>
            <a:r>
              <a:rPr lang="en-US"/>
              <a:t> </a:t>
            </a:r>
            <a:endParaRPr/>
          </a:p>
        </p:txBody>
      </p:sp>
      <p:sp>
        <p:nvSpPr>
          <p:cNvPr id="5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480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上述算法</a:t>
            </a:r>
            <a:r>
              <a:t>完全无法识别的</a:t>
            </a:r>
            <a:r>
              <a:rPr lang="zh-CN"/>
              <a:t>两种情况</a:t>
            </a:r>
            <a:r>
              <a:rPr lang="en-US"/>
              <a:t>: 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t>全部</a:t>
            </a:r>
            <a:r>
              <a:rPr lang="en-US"/>
              <a:t> Star </a:t>
            </a:r>
            <a:r>
              <a:t>都是水军</a:t>
            </a:r>
            <a:r>
              <a:rPr lang="en-US"/>
              <a:t>, </a:t>
            </a:r>
            <a:r>
              <a:rPr lang="zh-CN"/>
              <a:t>完全没有正常用户</a:t>
            </a:r>
            <a:r>
              <a:rPr lang="en-US"/>
              <a:t>/</a:t>
            </a:r>
            <a:r>
              <a:rPr lang="zh-CN"/>
              <a:t>优质用户</a:t>
            </a:r>
            <a:r>
              <a:rPr lang="en-US"/>
              <a:t>.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t>用一种非常精细的方法灌水</a:t>
            </a:r>
            <a:r>
              <a:rPr lang="en-US"/>
              <a:t>, </a:t>
            </a:r>
            <a:r>
              <a:rPr lang="zh-CN"/>
              <a:t>每</a:t>
            </a:r>
            <a:r>
              <a:t>有一个</a:t>
            </a:r>
            <a:r>
              <a:rPr lang="zh-CN"/>
              <a:t>优质</a:t>
            </a:r>
            <a:r>
              <a:t>用户</a:t>
            </a:r>
            <a:r>
              <a:rPr lang="en-US"/>
              <a:t> Star </a:t>
            </a:r>
            <a:r>
              <a:rPr lang="zh-CN"/>
              <a:t>该仓库</a:t>
            </a:r>
            <a:r>
              <a:rPr lang="en-US"/>
              <a:t>, </a:t>
            </a:r>
            <a:r>
              <a:t>就加入线性相关的水军</a:t>
            </a:r>
            <a:r>
              <a:rPr lang="en-US"/>
              <a:t> Star, </a:t>
            </a:r>
            <a:r>
              <a:t>在此情况下</a:t>
            </a:r>
            <a:r>
              <a:rPr lang="en-US"/>
              <a:t> Star </a:t>
            </a:r>
            <a:r>
              <a:t>统计量不会产生任何变动。</a:t>
            </a:r>
          </a:p>
          <a:p>
            <a:pPr>
              <a:buFont typeface="Arial" panose="020B0604020202020204" pitchFamily="34" charset="0"/>
              <a:buChar char="•"/>
            </a:pPr>
            <a:r>
              <a:t>可能误报</a:t>
            </a:r>
            <a:r>
              <a:rPr lang="zh-CN"/>
              <a:t>的情况</a:t>
            </a:r>
            <a:r>
              <a:rPr lang="en-US"/>
              <a:t>: 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t>某些兼具技术性和普及性的仓库</a:t>
            </a:r>
            <a:r>
              <a:rPr lang="en-US"/>
              <a:t>, </a:t>
            </a:r>
            <a:r>
              <a:t>在前期</a:t>
            </a:r>
            <a:r>
              <a:rPr lang="zh-CN"/>
              <a:t>开发时</a:t>
            </a:r>
            <a:r>
              <a:rPr lang="en-US"/>
              <a:t> Star </a:t>
            </a:r>
            <a:r>
              <a:t>用户平均质量较高</a:t>
            </a:r>
            <a:r>
              <a:rPr lang="en-US"/>
              <a:t>, </a:t>
            </a:r>
            <a:r>
              <a:t>在项目完成后的中期普通用户占比陡增</a:t>
            </a:r>
            <a:r>
              <a:rPr lang="en-US"/>
              <a:t>, </a:t>
            </a:r>
            <a:r>
              <a:t>使其</a:t>
            </a:r>
            <a:r>
              <a:rPr lang="zh-CN"/>
              <a:t>水军指数</a:t>
            </a:r>
            <a:r>
              <a:t>上升</a:t>
            </a:r>
            <a:r>
              <a:rPr lang="en-US"/>
              <a:t>.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t>如何解决误报有待进一步研究</a:t>
            </a:r>
            <a:r>
              <a:rPr lang="en-US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小组成员内未能达成共识的识别结果</a:t>
            </a:r>
            <a:r>
              <a:rPr lang="en-US"/>
              <a:t>: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r>
              <a:rPr lang="zh-CN"/>
              <a:t>纯科普性仓库</a:t>
            </a:r>
            <a:r>
              <a:rPr lang="en-US"/>
              <a:t> (</a:t>
            </a:r>
            <a:r>
              <a:rPr lang="zh-CN"/>
              <a:t>如教程</a:t>
            </a:r>
            <a:r>
              <a:rPr lang="en-US"/>
              <a:t>/</a:t>
            </a:r>
            <a:r>
              <a:rPr lang="zh-CN"/>
              <a:t>文档</a:t>
            </a:r>
            <a:r>
              <a:rPr lang="en-US"/>
              <a:t>/</a:t>
            </a:r>
            <a:r>
              <a:rPr lang="zh-CN"/>
              <a:t>汇总仓库</a:t>
            </a:r>
            <a:r>
              <a:rPr lang="en-US"/>
              <a:t>) </a:t>
            </a:r>
            <a:r>
              <a:rPr lang="zh-CN"/>
              <a:t>在社交平台引流后得到大量普通用户</a:t>
            </a:r>
            <a:r>
              <a:rPr lang="en-US"/>
              <a:t> Star, </a:t>
            </a:r>
            <a:r>
              <a:rPr lang="zh-CN"/>
              <a:t>本意是好的</a:t>
            </a:r>
            <a:r>
              <a:rPr lang="en-US"/>
              <a:t>, </a:t>
            </a:r>
            <a:r>
              <a:rPr lang="zh-CN"/>
              <a:t>但算法可能会识别其为水军仓库</a:t>
            </a:r>
            <a:r>
              <a:rPr lang="en-US"/>
              <a:t>, </a:t>
            </a:r>
            <a:r>
              <a:rPr lang="zh-CN"/>
              <a:t>这是否合适</a:t>
            </a:r>
            <a:r>
              <a:rPr lang="en-US"/>
              <a:t>?</a:t>
            </a:r>
            <a:endParaRPr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质量与诚信指数</a:t>
            </a:r>
            <a:r>
              <a:rPr lang="en-US"/>
              <a:t> - </a:t>
            </a:r>
            <a:r>
              <a:rPr lang="zh-CN"/>
              <a:t>示例</a:t>
            </a:r>
            <a:endParaRPr/>
          </a:p>
        </p:txBody>
      </p:sp>
      <p:sp>
        <p:nvSpPr>
          <p:cNvPr id="56" name="文本框 55"/>
          <p:cNvSpPr txBox="1"/>
          <p:nvPr/>
        </p:nvSpPr>
        <p:spPr>
          <a:xfrm>
            <a:off x="965956" y="1524582"/>
            <a:ext cx="8667750" cy="18732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/>
              <a:t>Powershell </a:t>
            </a:r>
            <a:r>
              <a:rPr lang="zh-CN" sz="2400"/>
              <a:t>终端美化插件仓库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r>
              <a:rPr lang="en-US" sz="2400"/>
              <a:t>Star </a:t>
            </a:r>
            <a:r>
              <a:rPr lang="zh-CN" sz="2400"/>
              <a:t>用户大多都是程序员老哥</a:t>
            </a:r>
            <a:r>
              <a:rPr lang="en-US" sz="2400"/>
              <a:t>, </a:t>
            </a:r>
            <a:r>
              <a:rPr lang="zh-CN" sz="2400"/>
              <a:t>故</a:t>
            </a:r>
            <a:r>
              <a:rPr lang="en-US" sz="2400"/>
              <a:t> Star </a:t>
            </a:r>
            <a:r>
              <a:rPr lang="zh-CN" sz="2400"/>
              <a:t>质量较高</a:t>
            </a:r>
            <a:r>
              <a:rPr lang="en-US" sz="2400"/>
              <a:t>. </a:t>
            </a:r>
            <a:endParaRPr/>
          </a:p>
          <a:p>
            <a:pPr>
              <a:lnSpc>
                <a:spcPct val="130000"/>
              </a:lnSpc>
            </a:pPr>
            <a:r>
              <a:rPr lang="zh-CN" sz="2400"/>
              <a:t>诚信度很高</a:t>
            </a:r>
            <a:r>
              <a:rPr lang="en-US" sz="2400"/>
              <a:t>, </a:t>
            </a:r>
            <a:r>
              <a:rPr lang="zh-CN" sz="2400"/>
              <a:t>购买水军的可能性很低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endParaRPr/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rcRect b="8221"/>
          <a:stretch>
            <a:fillRect/>
          </a:stretch>
        </p:blipFill>
        <p:spPr>
          <a:xfrm>
            <a:off x="965956" y="3050804"/>
            <a:ext cx="5081213" cy="3341732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436" y="1524582"/>
            <a:ext cx="4548310" cy="5167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质量与诚信指数</a:t>
            </a:r>
            <a:r>
              <a:rPr lang="en-US"/>
              <a:t> - </a:t>
            </a:r>
            <a:r>
              <a:rPr lang="zh-CN"/>
              <a:t>示例</a:t>
            </a:r>
            <a:endParaRPr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rcRect b="7302"/>
          <a:stretch>
            <a:fillRect/>
          </a:stretch>
        </p:blipFill>
        <p:spPr>
          <a:xfrm>
            <a:off x="875816" y="2934087"/>
            <a:ext cx="5220184" cy="3454931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965956" y="1524582"/>
            <a:ext cx="8337550" cy="15176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/>
              <a:t>MAA </a:t>
            </a:r>
            <a:r>
              <a:rPr lang="zh-CN" sz="2400"/>
              <a:t>游戏辅助脚本仓库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r>
              <a:rPr lang="en-US" sz="2400"/>
              <a:t>Star </a:t>
            </a:r>
            <a:r>
              <a:rPr lang="zh-CN" sz="2400"/>
              <a:t>用户大多为游戏玩家</a:t>
            </a:r>
            <a:r>
              <a:rPr lang="en-US" sz="2400"/>
              <a:t>, </a:t>
            </a:r>
            <a:r>
              <a:rPr lang="zh-CN" sz="2400"/>
              <a:t>故</a:t>
            </a:r>
            <a:r>
              <a:rPr lang="en-US" sz="2400"/>
              <a:t> Star </a:t>
            </a:r>
            <a:r>
              <a:rPr lang="zh-CN" sz="2400"/>
              <a:t>质量较低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r>
              <a:rPr lang="zh-CN" sz="2400"/>
              <a:t>但诚信度较高</a:t>
            </a:r>
            <a:r>
              <a:rPr lang="en-US" sz="2400"/>
              <a:t>, </a:t>
            </a:r>
            <a:r>
              <a:rPr lang="zh-CN" sz="2400"/>
              <a:t>购买水军的可能性较低</a:t>
            </a:r>
            <a:r>
              <a:rPr lang="en-US" sz="2400"/>
              <a:t>.</a:t>
            </a:r>
            <a:endParaRPr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584" y="1690688"/>
            <a:ext cx="4259722" cy="4884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仓库</a:t>
            </a:r>
            <a:r>
              <a:rPr lang="en-US"/>
              <a:t> Star </a:t>
            </a:r>
            <a:r>
              <a:rPr lang="zh-CN"/>
              <a:t>质量与诚信指数</a:t>
            </a:r>
            <a:r>
              <a:rPr lang="en-US"/>
              <a:t> - </a:t>
            </a:r>
            <a:r>
              <a:rPr lang="zh-CN"/>
              <a:t>示例</a:t>
            </a:r>
            <a:endParaRPr/>
          </a:p>
        </p:txBody>
      </p:sp>
      <p:sp>
        <p:nvSpPr>
          <p:cNvPr id="6" name="文本框 5"/>
          <p:cNvSpPr txBox="1"/>
          <p:nvPr/>
        </p:nvSpPr>
        <p:spPr>
          <a:xfrm>
            <a:off x="965956" y="1524582"/>
            <a:ext cx="8337550" cy="15176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sz="2400"/>
              <a:t>基于 LLM 大语言模型的知识库问答系统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r>
              <a:rPr lang="en-US" sz="2400"/>
              <a:t>Star </a:t>
            </a:r>
            <a:r>
              <a:rPr lang="zh-CN" sz="2400"/>
              <a:t>用户中优质用户较少</a:t>
            </a:r>
            <a:r>
              <a:rPr lang="en-US" sz="2400"/>
              <a:t>, </a:t>
            </a:r>
            <a:r>
              <a:rPr lang="zh-CN" sz="2400"/>
              <a:t>故</a:t>
            </a:r>
            <a:r>
              <a:rPr lang="en-US" sz="2400"/>
              <a:t> Star </a:t>
            </a:r>
            <a:r>
              <a:rPr lang="zh-CN" sz="2400"/>
              <a:t>质量偏低</a:t>
            </a:r>
            <a:r>
              <a:rPr lang="en-US" sz="2400"/>
              <a:t>.</a:t>
            </a:r>
            <a:endParaRPr/>
          </a:p>
          <a:p>
            <a:pPr>
              <a:lnSpc>
                <a:spcPct val="130000"/>
              </a:lnSpc>
            </a:pPr>
            <a:r>
              <a:rPr lang="zh-CN" sz="2400"/>
              <a:t>同时诚信度较低</a:t>
            </a:r>
            <a:r>
              <a:rPr lang="en-US" sz="2400"/>
              <a:t>, </a:t>
            </a:r>
            <a:r>
              <a:rPr lang="zh-CN" sz="2400"/>
              <a:t>有较大的购买水军的嫌疑</a:t>
            </a:r>
            <a:r>
              <a:rPr lang="en-US" sz="2400"/>
              <a:t>.</a:t>
            </a:r>
            <a:endParaRPr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7460"/>
          <a:stretch>
            <a:fillRect/>
          </a:stretch>
        </p:blipFill>
        <p:spPr>
          <a:xfrm>
            <a:off x="965956" y="3042232"/>
            <a:ext cx="5237501" cy="34604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977" y="1788587"/>
            <a:ext cx="4129059" cy="4714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缺少许可证与</a:t>
            </a:r>
            <a:r>
              <a:rPr lang="en-US"/>
              <a:t>"</a:t>
            </a:r>
            <a:r>
              <a:rPr lang="zh-CN"/>
              <a:t>虚假开源</a:t>
            </a:r>
            <a:r>
              <a:rPr lang="en-US"/>
              <a:t>"</a:t>
            </a:r>
            <a:endParaRPr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"</a:t>
            </a:r>
            <a:r>
              <a:rPr lang="zh-CN" sz="2400"/>
              <a:t>开源</a:t>
            </a:r>
            <a:r>
              <a:rPr lang="en-US" sz="2400"/>
              <a:t>"</a:t>
            </a:r>
            <a:r>
              <a:rPr lang="zh-CN" sz="2400"/>
              <a:t>的必要条件之一是拥有一个有效的开源许可证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   </a:t>
            </a:r>
            <a:r>
              <a:rPr lang="zh-CN" sz="2400"/>
              <a:t>使用缺少开源许可证的代码存在版权风险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"</a:t>
            </a:r>
            <a:r>
              <a:rPr lang="zh-CN" sz="2400"/>
              <a:t>开源</a:t>
            </a:r>
            <a:r>
              <a:rPr lang="en-US" sz="2400"/>
              <a:t>"</a:t>
            </a:r>
            <a:r>
              <a:rPr lang="zh-CN" sz="2400"/>
              <a:t>的另一必要条件是及时更新源代码</a:t>
            </a:r>
            <a:r>
              <a:rPr lang="en-US" sz="2400"/>
              <a:t>, </a:t>
            </a:r>
            <a:r>
              <a:rPr lang="zh-CN" sz="2400"/>
              <a:t>所有已发布的软件的源代码应被及时完整公开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endParaRPr sz="2400"/>
          </a:p>
          <a:p>
            <a:pPr>
              <a:buFont typeface="Arial" panose="020B0604020202020204" pitchFamily="34" charset="0"/>
              <a:buChar char="•"/>
            </a:pPr>
            <a:r>
              <a:rPr lang="zh-CN" sz="2400"/>
              <a:t>然而</a:t>
            </a:r>
            <a:r>
              <a:rPr lang="en-US" sz="2400"/>
              <a:t>, </a:t>
            </a:r>
            <a:r>
              <a:rPr lang="zh-CN" sz="2400"/>
              <a:t>许多仓库未能做到这两点</a:t>
            </a:r>
            <a:r>
              <a:rPr lang="en-US" sz="2400"/>
              <a:t>(</a:t>
            </a:r>
            <a:r>
              <a:rPr lang="zh-CN" sz="2400"/>
              <a:t>一次性开源</a:t>
            </a:r>
            <a:r>
              <a:rPr lang="en-US" sz="2400"/>
              <a:t>/"</a:t>
            </a:r>
            <a:r>
              <a:rPr lang="zh-CN" sz="2400"/>
              <a:t>按揭开源</a:t>
            </a:r>
            <a:r>
              <a:rPr lang="en-US" sz="2400"/>
              <a:t>"/KPI</a:t>
            </a:r>
            <a:r>
              <a:rPr lang="zh-CN" sz="2400"/>
              <a:t>式开源</a:t>
            </a:r>
            <a:r>
              <a:rPr lang="en-US" sz="2400"/>
              <a:t>)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2400"/>
              <a:t>我们通过检测仓库许可证</a:t>
            </a:r>
            <a:r>
              <a:rPr lang="en-US" sz="2400"/>
              <a:t>, </a:t>
            </a:r>
            <a:r>
              <a:rPr lang="zh-CN" sz="2400"/>
              <a:t>比较更新时间等对相关风险进行警示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可复现性</a:t>
            </a:r>
            <a:endParaRPr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700"/>
              <a:t>对于编译型语言</a:t>
            </a:r>
            <a:r>
              <a:rPr lang="en-US" sz="2700"/>
              <a:t>, </a:t>
            </a:r>
            <a:r>
              <a:rPr lang="zh-CN" sz="2700"/>
              <a:t>源代码需要编译才能得到二进制</a:t>
            </a:r>
            <a:r>
              <a:rPr lang="en-US" sz="2700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2700"/>
              <a:t>如何保证仓库</a:t>
            </a:r>
            <a:r>
              <a:rPr lang="zh-CN" sz="2700" b="1"/>
              <a:t>源码</a:t>
            </a:r>
            <a:r>
              <a:rPr lang="zh-CN" sz="2700"/>
              <a:t>和 </a:t>
            </a:r>
            <a:r>
              <a:rPr lang="en-US" sz="2700" b="1"/>
              <a:t>Release </a:t>
            </a:r>
            <a:r>
              <a:rPr lang="zh-CN" sz="2700" b="1"/>
              <a:t>二进制</a:t>
            </a:r>
            <a:r>
              <a:rPr lang="en-US" sz="2700" b="1"/>
              <a:t>/tarball </a:t>
            </a:r>
            <a:r>
              <a:rPr lang="zh-CN" sz="2700"/>
              <a:t>的一致性</a:t>
            </a:r>
            <a:r>
              <a:rPr lang="en-US" sz="2700"/>
              <a:t>?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2700"/>
              <a:t>只有</a:t>
            </a:r>
            <a:r>
              <a:rPr lang="en-US" sz="2700"/>
              <a:t>(</a:t>
            </a:r>
            <a:r>
              <a:rPr lang="zh-CN" sz="2700"/>
              <a:t>极</a:t>
            </a:r>
            <a:r>
              <a:rPr lang="en-US" sz="2700"/>
              <a:t>)</a:t>
            </a:r>
            <a:r>
              <a:rPr lang="zh-CN" sz="2700"/>
              <a:t>少数人会自己完整编译源码安装</a:t>
            </a:r>
            <a:r>
              <a:rPr lang="zh-CN" sz="1100"/>
              <a:t>（毕竟编译安装一个 </a:t>
            </a:r>
            <a:r>
              <a:rPr lang="en-US" sz="1100"/>
              <a:t>Chrome </a:t>
            </a:r>
            <a:r>
              <a:rPr lang="zh-CN" sz="1100"/>
              <a:t>普遍要 </a:t>
            </a:r>
            <a:r>
              <a:rPr lang="en-US" sz="1100"/>
              <a:t>3-6 </a:t>
            </a:r>
            <a:r>
              <a:rPr lang="zh-CN" sz="1100"/>
              <a:t>小时）</a:t>
            </a: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zh-CN" sz="2700"/>
              <a:t>大部分人都是直接使用作者发布的二进制文件</a:t>
            </a:r>
            <a:r>
              <a:rPr lang="en-US" sz="2700"/>
              <a:t>......</a:t>
            </a:r>
            <a:endParaRPr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233" y="4001294"/>
            <a:ext cx="4833349" cy="2710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xz</a:t>
            </a:r>
            <a:r>
              <a:rPr lang="en-US" altLang="zh-CN" dirty="0"/>
              <a:t>-utils </a:t>
            </a:r>
            <a:r>
              <a:rPr lang="zh-CN" altLang="en-US" dirty="0"/>
              <a:t>事件</a:t>
            </a:r>
            <a:endParaRPr/>
          </a:p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742225" cy="1002138"/>
          </a:xfrm>
        </p:spPr>
        <p:txBody>
          <a:bodyPr>
            <a:normAutofit/>
          </a:bodyPr>
          <a:lstStyle/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r>
              <a:rPr lang="en-US" sz="24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rPr>
              <a:t>......</a:t>
            </a:r>
            <a:r>
              <a:rPr lang="zh-CN" sz="24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rPr>
              <a:t>这也包括了 </a:t>
            </a:r>
            <a:r>
              <a:rPr lang="en-US" sz="24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rPr>
              <a:t>Debian/Ubuntu/Fedora/Arch/RHEL </a:t>
            </a:r>
            <a:r>
              <a:rPr lang="zh-CN" sz="24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rPr>
              <a:t>等一众主流发行版</a:t>
            </a:r>
            <a:endParaRPr sz="28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r>
              <a:rPr lang="zh-CN" sz="2400">
                <a:latin typeface="等线"/>
                <a:ea typeface="等线"/>
                <a:cs typeface="+mn-cs"/>
              </a:rPr>
              <a:t>然后就翻</a:t>
            </a:r>
            <a:r>
              <a:rPr lang="zh-CN" sz="2400" b="0" i="0" u="none" strike="noStrike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rPr>
              <a:t>车了: XZ Utils backdoor</a:t>
            </a:r>
            <a:endParaRPr sz="28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endParaRPr lang="en-US" sz="2400" b="0" i="0" u="none" strike="noStrike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endParaRPr lang="en-US" sz="24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endParaRPr lang="en-US" sz="24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endParaRPr lang="zh-CN" sz="28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  <a:p>
            <a: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等线"/>
                <a:ea typeface="等线"/>
                <a:cs typeface="+mn-cs"/>
              </a:defRPr>
            </a:pPr>
            <a:endParaRPr lang="en-US" sz="2800">
              <a:solidFill>
                <a:schemeClr val="tx1">
                  <a:alpha val="100000"/>
                </a:schemeClr>
              </a:solidFill>
              <a:latin typeface="等线"/>
              <a:ea typeface="等线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881" y="2962701"/>
            <a:ext cx="4008055" cy="3429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38200" y="3218597"/>
            <a:ext cx="6165850" cy="23050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1817"/>
              <a:t>"</a:t>
            </a:r>
            <a:r>
              <a:rPr sz="1817"/>
              <a:t>恶意机制由两个包含恶意二进制代码的压缩测试文件组成。这些文件在git 存储库中可用，但除非提取并注入程序中，否则将处于休眠状态</a:t>
            </a:r>
            <a:r>
              <a:rPr lang="en-US" sz="1817"/>
              <a:t>……</a:t>
            </a:r>
            <a:r>
              <a:rPr sz="1817" b="1"/>
              <a:t>上传到GitHub上的发布 tar 文件中包含了的修改版本，该文件提取了执行实际注入 的脚本。这个修改后的m4文件不存在于 git 存储库中；</a:t>
            </a:r>
            <a:r>
              <a:rPr sz="1817"/>
              <a:t>它只能从维护者独立于 git 发布的</a:t>
            </a:r>
            <a:r>
              <a:rPr lang="en-US" sz="1817"/>
              <a:t> </a:t>
            </a:r>
            <a:r>
              <a:rPr sz="1817"/>
              <a:t>tar 文件中获取。仅当系统在使用 glibc 和GCC的x86-64 Linux 系统上通过dpkg或rpm构建时，该脚本才会执行注入。</a:t>
            </a:r>
            <a:r>
              <a:rPr lang="en-US" sz="1817"/>
              <a:t>"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(</a:t>
            </a:r>
            <a:r>
              <a:rPr lang="zh-CN"/>
              <a:t>广义</a:t>
            </a:r>
            <a:r>
              <a:rPr lang="en-US"/>
              <a:t>)</a:t>
            </a:r>
            <a:r>
              <a:rPr lang="zh-CN"/>
              <a:t>可复现性</a:t>
            </a:r>
            <a:endParaRPr/>
          </a:p>
        </p:txBody>
      </p:sp>
      <p:sp>
        <p:nvSpPr>
          <p:cNvPr id="2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000"/>
              <a:t>按照定义</a:t>
            </a:r>
            <a:r>
              <a:rPr lang="en-US" sz="2000"/>
              <a:t>, </a:t>
            </a:r>
            <a:r>
              <a:rPr lang="zh-CN" sz="2000"/>
              <a:t>可复现构建要求构建结果</a:t>
            </a:r>
            <a:r>
              <a:rPr lang="zh-CN" sz="2000" b="1"/>
              <a:t>按字节一致</a:t>
            </a:r>
            <a:r>
              <a:rPr lang="en-US" sz="2000" b="0"/>
              <a:t>, xz </a:t>
            </a:r>
            <a:r>
              <a:rPr lang="zh-CN" sz="2000" b="0"/>
              <a:t>事件也推动了很多发行版相关的努力</a:t>
            </a:r>
            <a:r>
              <a:rPr lang="en-US" sz="2000" b="0"/>
              <a:t>.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1800" b="0"/>
              <a:t>但目前大部分</a:t>
            </a:r>
            <a:r>
              <a:rPr lang="en-US" sz="1800" b="0"/>
              <a:t> GitHub </a:t>
            </a:r>
            <a:r>
              <a:rPr lang="zh-CN" sz="1800" b="0"/>
              <a:t>仓库都无法达到严格的可复现性要求</a:t>
            </a:r>
            <a:r>
              <a:rPr lang="en-US" sz="1800" b="0"/>
              <a:t>. (</a:t>
            </a:r>
            <a:r>
              <a:rPr lang="zh-CN" sz="1800" b="0"/>
              <a:t>受构建时间</a:t>
            </a:r>
            <a:r>
              <a:rPr lang="en-US" sz="1800" b="0"/>
              <a:t>,</a:t>
            </a:r>
            <a:r>
              <a:rPr lang="zh-CN" sz="1800" b="0"/>
              <a:t>路径</a:t>
            </a:r>
            <a:r>
              <a:rPr lang="en-US" sz="1800" b="0"/>
              <a:t>,</a:t>
            </a:r>
            <a:r>
              <a:rPr lang="zh-CN" sz="1800" b="0"/>
              <a:t>编译器版本</a:t>
            </a:r>
            <a:r>
              <a:rPr lang="en-US" sz="1800" b="0"/>
              <a:t>,</a:t>
            </a:r>
            <a:r>
              <a:rPr lang="zh-CN" sz="1800" b="0"/>
              <a:t>参数等干扰</a:t>
            </a:r>
            <a:r>
              <a:rPr lang="en-US" sz="1800" b="0"/>
              <a:t>)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endParaRPr lang="zh-CN" sz="1800" b="0"/>
          </a:p>
          <a:p>
            <a:pPr>
              <a:buFont typeface="Arial" panose="020B0604020202020204" pitchFamily="34" charset="0"/>
              <a:buChar char="•"/>
            </a:pPr>
            <a:r>
              <a:rPr lang="zh-CN" sz="1800" b="0"/>
              <a:t>为此</a:t>
            </a:r>
            <a:r>
              <a:rPr lang="en-US" sz="1800" b="0"/>
              <a:t>, </a:t>
            </a:r>
            <a:r>
              <a:rPr lang="zh-CN" sz="1800" b="0"/>
              <a:t>我们提出了一种更广泛的可复现性衡量方法</a:t>
            </a:r>
            <a:r>
              <a:rPr lang="en-US" sz="1800" b="0"/>
              <a:t>, </a:t>
            </a:r>
            <a:r>
              <a:rPr lang="zh-CN" sz="1800" b="0"/>
              <a:t>将不同仓库分为四类</a:t>
            </a:r>
            <a:r>
              <a:rPr lang="en-US" sz="1800" b="0"/>
              <a:t>: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/>
              <a:t>    </a:t>
            </a:r>
            <a:r>
              <a:rPr lang="zh-CN" sz="1800" b="0" u="sng"/>
              <a:t>字节可复现</a:t>
            </a:r>
            <a:r>
              <a:rPr lang="en-US" sz="1800" b="0"/>
              <a:t>: </a:t>
            </a:r>
            <a:r>
              <a:rPr lang="zh-CN" sz="1800" b="0"/>
              <a:t>本地构建结果与</a:t>
            </a:r>
            <a:r>
              <a:rPr lang="en-US" sz="1800" b="0"/>
              <a:t> GitHub Release </a:t>
            </a:r>
            <a:r>
              <a:rPr lang="zh-CN" sz="1800" b="1"/>
              <a:t>按字节一致</a:t>
            </a:r>
            <a:r>
              <a:rPr lang="en-US" sz="1800" b="0"/>
              <a:t>, </a:t>
            </a:r>
            <a:r>
              <a:rPr lang="zh-CN" sz="1800" b="0"/>
              <a:t>即原本的最严格的可复现要求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/>
              <a:t>    </a:t>
            </a:r>
            <a:r>
              <a:rPr lang="zh-CN" sz="1800" b="0" u="sng"/>
              <a:t>特征可复现</a:t>
            </a:r>
            <a:r>
              <a:rPr lang="en-US" sz="1800" b="0"/>
              <a:t>: </a:t>
            </a:r>
            <a:r>
              <a:rPr lang="zh-CN" sz="1800" b="0"/>
              <a:t>本地构建结果与</a:t>
            </a:r>
            <a:r>
              <a:rPr lang="en-US" sz="1800" b="0"/>
              <a:t> GitHub Release </a:t>
            </a:r>
            <a:r>
              <a:rPr lang="zh-CN" sz="1800" b="1"/>
              <a:t>程序行为特征一致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/>
              <a:t>    </a:t>
            </a:r>
            <a:r>
              <a:rPr lang="zh-CN" sz="1800" b="0" u="sng"/>
              <a:t>不可复现</a:t>
            </a:r>
            <a:r>
              <a:rPr lang="en-US" sz="1800" b="0"/>
              <a:t>: </a:t>
            </a:r>
            <a:r>
              <a:rPr lang="zh-CN" sz="1800" b="0"/>
              <a:t>本地构建结果与</a:t>
            </a:r>
            <a:r>
              <a:rPr lang="en-US" sz="1800" b="0"/>
              <a:t> GitHub Release </a:t>
            </a:r>
            <a:r>
              <a:rPr lang="zh-CN" sz="1800" b="0"/>
              <a:t>不符合上面任一可复现标准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/>
              <a:t>    </a:t>
            </a:r>
            <a:r>
              <a:rPr lang="zh-CN" sz="1800" b="0" u="sng"/>
              <a:t>未知</a:t>
            </a:r>
            <a:r>
              <a:rPr lang="en-US" sz="1800" b="0"/>
              <a:t>: </a:t>
            </a:r>
            <a:r>
              <a:rPr lang="zh-CN" sz="1800" b="0"/>
              <a:t>本地构建失败</a:t>
            </a:r>
            <a:r>
              <a:rPr lang="en-US" sz="1800" b="0"/>
              <a:t>, </a:t>
            </a:r>
            <a:r>
              <a:rPr lang="zh-CN" sz="1800" b="0"/>
              <a:t>或该仓库</a:t>
            </a:r>
            <a:r>
              <a:rPr lang="en-US" sz="1800" b="0"/>
              <a:t> GitHub </a:t>
            </a:r>
            <a:r>
              <a:rPr lang="zh-CN" sz="1800" b="0"/>
              <a:t>上没有</a:t>
            </a:r>
            <a:r>
              <a:rPr lang="en-US" sz="1800" b="0"/>
              <a:t> Release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endParaRPr lang="en-US" sz="1800" b="0"/>
          </a:p>
          <a:p>
            <a:pPr>
              <a:buFont typeface="Arial" panose="020B0604020202020204" pitchFamily="34" charset="0"/>
              <a:buChar char="•"/>
            </a:pPr>
            <a:r>
              <a:rPr lang="zh-CN" sz="1800" b="0"/>
              <a:t>我们使用</a:t>
            </a:r>
            <a:r>
              <a:rPr lang="en-US" sz="1800" b="0"/>
              <a:t> Virus Total </a:t>
            </a:r>
            <a:r>
              <a:rPr lang="zh-CN" sz="1800" b="0"/>
              <a:t>的</a:t>
            </a:r>
            <a:r>
              <a:rPr lang="en-US" sz="1800" b="0"/>
              <a:t> API </a:t>
            </a:r>
            <a:r>
              <a:rPr lang="zh-CN" sz="1800" b="0"/>
              <a:t>对二进制进行静态</a:t>
            </a:r>
            <a:r>
              <a:rPr lang="en-US" sz="1800" b="0"/>
              <a:t>/</a:t>
            </a:r>
            <a:r>
              <a:rPr lang="zh-CN" sz="1800" b="0"/>
              <a:t>动态分析</a:t>
            </a:r>
            <a:r>
              <a:rPr lang="en-US" sz="1800" b="0"/>
              <a:t>, </a:t>
            </a:r>
            <a:r>
              <a:rPr lang="zh-CN" sz="1800" b="0"/>
              <a:t>得到程序相关特征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/>
              <a:t>    </a:t>
            </a:r>
            <a:r>
              <a:rPr lang="zh-CN" sz="1800" b="0"/>
              <a:t>包括</a:t>
            </a:r>
            <a:r>
              <a:rPr lang="en-US" sz="1800" b="0"/>
              <a:t>: </a:t>
            </a:r>
            <a:r>
              <a:rPr lang="zh-CN" sz="1800" b="0"/>
              <a:t>文件操作</a:t>
            </a:r>
            <a:r>
              <a:rPr lang="en-US" sz="1800" b="0"/>
              <a:t>, </a:t>
            </a:r>
            <a:r>
              <a:rPr lang="zh-CN" sz="1800" b="0"/>
              <a:t>注册表操作</a:t>
            </a:r>
            <a:r>
              <a:rPr lang="en-US" sz="1800" b="0"/>
              <a:t>, </a:t>
            </a:r>
            <a:r>
              <a:rPr lang="zh-CN" sz="1800" b="0"/>
              <a:t>网络请求</a:t>
            </a:r>
            <a:r>
              <a:rPr lang="en-US" sz="1800" b="0"/>
              <a:t>, </a:t>
            </a:r>
            <a:r>
              <a:rPr lang="zh-CN" sz="1800" b="0"/>
              <a:t>可疑系统调用</a:t>
            </a:r>
            <a:r>
              <a:rPr lang="en-US" sz="1800" b="0"/>
              <a:t>, </a:t>
            </a:r>
            <a:r>
              <a:rPr lang="zh-CN" sz="1800" b="0"/>
              <a:t>所有执行的指令等</a:t>
            </a:r>
            <a:endParaRPr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444" y="4951403"/>
            <a:ext cx="5584208" cy="17637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判断过程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400"/>
              <a:t>对于发布的</a:t>
            </a:r>
            <a:r>
              <a:rPr lang="en-US" sz="2400"/>
              <a:t> tarball: </a:t>
            </a:r>
            <a:r>
              <a:rPr lang="zh-CN" sz="2400"/>
              <a:t>直接判断解压后与对应</a:t>
            </a:r>
            <a:r>
              <a:rPr lang="en-US" sz="2400"/>
              <a:t> commit </a:t>
            </a:r>
            <a:r>
              <a:rPr lang="zh-CN" sz="2400"/>
              <a:t>的文件是否一致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 sz="2400"/>
              <a:t>对于发布的二进制</a:t>
            </a:r>
            <a:r>
              <a:rPr lang="en-US" sz="2400"/>
              <a:t>: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800"/>
              <a:t>收集仓库相关信息</a:t>
            </a:r>
            <a:r>
              <a:rPr lang="en-US" sz="1800"/>
              <a:t>, </a:t>
            </a:r>
            <a:r>
              <a:rPr lang="zh-CN" sz="1800"/>
              <a:t>包括</a:t>
            </a:r>
            <a:r>
              <a:rPr lang="en-US" sz="1800"/>
              <a:t> README/</a:t>
            </a:r>
            <a:r>
              <a:rPr lang="zh-CN" sz="1800"/>
              <a:t>语言</a:t>
            </a:r>
            <a:r>
              <a:rPr lang="en-US" sz="1800"/>
              <a:t>/</a:t>
            </a:r>
            <a:r>
              <a:rPr lang="zh-CN" sz="1800"/>
              <a:t>文件结构等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800"/>
              <a:t>使用</a:t>
            </a:r>
            <a:r>
              <a:rPr lang="en-US" sz="1800"/>
              <a:t> LLM (Qwen2-72B) </a:t>
            </a:r>
            <a:r>
              <a:rPr lang="zh-CN" sz="1800"/>
              <a:t>生成编译指令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800"/>
              <a:t>在容器中执行编译指令</a:t>
            </a:r>
            <a:r>
              <a:rPr lang="en-US" sz="1800"/>
              <a:t>, </a:t>
            </a:r>
            <a:r>
              <a:rPr lang="zh-CN" sz="1800"/>
              <a:t>尝试构建二进制</a:t>
            </a:r>
            <a:r>
              <a:rPr lang="en-US" sz="1800"/>
              <a:t> 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800"/>
              <a:t>若构建失败</a:t>
            </a:r>
            <a:r>
              <a:rPr lang="en-US" sz="1800"/>
              <a:t>, </a:t>
            </a:r>
            <a:r>
              <a:rPr lang="zh-CN" sz="1800"/>
              <a:t>则状态为</a:t>
            </a:r>
            <a:r>
              <a:rPr lang="zh-CN" sz="1800" u="sng"/>
              <a:t>未知</a:t>
            </a:r>
            <a:br>
              <a:rPr/>
            </a:br>
            <a:r>
              <a:rPr lang="zh-CN" sz="1800" u="none"/>
              <a:t>若构建产物与</a:t>
            </a:r>
            <a:r>
              <a:rPr lang="en-US" sz="1800" u="none"/>
              <a:t> Release </a:t>
            </a:r>
            <a:r>
              <a:rPr lang="zh-CN" sz="1800" u="none"/>
              <a:t>完全一致</a:t>
            </a:r>
            <a:r>
              <a:rPr lang="en-US" sz="1800" u="none"/>
              <a:t>, </a:t>
            </a:r>
            <a:r>
              <a:rPr lang="zh-CN" sz="1800" u="none"/>
              <a:t>则状态为</a:t>
            </a:r>
            <a:r>
              <a:rPr lang="zh-CN" sz="1800" u="sng"/>
              <a:t>字节可复现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800"/>
              <a:t>使用</a:t>
            </a:r>
            <a:r>
              <a:rPr lang="en-US" sz="1800"/>
              <a:t> VirusTotal API </a:t>
            </a:r>
            <a:r>
              <a:rPr lang="zh-CN" sz="1800"/>
              <a:t>获得本地构建产物的行为</a:t>
            </a:r>
            <a:r>
              <a:rPr lang="en-US" sz="1800"/>
              <a:t>Hash</a:t>
            </a:r>
            <a:endParaRPr/>
          </a:p>
          <a:p>
            <a:pPr>
              <a:buFont typeface="Arial" panose="020B0604020202020204" pitchFamily="34" charset="0"/>
              <a:buAutoNum type="arabicPeriod"/>
            </a:pPr>
            <a:r>
              <a:rPr lang="zh-CN" sz="1788"/>
              <a:t>若</a:t>
            </a:r>
            <a:r>
              <a:rPr lang="zh-CN" sz="1800"/>
              <a:t>行为</a:t>
            </a:r>
            <a:r>
              <a:rPr lang="en-US" sz="1800"/>
              <a:t>Hash</a:t>
            </a:r>
            <a:r>
              <a:rPr lang="zh-CN" sz="1800"/>
              <a:t>一致</a:t>
            </a:r>
            <a:r>
              <a:rPr lang="en-US" sz="1800"/>
              <a:t>, </a:t>
            </a:r>
            <a:r>
              <a:rPr lang="zh-CN" sz="1800"/>
              <a:t>则状态为</a:t>
            </a:r>
            <a:r>
              <a:rPr lang="zh-CN" sz="1800" u="sng"/>
              <a:t>特征可复现</a:t>
            </a:r>
            <a:r>
              <a:rPr lang="zh-CN" sz="1800"/>
              <a:t>
否则</a:t>
            </a:r>
            <a:r>
              <a:rPr lang="en-US" sz="1800"/>
              <a:t>, </a:t>
            </a:r>
            <a:r>
              <a:rPr lang="zh-CN" sz="1800"/>
              <a:t>状态为</a:t>
            </a:r>
            <a:r>
              <a:rPr lang="zh-CN" sz="1800" u="sng"/>
              <a:t>不可复现</a:t>
            </a:r>
            <a:r>
              <a:rPr lang="en-US" sz="2400"/>
              <a:t>
 </a:t>
            </a:r>
            <a:endParaRPr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04" y="2730843"/>
            <a:ext cx="5634396" cy="2917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(</a:t>
            </a:r>
            <a:r>
              <a:rPr lang="zh-CN"/>
              <a:t>广义</a:t>
            </a:r>
            <a:r>
              <a:rPr lang="en-US"/>
              <a:t>)</a:t>
            </a:r>
            <a:r>
              <a:rPr lang="zh-CN"/>
              <a:t>可复现性</a:t>
            </a:r>
            <a:r>
              <a:rPr lang="en-US"/>
              <a:t> - </a:t>
            </a:r>
            <a:r>
              <a:rPr lang="zh-CN"/>
              <a:t>分析结果</a:t>
            </a:r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000"/>
              <a:t>按照上述方式</a:t>
            </a:r>
            <a:r>
              <a:rPr lang="en-US" sz="2000"/>
              <a:t>, </a:t>
            </a:r>
            <a:r>
              <a:rPr lang="zh-CN" sz="2000"/>
              <a:t>我们主动分析了</a:t>
            </a:r>
            <a:r>
              <a:rPr lang="en-US" sz="2000"/>
              <a:t> xz-utils </a:t>
            </a:r>
            <a:r>
              <a:rPr lang="zh-CN" sz="2000"/>
              <a:t>的后门样本</a:t>
            </a:r>
            <a:r>
              <a:rPr lang="en-US" sz="2000"/>
              <a:t>, </a:t>
            </a:r>
            <a:r>
              <a:rPr lang="zh-CN" sz="2000"/>
              <a:t>判断结果为</a:t>
            </a:r>
            <a:r>
              <a:rPr lang="zh-CN" sz="2000" u="sng"/>
              <a:t>不可复现</a:t>
            </a:r>
            <a:r>
              <a:rPr lang="en-US" sz="2000" u="none"/>
              <a:t>, </a:t>
            </a:r>
            <a:r>
              <a:rPr lang="zh-CN" sz="2000" u="none"/>
              <a:t>意味着其存在可疑的修改痕迹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en-US" sz="2000" u="none"/>
              <a:t>Trending </a:t>
            </a:r>
            <a:r>
              <a:rPr lang="zh-CN" sz="2000" u="none"/>
              <a:t>中的其他仓库分析结果中</a:t>
            </a:r>
            <a:r>
              <a:rPr lang="en-US" sz="2000" u="none"/>
              <a:t>, </a:t>
            </a:r>
            <a:r>
              <a:rPr lang="zh-CN" sz="2000" u="none"/>
              <a:t>全部非编译型语言均为</a:t>
            </a:r>
            <a:r>
              <a:rPr lang="zh-CN" sz="2000" u="sng"/>
              <a:t>字节可复现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r>
              <a:rPr lang="zh-CN" sz="2000" u="none"/>
              <a:t>剩余需要编译的</a:t>
            </a:r>
            <a:r>
              <a:rPr lang="en-US" sz="2000" u="none"/>
              <a:t> Trending </a:t>
            </a:r>
            <a:r>
              <a:rPr lang="zh-CN" sz="2000" u="none"/>
              <a:t>项目均落在</a:t>
            </a:r>
            <a:r>
              <a:rPr lang="zh-CN" sz="2000" u="sng"/>
              <a:t>未知</a:t>
            </a:r>
            <a:r>
              <a:rPr lang="zh-CN" sz="2000" u="none"/>
              <a:t>和</a:t>
            </a:r>
            <a:r>
              <a:rPr lang="zh-CN" sz="2000" u="sng"/>
              <a:t>特征可复现</a:t>
            </a:r>
            <a:r>
              <a:rPr lang="zh-CN" sz="2000" u="none"/>
              <a:t>范围内</a:t>
            </a:r>
            <a:r>
              <a:rPr lang="en-US" sz="2000" u="none"/>
              <a:t>, </a:t>
            </a:r>
            <a:r>
              <a:rPr lang="zh-CN" sz="2000" u="none"/>
              <a:t>未发现可疑现象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endParaRPr lang="zh-CN" sz="2000" u="none"/>
          </a:p>
          <a:p>
            <a:pPr>
              <a:buFont typeface="Arial" panose="020B0604020202020204" pitchFamily="34" charset="0"/>
              <a:buChar char="•"/>
            </a:pPr>
            <a:r>
              <a:rPr lang="zh-CN" sz="2000" u="none"/>
              <a:t>该方法的一些局限性</a:t>
            </a:r>
            <a:r>
              <a:rPr lang="en-US" sz="2000" u="none"/>
              <a:t>: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u="none"/>
              <a:t>    1. </a:t>
            </a:r>
            <a:r>
              <a:rPr lang="zh-CN" sz="2000" u="none"/>
              <a:t>由于交叉编译的复杂性</a:t>
            </a:r>
            <a:r>
              <a:rPr lang="en-US" sz="2000" u="none"/>
              <a:t>, </a:t>
            </a:r>
            <a:r>
              <a:rPr lang="zh-CN" sz="2000" u="none"/>
              <a:t>目前仅支持</a:t>
            </a:r>
            <a:r>
              <a:rPr lang="en-US" sz="2000" u="none"/>
              <a:t> x86 </a:t>
            </a:r>
            <a:r>
              <a:rPr lang="zh-CN" sz="2000" u="none"/>
              <a:t>架构的检测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u="none"/>
              <a:t>    2. LLM </a:t>
            </a:r>
            <a:r>
              <a:rPr lang="zh-CN" sz="2000" u="none"/>
              <a:t>的构建失败率仍较高</a:t>
            </a:r>
            <a:r>
              <a:rPr lang="en-US" sz="2000" u="none"/>
              <a:t> (</a:t>
            </a:r>
            <a:r>
              <a:rPr lang="zh-CN" sz="2000" u="none"/>
              <a:t>约</a:t>
            </a:r>
            <a:r>
              <a:rPr lang="en-US" sz="2000" u="none"/>
              <a:t> 70%)</a:t>
            </a: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u="none"/>
              <a:t>    3. </a:t>
            </a:r>
            <a:r>
              <a:rPr lang="zh-CN" sz="2000" u="none"/>
              <a:t>对于以安装包形式发布的仓库无法判断</a:t>
            </a:r>
            <a:endParaRPr/>
          </a:p>
          <a:p>
            <a:pPr>
              <a:buFont typeface="Arial" panose="020B0604020202020204" pitchFamily="34" charset="0"/>
              <a:buChar char="•"/>
            </a:pPr>
            <a:endParaRPr lang="zh-CN" sz="2000" u="sng"/>
          </a:p>
          <a:p>
            <a:pPr>
              <a:buFont typeface="Arial" panose="020B0604020202020204" pitchFamily="34" charset="0"/>
              <a:buChar char="•"/>
            </a:pPr>
            <a:endParaRPr lang="en-US" sz="2000" u="none"/>
          </a:p>
          <a:p>
            <a:pPr>
              <a:buFont typeface="Arial" panose="020B0604020202020204" pitchFamily="34" charset="0"/>
              <a:buChar char="•"/>
            </a:pPr>
            <a:endParaRPr lang="en-US" sz="2000" u="sn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CN" sz="5400"/>
              <a:t>恳请老师与助教批评指正</a:t>
            </a:r>
            <a:r>
              <a:rPr lang="en-US" sz="5400"/>
              <a:t>!</a:t>
            </a:r>
            <a:endParaRPr/>
          </a:p>
        </p:txBody>
      </p:sp>
      <p:sp>
        <p:nvSpPr>
          <p:cNvPr id="34" name="副标题 2"/>
          <p:cNvSpPr txBox="1">
            <a:spLocks noGrp="1"/>
          </p:cNvSpPr>
          <p:nvPr/>
        </p:nvSpPr>
        <p:spPr>
          <a:xfrm>
            <a:off x="1524000" y="3608842"/>
            <a:ext cx="9144000" cy="2485797"/>
          </a:xfrm>
          <a:prstGeom prst="rect">
            <a:avLst/>
          </a:prstGeom>
          <a:ln/>
        </p:spPr>
        <p:txBody>
          <a:bodyPr vert="horz" lIns="91440" tIns="45720" rIns="91440" bIns="45720">
            <a:normAutofit fontScale="5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等线"/>
                <a:ea typeface="等线"/>
                <a:cs typeface="+mn-cs"/>
              </a:defRPr>
            </a:lvl9pPr>
          </a:lstStyle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4462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第</a:t>
            </a:r>
            <a:r>
              <a:rPr lang="en-US" sz="4462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11 </a:t>
            </a:r>
            <a:r>
              <a:rPr lang="zh-CN" sz="4462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组</a:t>
            </a:r>
            <a:r>
              <a:rPr lang="en-US" sz="4462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uFFFD</a:t>
            </a:r>
            <a:endParaRPr lang="zh-CN"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李薛成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211850016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杜凌霄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211250066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陈昊洋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211250068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黄梓彦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211250070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凌翊宸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211250076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r>
              <a:rPr lang="zh-CN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张哲恺</a:t>
            </a:r>
            <a:r>
              <a:rPr lang="en-US"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rPr>
              <a:t> 211250245</a:t>
            </a:r>
            <a:endParaRPr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  <a:p>
            <a:pPr marL="228600" indent="-228600" algn="ctr" defTabSz="914400">
              <a:lnSpc>
                <a:spcPct val="90000"/>
              </a:lnSpc>
              <a:buFont typeface="Arial" panose="020B0604020202020204" pitchFamily="34" charset="0"/>
              <a:buNone/>
              <a:defRPr sz="2800">
                <a:solidFill>
                  <a:srgbClr val="000000">
                    <a:alpha val="100000"/>
                  </a:srgbClr>
                </a:solidFill>
                <a:latin typeface="等线"/>
                <a:ea typeface="等线"/>
                <a:cs typeface="+mn-cs"/>
              </a:defRPr>
            </a:pPr>
            <a:endParaRPr lang="en-US" sz="2800">
              <a:solidFill>
                <a:srgbClr val="000000">
                  <a:alpha val="100000"/>
                </a:srgbClr>
              </a:solidFill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Office PowerPoint</Application>
  <PresentationFormat>宽屏</PresentationFormat>
  <Paragraphs>115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GitHub 开源情报分析系统 迭代三 - 仓库质量评估系统</vt:lpstr>
      <vt:lpstr>迭代三 - 仓库质量评估系统 - 需求列表</vt:lpstr>
      <vt:lpstr>仓库 Star 质量 - 用户评分</vt:lpstr>
      <vt:lpstr>仓库 Star 诚信指数评估 - 水军识别</vt:lpstr>
      <vt:lpstr>仓库 Star 诚信指数评估 - 水军识别算法</vt:lpstr>
      <vt:lpstr>仓库 Star 诚信指数评估 - 水军识别算法</vt:lpstr>
      <vt:lpstr>仓库 Star 诚信指数评估 - 结果分析 </vt:lpstr>
      <vt:lpstr>仓库 Star 质量与诚信指数 - 示例</vt:lpstr>
      <vt:lpstr>仓库 Star 质量与诚信指数 - 示例</vt:lpstr>
      <vt:lpstr>仓库 Star 质量与诚信指数 - 示例</vt:lpstr>
      <vt:lpstr>缺少许可证与"虚假开源"</vt:lpstr>
      <vt:lpstr>可复现性</vt:lpstr>
      <vt:lpstr>xz-utils 事件</vt:lpstr>
      <vt:lpstr>(广义)可复现性</vt:lpstr>
      <vt:lpstr>判断过程</vt:lpstr>
      <vt:lpstr>(广义)可复现性 - 分析结果</vt:lpstr>
      <vt:lpstr>恳请老师与助教批评指正!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薛成 李</cp:lastModifiedBy>
  <cp:revision>1</cp:revision>
  <dcterms:created xsi:type="dcterms:W3CDTF">2024-06-16T13:47:59Z</dcterms:created>
  <dcterms:modified xsi:type="dcterms:W3CDTF">2024-06-16T05:48:15Z</dcterms:modified>
</cp:coreProperties>
</file>